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9" r:id="rId4"/>
    <p:sldMasterId id="2147483661" r:id="rId5"/>
  </p:sldMasterIdLst>
  <p:notesMasterIdLst>
    <p:notesMasterId r:id="rId20"/>
  </p:notesMasterIdLst>
  <p:sldIdLst>
    <p:sldId id="256" r:id="rId6"/>
    <p:sldId id="281" r:id="rId7"/>
    <p:sldId id="283" r:id="rId8"/>
    <p:sldId id="284" r:id="rId9"/>
    <p:sldId id="285" r:id="rId10"/>
    <p:sldId id="282" r:id="rId11"/>
    <p:sldId id="273" r:id="rId12"/>
    <p:sldId id="274" r:id="rId13"/>
    <p:sldId id="275" r:id="rId14"/>
    <p:sldId id="276" r:id="rId15"/>
    <p:sldId id="278" r:id="rId16"/>
    <p:sldId id="279" r:id="rId17"/>
    <p:sldId id="280" r:id="rId18"/>
    <p:sldId id="272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528E2A-7987-42E7-8D84-6B2D74558830}">
          <p14:sldIdLst>
            <p14:sldId id="256"/>
            <p14:sldId id="281"/>
            <p14:sldId id="283"/>
            <p14:sldId id="284"/>
            <p14:sldId id="285"/>
            <p14:sldId id="282"/>
            <p14:sldId id="273"/>
            <p14:sldId id="274"/>
            <p14:sldId id="275"/>
            <p14:sldId id="276"/>
            <p14:sldId id="278"/>
            <p14:sldId id="279"/>
            <p14:sldId id="280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33CC33"/>
    <a:srgbClr val="CC66FF"/>
    <a:srgbClr val="0066FF"/>
    <a:srgbClr val="9966FF"/>
    <a:srgbClr val="6666FF"/>
    <a:srgbClr val="666699"/>
    <a:srgbClr val="00CCFF"/>
    <a:srgbClr val="FF33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A3222D-5BD0-45C3-9507-57602980282B}" v="1" dt="2025-05-22T12:38:40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226" autoAdjust="0"/>
  </p:normalViewPr>
  <p:slideViewPr>
    <p:cSldViewPr>
      <p:cViewPr varScale="1">
        <p:scale>
          <a:sx n="75" d="100"/>
          <a:sy n="75" d="100"/>
        </p:scale>
        <p:origin x="931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C042EEA-9F9B-4B91-B52A-073E94FB90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42EEA-9F9B-4B91-B52A-073E94FB90D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20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A4750BA-B163-4F11-8356-C4353F13CE0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pic>
        <p:nvPicPr>
          <p:cNvPr id="5129" name="Picture 9" descr="b2e2lirt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91700" y="3392489"/>
            <a:ext cx="2245784" cy="14065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A1145F-674A-4228-8958-0EA9769F551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A15E1F-5AFB-40EA-923D-A2EB4D767C8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9EAE92-5121-41FC-8DEC-DA73929E0C3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EB1BA9-04F9-4DBA-8B88-0BF71DD220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CB23DE-87E9-44C4-9125-F9964740268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9B49DB-207B-4B04-AB13-3224BA24FB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FF626-F1DE-4CAB-AC6F-3C9C63F3BC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5FCAB0-4CDF-4FD1-8C9D-AF93D5E31F1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4E42D6-9DD4-4165-BDB0-13B2B843F04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7C8BE-C614-485F-9B20-1471ABF7C6A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242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9926595" y="404664"/>
            <a:ext cx="1944216" cy="1584176"/>
          </a:xfrm>
          <a:prstGeom prst="cloudCallout">
            <a:avLst>
              <a:gd name="adj1" fmla="val -72589"/>
              <a:gd name="adj2" fmla="val 67149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9" descr="b2e2lirt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16480" y="683778"/>
            <a:ext cx="1050425" cy="8771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07134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0097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15E1F-5AFB-40EA-923D-A2EB4D767C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8281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227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201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3DE-87E9-44C4-9125-F9964740268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696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B49DB-207B-4B04-AB13-3224BA24FB5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0328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FF626-F1DE-4CAB-AC6F-3C9C63F3BC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625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FCAB0-4CDF-4FD1-8C9D-AF93D5E31F1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57078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E42D6-9DD4-4165-BDB0-13B2B843F0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5285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7C8BE-C614-485F-9B20-1471ABF7C6A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96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>
            <a:spLocks noChangeShapeType="1"/>
          </p:cNvSpPr>
          <p:nvPr/>
        </p:nvSpPr>
        <p:spPr bwMode="auto">
          <a:xfrm>
            <a:off x="106172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cs-CZ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/>
            </a:lvl1pPr>
          </a:lstStyle>
          <a:p>
            <a:endParaRPr lang="en-US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AD280EE7-F64F-4308-BA6A-AA907C3209A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0" y="2372797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cs-CZ"/>
          </a:p>
        </p:txBody>
      </p:sp>
      <p:pic>
        <p:nvPicPr>
          <p:cNvPr id="4105" name="Picture 9" descr="b2e2lirt[1]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706101" y="115888"/>
            <a:ext cx="1485900" cy="9318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2229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80EE7-F64F-4308-BA6A-AA907C3209A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7" name="Picture 9" descr="b2e2lirt[1]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704512" y="476672"/>
            <a:ext cx="1050425" cy="877169"/>
          </a:xfrm>
          <a:prstGeom prst="rect">
            <a:avLst/>
          </a:prstGeom>
          <a:noFill/>
        </p:spPr>
      </p:pic>
      <p:cxnSp>
        <p:nvCxnSpPr>
          <p:cNvPr id="8" name="Straight Connector 7"/>
          <p:cNvCxnSpPr/>
          <p:nvPr/>
        </p:nvCxnSpPr>
        <p:spPr>
          <a:xfrm flipH="1">
            <a:off x="838200" y="1484784"/>
            <a:ext cx="10874424" cy="0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91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words and</a:t>
            </a:r>
            <a:br>
              <a:rPr lang="en-US" dirty="0"/>
            </a:br>
            <a:r>
              <a:rPr lang="en-US" dirty="0"/>
              <a:t>test questions examples</a:t>
            </a:r>
            <a:endParaRPr lang="cs-CZ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NSWI170 Computer Systems</a:t>
            </a:r>
            <a:endParaRPr lang="cs-CZ" dirty="0"/>
          </a:p>
          <a:p>
            <a:endParaRPr lang="cs-CZ" dirty="0"/>
          </a:p>
          <a:p>
            <a:r>
              <a:rPr lang="cs-CZ" dirty="0"/>
              <a:t>Jakub </a:t>
            </a:r>
            <a:r>
              <a:rPr lang="cs-CZ" dirty="0" err="1"/>
              <a:t>Yaghob</a:t>
            </a:r>
            <a:r>
              <a:rPr lang="en-US" dirty="0"/>
              <a:t>, Martin </a:t>
            </a:r>
            <a:r>
              <a:rPr lang="en-US" dirty="0" err="1"/>
              <a:t>Kruli</a:t>
            </a:r>
            <a:r>
              <a:rPr lang="cs-CZ" dirty="0"/>
              <a:t>š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Refreshing course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  <a:p>
            <a:pPr lvl="1"/>
            <a:r>
              <a:rPr lang="en-US" dirty="0"/>
              <a:t>Will not be tested directly, but you may need it to understand some questions</a:t>
            </a:r>
          </a:p>
          <a:p>
            <a:endParaRPr lang="en-US" dirty="0"/>
          </a:p>
          <a:p>
            <a:r>
              <a:rPr lang="en-US" dirty="0"/>
              <a:t>CPUs</a:t>
            </a:r>
          </a:p>
          <a:p>
            <a:pPr lvl="1"/>
            <a:r>
              <a:rPr lang="en-US" dirty="0"/>
              <a:t>Principles of instruction encoding and execution</a:t>
            </a:r>
          </a:p>
          <a:p>
            <a:pPr lvl="2"/>
            <a:r>
              <a:rPr lang="en-US" dirty="0"/>
              <a:t>Basic instruction types (arithmetic, conditions, jumps, memory operations, …)</a:t>
            </a:r>
          </a:p>
          <a:p>
            <a:pPr lvl="1"/>
            <a:r>
              <a:rPr lang="en-US" dirty="0"/>
              <a:t>Representing higher-language constructs in assembly</a:t>
            </a:r>
          </a:p>
          <a:p>
            <a:pPr lvl="1"/>
            <a:r>
              <a:rPr lang="en-US" dirty="0"/>
              <a:t>Registers, memory operations</a:t>
            </a:r>
          </a:p>
          <a:p>
            <a:pPr lvl="1"/>
            <a:r>
              <a:rPr lang="en-US" dirty="0"/>
              <a:t>Hardware architectures fundamentals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614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Refreshing course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  <a:p>
            <a:pPr lvl="1"/>
            <a:r>
              <a:rPr lang="en-US" dirty="0"/>
              <a:t>Fundamentals (addressing, endianness)</a:t>
            </a:r>
          </a:p>
          <a:p>
            <a:pPr lvl="1"/>
            <a:r>
              <a:rPr lang="en-US" dirty="0"/>
              <a:t>Representing data structures (alignment)</a:t>
            </a:r>
          </a:p>
          <a:p>
            <a:pPr lvl="1"/>
            <a:r>
              <a:rPr lang="en-US" dirty="0"/>
              <a:t>Memory allocation (principles, algorithms)</a:t>
            </a:r>
          </a:p>
          <a:p>
            <a:pPr lvl="1"/>
            <a:r>
              <a:rPr lang="en-US" dirty="0"/>
              <a:t>Hardware details (caches, NUMA)</a:t>
            </a:r>
          </a:p>
          <a:p>
            <a:r>
              <a:rPr lang="en-US" dirty="0"/>
              <a:t>Programming languages</a:t>
            </a:r>
          </a:p>
          <a:p>
            <a:pPr lvl="1"/>
            <a:r>
              <a:rPr lang="en-US" dirty="0"/>
              <a:t>Compilation, linking, dynamic linking, loading for execution</a:t>
            </a:r>
          </a:p>
          <a:p>
            <a:pPr lvl="1"/>
            <a:r>
              <a:rPr lang="en-US" dirty="0"/>
              <a:t>Memory organization (</a:t>
            </a:r>
            <a:r>
              <a:rPr lang="en-US" dirty="0" err="1"/>
              <a:t>globals</a:t>
            </a:r>
            <a:r>
              <a:rPr lang="en-US" dirty="0"/>
              <a:t>, constants, heap, …), relocations</a:t>
            </a:r>
          </a:p>
          <a:p>
            <a:pPr lvl="1"/>
            <a:r>
              <a:rPr lang="en-US" dirty="0"/>
              <a:t>Calling conventions</a:t>
            </a:r>
          </a:p>
          <a:p>
            <a:pPr lvl="1"/>
            <a:r>
              <a:rPr lang="en-US" dirty="0"/>
              <a:t>Portability, virtual machines, garbage collector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06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Refreshing course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Operating systems</a:t>
            </a:r>
          </a:p>
          <a:p>
            <a:pPr lvl="1"/>
            <a:r>
              <a:rPr lang="en-US" dirty="0"/>
              <a:t>Fundamentals, architectures</a:t>
            </a:r>
          </a:p>
          <a:p>
            <a:pPr lvl="1"/>
            <a:r>
              <a:rPr lang="en-US" dirty="0"/>
              <a:t>Devices (controller, driver, communication), interrupts</a:t>
            </a:r>
          </a:p>
          <a:p>
            <a:pPr lvl="1"/>
            <a:r>
              <a:rPr lang="en-US" dirty="0"/>
              <a:t>Process, thread, scheduling (principles, multitasking, algorithms)</a:t>
            </a:r>
          </a:p>
          <a:p>
            <a:pPr lvl="1"/>
            <a:r>
              <a:rPr lang="en-US" dirty="0"/>
              <a:t>File systems (files, directories, FS representation)</a:t>
            </a:r>
          </a:p>
          <a:p>
            <a:pPr lvl="2"/>
            <a:r>
              <a:rPr lang="en-US" dirty="0"/>
              <a:t>Hardware-related issues of HDD and SSD (request scheduling, wear leveling, RAID)</a:t>
            </a:r>
          </a:p>
          <a:p>
            <a:pPr lvl="1"/>
            <a:r>
              <a:rPr lang="en-US" dirty="0"/>
              <a:t>Virtual memory (principles, segmentation, paging)</a:t>
            </a:r>
          </a:p>
          <a:p>
            <a:pPr lvl="2"/>
            <a:r>
              <a:rPr lang="en-US" dirty="0"/>
              <a:t>Including page replacement algorithms, file memory mapping, and shared memory</a:t>
            </a:r>
          </a:p>
          <a:p>
            <a:r>
              <a:rPr lang="en-US" dirty="0"/>
              <a:t>Parallel processing and synchronization</a:t>
            </a:r>
          </a:p>
          <a:p>
            <a:pPr lvl="1"/>
            <a:r>
              <a:rPr lang="en-US" dirty="0"/>
              <a:t>Race condition, deadlock, sync. primitives, basic sync. problems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018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Consultation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6" name="Picture 7" descr="http://www.peirnet.net/moodle/file.php/1/face_question_mar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439" y="1865610"/>
            <a:ext cx="4315817" cy="431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983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information</a:t>
            </a:r>
          </a:p>
          <a:p>
            <a:pPr lvl="1"/>
            <a:r>
              <a:rPr lang="en-US" dirty="0"/>
              <a:t>Dates are in SIS</a:t>
            </a:r>
          </a:p>
          <a:p>
            <a:pPr lvl="2"/>
            <a:r>
              <a:rPr lang="en-US" dirty="0"/>
              <a:t>There will be no other dates unless we detect a major global problem</a:t>
            </a:r>
          </a:p>
          <a:p>
            <a:pPr lvl="3"/>
            <a:r>
              <a:rPr lang="en-US" dirty="0"/>
              <a:t>Do not rely on terms </a:t>
            </a:r>
            <a:r>
              <a:rPr lang="en-US"/>
              <a:t>in September</a:t>
            </a:r>
            <a:endParaRPr lang="en-US" dirty="0"/>
          </a:p>
          <a:p>
            <a:pPr lvl="1"/>
            <a:r>
              <a:rPr lang="en-US" dirty="0"/>
              <a:t>The credit is not required for the test</a:t>
            </a:r>
          </a:p>
          <a:p>
            <a:pPr lvl="2"/>
            <a:r>
              <a:rPr lang="en-US" dirty="0"/>
              <a:t>Since lectures and labs were separated</a:t>
            </a:r>
          </a:p>
          <a:p>
            <a:pPr lvl="1"/>
            <a:r>
              <a:rPr lang="en-US" dirty="0"/>
              <a:t>The exam is focusing on understanding, not memorizing low-level details</a:t>
            </a:r>
          </a:p>
          <a:p>
            <a:pPr lvl="2"/>
            <a:r>
              <a:rPr lang="en-US" dirty="0"/>
              <a:t>Slides are not a complete knowledge base (merely an outline)</a:t>
            </a:r>
          </a:p>
          <a:p>
            <a:pPr lvl="2"/>
            <a:r>
              <a:rPr lang="en-US" dirty="0"/>
              <a:t>Memorizing the slides/lectures will probably not help you</a:t>
            </a:r>
          </a:p>
          <a:p>
            <a:pPr lvl="2"/>
            <a:r>
              <a:rPr lang="en-US" dirty="0"/>
              <a:t>Some questions will require you to </a:t>
            </a:r>
            <a:r>
              <a:rPr lang="en-US" b="1" dirty="0"/>
              <a:t>apply</a:t>
            </a:r>
            <a:r>
              <a:rPr lang="en-US" dirty="0"/>
              <a:t> the knowledge from the lectures</a:t>
            </a:r>
          </a:p>
          <a:p>
            <a:pPr lvl="3"/>
            <a:r>
              <a:rPr lang="en-US" dirty="0"/>
              <a:t>E.g., to compute something or to apply an algorithm (and report the result)</a:t>
            </a:r>
          </a:p>
          <a:p>
            <a:pPr lvl="2"/>
            <a:r>
              <a:rPr lang="en-US" dirty="0"/>
              <a:t>Prior knowledge from NSWI120 (Principles of Computers) may be required!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06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Test structure</a:t>
            </a:r>
          </a:p>
          <a:p>
            <a:pPr lvl="1"/>
            <a:r>
              <a:rPr lang="en-US" dirty="0"/>
              <a:t>It is a test(!) – i.e., only the answers matter (and it is either correct or wrong)</a:t>
            </a:r>
          </a:p>
          <a:p>
            <a:pPr lvl="1"/>
            <a:r>
              <a:rPr lang="en-US" dirty="0"/>
              <a:t>In the labs using an online application</a:t>
            </a:r>
          </a:p>
          <a:p>
            <a:pPr lvl="2"/>
            <a:r>
              <a:rPr lang="en-US" dirty="0"/>
              <a:t>Strict rules, no materials, and no other applications may be running, …</a:t>
            </a:r>
          </a:p>
          <a:p>
            <a:pPr lvl="2"/>
            <a:r>
              <a:rPr lang="en-US" dirty="0"/>
              <a:t>Paper, pencil, and calculator are allowed…</a:t>
            </a:r>
          </a:p>
          <a:p>
            <a:pPr lvl="1"/>
            <a:r>
              <a:rPr lang="en-US" dirty="0"/>
              <a:t>10 questions, 20 points, 65 minutes (soft deadline)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Grading</a:t>
            </a:r>
          </a:p>
          <a:p>
            <a:pPr lvl="2"/>
            <a:r>
              <a:rPr lang="en-US" dirty="0"/>
              <a:t>17-20 points = mark 1 (Excellent)</a:t>
            </a:r>
          </a:p>
          <a:p>
            <a:pPr lvl="2"/>
            <a:r>
              <a:rPr lang="en-US" dirty="0"/>
              <a:t>14-16 points = mark 2 (Well done)</a:t>
            </a:r>
          </a:p>
          <a:p>
            <a:pPr lvl="2"/>
            <a:r>
              <a:rPr lang="en-US" dirty="0"/>
              <a:t>11-13 points = mark 3 (OK)</a:t>
            </a:r>
          </a:p>
          <a:p>
            <a:pPr lvl="2"/>
            <a:r>
              <a:rPr lang="en-US" dirty="0"/>
              <a:t>&lt; 11 points = fail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6706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Question types</a:t>
            </a:r>
          </a:p>
          <a:p>
            <a:pPr lvl="1"/>
            <a:r>
              <a:rPr lang="en-US" dirty="0"/>
              <a:t>Single best answer (radio select)</a:t>
            </a:r>
          </a:p>
          <a:p>
            <a:pPr lvl="2"/>
            <a:r>
              <a:rPr lang="en-US" dirty="0"/>
              <a:t>Multiple answers may technically correct, but you need to select the best one</a:t>
            </a:r>
          </a:p>
          <a:p>
            <a:pPr lvl="2"/>
            <a:r>
              <a:rPr lang="en-US" dirty="0"/>
              <a:t>The best one is the most precise and the most complete one</a:t>
            </a:r>
          </a:p>
          <a:p>
            <a:pPr lvl="1"/>
            <a:r>
              <a:rPr lang="en-US" dirty="0"/>
              <a:t>Multi-choice (checkboxes)</a:t>
            </a:r>
          </a:p>
          <a:p>
            <a:pPr lvl="2"/>
            <a:r>
              <a:rPr lang="en-US" dirty="0"/>
              <a:t>Multiple answers may be correct, you need to select all of them</a:t>
            </a:r>
          </a:p>
          <a:p>
            <a:pPr lvl="2"/>
            <a:r>
              <a:rPr lang="en-US" dirty="0"/>
              <a:t>There may be no correct answers (not checking anything may be correct)</a:t>
            </a:r>
          </a:p>
          <a:p>
            <a:pPr lvl="1"/>
            <a:r>
              <a:rPr lang="en-US" dirty="0"/>
              <a:t>Multi-choice with order</a:t>
            </a:r>
          </a:p>
          <a:p>
            <a:pPr lvl="2"/>
            <a:r>
              <a:rPr lang="en-US" dirty="0"/>
              <a:t>Select multiple options and put them in the correct order</a:t>
            </a:r>
          </a:p>
          <a:p>
            <a:pPr lvl="1"/>
            <a:r>
              <a:rPr lang="en-US" dirty="0"/>
              <a:t>Fill in number(s)</a:t>
            </a:r>
          </a:p>
          <a:p>
            <a:pPr lvl="2"/>
            <a:r>
              <a:rPr lang="en-US" dirty="0"/>
              <a:t>The answer is a number or sequence of numbers (e.g., a result of a calculation)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625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Quiz questions</a:t>
            </a:r>
          </a:p>
          <a:p>
            <a:pPr lvl="1"/>
            <a:r>
              <a:rPr lang="en-US" dirty="0"/>
              <a:t>5 questions, 1 point each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Example (single best answer question)</a:t>
            </a:r>
            <a:br>
              <a:rPr lang="en-US" dirty="0"/>
            </a:br>
            <a:r>
              <a:rPr lang="en-US" dirty="0"/>
              <a:t>“Instruction set architecture (ISA) defines:”</a:t>
            </a:r>
          </a:p>
          <a:p>
            <a:pPr lvl="2"/>
            <a:r>
              <a:rPr lang="en-US" dirty="0"/>
              <a:t>Instructions semantics and registers</a:t>
            </a:r>
          </a:p>
          <a:p>
            <a:pPr lvl="2"/>
            <a:r>
              <a:rPr lang="en-US" dirty="0"/>
              <a:t>Instruction op-codes, memory management, and I/O model</a:t>
            </a:r>
          </a:p>
          <a:p>
            <a:pPr lvl="2"/>
            <a:r>
              <a:rPr lang="en-US" dirty="0"/>
              <a:t>Registers, ALUs, decoding units, caches, and memory controllers</a:t>
            </a:r>
          </a:p>
          <a:p>
            <a:pPr lvl="2"/>
            <a:r>
              <a:rPr lang="en-US" dirty="0"/>
              <a:t>Instruction mapping to micro-instructions and ALU operations</a:t>
            </a:r>
          </a:p>
          <a:p>
            <a:pPr lvl="2"/>
            <a:r>
              <a:rPr lang="en-US" dirty="0"/>
              <a:t>Instructions semantics, op-codes, registers, memory management, and I/O model</a:t>
            </a:r>
          </a:p>
          <a:p>
            <a:pPr lvl="2"/>
            <a:r>
              <a:rPr lang="en-US" dirty="0"/>
              <a:t>Instructions semantics, op-codes, ALUs, decoding units, registers, memory management, caches, and I/O model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499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Practical questions</a:t>
            </a:r>
          </a:p>
          <a:p>
            <a:pPr lvl="1"/>
            <a:r>
              <a:rPr lang="en-US" dirty="0"/>
              <a:t>A scenario, where a problem is given and you need to solve it</a:t>
            </a:r>
          </a:p>
          <a:p>
            <a:pPr lvl="2"/>
            <a:r>
              <a:rPr lang="en-US" dirty="0"/>
              <a:t>Calculate something, decode a data structure, understand a piece of code, …</a:t>
            </a:r>
          </a:p>
          <a:p>
            <a:pPr lvl="1"/>
            <a:r>
              <a:rPr lang="en-US" dirty="0"/>
              <a:t>5 questions, 3 points each</a:t>
            </a:r>
            <a:endParaRPr lang="en-US" dirty="0">
              <a:cs typeface="Calibri"/>
            </a:endParaRPr>
          </a:p>
          <a:p>
            <a:pPr lvl="1"/>
            <a:r>
              <a:rPr lang="en-US" dirty="0"/>
              <a:t>Example (numeric question)</a:t>
            </a:r>
            <a:br>
              <a:rPr lang="en-US" dirty="0"/>
            </a:br>
            <a:r>
              <a:rPr lang="en-US" dirty="0"/>
              <a:t>“How many page faults (at most) may occur when you copy 2KiB of memory in user space?”</a:t>
            </a:r>
          </a:p>
          <a:p>
            <a:pPr lvl="2"/>
            <a:r>
              <a:rPr lang="en-US" dirty="0"/>
              <a:t>Assume 32-bit address space, 4 KiB pages, and 2-level paging</a:t>
            </a:r>
          </a:p>
          <a:p>
            <a:pPr lvl="2"/>
            <a:r>
              <a:rPr lang="en-US" dirty="0"/>
              <a:t>There is enough physical memory (each page may fault at most once)</a:t>
            </a:r>
          </a:p>
          <a:p>
            <a:pPr lvl="2"/>
            <a:r>
              <a:rPr lang="en-US" dirty="0"/>
              <a:t>OS is “simple”, it can allocate only one physical frame at each fault</a:t>
            </a:r>
          </a:p>
          <a:p>
            <a:pPr lvl="2"/>
            <a:r>
              <a:rPr lang="en-US" dirty="0"/>
              <a:t>Ignore possible page faults caused by instruction fetching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5190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questions</a:t>
            </a:r>
          </a:p>
          <a:p>
            <a:pPr lvl="1"/>
            <a:r>
              <a:rPr lang="en-US" dirty="0"/>
              <a:t>Example (numeric question)</a:t>
            </a:r>
            <a:br>
              <a:rPr lang="en-US" dirty="0"/>
            </a:br>
            <a:br>
              <a:rPr lang="en-US" dirty="0"/>
            </a:b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 {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type;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deviation;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double is 64-bit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count;       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32-bit</a:t>
            </a:r>
            <a:br>
              <a:rPr lang="en-US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S[20]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/>
            </a:br>
            <a:r>
              <a:rPr lang="en-US" dirty="0"/>
              <a:t>“What is the offset (in bytes) of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[3].count</a:t>
            </a:r>
            <a:r>
              <a:rPr lang="en-US" dirty="0"/>
              <a:t> from the beginning of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</a:t>
            </a:r>
            <a:r>
              <a:rPr lang="en-US" dirty="0"/>
              <a:t> array?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/>
              <a:t> is 64bit,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is 32bit)”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274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3035"/>
            <a:ext cx="10515600" cy="4351338"/>
          </a:xfrm>
        </p:spPr>
        <p:txBody>
          <a:bodyPr/>
          <a:lstStyle/>
          <a:p>
            <a:r>
              <a:rPr lang="en-US" dirty="0"/>
              <a:t>Practical questions</a:t>
            </a:r>
          </a:p>
          <a:p>
            <a:pPr lvl="1"/>
            <a:r>
              <a:rPr lang="en-US" dirty="0"/>
              <a:t>Example (numeric question)</a:t>
            </a:r>
          </a:p>
          <a:p>
            <a:pPr lvl="2"/>
            <a:r>
              <a:rPr lang="en-US" dirty="0"/>
              <a:t>FAT16 file system with 2 KiB clusters</a:t>
            </a:r>
          </a:p>
          <a:p>
            <a:pPr lvl="2"/>
            <a:r>
              <a:rPr lang="en-US" dirty="0"/>
              <a:t>File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a.txt</a:t>
            </a:r>
            <a:r>
              <a:rPr lang="en-US" dirty="0"/>
              <a:t> directory entry has properties</a:t>
            </a:r>
          </a:p>
          <a:p>
            <a:pPr lvl="3"/>
            <a:r>
              <a:rPr lang="en-US" dirty="0" err="1"/>
              <a:t>firstCluster</a:t>
            </a:r>
            <a:r>
              <a:rPr lang="en-US" dirty="0"/>
              <a:t> = 3</a:t>
            </a:r>
          </a:p>
          <a:p>
            <a:pPr lvl="3"/>
            <a:r>
              <a:rPr lang="en-US" dirty="0"/>
              <a:t>size = 7654</a:t>
            </a:r>
          </a:p>
          <a:p>
            <a:pPr lvl="2"/>
            <a:r>
              <a:rPr lang="en-US" dirty="0"/>
              <a:t>An user performs</a:t>
            </a:r>
          </a:p>
          <a:p>
            <a:pPr lvl="3"/>
            <a:r>
              <a:rPr lang="en-US" dirty="0"/>
              <a:t>Seek to offset 3210</a:t>
            </a:r>
          </a:p>
          <a:p>
            <a:pPr lvl="3"/>
            <a:r>
              <a:rPr lang="en-US" dirty="0"/>
              <a:t>Read of 1000 bytes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“Write indices of all clusters which will be loaded to satisfy this operation.</a:t>
            </a:r>
            <a:br>
              <a:rPr lang="en-US" dirty="0"/>
            </a:br>
            <a:r>
              <a:rPr lang="en-US" dirty="0"/>
              <a:t>(assume the FAT table is cached in main </a:t>
            </a:r>
            <a:r>
              <a:rPr lang="en-US"/>
              <a:t>memory).”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8356051" y="3276379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44034" y="3267668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8976320" y="3276379"/>
            <a:ext cx="288032" cy="198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 dirty="0">
                <a:latin typeface="+mn-lt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4303" y="3267668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 bwMode="auto">
          <a:xfrm>
            <a:off x="9596589" y="3276379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84572" y="3267668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 bwMode="auto">
          <a:xfrm>
            <a:off x="10216859" y="3276379"/>
            <a:ext cx="288032" cy="198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4842" y="3267668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8356051" y="3645024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4034" y="3636313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6</a:t>
            </a:r>
          </a:p>
        </p:txBody>
      </p:sp>
      <p:sp>
        <p:nvSpPr>
          <p:cNvPr id="16" name="Rectangle 15"/>
          <p:cNvSpPr/>
          <p:nvPr/>
        </p:nvSpPr>
        <p:spPr bwMode="auto">
          <a:xfrm>
            <a:off x="8976320" y="3645024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4303" y="3636313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7</a:t>
            </a:r>
          </a:p>
        </p:txBody>
      </p:sp>
      <p:sp>
        <p:nvSpPr>
          <p:cNvPr id="18" name="Rectangle 17"/>
          <p:cNvSpPr/>
          <p:nvPr/>
        </p:nvSpPr>
        <p:spPr bwMode="auto">
          <a:xfrm>
            <a:off x="9596589" y="3645024"/>
            <a:ext cx="288032" cy="198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4572" y="3636313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 bwMode="auto">
          <a:xfrm>
            <a:off x="10216859" y="3645024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4842" y="3636313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9</a:t>
            </a:r>
          </a:p>
        </p:txBody>
      </p:sp>
      <p:sp>
        <p:nvSpPr>
          <p:cNvPr id="22" name="Rectangle 21"/>
          <p:cNvSpPr/>
          <p:nvPr/>
        </p:nvSpPr>
        <p:spPr bwMode="auto">
          <a:xfrm>
            <a:off x="8356051" y="4013669"/>
            <a:ext cx="288032" cy="198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8350" y="4004958"/>
            <a:ext cx="18274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8976320" y="4013669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7271" y="4004958"/>
            <a:ext cx="185436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 bwMode="auto">
          <a:xfrm>
            <a:off x="9596589" y="4013669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8888" y="4004958"/>
            <a:ext cx="18274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12</a:t>
            </a:r>
          </a:p>
        </p:txBody>
      </p:sp>
      <p:sp>
        <p:nvSpPr>
          <p:cNvPr id="28" name="Rectangle 27"/>
          <p:cNvSpPr/>
          <p:nvPr/>
        </p:nvSpPr>
        <p:spPr bwMode="auto">
          <a:xfrm>
            <a:off x="10216859" y="4013669"/>
            <a:ext cx="288032" cy="198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9158" y="4004958"/>
            <a:ext cx="18274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13</a:t>
            </a:r>
          </a:p>
        </p:txBody>
      </p:sp>
      <p:sp>
        <p:nvSpPr>
          <p:cNvPr id="30" name="Rectangle 29"/>
          <p:cNvSpPr/>
          <p:nvPr/>
        </p:nvSpPr>
        <p:spPr bwMode="auto">
          <a:xfrm>
            <a:off x="8356051" y="4382313"/>
            <a:ext cx="288032" cy="198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-1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8350" y="4373602"/>
            <a:ext cx="18274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14</a:t>
            </a:r>
          </a:p>
        </p:txBody>
      </p:sp>
      <p:sp>
        <p:nvSpPr>
          <p:cNvPr id="32" name="Rectangle 31"/>
          <p:cNvSpPr/>
          <p:nvPr/>
        </p:nvSpPr>
        <p:spPr bwMode="auto">
          <a:xfrm>
            <a:off x="8976320" y="4382313"/>
            <a:ext cx="288032" cy="19802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18619" y="4373602"/>
            <a:ext cx="18274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 dirty="0">
                <a:latin typeface="+mn-lt"/>
              </a:rPr>
              <a:t>15</a:t>
            </a:r>
          </a:p>
        </p:txBody>
      </p:sp>
      <p:sp>
        <p:nvSpPr>
          <p:cNvPr id="34" name="Rectangle 33"/>
          <p:cNvSpPr/>
          <p:nvPr/>
        </p:nvSpPr>
        <p:spPr bwMode="auto">
          <a:xfrm>
            <a:off x="9596589" y="4382313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8888" y="4373602"/>
            <a:ext cx="18274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16</a:t>
            </a:r>
          </a:p>
        </p:txBody>
      </p:sp>
      <p:sp>
        <p:nvSpPr>
          <p:cNvPr id="36" name="Rectangle 35"/>
          <p:cNvSpPr/>
          <p:nvPr/>
        </p:nvSpPr>
        <p:spPr bwMode="auto">
          <a:xfrm>
            <a:off x="10216859" y="4382313"/>
            <a:ext cx="288032" cy="19802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400">
                <a:latin typeface="+mn-lt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9158" y="4373602"/>
            <a:ext cx="182742" cy="21544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400">
                <a:latin typeface="+mn-lt"/>
              </a:rPr>
              <a:t>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7" y="2804928"/>
            <a:ext cx="504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FAT</a:t>
            </a:r>
          </a:p>
        </p:txBody>
      </p:sp>
    </p:spTree>
    <p:extLst>
      <p:ext uri="{BB962C8B-B14F-4D97-AF65-F5344CB8AC3E}">
        <p14:creationId xmlns:p14="http://schemas.microsoft.com/office/powerpoint/2010/main" val="3117423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Exams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Practical questions</a:t>
            </a:r>
          </a:p>
          <a:p>
            <a:pPr lvl="1"/>
            <a:r>
              <a:rPr lang="en-US" dirty="0"/>
              <a:t>Example (single best answer)</a:t>
            </a:r>
            <a:br>
              <a:rPr lang="en-US" dirty="0"/>
            </a:br>
            <a:r>
              <a:rPr lang="en-US" dirty="0"/>
              <a:t>“Select a C code that was compiled into the given assembly fragment.”</a:t>
            </a:r>
          </a:p>
          <a:p>
            <a:pPr lvl="2"/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(x &lt; y) ++x;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 += (a-b) * (a-b)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+ b + c - d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a+b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 -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c+d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(x &gt;= y) ? 0 : x+1</a:t>
            </a: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x + y + z</a:t>
            </a:r>
          </a:p>
          <a:p>
            <a:pPr lvl="2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(j &gt; 0) --j;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271028" y="3493462"/>
            <a:ext cx="51090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$t0, $a0, $a2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addition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$t1, $a1, $a3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 $r0, $t0, $t1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subtraction</a:t>
            </a:r>
          </a:p>
        </p:txBody>
      </p:sp>
    </p:spTree>
    <p:extLst>
      <p:ext uri="{BB962C8B-B14F-4D97-AF65-F5344CB8AC3E}">
        <p14:creationId xmlns:p14="http://schemas.microsoft.com/office/powerpoint/2010/main" val="3751741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/>
              <a:t>22.5.2025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6" name="Picture 7" descr="http://www.peirnet.net/moodle/file.php/1/face_question_mar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439" y="1865610"/>
            <a:ext cx="4315817" cy="431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097232"/>
      </p:ext>
    </p:extLst>
  </p:cSld>
  <p:clrMapOvr>
    <a:masterClrMapping/>
  </p:clrMapOvr>
</p:sld>
</file>

<file path=ppt/theme/theme1.xml><?xml version="1.0" encoding="utf-8"?>
<a:theme xmlns:a="http://schemas.openxmlformats.org/drawingml/2006/main" name="kuba">
  <a:themeElements>
    <a:clrScheme name="kuba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kub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kuba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uba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uba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lides-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theme" id="{B506BBAE-7B29-471E-98D8-11EBE1E364B1}" vid="{D89F9550-F518-42A1-84C0-A3FA72197ECD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672D1A12B65B47AC1B61537578BD28" ma:contentTypeVersion="12" ma:contentTypeDescription="Create a new document." ma:contentTypeScope="" ma:versionID="5a82d84582cde9052097bd1b0cc75dba">
  <xsd:schema xmlns:xsd="http://www.w3.org/2001/XMLSchema" xmlns:xs="http://www.w3.org/2001/XMLSchema" xmlns:p="http://schemas.microsoft.com/office/2006/metadata/properties" xmlns:ns2="1c0ec0c6-5c42-41c6-8024-9200e69c8a29" xmlns:ns3="2fd21476-4047-415c-8b38-5026f9093e44" targetNamespace="http://schemas.microsoft.com/office/2006/metadata/properties" ma:root="true" ma:fieldsID="3fcc552a00055e6511e078b2ffb69500" ns2:_="" ns3:_="">
    <xsd:import namespace="1c0ec0c6-5c42-41c6-8024-9200e69c8a29"/>
    <xsd:import namespace="2fd21476-4047-415c-8b38-5026f9093e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0ec0c6-5c42-41c6-8024-9200e69c8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21476-4047-415c-8b38-5026f9093e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128B5C-E2DE-49B4-B36F-EA28917A1B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0ec0c6-5c42-41c6-8024-9200e69c8a29"/>
    <ds:schemaRef ds:uri="2fd21476-4047-415c-8b38-5026f9093e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93DA91-5F36-4639-AAD4-00CDC723CEEA}">
  <ds:schemaRefs>
    <ds:schemaRef ds:uri="1c0ec0c6-5c42-41c6-8024-9200e69c8a29"/>
    <ds:schemaRef ds:uri="2fd21476-4047-415c-8b38-5026f9093e44"/>
    <ds:schemaRef ds:uri="http://purl.org/dc/elements/1.1/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8D05465-AC5E-4C22-B11E-E6D2DC8197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5615</TotalTime>
  <Words>1083</Words>
  <Application>Microsoft Office PowerPoint</Application>
  <PresentationFormat>Širokoúhlá obrazovka</PresentationFormat>
  <Paragraphs>184</Paragraphs>
  <Slides>14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14</vt:i4>
      </vt:variant>
    </vt:vector>
  </HeadingPairs>
  <TitlesOfParts>
    <vt:vector size="21" baseType="lpstr">
      <vt:lpstr>Wingdings</vt:lpstr>
      <vt:lpstr>Calibri Light</vt:lpstr>
      <vt:lpstr>Arial</vt:lpstr>
      <vt:lpstr>Calibri</vt:lpstr>
      <vt:lpstr>Courier New</vt:lpstr>
      <vt:lpstr>kuba</vt:lpstr>
      <vt:lpstr>slides-theme</vt:lpstr>
      <vt:lpstr>Final words and test questions examples</vt:lpstr>
      <vt:lpstr>Refreshing course contents</vt:lpstr>
      <vt:lpstr>Refreshing course contents</vt:lpstr>
      <vt:lpstr>Refreshing course contents</vt:lpstr>
      <vt:lpstr>Consultation</vt:lpstr>
      <vt:lpstr>Exams</vt:lpstr>
      <vt:lpstr>Exams</vt:lpstr>
      <vt:lpstr>Exams</vt:lpstr>
      <vt:lpstr>Exams</vt:lpstr>
      <vt:lpstr>Exams</vt:lpstr>
      <vt:lpstr>Exams</vt:lpstr>
      <vt:lpstr>Exams</vt:lpstr>
      <vt:lpstr>Exams</vt:lpstr>
      <vt:lpstr>Discussion</vt:lpstr>
    </vt:vector>
  </TitlesOfParts>
  <Company>Ulita, KSI, MFF UK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Principy překladačů</dc:title>
  <dc:creator>Jakub Yaghob</dc:creator>
  <cp:lastModifiedBy>Petr Ježek</cp:lastModifiedBy>
  <cp:revision>322</cp:revision>
  <dcterms:created xsi:type="dcterms:W3CDTF">2005-09-28T09:53:52Z</dcterms:created>
  <dcterms:modified xsi:type="dcterms:W3CDTF">2025-06-05T12:32:50Z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0x010100CF672D1A12B65B47AC1B61537578BD28</vt:lpwstr>
  </property>
</Properties>
</file>