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9" r:id="rId4"/>
    <p:sldMasterId id="2147483661" r:id="rId5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3" r:id="rId15"/>
    <p:sldId id="270" r:id="rId16"/>
    <p:sldId id="271" r:id="rId17"/>
    <p:sldId id="265" r:id="rId18"/>
    <p:sldId id="266" r:id="rId19"/>
    <p:sldId id="267" r:id="rId20"/>
    <p:sldId id="268" r:id="rId21"/>
    <p:sldId id="269" r:id="rId22"/>
    <p:sldId id="272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528E2A-7987-42E7-8D84-6B2D7455883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73"/>
            <p14:sldId id="270"/>
            <p14:sldId id="271"/>
            <p14:sldId id="265"/>
            <p14:sldId id="266"/>
            <p14:sldId id="267"/>
            <p14:sldId id="268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33CC33"/>
    <a:srgbClr val="CC66FF"/>
    <a:srgbClr val="0066FF"/>
    <a:srgbClr val="9966FF"/>
    <a:srgbClr val="6666FF"/>
    <a:srgbClr val="666699"/>
    <a:srgbClr val="00CCFF"/>
    <a:srgbClr val="FF33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33AB34-FCB8-4A38-8B05-859D36628099}" v="2" dt="2025-05-22T12:26:06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52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042EEA-9F9B-4B91-B52A-073E94FB90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Bit-level –</a:t>
            </a:r>
            <a:r>
              <a:rPr lang="en-US" baseline="0"/>
              <a:t> some operations are natively parallel, e.g., bit-wise logic instructions</a:t>
            </a:r>
          </a:p>
          <a:p>
            <a:r>
              <a:rPr lang="en-US" baseline="0"/>
              <a:t>Instruction-level – pipelining, </a:t>
            </a:r>
            <a:r>
              <a:rPr lang="en-US" baseline="0" err="1"/>
              <a:t>superscalarity</a:t>
            </a:r>
            <a:r>
              <a:rPr lang="en-US" baseline="0"/>
              <a:t>, vector instructions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8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Mutexes</a:t>
            </a:r>
            <a:r>
              <a:rPr lang="en-US"/>
              <a:t> are exclusive (condition 1)</a:t>
            </a:r>
          </a:p>
          <a:p>
            <a:r>
              <a:rPr lang="en-US"/>
              <a:t>Both threads acquire 1 lock</a:t>
            </a:r>
            <a:r>
              <a:rPr lang="en-US" baseline="0"/>
              <a:t> and then request another (condition 2)</a:t>
            </a:r>
          </a:p>
          <a:p>
            <a:r>
              <a:rPr lang="en-US" baseline="0" err="1"/>
              <a:t>Mutex</a:t>
            </a:r>
            <a:r>
              <a:rPr lang="en-US" baseline="0"/>
              <a:t> locks are not preemptive by design (condition 3)</a:t>
            </a:r>
          </a:p>
          <a:p>
            <a:r>
              <a:rPr lang="en-US" baseline="0" err="1"/>
              <a:t>Alernate</a:t>
            </a:r>
            <a:r>
              <a:rPr lang="en-US" baseline="0"/>
              <a:t> lock orderings in both threads create the dependency cycle (condition 4)</a:t>
            </a:r>
          </a:p>
          <a:p>
            <a:endParaRPr lang="en-US" baseline="0"/>
          </a:p>
          <a:p>
            <a:r>
              <a:rPr lang="en-US" baseline="0"/>
              <a:t>Solutions – remove one of the Coffman’s conditions</a:t>
            </a:r>
          </a:p>
          <a:p>
            <a:pPr marL="228600" indent="-228600">
              <a:buAutoNum type="arabicParenR"/>
            </a:pPr>
            <a:r>
              <a:rPr lang="en-US" baseline="0"/>
              <a:t>Cannot be removed</a:t>
            </a:r>
          </a:p>
          <a:p>
            <a:pPr marL="228600" indent="-228600">
              <a:buAutoNum type="arabicParenR"/>
            </a:pPr>
            <a:r>
              <a:rPr lang="en-US" baseline="0"/>
              <a:t>We could merge m1 and m2 to m12 (not always possible)</a:t>
            </a:r>
          </a:p>
          <a:p>
            <a:pPr marL="228600" indent="-228600">
              <a:buAutoNum type="arabicParenR"/>
            </a:pPr>
            <a:r>
              <a:rPr lang="en-US" baseline="0" err="1"/>
              <a:t>Cannote</a:t>
            </a:r>
            <a:r>
              <a:rPr lang="en-US" baseline="0"/>
              <a:t> be removed</a:t>
            </a:r>
          </a:p>
          <a:p>
            <a:pPr marL="228600" indent="-228600">
              <a:buAutoNum type="arabicParenR"/>
            </a:pPr>
            <a:r>
              <a:rPr lang="en-US" baseline="0"/>
              <a:t>We can make total ordering on the </a:t>
            </a:r>
            <a:r>
              <a:rPr lang="en-US" baseline="0" err="1"/>
              <a:t>mutexes</a:t>
            </a:r>
            <a:r>
              <a:rPr lang="en-US" baseline="0"/>
              <a:t> and the threads must always lock in this order (may be difficult to implement).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4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A4750BA-B163-4F11-8356-C4353F13CE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pic>
        <p:nvPicPr>
          <p:cNvPr id="5129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1700" y="3392489"/>
            <a:ext cx="2245784" cy="14065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1145F-674A-4228-8958-0EA9769F55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15E1F-5AFB-40EA-923D-A2EB4D767C8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EAE92-5121-41FC-8DEC-DA73929E0C3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B1BA9-04F9-4DBA-8B88-0BF71DD220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B23DE-87E9-44C4-9125-F996474026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B49DB-207B-4B04-AB13-3224BA24FB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FF626-F1DE-4CAB-AC6F-3C9C63F3BC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FCAB0-4CDF-4FD1-8C9D-AF93D5E31F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E42D6-9DD4-4165-BDB0-13B2B843F0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7C8BE-C614-485F-9B20-1471ABF7C6A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42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9926595" y="404664"/>
            <a:ext cx="1944216" cy="1584176"/>
          </a:xfrm>
          <a:prstGeom prst="cloudCallout">
            <a:avLst>
              <a:gd name="adj1" fmla="val -72589"/>
              <a:gd name="adj2" fmla="val 6714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6480" y="683778"/>
            <a:ext cx="1050425" cy="8771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7134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097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15E1F-5AFB-40EA-923D-A2EB4D767C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82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227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201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3DE-87E9-44C4-9125-F996474026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696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B49DB-207B-4B04-AB13-3224BA24F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032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FF626-F1DE-4CAB-AC6F-3C9C63F3BC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625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FCAB0-4CDF-4FD1-8C9D-AF93D5E31F1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5707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E42D6-9DD4-4165-BDB0-13B2B843F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528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C8BE-C614-485F-9B20-1471ABF7C6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96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D280EE7-F64F-4308-BA6A-AA907C3209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23727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cs-CZ"/>
          </a:p>
        </p:txBody>
      </p:sp>
      <p:pic>
        <p:nvPicPr>
          <p:cNvPr id="4105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6101" y="115888"/>
            <a:ext cx="1485900" cy="9318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222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80EE7-F64F-4308-BA6A-AA907C3209A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4512" y="476672"/>
            <a:ext cx="1050425" cy="877169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>
          <a:xfrm flipH="1">
            <a:off x="838200" y="1484784"/>
            <a:ext cx="10874424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91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Parallel programming</a:t>
            </a:r>
            <a:br>
              <a:rPr lang="en-US"/>
            </a:br>
            <a:r>
              <a:rPr lang="en-US"/>
              <a:t>and synchronization</a:t>
            </a:r>
            <a:endParaRPr lang="cs-CZ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NSWI170 Computer Systems</a:t>
            </a:r>
            <a:endParaRPr lang="cs-CZ"/>
          </a:p>
          <a:p>
            <a:endParaRPr lang="cs-CZ"/>
          </a:p>
          <a:p>
            <a:r>
              <a:rPr lang="cs-CZ"/>
              <a:t>Jakub </a:t>
            </a:r>
            <a:r>
              <a:rPr lang="cs-CZ" err="1"/>
              <a:t>Yaghob</a:t>
            </a:r>
            <a:r>
              <a:rPr lang="en-US"/>
              <a:t>, Martin </a:t>
            </a:r>
            <a:r>
              <a:rPr lang="en-US" err="1"/>
              <a:t>Kruli</a:t>
            </a:r>
            <a:r>
              <a:rPr lang="cs-CZ"/>
              <a:t>š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and concurrent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Parallel computing</a:t>
            </a:r>
          </a:p>
          <a:p>
            <a:pPr lvl="1"/>
            <a:r>
              <a:rPr lang="en-US"/>
              <a:t>Calculations or executions of processes are carried out simultaneously</a:t>
            </a:r>
          </a:p>
          <a:p>
            <a:pPr lvl="1"/>
            <a:r>
              <a:rPr lang="en-US"/>
              <a:t>Bit-level, instruction-level, data, and task parallelism</a:t>
            </a:r>
          </a:p>
          <a:p>
            <a:pPr lvl="1"/>
            <a:r>
              <a:rPr lang="en-US"/>
              <a:t>Parallelism without concurrency – bit-level parallelism</a:t>
            </a:r>
          </a:p>
          <a:p>
            <a:pPr lvl="1"/>
            <a:r>
              <a:rPr lang="en-US"/>
              <a:t>The problem is broken into several similar subtasks, results combined</a:t>
            </a:r>
          </a:p>
          <a:p>
            <a:r>
              <a:rPr lang="en-US"/>
              <a:t>Concurrent computing</a:t>
            </a:r>
          </a:p>
          <a:p>
            <a:pPr lvl="1"/>
            <a:r>
              <a:rPr lang="en-US"/>
              <a:t>Multiple computations (processes) are executed simultaneously</a:t>
            </a:r>
          </a:p>
          <a:p>
            <a:pPr lvl="1"/>
            <a:r>
              <a:rPr lang="en-US"/>
              <a:t>Concurrent without parallelism – multitasking on a single CPU</a:t>
            </a:r>
          </a:p>
          <a:p>
            <a:pPr lvl="1"/>
            <a:r>
              <a:rPr lang="en-US"/>
              <a:t>Processes do not work on related tasks</a:t>
            </a:r>
          </a:p>
          <a:p>
            <a:r>
              <a:rPr lang="en-US"/>
              <a:t>Forces</a:t>
            </a:r>
          </a:p>
          <a:p>
            <a:pPr lvl="1"/>
            <a:r>
              <a:rPr lang="en-US"/>
              <a:t>One (shared) address space</a:t>
            </a:r>
          </a:p>
          <a:p>
            <a:pPr lvl="1"/>
            <a:r>
              <a:rPr lang="en-US"/>
              <a:t>Threads</a:t>
            </a:r>
          </a:p>
          <a:p>
            <a:pPr lvl="1"/>
            <a:r>
              <a:rPr lang="en-US"/>
              <a:t>Multiprocessing</a:t>
            </a:r>
          </a:p>
          <a:p>
            <a:pPr lvl="1"/>
            <a:r>
              <a:rPr lang="en-US"/>
              <a:t>Scheduling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554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Race condition</a:t>
            </a:r>
          </a:p>
          <a:p>
            <a:pPr lvl="1"/>
            <a:r>
              <a:rPr lang="en-US"/>
              <a:t>Multiple threads accessing (updating) the same data in shared memory space</a:t>
            </a:r>
          </a:p>
          <a:p>
            <a:pPr lvl="2"/>
            <a:r>
              <a:rPr lang="en-US"/>
              <a:t>Cache coherency helps a little, but does not actually solve anything</a:t>
            </a:r>
          </a:p>
          <a:p>
            <a:pPr lvl="2"/>
            <a:r>
              <a:rPr lang="en-US"/>
              <a:t>Load-store architecture makes it more pronounced</a:t>
            </a:r>
          </a:p>
          <a:p>
            <a:pPr lvl="1"/>
            <a:r>
              <a:rPr lang="en-US"/>
              <a:t>The result of a computation depends on the sequence or timing of units of scheduling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List {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Node *root;</a:t>
            </a:r>
          </a:p>
          <a:p>
            <a:pPr marL="0" indent="0">
              <a:buNone/>
            </a:pP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PushFront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(Node *n) {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n-&gt;next = root;</a:t>
            </a:r>
          </a:p>
          <a:p>
            <a:pPr marL="0" indent="0">
              <a:buNone/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root = n;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18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Shared variable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</a:t>
            </a:r>
            <a:r>
              <a:rPr lang="en-US" sz="28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/>
          </a:p>
          <a:p>
            <a:r>
              <a:rPr lang="en-US"/>
              <a:t>Thread 1</a:t>
            </a:r>
          </a:p>
          <a:p>
            <a:pPr marL="0" indent="0">
              <a:buNone/>
            </a:pPr>
            <a:r>
              <a:rPr lang="en-US" sz="2800" b="1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lst.PushFront</a:t>
            </a:r>
            <a:r>
              <a:rPr lang="en-US" sz="28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(A);</a:t>
            </a:r>
          </a:p>
          <a:p>
            <a:endParaRPr lang="en-US"/>
          </a:p>
          <a:p>
            <a:r>
              <a:rPr lang="en-US"/>
              <a:t>Thread 2</a:t>
            </a:r>
          </a:p>
          <a:p>
            <a:pPr marL="0" indent="0">
              <a:buNone/>
            </a:pPr>
            <a:r>
              <a:rPr lang="en-US" sz="2800" b="1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lst.PushFront</a:t>
            </a:r>
            <a:r>
              <a:rPr lang="en-US" sz="28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(B);</a:t>
            </a:r>
          </a:p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5951984" y="1772816"/>
            <a:ext cx="72008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err="1">
                <a:latin typeface="+mn-lt"/>
              </a:rPr>
              <a:t>lst</a:t>
            </a:r>
            <a:endParaRPr lang="en-US" sz="280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94168" y="1848619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9802888" y="1844824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Y</a:t>
            </a:r>
          </a:p>
        </p:txBody>
      </p: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 bwMode="auto">
          <a:xfrm>
            <a:off x="6672064" y="2096853"/>
            <a:ext cx="2222104" cy="3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>
            <a:stCxn id="9" idx="3"/>
            <a:endCxn id="10" idx="1"/>
          </p:cNvCxnSpPr>
          <p:nvPr/>
        </p:nvCxnSpPr>
        <p:spPr bwMode="auto">
          <a:xfrm flipV="1">
            <a:off x="9398224" y="2096853"/>
            <a:ext cx="404664" cy="3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5951984" y="2676711"/>
            <a:ext cx="72008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err="1">
                <a:latin typeface="+mn-lt"/>
              </a:rPr>
              <a:t>lst</a:t>
            </a:r>
            <a:endParaRPr lang="en-US" sz="280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8894168" y="2748719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9802888" y="2748719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7076728" y="3256942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7972439" y="2248830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A</a:t>
            </a:r>
          </a:p>
        </p:txBody>
      </p:sp>
      <p:cxnSp>
        <p:nvCxnSpPr>
          <p:cNvPr id="37" name="Straight Arrow Connector 36"/>
          <p:cNvCxnSpPr>
            <a:stCxn id="32" idx="3"/>
            <a:endCxn id="35" idx="1"/>
          </p:cNvCxnSpPr>
          <p:nvPr/>
        </p:nvCxnSpPr>
        <p:spPr bwMode="auto">
          <a:xfrm>
            <a:off x="6672064" y="3000748"/>
            <a:ext cx="404664" cy="508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/>
          <p:cNvCxnSpPr>
            <a:stCxn id="35" idx="3"/>
            <a:endCxn id="36" idx="1"/>
          </p:cNvCxnSpPr>
          <p:nvPr/>
        </p:nvCxnSpPr>
        <p:spPr bwMode="auto">
          <a:xfrm flipV="1">
            <a:off x="7580785" y="2500858"/>
            <a:ext cx="391655" cy="10081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/>
          <p:cNvCxnSpPr>
            <a:stCxn id="36" idx="3"/>
            <a:endCxn id="33" idx="1"/>
          </p:cNvCxnSpPr>
          <p:nvPr/>
        </p:nvCxnSpPr>
        <p:spPr bwMode="auto">
          <a:xfrm>
            <a:off x="8476496" y="2500859"/>
            <a:ext cx="417673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/>
          <p:cNvCxnSpPr>
            <a:stCxn id="33" idx="3"/>
            <a:endCxn id="34" idx="1"/>
          </p:cNvCxnSpPr>
          <p:nvPr/>
        </p:nvCxnSpPr>
        <p:spPr bwMode="auto">
          <a:xfrm>
            <a:off x="9398224" y="3000747"/>
            <a:ext cx="40466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Straight Arrow Connector 49"/>
          <p:cNvCxnSpPr>
            <a:stCxn id="32" idx="3"/>
            <a:endCxn id="33" idx="1"/>
          </p:cNvCxnSpPr>
          <p:nvPr/>
        </p:nvCxnSpPr>
        <p:spPr bwMode="auto">
          <a:xfrm>
            <a:off x="6672064" y="3000747"/>
            <a:ext cx="22221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/>
          <p:cNvCxnSpPr>
            <a:stCxn id="32" idx="3"/>
            <a:endCxn id="36" idx="1"/>
          </p:cNvCxnSpPr>
          <p:nvPr/>
        </p:nvCxnSpPr>
        <p:spPr bwMode="auto">
          <a:xfrm flipV="1">
            <a:off x="6672065" y="2500859"/>
            <a:ext cx="1300375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Rectangle 52"/>
          <p:cNvSpPr/>
          <p:nvPr/>
        </p:nvSpPr>
        <p:spPr bwMode="auto">
          <a:xfrm>
            <a:off x="5951984" y="3908809"/>
            <a:ext cx="72008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err="1">
                <a:latin typeface="+mn-lt"/>
              </a:rPr>
              <a:t>lst</a:t>
            </a:r>
            <a:endParaRPr lang="en-US" sz="280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8894168" y="3980817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X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9802888" y="3980817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Y</a:t>
            </a:r>
          </a:p>
        </p:txBody>
      </p:sp>
      <p:sp>
        <p:nvSpPr>
          <p:cNvPr id="56" name="Rectangle 55"/>
          <p:cNvSpPr/>
          <p:nvPr/>
        </p:nvSpPr>
        <p:spPr bwMode="auto">
          <a:xfrm>
            <a:off x="7076728" y="4489040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A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7972439" y="3480928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B</a:t>
            </a:r>
          </a:p>
        </p:txBody>
      </p:sp>
      <p:cxnSp>
        <p:nvCxnSpPr>
          <p:cNvPr id="58" name="Straight Arrow Connector 57"/>
          <p:cNvCxnSpPr>
            <a:stCxn id="53" idx="3"/>
            <a:endCxn id="56" idx="1"/>
          </p:cNvCxnSpPr>
          <p:nvPr/>
        </p:nvCxnSpPr>
        <p:spPr bwMode="auto">
          <a:xfrm>
            <a:off x="6672064" y="4232846"/>
            <a:ext cx="404664" cy="508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/>
          <p:cNvCxnSpPr>
            <a:stCxn id="56" idx="3"/>
            <a:endCxn id="57" idx="1"/>
          </p:cNvCxnSpPr>
          <p:nvPr/>
        </p:nvCxnSpPr>
        <p:spPr bwMode="auto">
          <a:xfrm flipV="1">
            <a:off x="7580785" y="3732956"/>
            <a:ext cx="391655" cy="10081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0" name="Straight Arrow Connector 59"/>
          <p:cNvCxnSpPr>
            <a:stCxn id="57" idx="3"/>
            <a:endCxn id="54" idx="1"/>
          </p:cNvCxnSpPr>
          <p:nvPr/>
        </p:nvCxnSpPr>
        <p:spPr bwMode="auto">
          <a:xfrm>
            <a:off x="8476496" y="3732957"/>
            <a:ext cx="417673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Straight Arrow Connector 60"/>
          <p:cNvCxnSpPr>
            <a:stCxn id="54" idx="3"/>
            <a:endCxn id="55" idx="1"/>
          </p:cNvCxnSpPr>
          <p:nvPr/>
        </p:nvCxnSpPr>
        <p:spPr bwMode="auto">
          <a:xfrm>
            <a:off x="9398224" y="4232845"/>
            <a:ext cx="40466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/>
          <p:cNvCxnSpPr>
            <a:stCxn id="53" idx="3"/>
            <a:endCxn id="54" idx="1"/>
          </p:cNvCxnSpPr>
          <p:nvPr/>
        </p:nvCxnSpPr>
        <p:spPr bwMode="auto">
          <a:xfrm>
            <a:off x="6672064" y="4232845"/>
            <a:ext cx="22221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Straight Arrow Connector 62"/>
          <p:cNvCxnSpPr>
            <a:stCxn id="53" idx="3"/>
            <a:endCxn id="57" idx="1"/>
          </p:cNvCxnSpPr>
          <p:nvPr/>
        </p:nvCxnSpPr>
        <p:spPr bwMode="auto">
          <a:xfrm flipV="1">
            <a:off x="6672065" y="3732957"/>
            <a:ext cx="1300375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Rectangle 63"/>
          <p:cNvSpPr/>
          <p:nvPr/>
        </p:nvSpPr>
        <p:spPr bwMode="auto">
          <a:xfrm>
            <a:off x="5951984" y="5140906"/>
            <a:ext cx="72008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err="1">
                <a:latin typeface="+mn-lt"/>
              </a:rPr>
              <a:t>lst</a:t>
            </a:r>
            <a:endParaRPr lang="en-US" sz="280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8894168" y="5212914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X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9802888" y="5212914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Y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7076728" y="5721137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A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7972439" y="4713025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>
                <a:latin typeface="+mn-lt"/>
              </a:rPr>
              <a:t>B</a:t>
            </a:r>
          </a:p>
        </p:txBody>
      </p:sp>
      <p:cxnSp>
        <p:nvCxnSpPr>
          <p:cNvPr id="72" name="Straight Arrow Connector 71"/>
          <p:cNvCxnSpPr>
            <a:stCxn id="65" idx="3"/>
            <a:endCxn id="66" idx="1"/>
          </p:cNvCxnSpPr>
          <p:nvPr/>
        </p:nvCxnSpPr>
        <p:spPr bwMode="auto">
          <a:xfrm>
            <a:off x="9398224" y="5464942"/>
            <a:ext cx="40466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3" name="Straight Arrow Connector 72"/>
          <p:cNvCxnSpPr>
            <a:stCxn id="64" idx="3"/>
            <a:endCxn id="65" idx="1"/>
          </p:cNvCxnSpPr>
          <p:nvPr/>
        </p:nvCxnSpPr>
        <p:spPr bwMode="auto">
          <a:xfrm>
            <a:off x="6672064" y="5464942"/>
            <a:ext cx="22221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6" name="Straight Arrow Connector 75"/>
          <p:cNvCxnSpPr>
            <a:stCxn id="68" idx="3"/>
            <a:endCxn id="65" idx="1"/>
          </p:cNvCxnSpPr>
          <p:nvPr/>
        </p:nvCxnSpPr>
        <p:spPr bwMode="auto">
          <a:xfrm>
            <a:off x="8476496" y="4965054"/>
            <a:ext cx="417673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/>
          <p:cNvCxnSpPr>
            <a:stCxn id="67" idx="3"/>
            <a:endCxn id="65" idx="1"/>
          </p:cNvCxnSpPr>
          <p:nvPr/>
        </p:nvCxnSpPr>
        <p:spPr bwMode="auto">
          <a:xfrm flipV="1">
            <a:off x="7580784" y="5464943"/>
            <a:ext cx="1313384" cy="508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/>
          <p:cNvCxnSpPr>
            <a:stCxn id="64" idx="3"/>
            <a:endCxn id="67" idx="1"/>
          </p:cNvCxnSpPr>
          <p:nvPr/>
        </p:nvCxnSpPr>
        <p:spPr bwMode="auto">
          <a:xfrm>
            <a:off x="6672064" y="5464943"/>
            <a:ext cx="404664" cy="508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/>
          <p:cNvCxnSpPr>
            <a:stCxn id="64" idx="3"/>
            <a:endCxn id="68" idx="1"/>
          </p:cNvCxnSpPr>
          <p:nvPr/>
        </p:nvCxnSpPr>
        <p:spPr bwMode="auto">
          <a:xfrm flipV="1">
            <a:off x="6672065" y="4965054"/>
            <a:ext cx="1300375" cy="4998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0867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Problem definition</a:t>
            </a:r>
          </a:p>
          <a:p>
            <a:pPr lvl="1"/>
            <a:r>
              <a:rPr lang="en-US"/>
              <a:t>Concurrent access to a shared resource can lead to the race condition or even to an undefined behavior</a:t>
            </a:r>
          </a:p>
          <a:p>
            <a:r>
              <a:rPr lang="en-US"/>
              <a:t>Solution</a:t>
            </a:r>
          </a:p>
          <a:p>
            <a:pPr lvl="1"/>
            <a:r>
              <a:rPr lang="en-US"/>
              <a:t>Parts of the program, where the shared resource is accessed, need to be protected to avoid concurrent access</a:t>
            </a:r>
          </a:p>
          <a:p>
            <a:r>
              <a:rPr lang="en-US"/>
              <a:t>Critical section</a:t>
            </a:r>
          </a:p>
          <a:p>
            <a:pPr lvl="1"/>
            <a:r>
              <a:rPr lang="en-US"/>
              <a:t>Protected section of the program</a:t>
            </a:r>
          </a:p>
          <a:p>
            <a:r>
              <a:rPr lang="en-US"/>
              <a:t>Mutual exclusion</a:t>
            </a:r>
          </a:p>
          <a:p>
            <a:pPr lvl="1"/>
            <a:r>
              <a:rPr lang="en-US"/>
              <a:t>A critical section can be executed simultaneously by at most one unit of scheduling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83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Process synchronization</a:t>
            </a:r>
          </a:p>
          <a:p>
            <a:pPr lvl="1"/>
            <a:r>
              <a:rPr lang="en-US"/>
              <a:t>Multiple units of scheduling do some form of a handshake at a certain point to make an agreement to a certain sequence of action</a:t>
            </a:r>
          </a:p>
          <a:p>
            <a:r>
              <a:rPr lang="en-US"/>
              <a:t>Data synchronization</a:t>
            </a:r>
          </a:p>
          <a:p>
            <a:pPr lvl="1"/>
            <a:r>
              <a:rPr lang="en-US"/>
              <a:t>Keeping multiple copies of data in coherence with each other</a:t>
            </a:r>
          </a:p>
          <a:p>
            <a:pPr lvl="1"/>
            <a:r>
              <a:rPr lang="en-US"/>
              <a:t>Maintain data integrity</a:t>
            </a:r>
          </a:p>
          <a:p>
            <a:pPr lvl="1"/>
            <a:r>
              <a:rPr lang="en-US"/>
              <a:t>Usually implemented by process synchronization</a:t>
            </a:r>
          </a:p>
          <a:p>
            <a:r>
              <a:rPr lang="en-US"/>
              <a:t>Problems with synchronization</a:t>
            </a:r>
          </a:p>
          <a:p>
            <a:pPr lvl="1"/>
            <a:r>
              <a:rPr lang="en-US"/>
              <a:t>Deadlock, starvation, overhead…</a:t>
            </a:r>
            <a:endParaRPr lang="en-US"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76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/>
              <a:t>Synchronization primitives</a:t>
            </a:r>
          </a:p>
          <a:p>
            <a:pPr lvl="1"/>
            <a:r>
              <a:rPr lang="en-US"/>
              <a:t>Implement process synchronization (in OS)</a:t>
            </a:r>
          </a:p>
          <a:p>
            <a:pPr lvl="1"/>
            <a:r>
              <a:rPr lang="en-US"/>
              <a:t>Active</a:t>
            </a:r>
          </a:p>
          <a:p>
            <a:pPr lvl="2"/>
            <a:r>
              <a:rPr lang="en-US"/>
              <a:t>Instructions are executed during waiting for an access</a:t>
            </a:r>
          </a:p>
          <a:p>
            <a:pPr lvl="3"/>
            <a:r>
              <a:rPr lang="en-US"/>
              <a:t>Busy waiting (testing a condition in a loop)</a:t>
            </a:r>
          </a:p>
          <a:p>
            <a:pPr lvl="1"/>
            <a:r>
              <a:rPr lang="en-US"/>
              <a:t>Passive/blocking</a:t>
            </a:r>
          </a:p>
          <a:p>
            <a:pPr lvl="2"/>
            <a:r>
              <a:rPr lang="en-US"/>
              <a:t>The unit of scheduling is blocked until access is allowed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/>
              <a:t>Hardware support</a:t>
            </a:r>
          </a:p>
          <a:p>
            <a:pPr lvl="1"/>
            <a:r>
              <a:rPr lang="en-US"/>
              <a:t>Atomic instructions</a:t>
            </a:r>
          </a:p>
          <a:p>
            <a:pPr lvl="2"/>
            <a:r>
              <a:rPr lang="en-US"/>
              <a:t>Test-and-set (TSL),</a:t>
            </a:r>
            <a:br>
              <a:rPr lang="en-US"/>
            </a:br>
            <a:r>
              <a:rPr lang="en-US"/>
              <a:t>compare-and-swap (CAS)</a:t>
            </a:r>
          </a:p>
          <a:p>
            <a:pPr lvl="2"/>
            <a:r>
              <a:rPr lang="en-US"/>
              <a:t>Instruction semantics:</a:t>
            </a:r>
          </a:p>
          <a:p>
            <a:pPr lvl="3"/>
            <a:endParaRPr lang="en-US"/>
          </a:p>
          <a:p>
            <a:pPr marL="457200" lvl="1" indent="0">
              <a:buNone/>
            </a:pPr>
            <a:r>
              <a:rPr 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cas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(T* 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, T old, T 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newVal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(*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!= old) </a:t>
            </a:r>
            <a:r>
              <a:rPr 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newVal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7477120" y="5760021"/>
            <a:ext cx="3888432" cy="506636"/>
          </a:xfrm>
          <a:prstGeom prst="wedgeRoundRectCallout">
            <a:avLst>
              <a:gd name="adj1" fmla="val 5034"/>
              <a:gd name="adj2" fmla="val -1048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This is realized as </a:t>
            </a:r>
            <a:r>
              <a:rPr lang="en-US" b="1"/>
              <a:t>one instruction</a:t>
            </a:r>
            <a:r>
              <a:rPr lang="en-US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6897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14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Spin-lock</a:t>
            </a:r>
          </a:p>
          <a:p>
            <a:pPr lvl="1"/>
            <a:r>
              <a:rPr lang="en-US" dirty="0"/>
              <a:t>Busy waiting using TSL/CAS</a:t>
            </a:r>
          </a:p>
          <a:p>
            <a:pPr lvl="1"/>
            <a:r>
              <a:rPr lang="en-US" dirty="0"/>
              <a:t>Short latency, right for short waiting times</a:t>
            </a:r>
          </a:p>
          <a:p>
            <a:r>
              <a:rPr lang="en-US" dirty="0"/>
              <a:t>Semaphore</a:t>
            </a:r>
          </a:p>
          <a:p>
            <a:pPr lvl="1"/>
            <a:r>
              <a:rPr lang="en-US" dirty="0"/>
              <a:t>Protected counter and a queue of waiting units-of-scheduling (US) </a:t>
            </a:r>
          </a:p>
          <a:p>
            <a:pPr lvl="1"/>
            <a:r>
              <a:rPr lang="en-US" dirty="0"/>
              <a:t>Atomic operations UP and DOWN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43472" y="4149081"/>
            <a:ext cx="41948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down() {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(counter &gt; 0) --counter;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queue.push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myUS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myUS.block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5620" y="4149081"/>
            <a:ext cx="5627004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up() {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(counter == 0 &amp;&amp; !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queue.empty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  US = 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queue.popany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latin typeface="Courier New"/>
                <a:cs typeface="Courier New"/>
              </a:rPr>
              <a:t>    </a:t>
            </a:r>
            <a:r>
              <a:rPr lang="en-US" b="1">
                <a:latin typeface="Courier New"/>
                <a:cs typeface="Courier New"/>
              </a:rPr>
              <a:t>US.unblock(); 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++counter;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8" name="Rounded Rectangular Callout 5">
            <a:extLst>
              <a:ext uri="{FF2B5EF4-FFF2-40B4-BE49-F238E27FC236}">
                <a16:creationId xmlns:a16="http://schemas.microsoft.com/office/drawing/2014/main" id="{0C537BD8-0B16-8172-F1BE-62C0E3AD6202}"/>
              </a:ext>
            </a:extLst>
          </p:cNvPr>
          <p:cNvSpPr/>
          <p:nvPr/>
        </p:nvSpPr>
        <p:spPr>
          <a:xfrm>
            <a:off x="9637712" y="3175682"/>
            <a:ext cx="1327678" cy="506636"/>
          </a:xfrm>
          <a:prstGeom prst="wedgeRoundRectCallout">
            <a:avLst>
              <a:gd name="adj1" fmla="val -82095"/>
              <a:gd name="adj2" fmla="val -5628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397514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err="1"/>
              <a:t>Mutex</a:t>
            </a:r>
            <a:endParaRPr lang="en-US"/>
          </a:p>
          <a:p>
            <a:pPr lvl="1"/>
            <a:r>
              <a:rPr lang="en-US"/>
              <a:t>Implements mutual exclusion (semaphore with counter = 1)</a:t>
            </a:r>
          </a:p>
          <a:p>
            <a:pPr lvl="1"/>
            <a:r>
              <a:rPr lang="en-US"/>
              <a:t>Atomic operations LOCK and UNLOCK (corresponding to UP and DOWN)</a:t>
            </a:r>
          </a:p>
          <a:p>
            <a:r>
              <a:rPr lang="en-US"/>
              <a:t>Barrier</a:t>
            </a:r>
          </a:p>
          <a:p>
            <a:pPr lvl="1"/>
            <a:r>
              <a:rPr lang="en-US"/>
              <a:t>Multiple units of scheduling meet at the same time on the same barrier</a:t>
            </a:r>
          </a:p>
          <a:p>
            <a:r>
              <a:rPr lang="en-US"/>
              <a:t>Specific programming language constructs</a:t>
            </a:r>
          </a:p>
          <a:p>
            <a:pPr lvl="1"/>
            <a:r>
              <a:rPr lang="en-US"/>
              <a:t>Monitor</a:t>
            </a:r>
          </a:p>
          <a:p>
            <a:pPr lvl="2"/>
            <a:r>
              <a:rPr lang="en-US"/>
              <a:t>Methods in an object executed with mutual exclusion</a:t>
            </a:r>
          </a:p>
          <a:p>
            <a:pPr lvl="2"/>
            <a:r>
              <a:rPr lang="en-US"/>
              <a:t>Possibility to wait on a certain condition</a:t>
            </a:r>
          </a:p>
          <a:p>
            <a:pPr lvl="1"/>
            <a:r>
              <a:rPr lang="en-US"/>
              <a:t>Java/C#</a:t>
            </a:r>
          </a:p>
          <a:p>
            <a:pPr lvl="2"/>
            <a:r>
              <a:rPr lang="en-US"/>
              <a:t>Keyword 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384032" y="5373216"/>
            <a:ext cx="2795344" cy="506636"/>
          </a:xfrm>
          <a:prstGeom prst="wedgeRoundRectCallout">
            <a:avLst>
              <a:gd name="adj1" fmla="val -69905"/>
              <a:gd name="adj2" fmla="val 2312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Creates a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142764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Deadlock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58" y="1988840"/>
            <a:ext cx="5005626" cy="355910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988840"/>
            <a:ext cx="5329808" cy="35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6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Deadlock</a:t>
            </a:r>
          </a:p>
          <a:p>
            <a:pPr lvl="1"/>
            <a:r>
              <a:rPr lang="en-US"/>
              <a:t>A state of a group of units of scheduling and resources, where every member of the group waits for an action, which can be performed by other member in the group</a:t>
            </a:r>
          </a:p>
          <a:p>
            <a:r>
              <a:rPr lang="en-US"/>
              <a:t>Necessary conditions for deadlock (Coffman)</a:t>
            </a:r>
          </a:p>
          <a:p>
            <a:pPr lvl="1"/>
            <a:r>
              <a:rPr lang="en-US"/>
              <a:t>Mutual exclusion</a:t>
            </a:r>
          </a:p>
          <a:p>
            <a:pPr lvl="2"/>
            <a:r>
              <a:rPr lang="en-US"/>
              <a:t>At least one resource in exclusive mode</a:t>
            </a:r>
          </a:p>
          <a:p>
            <a:pPr lvl="1"/>
            <a:r>
              <a:rPr lang="en-US"/>
              <a:t>Hold and wait</a:t>
            </a:r>
          </a:p>
          <a:p>
            <a:pPr lvl="2"/>
            <a:r>
              <a:rPr lang="en-US"/>
              <a:t>US holding a resource requests for another one</a:t>
            </a:r>
          </a:p>
          <a:p>
            <a:pPr lvl="1"/>
            <a:r>
              <a:rPr lang="en-US"/>
              <a:t>No preemption</a:t>
            </a:r>
          </a:p>
          <a:p>
            <a:pPr lvl="2"/>
            <a:r>
              <a:rPr lang="en-US"/>
              <a:t>Resources cannot be reclaimed without harm</a:t>
            </a:r>
          </a:p>
          <a:p>
            <a:pPr lvl="1"/>
            <a:r>
              <a:rPr lang="en-US"/>
              <a:t>Circular wait</a:t>
            </a:r>
          </a:p>
          <a:p>
            <a:pPr lvl="2"/>
            <a:r>
              <a:rPr lang="en-US"/>
              <a:t>There is a circle in a deadlock modelling graph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9156340" y="3909467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+mn-lt"/>
              </a:rPr>
              <a:t>T1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9156340" y="5229200"/>
            <a:ext cx="504056" cy="50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+mn-lt"/>
              </a:rPr>
              <a:t>T2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8472264" y="4580731"/>
            <a:ext cx="504056" cy="50405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+mn-lt"/>
              </a:rPr>
              <a:t>R1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9840416" y="4580731"/>
            <a:ext cx="504056" cy="50405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+mn-lt"/>
              </a:rPr>
              <a:t>R2</a:t>
            </a:r>
          </a:p>
        </p:txBody>
      </p:sp>
      <p:cxnSp>
        <p:nvCxnSpPr>
          <p:cNvPr id="13" name="Straight Arrow Connector 12"/>
          <p:cNvCxnSpPr>
            <a:stCxn id="4" idx="3"/>
            <a:endCxn id="7" idx="0"/>
          </p:cNvCxnSpPr>
          <p:nvPr/>
        </p:nvCxnSpPr>
        <p:spPr bwMode="auto">
          <a:xfrm>
            <a:off x="9660396" y="4161495"/>
            <a:ext cx="432048" cy="41923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>
            <a:stCxn id="7" idx="4"/>
            <a:endCxn id="5" idx="3"/>
          </p:cNvCxnSpPr>
          <p:nvPr/>
        </p:nvCxnSpPr>
        <p:spPr bwMode="auto">
          <a:xfrm rot="5400000">
            <a:off x="9678201" y="5066983"/>
            <a:ext cx="396441" cy="432048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stCxn id="5" idx="1"/>
            <a:endCxn id="6" idx="4"/>
          </p:cNvCxnSpPr>
          <p:nvPr/>
        </p:nvCxnSpPr>
        <p:spPr bwMode="auto">
          <a:xfrm rot="10800000">
            <a:off x="8724292" y="5084789"/>
            <a:ext cx="432048" cy="396441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stCxn id="6" idx="0"/>
            <a:endCxn id="4" idx="1"/>
          </p:cNvCxnSpPr>
          <p:nvPr/>
        </p:nvCxnSpPr>
        <p:spPr bwMode="auto">
          <a:xfrm rot="5400000" flipH="1" flipV="1">
            <a:off x="8730698" y="4155089"/>
            <a:ext cx="419236" cy="432048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99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Deadlock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Shared </a:t>
            </a:r>
            <a:r>
              <a:rPr lang="en-US" err="1"/>
              <a:t>mutexes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m1, m2;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Thread 1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m1.lock();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m2.lock();</a:t>
            </a:r>
          </a:p>
          <a:p>
            <a:pPr marL="0" indent="0">
              <a:buNone/>
            </a:pPr>
            <a:endParaRPr lang="en-US" sz="24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m2.unlock();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m1.unlock();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/>
              <a:t>Thread 2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m2.lock();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m1.lock();</a:t>
            </a:r>
          </a:p>
          <a:p>
            <a:pPr marL="0" indent="0">
              <a:buNone/>
            </a:pPr>
            <a:endParaRPr lang="en-US" sz="24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m1.unlock();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m2.unlock();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75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 synchronization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Classic synchronization problems</a:t>
            </a:r>
          </a:p>
          <a:p>
            <a:pPr lvl="1"/>
            <a:r>
              <a:rPr lang="en-US"/>
              <a:t>Set of well-known synchronization problems</a:t>
            </a:r>
            <a:endParaRPr lang="cs-CZ"/>
          </a:p>
          <a:p>
            <a:pPr lvl="1"/>
            <a:r>
              <a:rPr lang="en-US"/>
              <a:t>Demonstrate a problem using an allegory</a:t>
            </a:r>
          </a:p>
          <a:p>
            <a:pPr lvl="1"/>
            <a:r>
              <a:rPr lang="en-US"/>
              <a:t>Avoid deadlock, starvation, and other problems</a:t>
            </a:r>
          </a:p>
          <a:p>
            <a:r>
              <a:rPr lang="en-US"/>
              <a:t>Bounded-buffer (producer-consumer)</a:t>
            </a:r>
          </a:p>
          <a:p>
            <a:r>
              <a:rPr lang="en-US"/>
              <a:t>Dining philosophers</a:t>
            </a:r>
          </a:p>
          <a:p>
            <a:r>
              <a:rPr lang="en-US"/>
              <a:t>Readers and writers</a:t>
            </a:r>
          </a:p>
          <a:p>
            <a:r>
              <a:rPr lang="en-US"/>
              <a:t>Sleeping barber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184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Producer-consumer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Problem</a:t>
            </a:r>
          </a:p>
          <a:p>
            <a:pPr lvl="1"/>
            <a:r>
              <a:rPr lang="en-US"/>
              <a:t>Producer produces a product and he places it to the warehouse with a limited capacity. If the warehouse is full, producer will stop production of products.</a:t>
            </a:r>
          </a:p>
          <a:p>
            <a:pPr lvl="1"/>
            <a:r>
              <a:rPr lang="en-US"/>
              <a:t>Consumer takes a product from the warehouse. If there is no item available, consumer will wait for an item.</a:t>
            </a:r>
          </a:p>
          <a:p>
            <a:pPr lvl="1"/>
            <a:r>
              <a:rPr lang="en-US"/>
              <a:t>If the warehouse is empty and producer produces the first product and there is a waiting consumer, producer will wake up consumer</a:t>
            </a:r>
          </a:p>
          <a:p>
            <a:pPr lvl="1"/>
            <a:r>
              <a:rPr lang="en-US"/>
              <a:t>If the warehouse is full and consumer takes the first product and there is stopped producer, consumer will wake up producer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7" name="Picture 6" descr="File:Industrial factory.png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9" y="5301208"/>
            <a:ext cx="2242337" cy="1407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872" y="5301209"/>
            <a:ext cx="3023980" cy="1450589"/>
          </a:xfrm>
          <a:prstGeom prst="rect">
            <a:avLst/>
          </a:prstGeom>
        </p:spPr>
      </p:pic>
      <p:pic>
        <p:nvPicPr>
          <p:cNvPr id="9" name="Picture 8" descr="Bikes on Caltrain - Etiquett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5718230"/>
            <a:ext cx="764704" cy="76470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 bwMode="auto">
          <a:xfrm>
            <a:off x="4367808" y="5920562"/>
            <a:ext cx="653294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ight Arrow 10"/>
          <p:cNvSpPr/>
          <p:nvPr/>
        </p:nvSpPr>
        <p:spPr bwMode="auto">
          <a:xfrm>
            <a:off x="8040216" y="5920562"/>
            <a:ext cx="653294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9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Dining philosophers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Problem</a:t>
            </a:r>
          </a:p>
          <a:p>
            <a:pPr lvl="1"/>
            <a:r>
              <a:rPr lang="en-US"/>
              <a:t>N philosophers sitting around a circular table</a:t>
            </a:r>
          </a:p>
          <a:p>
            <a:pPr lvl="1"/>
            <a:r>
              <a:rPr lang="cs-CZ"/>
              <a:t>E</a:t>
            </a:r>
            <a:r>
              <a:rPr lang="en-US"/>
              <a:t>ach philosopher has a plate of Chinese food in front of him</a:t>
            </a:r>
            <a:endParaRPr lang="cs-CZ"/>
          </a:p>
          <a:p>
            <a:pPr lvl="1"/>
            <a:r>
              <a:rPr lang="en-US"/>
              <a:t>There is one chopstick between each dish, two chopsticks are needed to eat</a:t>
            </a:r>
          </a:p>
          <a:p>
            <a:pPr lvl="1"/>
            <a:r>
              <a:rPr lang="en-US"/>
              <a:t>The life of a philosopher consists of thinking and eating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4" name="Oval 3"/>
          <p:cNvSpPr/>
          <p:nvPr/>
        </p:nvSpPr>
        <p:spPr bwMode="auto">
          <a:xfrm>
            <a:off x="5375920" y="4581128"/>
            <a:ext cx="1728192" cy="164259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5198963" y="6012878"/>
            <a:ext cx="576064" cy="57606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P4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7081614" y="4754350"/>
            <a:ext cx="576064" cy="57606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P2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5951984" y="3927871"/>
            <a:ext cx="576064" cy="57606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P1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813796" y="4754350"/>
            <a:ext cx="576064" cy="57606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P5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6705005" y="6012878"/>
            <a:ext cx="576064" cy="57606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/>
              <a:t>P3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6031806" y="4679515"/>
            <a:ext cx="416421" cy="432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1" name="Oval 10"/>
          <p:cNvSpPr/>
          <p:nvPr/>
        </p:nvSpPr>
        <p:spPr bwMode="auto">
          <a:xfrm>
            <a:off x="6576616" y="5023574"/>
            <a:ext cx="416421" cy="432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2" name="Oval 11"/>
          <p:cNvSpPr/>
          <p:nvPr/>
        </p:nvSpPr>
        <p:spPr bwMode="auto">
          <a:xfrm>
            <a:off x="6368407" y="5615085"/>
            <a:ext cx="416421" cy="432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3" name="Oval 12"/>
          <p:cNvSpPr/>
          <p:nvPr/>
        </p:nvSpPr>
        <p:spPr bwMode="auto">
          <a:xfrm>
            <a:off x="5695206" y="5615085"/>
            <a:ext cx="416421" cy="432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4" name="Oval 13"/>
          <p:cNvSpPr/>
          <p:nvPr/>
        </p:nvSpPr>
        <p:spPr bwMode="auto">
          <a:xfrm>
            <a:off x="5486996" y="5023574"/>
            <a:ext cx="416421" cy="43204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cxnSp>
        <p:nvCxnSpPr>
          <p:cNvPr id="16" name="Straight Connector 15"/>
          <p:cNvCxnSpPr/>
          <p:nvPr/>
        </p:nvCxnSpPr>
        <p:spPr bwMode="auto">
          <a:xfrm flipH="1">
            <a:off x="6465540" y="4791968"/>
            <a:ext cx="239467" cy="32067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H="1">
            <a:off x="5513635" y="5477897"/>
            <a:ext cx="374441" cy="21602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H="1" flipV="1">
            <a:off x="6585272" y="5499994"/>
            <a:ext cx="403486" cy="19392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H="1">
            <a:off x="6233045" y="5693922"/>
            <a:ext cx="3486" cy="45145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5753101" y="4791967"/>
            <a:ext cx="269948" cy="3446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22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Readers and writers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3563"/>
            <a:ext cx="10515600" cy="4351338"/>
          </a:xfrm>
        </p:spPr>
        <p:txBody>
          <a:bodyPr/>
          <a:lstStyle/>
          <a:p>
            <a:r>
              <a:rPr lang="en-US" dirty="0"/>
              <a:t>Problem</a:t>
            </a:r>
          </a:p>
          <a:p>
            <a:pPr lvl="1"/>
            <a:r>
              <a:rPr lang="en-US" dirty="0"/>
              <a:t>Common data structure</a:t>
            </a:r>
          </a:p>
          <a:p>
            <a:pPr lvl="1"/>
            <a:r>
              <a:rPr lang="en-US" dirty="0"/>
              <a:t>Readers are only able to read data</a:t>
            </a:r>
          </a:p>
          <a:p>
            <a:pPr lvl="1"/>
            <a:r>
              <a:rPr lang="en-US" dirty="0"/>
              <a:t>Writers change data or a data structure</a:t>
            </a:r>
          </a:p>
          <a:p>
            <a:pPr lvl="1"/>
            <a:r>
              <a:rPr lang="en-US" dirty="0"/>
              <a:t>Many readers may read simultaneously</a:t>
            </a:r>
          </a:p>
          <a:p>
            <a:pPr lvl="1"/>
            <a:r>
              <a:rPr lang="en-US" dirty="0"/>
              <a:t>Only one writer can change the data at a time</a:t>
            </a:r>
          </a:p>
          <a:p>
            <a:pPr lvl="1"/>
            <a:r>
              <a:rPr lang="en-US" dirty="0"/>
              <a:t>A reader must wait if there is a working writer</a:t>
            </a:r>
          </a:p>
          <a:p>
            <a:pPr lvl="1"/>
            <a:r>
              <a:rPr lang="en-US" dirty="0"/>
              <a:t>A writer must wait if there are working readers</a:t>
            </a:r>
          </a:p>
          <a:p>
            <a:r>
              <a:rPr lang="en-US" dirty="0"/>
              <a:t>RW Lock</a:t>
            </a:r>
          </a:p>
          <a:p>
            <a:pPr lvl="1"/>
            <a:r>
              <a:rPr lang="en-US" dirty="0"/>
              <a:t>More difficult to make it fair/efficient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94" y="3761166"/>
            <a:ext cx="3122712" cy="23792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844" y="1788665"/>
            <a:ext cx="3122712" cy="175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02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Sleeping barber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>
            <a:normAutofit/>
          </a:bodyPr>
          <a:lstStyle/>
          <a:p>
            <a:r>
              <a:rPr lang="en-US"/>
              <a:t>Problem</a:t>
            </a:r>
          </a:p>
          <a:p>
            <a:pPr lvl="1"/>
            <a:r>
              <a:rPr lang="en-US"/>
              <a:t>Barbershop with one barber, one barber chair, and N waiting chairs</a:t>
            </a:r>
          </a:p>
          <a:p>
            <a:pPr lvl="1"/>
            <a:r>
              <a:rPr lang="en-US"/>
              <a:t>When there is no customer, the barber goes to sleep in the barber chair</a:t>
            </a:r>
          </a:p>
          <a:p>
            <a:pPr lvl="1"/>
            <a:r>
              <a:rPr lang="en-US"/>
              <a:t>Barber must be woken when a customer comes in</a:t>
            </a:r>
          </a:p>
          <a:p>
            <a:pPr lvl="1"/>
            <a:r>
              <a:rPr lang="en-US"/>
              <a:t>When the barber is cutting hair, new incoming customers are waiting in chairs or leaving the shop, if there is no empty chair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8760296" y="2276872"/>
            <a:ext cx="3064453" cy="3312368"/>
            <a:chOff x="4511824" y="4533106"/>
            <a:chExt cx="2072680" cy="2240360"/>
          </a:xfrm>
        </p:grpSpPr>
        <p:pic>
          <p:nvPicPr>
            <p:cNvPr id="4" name="Picture 3" descr="Illustration set of barber shop vector | Free stock ...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2220" y="5132834"/>
              <a:ext cx="1640632" cy="1640632"/>
            </a:xfrm>
            <a:prstGeom prst="rect">
              <a:avLst/>
            </a:prstGeom>
          </p:spPr>
        </p:pic>
        <p:pic>
          <p:nvPicPr>
            <p:cNvPr id="9" name="Picture 8" descr="Chair Icon Design · Free image on Pixabay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1824" y="4533106"/>
              <a:ext cx="599728" cy="599728"/>
            </a:xfrm>
            <a:prstGeom prst="rect">
              <a:avLst/>
            </a:prstGeom>
          </p:spPr>
        </p:pic>
        <p:pic>
          <p:nvPicPr>
            <p:cNvPr id="10" name="Picture 9" descr="Chair Icon Design · Free image on Pixabay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2808" y="4533106"/>
              <a:ext cx="599728" cy="599728"/>
            </a:xfrm>
            <a:prstGeom prst="rect">
              <a:avLst/>
            </a:prstGeom>
          </p:spPr>
        </p:pic>
        <p:pic>
          <p:nvPicPr>
            <p:cNvPr id="11" name="Picture 10" descr="Chair Icon Design · Free image on Pixabay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3792" y="4533106"/>
              <a:ext cx="599728" cy="599728"/>
            </a:xfrm>
            <a:prstGeom prst="rect">
              <a:avLst/>
            </a:prstGeom>
          </p:spPr>
        </p:pic>
        <p:pic>
          <p:nvPicPr>
            <p:cNvPr id="12" name="Picture 11" descr="Chair Icon Design · Free image on Pixabay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776" y="4533106"/>
              <a:ext cx="599728" cy="599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313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39" y="1865610"/>
            <a:ext cx="4315817" cy="431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97232"/>
      </p:ext>
    </p:extLst>
  </p:cSld>
  <p:clrMapOvr>
    <a:masterClrMapping/>
  </p:clrMapOvr>
</p:sld>
</file>

<file path=ppt/theme/theme1.xml><?xml version="1.0" encoding="utf-8"?>
<a:theme xmlns:a="http://schemas.openxmlformats.org/drawingml/2006/main" name="kuba">
  <a:themeElements>
    <a:clrScheme name="kuba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kub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kuba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uba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des-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theme" id="{B506BBAE-7B29-471E-98D8-11EBE1E364B1}" vid="{D89F9550-F518-42A1-84C0-A3FA72197E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72D1A12B65B47AC1B61537578BD28" ma:contentTypeVersion="12" ma:contentTypeDescription="Create a new document." ma:contentTypeScope="" ma:versionID="5a82d84582cde9052097bd1b0cc75dba">
  <xsd:schema xmlns:xsd="http://www.w3.org/2001/XMLSchema" xmlns:xs="http://www.w3.org/2001/XMLSchema" xmlns:p="http://schemas.microsoft.com/office/2006/metadata/properties" xmlns:ns2="1c0ec0c6-5c42-41c6-8024-9200e69c8a29" xmlns:ns3="2fd21476-4047-415c-8b38-5026f9093e44" targetNamespace="http://schemas.microsoft.com/office/2006/metadata/properties" ma:root="true" ma:fieldsID="3fcc552a00055e6511e078b2ffb69500" ns2:_="" ns3:_="">
    <xsd:import namespace="1c0ec0c6-5c42-41c6-8024-9200e69c8a29"/>
    <xsd:import namespace="2fd21476-4047-415c-8b38-5026f9093e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ec0c6-5c42-41c6-8024-9200e69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21476-4047-415c-8b38-5026f9093e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94F958-26AF-44B4-AFC4-8F5C02F944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ec0c6-5c42-41c6-8024-9200e69c8a29"/>
    <ds:schemaRef ds:uri="2fd21476-4047-415c-8b38-5026f9093e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A5A7FC-FDD1-4822-8DD2-714C4934F781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2fd21476-4047-415c-8b38-5026f9093e44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c0ec0c6-5c42-41c6-8024-9200e69c8a29"/>
  </ds:schemaRefs>
</ds:datastoreItem>
</file>

<file path=customXml/itemProps3.xml><?xml version="1.0" encoding="utf-8"?>
<ds:datastoreItem xmlns:ds="http://schemas.openxmlformats.org/officeDocument/2006/customXml" ds:itemID="{A5AB98FC-DA50-4801-A24E-EC71D06BE8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1222</Words>
  <Application>Microsoft Office PowerPoint</Application>
  <PresentationFormat>Širokoúhlá obrazovka</PresentationFormat>
  <Paragraphs>263</Paragraphs>
  <Slides>18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5" baseType="lpstr">
      <vt:lpstr>Wingdings</vt:lpstr>
      <vt:lpstr>Calibri Light</vt:lpstr>
      <vt:lpstr>Arial</vt:lpstr>
      <vt:lpstr>Calibri</vt:lpstr>
      <vt:lpstr>Courier New</vt:lpstr>
      <vt:lpstr>kuba</vt:lpstr>
      <vt:lpstr>slides-theme</vt:lpstr>
      <vt:lpstr>Parallel programming and synchronization</vt:lpstr>
      <vt:lpstr>Parallel and concurrent computing</vt:lpstr>
      <vt:lpstr>Race condition</vt:lpstr>
      <vt:lpstr>Race condition</vt:lpstr>
      <vt:lpstr>Critical section</vt:lpstr>
      <vt:lpstr>Synchronization</vt:lpstr>
      <vt:lpstr>Synchronization primitives</vt:lpstr>
      <vt:lpstr>Synchronization primitives</vt:lpstr>
      <vt:lpstr>Synchronization primitives</vt:lpstr>
      <vt:lpstr>Deadlock</vt:lpstr>
      <vt:lpstr>Deadlock</vt:lpstr>
      <vt:lpstr>Deadlock – example</vt:lpstr>
      <vt:lpstr>Classic synchronization problems</vt:lpstr>
      <vt:lpstr>Producer-consumer</vt:lpstr>
      <vt:lpstr>Dining philosophers</vt:lpstr>
      <vt:lpstr>Readers and writers</vt:lpstr>
      <vt:lpstr>Sleeping barber</vt:lpstr>
      <vt:lpstr>Discussion</vt:lpstr>
    </vt:vector>
  </TitlesOfParts>
  <Company>Ulita, KSI, MFF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Principy překladačů</dc:title>
  <dc:creator>Jakub Yaghob</dc:creator>
  <cp:lastModifiedBy>Petr Ježek</cp:lastModifiedBy>
  <cp:revision>4</cp:revision>
  <dcterms:created xsi:type="dcterms:W3CDTF">2005-09-28T09:53:52Z</dcterms:created>
  <dcterms:modified xsi:type="dcterms:W3CDTF">2025-06-05T12:31:59Z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0x010100CF672D1A12B65B47AC1B61537578BD28</vt:lpwstr>
  </property>
</Properties>
</file>