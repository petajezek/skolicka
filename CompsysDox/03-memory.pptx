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9" r:id="rId4"/>
    <p:sldMasterId id="2147483661" r:id="rId5"/>
  </p:sldMasterIdLst>
  <p:notesMasterIdLst>
    <p:notesMasterId r:id="rId33"/>
  </p:notesMasterIdLst>
  <p:sldIdLst>
    <p:sldId id="256" r:id="rId6"/>
    <p:sldId id="271" r:id="rId7"/>
    <p:sldId id="257" r:id="rId8"/>
    <p:sldId id="258" r:id="rId9"/>
    <p:sldId id="259" r:id="rId10"/>
    <p:sldId id="260" r:id="rId11"/>
    <p:sldId id="261" r:id="rId12"/>
    <p:sldId id="262" r:id="rId13"/>
    <p:sldId id="281" r:id="rId14"/>
    <p:sldId id="263" r:id="rId15"/>
    <p:sldId id="264" r:id="rId16"/>
    <p:sldId id="276" r:id="rId17"/>
    <p:sldId id="265" r:id="rId18"/>
    <p:sldId id="266" r:id="rId19"/>
    <p:sldId id="267" r:id="rId20"/>
    <p:sldId id="268" r:id="rId21"/>
    <p:sldId id="284" r:id="rId22"/>
    <p:sldId id="283" r:id="rId23"/>
    <p:sldId id="269" r:id="rId24"/>
    <p:sldId id="270" r:id="rId25"/>
    <p:sldId id="277" r:id="rId26"/>
    <p:sldId id="285" r:id="rId27"/>
    <p:sldId id="278" r:id="rId28"/>
    <p:sldId id="280" r:id="rId29"/>
    <p:sldId id="274" r:id="rId30"/>
    <p:sldId id="275" r:id="rId31"/>
    <p:sldId id="279" r:id="rId32"/>
  </p:sldIdLst>
  <p:sldSz cx="12192000" cy="6858000"/>
  <p:notesSz cx="6858000" cy="9144000"/>
  <p:embeddedFontLst>
    <p:embeddedFont>
      <p:font typeface="Cambria Math" panose="02040503050406030204" pitchFamily="18" charset="0"/>
      <p:regular r:id="rId34"/>
    </p:embeddedFont>
  </p:embeddedFont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CCFF"/>
    <a:srgbClr val="CC66FF"/>
    <a:srgbClr val="FF00FF"/>
    <a:srgbClr val="FF33CC"/>
    <a:srgbClr val="6666FF"/>
    <a:srgbClr val="9966FF"/>
    <a:srgbClr val="FF3399"/>
    <a:srgbClr val="FF0066"/>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CD2813-DD40-419B-A263-E404133BA0B8}" v="44" dt="2025-03-20T12:55:40.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46" autoAdjust="0"/>
  </p:normalViewPr>
  <p:slideViewPr>
    <p:cSldViewPr snapToGrid="0">
      <p:cViewPr varScale="1">
        <p:scale>
          <a:sx n="74" d="100"/>
          <a:sy n="74" d="100"/>
        </p:scale>
        <p:origin x="101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5/10/relationships/revisionInfo" Target="revisionInfo.xml"/><Relationship Id="rId21" Type="http://schemas.openxmlformats.org/officeDocument/2006/relationships/slide" Target="slides/slide16.xml"/><Relationship Id="rId34" Type="http://schemas.openxmlformats.org/officeDocument/2006/relationships/font" Target="fonts/font1.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819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C042EEA-9F9B-4B91-B52A-073E94FB90D8}" type="slidenum">
              <a:rPr lang="en-US"/>
              <a:pPr/>
              <a:t>‹#›</a:t>
            </a:fld>
            <a:endParaRPr lang="en-US"/>
          </a:p>
        </p:txBody>
      </p:sp>
    </p:spTree>
    <p:extLst>
      <p:ext uri="{BB962C8B-B14F-4D97-AF65-F5344CB8AC3E}">
        <p14:creationId xmlns:p14="http://schemas.microsoft.com/office/powerpoint/2010/main" val="2419327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Persistent RAM refers</a:t>
            </a:r>
            <a:r>
              <a:rPr lang="en-US" baseline="0"/>
              <a:t> to non-volatile memory (NVM) compatible with DRAM interface (e.g., Intel </a:t>
            </a:r>
            <a:r>
              <a:rPr lang="en-US" baseline="0" err="1"/>
              <a:t>Optane</a:t>
            </a:r>
            <a:r>
              <a:rPr lang="en-US" baseline="0"/>
              <a:t>).</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2</a:t>
            </a:fld>
            <a:endParaRPr lang="en-US"/>
          </a:p>
        </p:txBody>
      </p:sp>
    </p:spTree>
    <p:extLst>
      <p:ext uri="{BB962C8B-B14F-4D97-AF65-F5344CB8AC3E}">
        <p14:creationId xmlns:p14="http://schemas.microsoft.com/office/powerpoint/2010/main" val="871555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Bias</a:t>
            </a:r>
            <a:r>
              <a:rPr lang="en-US" baseline="0"/>
              <a:t> – a number explicitly subtracted from the exponent (which is stored as unsinged number).</a:t>
            </a:r>
          </a:p>
          <a:p>
            <a:r>
              <a:rPr lang="en-US" baseline="0"/>
              <a:t>E.g., Intel uses 80bit internal representation</a:t>
            </a:r>
          </a:p>
          <a:p>
            <a:r>
              <a:rPr lang="en-US" baseline="0"/>
              <a:t>Other precisions emerged with machine-learning (e.g., 16bit half-float, but it has to narrow range for exponent, so TF came up with 19bit floats). These new formats directly affect HW development (especially GPUs).</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7</a:t>
            </a:fld>
            <a:endParaRPr lang="en-US"/>
          </a:p>
        </p:txBody>
      </p:sp>
    </p:spTree>
    <p:extLst>
      <p:ext uri="{BB962C8B-B14F-4D97-AF65-F5344CB8AC3E}">
        <p14:creationId xmlns:p14="http://schemas.microsoft.com/office/powerpoint/2010/main" val="2082547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CPUs may choose</a:t>
            </a:r>
            <a:r>
              <a:rPr lang="en-US" baseline="0"/>
              <a:t> the endianness.</a:t>
            </a:r>
          </a:p>
          <a:p>
            <a:endParaRPr lang="en-US" baseline="0"/>
          </a:p>
        </p:txBody>
      </p:sp>
      <p:sp>
        <p:nvSpPr>
          <p:cNvPr id="4" name="Slide Number Placeholder 3"/>
          <p:cNvSpPr>
            <a:spLocks noGrp="1"/>
          </p:cNvSpPr>
          <p:nvPr>
            <p:ph type="sldNum" sz="quarter" idx="10"/>
          </p:nvPr>
        </p:nvSpPr>
        <p:spPr/>
        <p:txBody>
          <a:bodyPr/>
          <a:lstStyle/>
          <a:p>
            <a:fld id="{8C042EEA-9F9B-4B91-B52A-073E94FB90D8}" type="slidenum">
              <a:rPr lang="en-US" smtClean="0"/>
              <a:pPr/>
              <a:t>8</a:t>
            </a:fld>
            <a:endParaRPr lang="en-US"/>
          </a:p>
        </p:txBody>
      </p:sp>
    </p:spTree>
    <p:extLst>
      <p:ext uri="{BB962C8B-B14F-4D97-AF65-F5344CB8AC3E}">
        <p14:creationId xmlns:p14="http://schemas.microsoft.com/office/powerpoint/2010/main" val="1650416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answer</a:t>
            </a:r>
            <a:r>
              <a:rPr lang="en-US" baseline="0"/>
              <a:t> is 314 … to commemorate the pi-day!</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9</a:t>
            </a:fld>
            <a:endParaRPr lang="en-US"/>
          </a:p>
        </p:txBody>
      </p:sp>
    </p:spTree>
    <p:extLst>
      <p:ext uri="{BB962C8B-B14F-4D97-AF65-F5344CB8AC3E}">
        <p14:creationId xmlns:p14="http://schemas.microsoft.com/office/powerpoint/2010/main" val="3936629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structure must be</a:t>
            </a:r>
            <a:r>
              <a:rPr lang="en-US" baseline="0"/>
              <a:t> aligned to the largest basic type used inside (e.g., double in this example).</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11</a:t>
            </a:fld>
            <a:endParaRPr lang="en-US"/>
          </a:p>
        </p:txBody>
      </p:sp>
    </p:spTree>
    <p:extLst>
      <p:ext uri="{BB962C8B-B14F-4D97-AF65-F5344CB8AC3E}">
        <p14:creationId xmlns:p14="http://schemas.microsoft.com/office/powerpoint/2010/main" val="844264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algorithms may</a:t>
            </a:r>
            <a:r>
              <a:rPr lang="en-US" baseline="0"/>
              <a:t> need also to monitor allocated blocks (so in linked-list representation, we need a second list for allocated blocks).</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15</a:t>
            </a:fld>
            <a:endParaRPr lang="en-US"/>
          </a:p>
        </p:txBody>
      </p:sp>
    </p:spTree>
    <p:extLst>
      <p:ext uri="{BB962C8B-B14F-4D97-AF65-F5344CB8AC3E}">
        <p14:creationId xmlns:p14="http://schemas.microsoft.com/office/powerpoint/2010/main" val="4059567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Block F will</a:t>
            </a:r>
            <a:r>
              <a:rPr lang="en-US" baseline="0"/>
              <a:t> take 320 B (5x 64B) and will be located at offset</a:t>
            </a:r>
            <a:br>
              <a:rPr lang="en-US" baseline="0"/>
            </a:br>
            <a:r>
              <a:rPr lang="en-US" baseline="0"/>
              <a:t>- 64 B (first fit)</a:t>
            </a:r>
          </a:p>
          <a:p>
            <a:r>
              <a:rPr lang="en-US" baseline="0"/>
              <a:t>- 2240 B (best fit)</a:t>
            </a:r>
          </a:p>
          <a:p>
            <a:r>
              <a:rPr lang="en-US" baseline="0"/>
              <a:t>- 2752 B (next fit)</a:t>
            </a:r>
          </a:p>
        </p:txBody>
      </p:sp>
      <p:sp>
        <p:nvSpPr>
          <p:cNvPr id="4" name="Slide Number Placeholder 3"/>
          <p:cNvSpPr>
            <a:spLocks noGrp="1"/>
          </p:cNvSpPr>
          <p:nvPr>
            <p:ph type="sldNum" sz="quarter" idx="10"/>
          </p:nvPr>
        </p:nvSpPr>
        <p:spPr/>
        <p:txBody>
          <a:bodyPr/>
          <a:lstStyle/>
          <a:p>
            <a:fld id="{8C042EEA-9F9B-4B91-B52A-073E94FB90D8}" type="slidenum">
              <a:rPr lang="en-US" smtClean="0"/>
              <a:pPr/>
              <a:t>18</a:t>
            </a:fld>
            <a:endParaRPr lang="en-US"/>
          </a:p>
        </p:txBody>
      </p:sp>
    </p:spTree>
    <p:extLst>
      <p:ext uri="{BB962C8B-B14F-4D97-AF65-F5344CB8AC3E}">
        <p14:creationId xmlns:p14="http://schemas.microsoft.com/office/powerpoint/2010/main" val="48198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Important is that a cache has</a:t>
            </a:r>
            <a:r>
              <a:rPr lang="en-US" baseline="0"/>
              <a:t> limited (restricted) size. When the cache gets full and new items needs to be stored in cache, some old items needs to be removed. We will get to that in page-replacement algorithms.</a:t>
            </a:r>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21</a:t>
            </a:fld>
            <a:endParaRPr lang="en-US"/>
          </a:p>
        </p:txBody>
      </p:sp>
    </p:spTree>
    <p:extLst>
      <p:ext uri="{BB962C8B-B14F-4D97-AF65-F5344CB8AC3E}">
        <p14:creationId xmlns:p14="http://schemas.microsoft.com/office/powerpoint/2010/main" val="1501266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Cache</a:t>
            </a:r>
            <a:r>
              <a:rPr lang="en-US" baseline="0"/>
              <a:t> latencies</a:t>
            </a:r>
          </a:p>
          <a:p>
            <a:r>
              <a:rPr lang="en-US"/>
              <a:t>https://www.7-cpu.com/cpu/Skylake.html</a:t>
            </a:r>
          </a:p>
          <a:p>
            <a:r>
              <a:rPr lang="en-US"/>
              <a:t>https://gist.github.com/jboner/2841832</a:t>
            </a:r>
          </a:p>
          <a:p>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24</a:t>
            </a:fld>
            <a:endParaRPr lang="en-US"/>
          </a:p>
        </p:txBody>
      </p:sp>
    </p:spTree>
    <p:extLst>
      <p:ext uri="{BB962C8B-B14F-4D97-AF65-F5344CB8AC3E}">
        <p14:creationId xmlns:p14="http://schemas.microsoft.com/office/powerpoint/2010/main" val="3269110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C042EEA-9F9B-4B91-B52A-073E94FB90D8}" type="slidenum">
              <a:rPr lang="en-US" smtClean="0"/>
              <a:pPr/>
              <a:t>25</a:t>
            </a:fld>
            <a:endParaRPr lang="en-US"/>
          </a:p>
        </p:txBody>
      </p:sp>
    </p:spTree>
    <p:extLst>
      <p:ext uri="{BB962C8B-B14F-4D97-AF65-F5344CB8AC3E}">
        <p14:creationId xmlns:p14="http://schemas.microsoft.com/office/powerpoint/2010/main" val="1494145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endParaRPr lang="cs-CZ"/>
          </a:p>
        </p:txBody>
      </p:sp>
      <p:sp>
        <p:nvSpPr>
          <p:cNvPr id="5123" name="Rectangle 3"/>
          <p:cNvSpPr>
            <a:spLocks noGrp="1" noChangeArrowheads="1"/>
          </p:cNvSpPr>
          <p:nvPr>
            <p:ph type="ctrTitle"/>
          </p:nvPr>
        </p:nvSpPr>
        <p:spPr>
          <a:xfrm>
            <a:off x="421217" y="466725"/>
            <a:ext cx="9042400" cy="2133600"/>
          </a:xfrm>
        </p:spPr>
        <p:txBody>
          <a:bodyPr/>
          <a:lstStyle>
            <a:lvl1pPr algn="r">
              <a:defRPr sz="4800"/>
            </a:lvl1pPr>
          </a:lstStyle>
          <a:p>
            <a:r>
              <a:rPr lang="en-US" altLang="en-US"/>
              <a:t>Click to edit Master title style</a:t>
            </a:r>
          </a:p>
        </p:txBody>
      </p:sp>
      <p:sp>
        <p:nvSpPr>
          <p:cNvPr id="5124"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5125" name="Rectangle 5"/>
          <p:cNvSpPr>
            <a:spLocks noGrp="1" noChangeArrowheads="1"/>
          </p:cNvSpPr>
          <p:nvPr>
            <p:ph type="dt" sz="half" idx="2"/>
          </p:nvPr>
        </p:nvSpPr>
        <p:spPr/>
        <p:txBody>
          <a:bodyPr/>
          <a:lstStyle>
            <a:lvl1pPr>
              <a:defRPr/>
            </a:lvl1pPr>
          </a:lstStyle>
          <a:p>
            <a:r>
              <a:rPr lang="cs-CZ" altLang="en-US"/>
              <a:t>19.3.2025</a:t>
            </a:r>
            <a:endParaRPr lang="en-US" altLang="en-US"/>
          </a:p>
        </p:txBody>
      </p:sp>
      <p:sp>
        <p:nvSpPr>
          <p:cNvPr id="5126" name="Rectangle 6"/>
          <p:cNvSpPr>
            <a:spLocks noGrp="1" noChangeArrowheads="1"/>
          </p:cNvSpPr>
          <p:nvPr>
            <p:ph type="ftr" sz="quarter" idx="3"/>
          </p:nvPr>
        </p:nvSpPr>
        <p:spPr/>
        <p:txBody>
          <a:bodyPr/>
          <a:lstStyle>
            <a:lvl1pPr>
              <a:defRPr/>
            </a:lvl1pPr>
          </a:lstStyle>
          <a:p>
            <a:endParaRPr lang="en-US" altLang="en-US"/>
          </a:p>
        </p:txBody>
      </p:sp>
      <p:sp>
        <p:nvSpPr>
          <p:cNvPr id="5127" name="Rectangle 7"/>
          <p:cNvSpPr>
            <a:spLocks noGrp="1" noChangeArrowheads="1"/>
          </p:cNvSpPr>
          <p:nvPr>
            <p:ph type="sldNum" sz="quarter" idx="4"/>
          </p:nvPr>
        </p:nvSpPr>
        <p:spPr/>
        <p:txBody>
          <a:bodyPr/>
          <a:lstStyle>
            <a:lvl1pPr>
              <a:defRPr/>
            </a:lvl1pPr>
          </a:lstStyle>
          <a:p>
            <a:fld id="{2A4750BA-B163-4F11-8356-C4353F13CE09}" type="slidenum">
              <a:rPr lang="en-US" altLang="en-US"/>
              <a:pPr/>
              <a:t>‹#›</a:t>
            </a:fld>
            <a:endParaRPr lang="en-US" altLang="en-US"/>
          </a:p>
        </p:txBody>
      </p:sp>
      <p:sp>
        <p:nvSpPr>
          <p:cNvPr id="5128" name="Line 8"/>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endParaRPr lang="cs-CZ"/>
          </a:p>
        </p:txBody>
      </p:sp>
      <p:pic>
        <p:nvPicPr>
          <p:cNvPr id="5129" name="Picture 9" descr="b2e2lirt[1]"/>
          <p:cNvPicPr>
            <a:picLocks noChangeAspect="1" noChangeArrowheads="1"/>
          </p:cNvPicPr>
          <p:nvPr/>
        </p:nvPicPr>
        <p:blipFill>
          <a:blip r:embed="rId2" cstate="print"/>
          <a:srcRect/>
          <a:stretch>
            <a:fillRect/>
          </a:stretch>
        </p:blipFill>
        <p:spPr bwMode="auto">
          <a:xfrm>
            <a:off x="9791700" y="3392489"/>
            <a:ext cx="2245784" cy="140652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19.3.2025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F4A1145F-674A-4228-8958-0EA9769F5517}"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cs-CZ"/>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cs-CZ" altLang="en-US"/>
              <a:t>19.3.2025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EFA15E1F-5AFB-40EA-923D-A2EB4D767C82}"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Content Placeholder 2"/>
          <p:cNvSpPr>
            <a:spLocks noGrp="1"/>
          </p:cNvSpPr>
          <p:nvPr>
            <p:ph sz="half" idx="1"/>
          </p:nvPr>
        </p:nvSpPr>
        <p:spPr>
          <a:xfrm>
            <a:off x="609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Content Placeholder 3"/>
          <p:cNvSpPr>
            <a:spLocks noGrp="1"/>
          </p:cNvSpPr>
          <p:nvPr>
            <p:ph sz="half" idx="2"/>
          </p:nvPr>
        </p:nvSpPr>
        <p:spPr>
          <a:xfrm>
            <a:off x="6197600" y="1719263"/>
            <a:ext cx="53848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Date Placeholder 4"/>
          <p:cNvSpPr>
            <a:spLocks noGrp="1"/>
          </p:cNvSpPr>
          <p:nvPr>
            <p:ph type="dt" sz="half" idx="10"/>
          </p:nvPr>
        </p:nvSpPr>
        <p:spPr/>
        <p:txBody>
          <a:bodyPr/>
          <a:lstStyle>
            <a:lvl1pPr>
              <a:defRPr/>
            </a:lvl1pPr>
          </a:lstStyle>
          <a:p>
            <a:r>
              <a:rPr lang="cs-CZ" altLang="en-US"/>
              <a:t>19.3.2025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169EAE92-5121-41FC-8DEC-DA73929E0C34}"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cs-CZ"/>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7" name="Date Placeholder 6"/>
          <p:cNvSpPr>
            <a:spLocks noGrp="1"/>
          </p:cNvSpPr>
          <p:nvPr>
            <p:ph type="dt" sz="half" idx="10"/>
          </p:nvPr>
        </p:nvSpPr>
        <p:spPr/>
        <p:txBody>
          <a:bodyPr/>
          <a:lstStyle>
            <a:lvl1pPr>
              <a:defRPr/>
            </a:lvl1pPr>
          </a:lstStyle>
          <a:p>
            <a:r>
              <a:rPr lang="cs-CZ" altLang="en-US"/>
              <a:t>19.3.2025</a:t>
            </a:r>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B8EB1BA9-04F9-4DBA-8B88-0BF71DD220AD}"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Date Placeholder 2"/>
          <p:cNvSpPr>
            <a:spLocks noGrp="1"/>
          </p:cNvSpPr>
          <p:nvPr>
            <p:ph type="dt" sz="half" idx="10"/>
          </p:nvPr>
        </p:nvSpPr>
        <p:spPr/>
        <p:txBody>
          <a:bodyPr/>
          <a:lstStyle>
            <a:lvl1pPr>
              <a:defRPr/>
            </a:lvl1pPr>
          </a:lstStyle>
          <a:p>
            <a:r>
              <a:rPr lang="cs-CZ" altLang="en-US"/>
              <a:t>19.3.2025</a:t>
            </a:r>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A3CB23DE-87E9-44C4-9125-F99647402680}"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cs-CZ" altLang="en-US"/>
              <a:t>19.3.2025</a:t>
            </a:r>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779B49DB-207B-4B04-AB13-3224BA24FB53}"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endParaRPr lang="cs-CZ"/>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19.3.2025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B16FF626-F1DE-4CAB-AC6F-3C9C63F3BC9B}"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endParaRPr lang="cs-CZ"/>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cs-CZ" altLang="en-US"/>
              <a:t>19.3.2025</a:t>
            </a:r>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2A5FCAB0-4CDF-4FD1-8C9D-AF93D5E31F18}"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cs-CZ"/>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19.3.2025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44E42D6-9DD4-4165-BDB0-13B2B843F046}"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cs-CZ"/>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4" name="Date Placeholder 3"/>
          <p:cNvSpPr>
            <a:spLocks noGrp="1"/>
          </p:cNvSpPr>
          <p:nvPr>
            <p:ph type="dt" sz="half" idx="10"/>
          </p:nvPr>
        </p:nvSpPr>
        <p:spPr/>
        <p:txBody>
          <a:bodyPr/>
          <a:lstStyle>
            <a:lvl1pPr>
              <a:defRPr/>
            </a:lvl1pPr>
          </a:lstStyle>
          <a:p>
            <a:r>
              <a:rPr lang="cs-CZ" altLang="en-US"/>
              <a:t>19.3.2025</a:t>
            </a:r>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3B17C8BE-C614-485F-9B20-1471ABF7C6AE}"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12192000" cy="2420888"/>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Cloud Callout 6"/>
          <p:cNvSpPr/>
          <p:nvPr/>
        </p:nvSpPr>
        <p:spPr>
          <a:xfrm>
            <a:off x="9926595" y="404664"/>
            <a:ext cx="1944216" cy="1584176"/>
          </a:xfrm>
          <a:prstGeom prst="cloudCallout">
            <a:avLst>
              <a:gd name="adj1" fmla="val -72589"/>
              <a:gd name="adj2" fmla="val 67149"/>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9" descr="b2e2lirt[1]"/>
          <p:cNvPicPr>
            <a:picLocks noChangeAspect="1" noChangeArrowheads="1"/>
          </p:cNvPicPr>
          <p:nvPr/>
        </p:nvPicPr>
        <p:blipFill>
          <a:blip r:embed="rId2" cstate="print"/>
          <a:srcRect/>
          <a:stretch>
            <a:fillRect/>
          </a:stretch>
        </p:blipFill>
        <p:spPr bwMode="auto">
          <a:xfrm>
            <a:off x="10416480" y="683778"/>
            <a:ext cx="1050425" cy="877169"/>
          </a:xfrm>
          <a:prstGeom prst="rect">
            <a:avLst/>
          </a:prstGeom>
          <a:noFill/>
        </p:spPr>
      </p:pic>
    </p:spTree>
    <p:extLst>
      <p:ext uri="{BB962C8B-B14F-4D97-AF65-F5344CB8AC3E}">
        <p14:creationId xmlns:p14="http://schemas.microsoft.com/office/powerpoint/2010/main" val="3547890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a:t>
            </a:fld>
            <a:endParaRPr lang="en-US" altLang="en-US"/>
          </a:p>
        </p:txBody>
      </p:sp>
    </p:spTree>
    <p:extLst>
      <p:ext uri="{BB962C8B-B14F-4D97-AF65-F5344CB8AC3E}">
        <p14:creationId xmlns:p14="http://schemas.microsoft.com/office/powerpoint/2010/main" val="927215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EFA15E1F-5AFB-40EA-923D-A2EB4D767C82}" type="slidenum">
              <a:rPr lang="en-US" altLang="en-US" smtClean="0"/>
              <a:pPr/>
              <a:t>‹#›</a:t>
            </a:fld>
            <a:endParaRPr lang="en-US" altLang="en-US"/>
          </a:p>
        </p:txBody>
      </p:sp>
    </p:spTree>
    <p:extLst>
      <p:ext uri="{BB962C8B-B14F-4D97-AF65-F5344CB8AC3E}">
        <p14:creationId xmlns:p14="http://schemas.microsoft.com/office/powerpoint/2010/main" val="35356983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cs-CZ" altLang="en-US"/>
              <a:t>19.3.2025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169EAE92-5121-41FC-8DEC-DA73929E0C34}" type="slidenum">
              <a:rPr lang="en-US" altLang="en-US" smtClean="0"/>
              <a:pPr/>
              <a:t>‹#›</a:t>
            </a:fld>
            <a:endParaRPr lang="en-US" altLang="en-US"/>
          </a:p>
        </p:txBody>
      </p:sp>
    </p:spTree>
    <p:extLst>
      <p:ext uri="{BB962C8B-B14F-4D97-AF65-F5344CB8AC3E}">
        <p14:creationId xmlns:p14="http://schemas.microsoft.com/office/powerpoint/2010/main" val="4293833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cs-CZ" altLang="en-US"/>
              <a:t>19.3.2025</a:t>
            </a:r>
            <a:endParaRPr lang="en-US" altLang="en-US"/>
          </a:p>
        </p:txBody>
      </p:sp>
      <p:sp>
        <p:nvSpPr>
          <p:cNvPr id="8" name="Footer Placeholder 7"/>
          <p:cNvSpPr>
            <a:spLocks noGrp="1"/>
          </p:cNvSpPr>
          <p:nvPr>
            <p:ph type="ftr" sz="quarter" idx="11"/>
          </p:nvPr>
        </p:nvSpPr>
        <p:spPr/>
        <p:txBody>
          <a:bodyPr/>
          <a:lstStyle/>
          <a:p>
            <a:endParaRPr lang="en-US" altLang="en-US"/>
          </a:p>
        </p:txBody>
      </p:sp>
      <p:sp>
        <p:nvSpPr>
          <p:cNvPr id="9" name="Slide Number Placeholder 8"/>
          <p:cNvSpPr>
            <a:spLocks noGrp="1"/>
          </p:cNvSpPr>
          <p:nvPr>
            <p:ph type="sldNum" sz="quarter" idx="12"/>
          </p:nvPr>
        </p:nvSpPr>
        <p:spPr/>
        <p:txBody>
          <a:bodyPr/>
          <a:lstStyle/>
          <a:p>
            <a:fld id="{B8EB1BA9-04F9-4DBA-8B88-0BF71DD220AD}" type="slidenum">
              <a:rPr lang="en-US" altLang="en-US" smtClean="0"/>
              <a:pPr/>
              <a:t>‹#›</a:t>
            </a:fld>
            <a:endParaRPr lang="en-US" altLang="en-US"/>
          </a:p>
        </p:txBody>
      </p:sp>
    </p:spTree>
    <p:extLst>
      <p:ext uri="{BB962C8B-B14F-4D97-AF65-F5344CB8AC3E}">
        <p14:creationId xmlns:p14="http://schemas.microsoft.com/office/powerpoint/2010/main" val="3053756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4" name="Footer Placeholder 3"/>
          <p:cNvSpPr>
            <a:spLocks noGrp="1"/>
          </p:cNvSpPr>
          <p:nvPr>
            <p:ph type="ftr" sz="quarter" idx="11"/>
          </p:nvPr>
        </p:nvSpPr>
        <p:spPr/>
        <p:txBody>
          <a:bodyPr/>
          <a:lstStyle/>
          <a:p>
            <a:endParaRPr lang="en-US" altLang="en-US"/>
          </a:p>
        </p:txBody>
      </p:sp>
      <p:sp>
        <p:nvSpPr>
          <p:cNvPr id="5" name="Slide Number Placeholder 4"/>
          <p:cNvSpPr>
            <a:spLocks noGrp="1"/>
          </p:cNvSpPr>
          <p:nvPr>
            <p:ph type="sldNum" sz="quarter" idx="12"/>
          </p:nvPr>
        </p:nvSpPr>
        <p:spPr/>
        <p:txBody>
          <a:bodyPr/>
          <a:lstStyle/>
          <a:p>
            <a:fld id="{A3CB23DE-87E9-44C4-9125-F99647402680}" type="slidenum">
              <a:rPr lang="en-US" altLang="en-US" smtClean="0"/>
              <a:pPr/>
              <a:t>‹#›</a:t>
            </a:fld>
            <a:endParaRPr lang="en-US" altLang="en-US"/>
          </a:p>
        </p:txBody>
      </p:sp>
    </p:spTree>
    <p:extLst>
      <p:ext uri="{BB962C8B-B14F-4D97-AF65-F5344CB8AC3E}">
        <p14:creationId xmlns:p14="http://schemas.microsoft.com/office/powerpoint/2010/main" val="3436078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cs-CZ" altLang="en-US"/>
              <a:t>19.3.2025</a:t>
            </a:r>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Slide Number Placeholder 3"/>
          <p:cNvSpPr>
            <a:spLocks noGrp="1"/>
          </p:cNvSpPr>
          <p:nvPr>
            <p:ph type="sldNum" sz="quarter" idx="12"/>
          </p:nvPr>
        </p:nvSpPr>
        <p:spPr/>
        <p:txBody>
          <a:bodyPr/>
          <a:lstStyle/>
          <a:p>
            <a:fld id="{779B49DB-207B-4B04-AB13-3224BA24FB53}" type="slidenum">
              <a:rPr lang="en-US" altLang="en-US" smtClean="0"/>
              <a:pPr/>
              <a:t>‹#›</a:t>
            </a:fld>
            <a:endParaRPr lang="en-US" altLang="en-US"/>
          </a:p>
        </p:txBody>
      </p:sp>
    </p:spTree>
    <p:extLst>
      <p:ext uri="{BB962C8B-B14F-4D97-AF65-F5344CB8AC3E}">
        <p14:creationId xmlns:p14="http://schemas.microsoft.com/office/powerpoint/2010/main" val="13057646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19.3.2025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B16FF626-F1DE-4CAB-AC6F-3C9C63F3BC9B}" type="slidenum">
              <a:rPr lang="en-US" altLang="en-US" smtClean="0"/>
              <a:pPr/>
              <a:t>‹#›</a:t>
            </a:fld>
            <a:endParaRPr lang="en-US" altLang="en-US"/>
          </a:p>
        </p:txBody>
      </p:sp>
    </p:spTree>
    <p:extLst>
      <p:ext uri="{BB962C8B-B14F-4D97-AF65-F5344CB8AC3E}">
        <p14:creationId xmlns:p14="http://schemas.microsoft.com/office/powerpoint/2010/main" val="241817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r>
              <a:rPr lang="cs-CZ" altLang="en-US"/>
              <a:t>19.3.2025</a:t>
            </a:r>
            <a:endParaRPr lang="en-US" altLang="en-US"/>
          </a:p>
        </p:txBody>
      </p:sp>
      <p:sp>
        <p:nvSpPr>
          <p:cNvPr id="6" name="Footer Placeholder 5"/>
          <p:cNvSpPr>
            <a:spLocks noGrp="1"/>
          </p:cNvSpPr>
          <p:nvPr>
            <p:ph type="ftr" sz="quarter" idx="11"/>
          </p:nvPr>
        </p:nvSpPr>
        <p:spPr/>
        <p:txBody>
          <a:bodyPr/>
          <a:lstStyle/>
          <a:p>
            <a:endParaRPr lang="en-US" altLang="en-US"/>
          </a:p>
        </p:txBody>
      </p:sp>
      <p:sp>
        <p:nvSpPr>
          <p:cNvPr id="7" name="Slide Number Placeholder 6"/>
          <p:cNvSpPr>
            <a:spLocks noGrp="1"/>
          </p:cNvSpPr>
          <p:nvPr>
            <p:ph type="sldNum" sz="quarter" idx="12"/>
          </p:nvPr>
        </p:nvSpPr>
        <p:spPr/>
        <p:txBody>
          <a:bodyPr/>
          <a:lstStyle/>
          <a:p>
            <a:fld id="{2A5FCAB0-4CDF-4FD1-8C9D-AF93D5E31F18}" type="slidenum">
              <a:rPr lang="en-US" altLang="en-US" smtClean="0"/>
              <a:pPr/>
              <a:t>‹#›</a:t>
            </a:fld>
            <a:endParaRPr lang="en-US" altLang="en-US"/>
          </a:p>
        </p:txBody>
      </p:sp>
    </p:spTree>
    <p:extLst>
      <p:ext uri="{BB962C8B-B14F-4D97-AF65-F5344CB8AC3E}">
        <p14:creationId xmlns:p14="http://schemas.microsoft.com/office/powerpoint/2010/main" val="3336771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944E42D6-9DD4-4165-BDB0-13B2B843F046}" type="slidenum">
              <a:rPr lang="en-US" altLang="en-US" smtClean="0"/>
              <a:pPr/>
              <a:t>‹#›</a:t>
            </a:fld>
            <a:endParaRPr lang="en-US" altLang="en-US"/>
          </a:p>
        </p:txBody>
      </p:sp>
    </p:spTree>
    <p:extLst>
      <p:ext uri="{BB962C8B-B14F-4D97-AF65-F5344CB8AC3E}">
        <p14:creationId xmlns:p14="http://schemas.microsoft.com/office/powerpoint/2010/main" val="2104836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Footer Placeholder 4"/>
          <p:cNvSpPr>
            <a:spLocks noGrp="1"/>
          </p:cNvSpPr>
          <p:nvPr>
            <p:ph type="ftr" sz="quarter" idx="11"/>
          </p:nvPr>
        </p:nvSpPr>
        <p:spPr/>
        <p:txBody>
          <a:bodyPr/>
          <a:lstStyle/>
          <a:p>
            <a:endParaRPr lang="en-US" altLang="en-US"/>
          </a:p>
        </p:txBody>
      </p:sp>
      <p:sp>
        <p:nvSpPr>
          <p:cNvPr id="6" name="Slide Number Placeholder 5"/>
          <p:cNvSpPr>
            <a:spLocks noGrp="1"/>
          </p:cNvSpPr>
          <p:nvPr>
            <p:ph type="sldNum" sz="quarter" idx="12"/>
          </p:nvPr>
        </p:nvSpPr>
        <p:spPr/>
        <p:txBody>
          <a:bodyPr/>
          <a:lstStyle/>
          <a:p>
            <a:fld id="{3B17C8BE-C614-485F-9B20-1471ABF7C6AE}" type="slidenum">
              <a:rPr lang="en-US" altLang="en-US" smtClean="0"/>
              <a:pPr/>
              <a:t>‹#›</a:t>
            </a:fld>
            <a:endParaRPr lang="en-US" altLang="en-US"/>
          </a:p>
        </p:txBody>
      </p:sp>
    </p:spTree>
    <p:extLst>
      <p:ext uri="{BB962C8B-B14F-4D97-AF65-F5344CB8AC3E}">
        <p14:creationId xmlns:p14="http://schemas.microsoft.com/office/powerpoint/2010/main" val="4148490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w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Line 2"/>
          <p:cNvSpPr>
            <a:spLocks noChangeShapeType="1"/>
          </p:cNvSpPr>
          <p:nvPr/>
        </p:nvSpPr>
        <p:spPr bwMode="auto">
          <a:xfrm>
            <a:off x="10617200" y="152400"/>
            <a:ext cx="0" cy="1524000"/>
          </a:xfrm>
          <a:prstGeom prst="line">
            <a:avLst/>
          </a:prstGeom>
          <a:noFill/>
          <a:ln w="9525">
            <a:solidFill>
              <a:schemeClr val="tx1"/>
            </a:solidFill>
            <a:round/>
            <a:headEnd/>
            <a:tailEnd/>
          </a:ln>
          <a:effectLst/>
        </p:spPr>
        <p:txBody>
          <a:bodyPr/>
          <a:lstStyle/>
          <a:p>
            <a:endParaRPr lang="cs-CZ"/>
          </a:p>
        </p:txBody>
      </p:sp>
      <p:sp>
        <p:nvSpPr>
          <p:cNvPr id="4099" name="Rectangle 3"/>
          <p:cNvSpPr>
            <a:spLocks noGrp="1" noChangeArrowheads="1"/>
          </p:cNvSpPr>
          <p:nvPr>
            <p:ph type="title"/>
          </p:nvPr>
        </p:nvSpPr>
        <p:spPr bwMode="auto">
          <a:xfrm>
            <a:off x="609600" y="122238"/>
            <a:ext cx="100584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100"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p:cNvSpPr>
            <a:spLocks noGrp="1" noChangeArrowheads="1"/>
          </p:cNvSpPr>
          <p:nvPr>
            <p:ph type="dt" sz="half" idx="2"/>
          </p:nvPr>
        </p:nvSpPr>
        <p:spPr bwMode="auto">
          <a:xfrm>
            <a:off x="609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r>
              <a:rPr lang="cs-CZ" altLang="en-US"/>
              <a:t>19.3.2025</a:t>
            </a:r>
            <a:endParaRPr lang="en-US" altLang="en-US"/>
          </a:p>
        </p:txBody>
      </p:sp>
      <p:sp>
        <p:nvSpPr>
          <p:cNvPr id="4102" name="Rectangle 6"/>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endParaRPr lang="en-US" altLang="en-US"/>
          </a:p>
        </p:txBody>
      </p:sp>
      <p:sp>
        <p:nvSpPr>
          <p:cNvPr id="4103" name="Rectangle 7"/>
          <p:cNvSpPr>
            <a:spLocks noGrp="1" noChangeArrowheads="1"/>
          </p:cNvSpPr>
          <p:nvPr>
            <p:ph type="sldNum" sz="quarter" idx="4"/>
          </p:nvPr>
        </p:nvSpPr>
        <p:spPr bwMode="auto">
          <a:xfrm>
            <a:off x="8737600" y="6248400"/>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AD280EE7-F64F-4308-BA6A-AA907C3209A3}" type="slidenum">
              <a:rPr lang="en-US" altLang="en-US"/>
              <a:pPr/>
              <a:t>‹#›</a:t>
            </a:fld>
            <a:endParaRPr lang="en-US" altLang="en-US"/>
          </a:p>
        </p:txBody>
      </p:sp>
      <p:sp>
        <p:nvSpPr>
          <p:cNvPr id="4104" name="Rectangle 8"/>
          <p:cNvSpPr>
            <a:spLocks noChangeArrowheads="1"/>
          </p:cNvSpPr>
          <p:nvPr/>
        </p:nvSpPr>
        <p:spPr bwMode="auto">
          <a:xfrm>
            <a:off x="0" y="2372797"/>
            <a:ext cx="184731" cy="369332"/>
          </a:xfrm>
          <a:prstGeom prst="rect">
            <a:avLst/>
          </a:prstGeom>
          <a:noFill/>
          <a:ln w="9525">
            <a:noFill/>
            <a:miter lim="800000"/>
            <a:headEnd/>
            <a:tailEnd/>
          </a:ln>
          <a:effectLst/>
        </p:spPr>
        <p:txBody>
          <a:bodyPr wrap="none" anchor="ctr">
            <a:spAutoFit/>
          </a:bodyPr>
          <a:lstStyle/>
          <a:p>
            <a:endParaRPr lang="cs-CZ"/>
          </a:p>
        </p:txBody>
      </p:sp>
      <p:pic>
        <p:nvPicPr>
          <p:cNvPr id="4105" name="Picture 9" descr="b2e2lirt[1]"/>
          <p:cNvPicPr>
            <a:picLocks noChangeAspect="1" noChangeArrowheads="1"/>
          </p:cNvPicPr>
          <p:nvPr/>
        </p:nvPicPr>
        <p:blipFill>
          <a:blip r:embed="rId13" cstate="print"/>
          <a:srcRect/>
          <a:stretch>
            <a:fillRect/>
          </a:stretch>
        </p:blipFill>
        <p:spPr bwMode="auto">
          <a:xfrm>
            <a:off x="10706101" y="115888"/>
            <a:ext cx="1485900" cy="931862"/>
          </a:xfrm>
          <a:prstGeom prst="rect">
            <a:avLst/>
          </a:prstGeom>
          <a:noFill/>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charset="0"/>
        </a:defRPr>
      </a:lvl2pPr>
      <a:lvl3pPr algn="l" rtl="0" fontAlgn="base">
        <a:spcBef>
          <a:spcPct val="0"/>
        </a:spcBef>
        <a:spcAft>
          <a:spcPct val="0"/>
        </a:spcAft>
        <a:defRPr sz="3900" b="1">
          <a:solidFill>
            <a:schemeClr val="tx2"/>
          </a:solidFill>
          <a:latin typeface="Arial" charset="0"/>
        </a:defRPr>
      </a:lvl3pPr>
      <a:lvl4pPr algn="l" rtl="0" fontAlgn="base">
        <a:spcBef>
          <a:spcPct val="0"/>
        </a:spcBef>
        <a:spcAft>
          <a:spcPct val="0"/>
        </a:spcAft>
        <a:defRPr sz="3900" b="1">
          <a:solidFill>
            <a:schemeClr val="tx2"/>
          </a:solidFill>
          <a:latin typeface="Arial" charset="0"/>
        </a:defRPr>
      </a:lvl4pPr>
      <a:lvl5pPr algn="l" rtl="0" fontAlgn="base">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9722296"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ltLang="en-US"/>
              <a:t>19.3.2025</a:t>
            </a:r>
            <a:endParaRPr lang="en-U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280EE7-F64F-4308-BA6A-AA907C3209A3}" type="slidenum">
              <a:rPr lang="en-US" altLang="en-US" smtClean="0"/>
              <a:pPr/>
              <a:t>‹#›</a:t>
            </a:fld>
            <a:endParaRPr lang="en-US" altLang="en-US"/>
          </a:p>
        </p:txBody>
      </p:sp>
      <p:pic>
        <p:nvPicPr>
          <p:cNvPr id="7" name="Picture 9" descr="b2e2lirt[1]"/>
          <p:cNvPicPr>
            <a:picLocks noChangeAspect="1" noChangeArrowheads="1"/>
          </p:cNvPicPr>
          <p:nvPr/>
        </p:nvPicPr>
        <p:blipFill>
          <a:blip r:embed="rId13" cstate="print"/>
          <a:srcRect/>
          <a:stretch>
            <a:fillRect/>
          </a:stretch>
        </p:blipFill>
        <p:spPr bwMode="auto">
          <a:xfrm>
            <a:off x="10704512" y="476672"/>
            <a:ext cx="1050425" cy="877169"/>
          </a:xfrm>
          <a:prstGeom prst="rect">
            <a:avLst/>
          </a:prstGeom>
          <a:noFill/>
        </p:spPr>
      </p:pic>
      <p:cxnSp>
        <p:nvCxnSpPr>
          <p:cNvPr id="8" name="Straight Connector 7"/>
          <p:cNvCxnSpPr/>
          <p:nvPr/>
        </p:nvCxnSpPr>
        <p:spPr>
          <a:xfrm flipH="1">
            <a:off x="838200" y="1484784"/>
            <a:ext cx="10874424" cy="0"/>
          </a:xfrm>
          <a:prstGeom prst="line">
            <a:avLst/>
          </a:prstGeom>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7704917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223792" y="1122363"/>
            <a:ext cx="6444208" cy="2387600"/>
          </a:xfrm>
        </p:spPr>
        <p:txBody>
          <a:bodyPr/>
          <a:lstStyle/>
          <a:p>
            <a:r>
              <a:rPr lang="en-US"/>
              <a:t>Memory</a:t>
            </a:r>
          </a:p>
        </p:txBody>
      </p:sp>
      <p:sp>
        <p:nvSpPr>
          <p:cNvPr id="2051" name="Rectangle 3"/>
          <p:cNvSpPr>
            <a:spLocks noGrp="1" noChangeArrowheads="1"/>
          </p:cNvSpPr>
          <p:nvPr>
            <p:ph type="subTitle" idx="1"/>
          </p:nvPr>
        </p:nvSpPr>
        <p:spPr>
          <a:xfrm>
            <a:off x="4223792" y="3602038"/>
            <a:ext cx="6444208" cy="1655762"/>
          </a:xfrm>
        </p:spPr>
        <p:txBody>
          <a:bodyPr>
            <a:normAutofit/>
          </a:bodyPr>
          <a:lstStyle/>
          <a:p>
            <a:r>
              <a:rPr lang="en-US"/>
              <a:t>NSWI170 Computer Systems</a:t>
            </a:r>
            <a:endParaRPr lang="cs-CZ"/>
          </a:p>
          <a:p>
            <a:endParaRPr lang="cs-CZ"/>
          </a:p>
          <a:p>
            <a:r>
              <a:rPr lang="cs-CZ"/>
              <a:t>Jakub </a:t>
            </a:r>
            <a:r>
              <a:rPr lang="cs-CZ" err="1"/>
              <a:t>Yaghob</a:t>
            </a:r>
            <a:r>
              <a:rPr lang="en-US"/>
              <a:t>, Martin </a:t>
            </a:r>
            <a:r>
              <a:rPr lang="en-US" err="1"/>
              <a:t>Kruli</a:t>
            </a:r>
            <a:r>
              <a:rPr lang="cs-CZ"/>
              <a:t>š</a:t>
            </a: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765834"/>
            <a:ext cx="4896544" cy="36724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Computer memory hierarchy</a:t>
            </a:r>
          </a:p>
        </p:txBody>
      </p:sp>
      <p:sp>
        <p:nvSpPr>
          <p:cNvPr id="4" name="Isosceles Triangle 3"/>
          <p:cNvSpPr/>
          <p:nvPr/>
        </p:nvSpPr>
        <p:spPr bwMode="auto">
          <a:xfrm>
            <a:off x="5461088" y="2132856"/>
            <a:ext cx="981792" cy="576064"/>
          </a:xfrm>
          <a:prstGeom prst="triangle">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t" anchorCtr="0" compatLnSpc="1">
            <a:prstTxWarp prst="textNoShape">
              <a:avLst/>
            </a:prstTxWarp>
          </a:bodyPr>
          <a:lstStyle/>
          <a:p>
            <a:pPr algn="ctr"/>
            <a:r>
              <a:rPr lang="en-US" err="1"/>
              <a:t>reg</a:t>
            </a:r>
            <a:endParaRPr lang="en-US"/>
          </a:p>
        </p:txBody>
      </p:sp>
      <p:sp>
        <p:nvSpPr>
          <p:cNvPr id="5" name="Trapezoid 4"/>
          <p:cNvSpPr/>
          <p:nvPr/>
        </p:nvSpPr>
        <p:spPr bwMode="auto">
          <a:xfrm>
            <a:off x="5015880" y="2705876"/>
            <a:ext cx="1872208" cy="582152"/>
          </a:xfrm>
          <a:prstGeom prst="trapezoid">
            <a:avLst>
              <a:gd name="adj" fmla="val 77042"/>
            </a:avLst>
          </a:prstGeom>
          <a:solidFill>
            <a:srgbClr val="FF0066"/>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cache</a:t>
            </a:r>
          </a:p>
        </p:txBody>
      </p:sp>
      <p:sp>
        <p:nvSpPr>
          <p:cNvPr id="15" name="Trapezoid 14"/>
          <p:cNvSpPr/>
          <p:nvPr/>
        </p:nvSpPr>
        <p:spPr bwMode="auto">
          <a:xfrm>
            <a:off x="4583832" y="3284984"/>
            <a:ext cx="2736304" cy="582152"/>
          </a:xfrm>
          <a:prstGeom prst="trapezoid">
            <a:avLst>
              <a:gd name="adj" fmla="val 75256"/>
            </a:avLst>
          </a:prstGeom>
          <a:solidFill>
            <a:srgbClr val="FF33CC"/>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RAM</a:t>
            </a:r>
          </a:p>
        </p:txBody>
      </p:sp>
      <p:sp>
        <p:nvSpPr>
          <p:cNvPr id="16" name="Trapezoid 15"/>
          <p:cNvSpPr/>
          <p:nvPr/>
        </p:nvSpPr>
        <p:spPr bwMode="auto">
          <a:xfrm>
            <a:off x="4155789" y="3861048"/>
            <a:ext cx="3592393" cy="582152"/>
          </a:xfrm>
          <a:prstGeom prst="trapezoid">
            <a:avLst>
              <a:gd name="adj" fmla="val 73846"/>
            </a:avLst>
          </a:prstGeom>
          <a:solidFill>
            <a:srgbClr val="CC66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persistent RAM</a:t>
            </a:r>
          </a:p>
        </p:txBody>
      </p:sp>
      <p:sp>
        <p:nvSpPr>
          <p:cNvPr id="17" name="Trapezoid 16"/>
          <p:cNvSpPr/>
          <p:nvPr/>
        </p:nvSpPr>
        <p:spPr bwMode="auto">
          <a:xfrm>
            <a:off x="3747175" y="4445608"/>
            <a:ext cx="4409621" cy="582152"/>
          </a:xfrm>
          <a:prstGeom prst="trapezoid">
            <a:avLst>
              <a:gd name="adj" fmla="val 70929"/>
            </a:avLst>
          </a:prstGeom>
          <a:solidFill>
            <a:srgbClr val="6666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SSD, flash disks</a:t>
            </a:r>
          </a:p>
        </p:txBody>
      </p:sp>
      <p:sp>
        <p:nvSpPr>
          <p:cNvPr id="18" name="Trapezoid 17"/>
          <p:cNvSpPr/>
          <p:nvPr/>
        </p:nvSpPr>
        <p:spPr bwMode="auto">
          <a:xfrm>
            <a:off x="3359696" y="5027760"/>
            <a:ext cx="5184576" cy="576064"/>
          </a:xfrm>
          <a:prstGeom prst="trapezoid">
            <a:avLst>
              <a:gd name="adj" fmla="val 69011"/>
            </a:avLst>
          </a:prstGeom>
          <a:solidFill>
            <a:srgbClr val="0066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HDD</a:t>
            </a:r>
          </a:p>
        </p:txBody>
      </p:sp>
      <p:sp>
        <p:nvSpPr>
          <p:cNvPr id="21" name="Trapezoid 20"/>
          <p:cNvSpPr/>
          <p:nvPr/>
        </p:nvSpPr>
        <p:spPr bwMode="auto">
          <a:xfrm>
            <a:off x="2963652" y="5603824"/>
            <a:ext cx="5976664" cy="576064"/>
          </a:xfrm>
          <a:prstGeom prst="trapezoid">
            <a:avLst>
              <a:gd name="adj" fmla="val 67843"/>
            </a:avLst>
          </a:prstGeom>
          <a:solidFill>
            <a:srgbClr val="00CCFF"/>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tapes</a:t>
            </a:r>
          </a:p>
        </p:txBody>
      </p:sp>
      <p:cxnSp>
        <p:nvCxnSpPr>
          <p:cNvPr id="23" name="Straight Arrow Connector 22"/>
          <p:cNvCxnSpPr/>
          <p:nvPr/>
        </p:nvCxnSpPr>
        <p:spPr bwMode="auto">
          <a:xfrm flipH="1">
            <a:off x="2069265" y="2132856"/>
            <a:ext cx="1" cy="404703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p:cNvSpPr txBox="1"/>
          <p:nvPr/>
        </p:nvSpPr>
        <p:spPr>
          <a:xfrm>
            <a:off x="1752511" y="1675293"/>
            <a:ext cx="544957" cy="369332"/>
          </a:xfrm>
          <a:prstGeom prst="rect">
            <a:avLst/>
          </a:prstGeom>
          <a:noFill/>
        </p:spPr>
        <p:txBody>
          <a:bodyPr wrap="none" rtlCol="0">
            <a:spAutoFit/>
          </a:bodyPr>
          <a:lstStyle/>
          <a:p>
            <a:r>
              <a:rPr lang="en-US">
                <a:latin typeface="+mn-lt"/>
              </a:rPr>
              <a:t>Size</a:t>
            </a:r>
          </a:p>
        </p:txBody>
      </p:sp>
      <p:cxnSp>
        <p:nvCxnSpPr>
          <p:cNvPr id="26" name="Straight Arrow Connector 25"/>
          <p:cNvCxnSpPr/>
          <p:nvPr/>
        </p:nvCxnSpPr>
        <p:spPr bwMode="auto">
          <a:xfrm flipH="1" flipV="1">
            <a:off x="9472899" y="2158408"/>
            <a:ext cx="71760" cy="402148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TextBox 26"/>
          <p:cNvSpPr txBox="1"/>
          <p:nvPr/>
        </p:nvSpPr>
        <p:spPr>
          <a:xfrm>
            <a:off x="8848983" y="1739882"/>
            <a:ext cx="1319592" cy="369332"/>
          </a:xfrm>
          <a:prstGeom prst="rect">
            <a:avLst/>
          </a:prstGeom>
          <a:noFill/>
        </p:spPr>
        <p:txBody>
          <a:bodyPr wrap="none" rtlCol="0">
            <a:spAutoFit/>
          </a:bodyPr>
          <a:lstStyle/>
          <a:p>
            <a:pPr algn="ctr"/>
            <a:r>
              <a:rPr lang="en-US">
                <a:latin typeface="+mn-lt"/>
              </a:rPr>
              <a:t>Speed/Price</a:t>
            </a:r>
          </a:p>
        </p:txBody>
      </p:sp>
      <p:cxnSp>
        <p:nvCxnSpPr>
          <p:cNvPr id="32" name="Straight Connector 31"/>
          <p:cNvCxnSpPr/>
          <p:nvPr/>
        </p:nvCxnSpPr>
        <p:spPr bwMode="auto">
          <a:xfrm>
            <a:off x="2501313" y="3861048"/>
            <a:ext cx="6624736" cy="0"/>
          </a:xfrm>
          <a:prstGeom prst="line">
            <a:avLst/>
          </a:prstGeom>
          <a:solidFill>
            <a:schemeClr val="accent1"/>
          </a:solidFill>
          <a:ln w="31750" cap="flat" cmpd="sng" algn="ctr">
            <a:solidFill>
              <a:srgbClr val="0066FF"/>
            </a:solidFill>
            <a:prstDash val="solid"/>
            <a:round/>
            <a:headEnd type="none" w="med" len="med"/>
            <a:tailEnd type="none" w="med" len="med"/>
          </a:ln>
          <a:effectLst/>
        </p:spPr>
      </p:cxnSp>
      <p:sp>
        <p:nvSpPr>
          <p:cNvPr id="34" name="TextBox 33"/>
          <p:cNvSpPr txBox="1"/>
          <p:nvPr/>
        </p:nvSpPr>
        <p:spPr>
          <a:xfrm>
            <a:off x="2431069" y="3469521"/>
            <a:ext cx="1074781" cy="369332"/>
          </a:xfrm>
          <a:prstGeom prst="rect">
            <a:avLst/>
          </a:prstGeom>
          <a:noFill/>
        </p:spPr>
        <p:txBody>
          <a:bodyPr wrap="none" rtlCol="0">
            <a:spAutoFit/>
          </a:bodyPr>
          <a:lstStyle/>
          <a:p>
            <a:r>
              <a:rPr lang="en-US">
                <a:solidFill>
                  <a:srgbClr val="0066FF"/>
                </a:solidFill>
                <a:latin typeface="+mn-lt"/>
              </a:rPr>
              <a:t>Power on</a:t>
            </a:r>
          </a:p>
        </p:txBody>
      </p:sp>
      <p:sp>
        <p:nvSpPr>
          <p:cNvPr id="35" name="TextBox 34"/>
          <p:cNvSpPr txBox="1"/>
          <p:nvPr/>
        </p:nvSpPr>
        <p:spPr>
          <a:xfrm>
            <a:off x="2436591" y="3900638"/>
            <a:ext cx="1091774" cy="369332"/>
          </a:xfrm>
          <a:prstGeom prst="rect">
            <a:avLst/>
          </a:prstGeom>
          <a:noFill/>
        </p:spPr>
        <p:txBody>
          <a:bodyPr wrap="none" rtlCol="0">
            <a:spAutoFit/>
          </a:bodyPr>
          <a:lstStyle/>
          <a:p>
            <a:r>
              <a:rPr lang="en-US">
                <a:solidFill>
                  <a:srgbClr val="0066FF"/>
                </a:solidFill>
                <a:latin typeface="+mn-lt"/>
              </a:rPr>
              <a:t>Power off</a:t>
            </a:r>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2</a:t>
            </a:fld>
            <a:endParaRPr lang="en-US" altLang="en-US"/>
          </a:p>
        </p:txBody>
      </p:sp>
      <p:cxnSp>
        <p:nvCxnSpPr>
          <p:cNvPr id="19" name="Straight Connector 18"/>
          <p:cNvCxnSpPr/>
          <p:nvPr/>
        </p:nvCxnSpPr>
        <p:spPr bwMode="auto">
          <a:xfrm>
            <a:off x="2297468" y="4443200"/>
            <a:ext cx="7042604" cy="0"/>
          </a:xfrm>
          <a:prstGeom prst="line">
            <a:avLst/>
          </a:prstGeom>
          <a:solidFill>
            <a:schemeClr val="accent1"/>
          </a:solidFill>
          <a:ln w="31750" cap="flat" cmpd="sng" algn="ctr">
            <a:solidFill>
              <a:srgbClr val="00B050"/>
            </a:solidFill>
            <a:prstDash val="solid"/>
            <a:round/>
            <a:headEnd type="none" w="med" len="med"/>
            <a:tailEnd type="none" w="med" len="med"/>
          </a:ln>
          <a:effectLst/>
        </p:spPr>
      </p:cxnSp>
      <p:sp>
        <p:nvSpPr>
          <p:cNvPr id="20" name="TextBox 19"/>
          <p:cNvSpPr txBox="1"/>
          <p:nvPr/>
        </p:nvSpPr>
        <p:spPr>
          <a:xfrm>
            <a:off x="7438398" y="3838853"/>
            <a:ext cx="1901674" cy="646331"/>
          </a:xfrm>
          <a:prstGeom prst="rect">
            <a:avLst/>
          </a:prstGeom>
          <a:noFill/>
        </p:spPr>
        <p:txBody>
          <a:bodyPr wrap="none" rtlCol="0">
            <a:spAutoFit/>
          </a:bodyPr>
          <a:lstStyle/>
          <a:p>
            <a:pPr algn="r"/>
            <a:r>
              <a:rPr lang="en-US">
                <a:solidFill>
                  <a:srgbClr val="00B050"/>
                </a:solidFill>
                <a:latin typeface="+mn-lt"/>
              </a:rPr>
              <a:t>Directly accessible</a:t>
            </a:r>
            <a:br>
              <a:rPr lang="en-US">
                <a:solidFill>
                  <a:srgbClr val="00B050"/>
                </a:solidFill>
                <a:latin typeface="+mn-lt"/>
              </a:rPr>
            </a:br>
            <a:r>
              <a:rPr lang="en-US">
                <a:solidFill>
                  <a:srgbClr val="00B050"/>
                </a:solidFill>
                <a:latin typeface="+mn-lt"/>
              </a:rPr>
              <a:t>by CPU</a:t>
            </a:r>
          </a:p>
        </p:txBody>
      </p:sp>
      <p:sp>
        <p:nvSpPr>
          <p:cNvPr id="22" name="TextBox 21"/>
          <p:cNvSpPr txBox="1"/>
          <p:nvPr/>
        </p:nvSpPr>
        <p:spPr>
          <a:xfrm>
            <a:off x="8027750" y="4514901"/>
            <a:ext cx="1304973" cy="369332"/>
          </a:xfrm>
          <a:prstGeom prst="rect">
            <a:avLst/>
          </a:prstGeom>
          <a:noFill/>
        </p:spPr>
        <p:txBody>
          <a:bodyPr wrap="none" rtlCol="0">
            <a:spAutoFit/>
          </a:bodyPr>
          <a:lstStyle/>
          <a:p>
            <a:pPr algn="r"/>
            <a:r>
              <a:rPr lang="en-US">
                <a:solidFill>
                  <a:srgbClr val="00B050"/>
                </a:solidFill>
                <a:latin typeface="+mn-lt"/>
              </a:rPr>
              <a:t>External I/O</a:t>
            </a:r>
          </a:p>
        </p:txBody>
      </p:sp>
      <p:sp>
        <p:nvSpPr>
          <p:cNvPr id="7" name="Rounded Rectangle 6"/>
          <p:cNvSpPr/>
          <p:nvPr/>
        </p:nvSpPr>
        <p:spPr>
          <a:xfrm>
            <a:off x="4456992" y="2696485"/>
            <a:ext cx="3070590" cy="1299863"/>
          </a:xfrm>
          <a:prstGeom prst="round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
        <p:nvSpPr>
          <p:cNvPr id="25" name="TextBox 24"/>
          <p:cNvSpPr txBox="1"/>
          <p:nvPr/>
        </p:nvSpPr>
        <p:spPr>
          <a:xfrm>
            <a:off x="6372756" y="2327559"/>
            <a:ext cx="1088696" cy="369332"/>
          </a:xfrm>
          <a:prstGeom prst="rect">
            <a:avLst/>
          </a:prstGeom>
          <a:noFill/>
        </p:spPr>
        <p:txBody>
          <a:bodyPr wrap="none" rtlCol="0">
            <a:spAutoFit/>
          </a:bodyPr>
          <a:lstStyle/>
          <a:p>
            <a:pPr algn="r"/>
            <a:r>
              <a:rPr lang="en-US">
                <a:solidFill>
                  <a:srgbClr val="FFC000"/>
                </a:solidFill>
                <a:latin typeface="+mn-lt"/>
              </a:rPr>
              <a:t>Our focus</a:t>
            </a:r>
          </a:p>
        </p:txBody>
      </p:sp>
    </p:spTree>
    <p:extLst>
      <p:ext uri="{BB962C8B-B14F-4D97-AF65-F5344CB8AC3E}">
        <p14:creationId xmlns:p14="http://schemas.microsoft.com/office/powerpoint/2010/main" val="288402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Memory</a:t>
            </a:r>
          </a:p>
        </p:txBody>
      </p:sp>
      <p:sp>
        <p:nvSpPr>
          <p:cNvPr id="3" name="Content Placeholder 2"/>
          <p:cNvSpPr>
            <a:spLocks noGrp="1"/>
          </p:cNvSpPr>
          <p:nvPr>
            <p:ph idx="1"/>
          </p:nvPr>
        </p:nvSpPr>
        <p:spPr/>
        <p:txBody>
          <a:bodyPr/>
          <a:lstStyle/>
          <a:p>
            <a:r>
              <a:rPr lang="en-US"/>
              <a:t>Definition</a:t>
            </a:r>
          </a:p>
          <a:p>
            <a:pPr lvl="1"/>
            <a:r>
              <a:rPr lang="en-US"/>
              <a:t>Each memory is organized into memory cells – bits</a:t>
            </a:r>
          </a:p>
          <a:p>
            <a:pPr lvl="1"/>
            <a:r>
              <a:rPr lang="en-US"/>
              <a:t>Bits are grouped into words of fixed length</a:t>
            </a:r>
          </a:p>
          <a:p>
            <a:pPr lvl="2"/>
            <a:r>
              <a:rPr lang="en-US"/>
              <a:t>1, 2, 4, 8, 16, 32, 64, and 128 bits</a:t>
            </a:r>
          </a:p>
          <a:p>
            <a:pPr lvl="1"/>
            <a:r>
              <a:rPr lang="en-US"/>
              <a:t>Each word can be accessed by a binary address</a:t>
            </a:r>
          </a:p>
          <a:p>
            <a:pPr lvl="2"/>
            <a:r>
              <a:rPr lang="en-US"/>
              <a:t>N bits (usually 32 or 64 on contemporary architectures)</a:t>
            </a:r>
          </a:p>
          <a:p>
            <a:pPr lvl="2"/>
            <a:r>
              <a:rPr lang="en-US"/>
              <a:t>We can store 2</a:t>
            </a:r>
            <a:r>
              <a:rPr lang="en-US" baseline="30000"/>
              <a:t>N</a:t>
            </a:r>
            <a:r>
              <a:rPr lang="en-US"/>
              <a:t> words in the memory</a:t>
            </a:r>
            <a:endParaRPr lang="en-US" baseline="30000"/>
          </a:p>
          <a:p>
            <a:pPr lvl="1"/>
            <a:r>
              <a:rPr lang="en-US"/>
              <a:t>Today, the 8-bit word is used exclusively</a:t>
            </a:r>
          </a:p>
          <a:p>
            <a:pPr lvl="2"/>
            <a:r>
              <a:rPr lang="en-US"/>
              <a:t>Byte</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3</a:t>
            </a:fld>
            <a:endParaRPr lang="en-US" altLang="en-US"/>
          </a:p>
        </p:txBody>
      </p:sp>
      <p:sp>
        <p:nvSpPr>
          <p:cNvPr id="6" name="Rounded Rectangular Callout 5"/>
          <p:cNvSpPr/>
          <p:nvPr/>
        </p:nvSpPr>
        <p:spPr>
          <a:xfrm>
            <a:off x="3215680" y="5023649"/>
            <a:ext cx="6192688" cy="828672"/>
          </a:xfrm>
          <a:prstGeom prst="wedgeRoundRectCallout">
            <a:avLst>
              <a:gd name="adj1" fmla="val -57882"/>
              <a:gd name="adj2" fmla="val -4283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This is the basis for addressing, but many architectures have “native”  support only for larger words (e.g., 32 bit)</a:t>
            </a:r>
          </a:p>
        </p:txBody>
      </p:sp>
    </p:spTree>
    <p:extLst>
      <p:ext uri="{BB962C8B-B14F-4D97-AF65-F5344CB8AC3E}">
        <p14:creationId xmlns:p14="http://schemas.microsoft.com/office/powerpoint/2010/main" val="21922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Memory – address space</a:t>
            </a:r>
          </a:p>
        </p:txBody>
      </p:sp>
      <p:sp>
        <p:nvSpPr>
          <p:cNvPr id="5" name="TextBox 4"/>
          <p:cNvSpPr txBox="1"/>
          <p:nvPr/>
        </p:nvSpPr>
        <p:spPr>
          <a:xfrm>
            <a:off x="5053327" y="1962535"/>
            <a:ext cx="312906" cy="369332"/>
          </a:xfrm>
          <a:prstGeom prst="rect">
            <a:avLst/>
          </a:prstGeom>
          <a:noFill/>
        </p:spPr>
        <p:txBody>
          <a:bodyPr wrap="none" rtlCol="0">
            <a:spAutoFit/>
          </a:bodyPr>
          <a:lstStyle/>
          <a:p>
            <a:r>
              <a:rPr lang="en-US">
                <a:latin typeface="+mn-lt"/>
              </a:rPr>
              <a:t>0</a:t>
            </a:r>
          </a:p>
        </p:txBody>
      </p:sp>
      <p:sp>
        <p:nvSpPr>
          <p:cNvPr id="6" name="TextBox 5"/>
          <p:cNvSpPr txBox="1"/>
          <p:nvPr/>
        </p:nvSpPr>
        <p:spPr>
          <a:xfrm>
            <a:off x="4840964" y="6093296"/>
            <a:ext cx="588623" cy="369332"/>
          </a:xfrm>
          <a:prstGeom prst="rect">
            <a:avLst/>
          </a:prstGeom>
          <a:noFill/>
        </p:spPr>
        <p:txBody>
          <a:bodyPr wrap="none" rtlCol="0">
            <a:spAutoFit/>
          </a:bodyPr>
          <a:lstStyle/>
          <a:p>
            <a:r>
              <a:rPr lang="en-US">
                <a:latin typeface="+mn-lt"/>
              </a:rPr>
              <a:t>2</a:t>
            </a:r>
            <a:r>
              <a:rPr lang="en-US" baseline="30000">
                <a:latin typeface="+mn-lt"/>
              </a:rPr>
              <a:t>N</a:t>
            </a:r>
            <a:r>
              <a:rPr lang="en-US">
                <a:latin typeface="+mn-lt"/>
              </a:rPr>
              <a:t>-1</a:t>
            </a:r>
          </a:p>
        </p:txBody>
      </p:sp>
      <p:sp>
        <p:nvSpPr>
          <p:cNvPr id="12" name="TextBox 11"/>
          <p:cNvSpPr txBox="1"/>
          <p:nvPr/>
        </p:nvSpPr>
        <p:spPr>
          <a:xfrm>
            <a:off x="5053327" y="2177895"/>
            <a:ext cx="312906" cy="369332"/>
          </a:xfrm>
          <a:prstGeom prst="rect">
            <a:avLst/>
          </a:prstGeom>
          <a:noFill/>
        </p:spPr>
        <p:txBody>
          <a:bodyPr wrap="none" rtlCol="0">
            <a:spAutoFit/>
          </a:bodyPr>
          <a:lstStyle/>
          <a:p>
            <a:r>
              <a:rPr lang="en-US">
                <a:latin typeface="+mn-lt"/>
              </a:rPr>
              <a:t>1</a:t>
            </a:r>
          </a:p>
        </p:txBody>
      </p:sp>
      <p:sp>
        <p:nvSpPr>
          <p:cNvPr id="13" name="TextBox 12"/>
          <p:cNvSpPr txBox="1"/>
          <p:nvPr/>
        </p:nvSpPr>
        <p:spPr>
          <a:xfrm>
            <a:off x="5053327" y="2393254"/>
            <a:ext cx="312906" cy="369332"/>
          </a:xfrm>
          <a:prstGeom prst="rect">
            <a:avLst/>
          </a:prstGeom>
          <a:noFill/>
        </p:spPr>
        <p:txBody>
          <a:bodyPr wrap="none" rtlCol="0">
            <a:spAutoFit/>
          </a:bodyPr>
          <a:lstStyle/>
          <a:p>
            <a:r>
              <a:rPr lang="en-US">
                <a:latin typeface="+mn-lt"/>
              </a:rPr>
              <a:t>2</a:t>
            </a:r>
          </a:p>
        </p:txBody>
      </p:sp>
      <p:sp>
        <p:nvSpPr>
          <p:cNvPr id="14" name="TextBox 13"/>
          <p:cNvSpPr txBox="1"/>
          <p:nvPr/>
        </p:nvSpPr>
        <p:spPr>
          <a:xfrm>
            <a:off x="4840964" y="5877936"/>
            <a:ext cx="588623" cy="369332"/>
          </a:xfrm>
          <a:prstGeom prst="rect">
            <a:avLst/>
          </a:prstGeom>
          <a:noFill/>
        </p:spPr>
        <p:txBody>
          <a:bodyPr wrap="none" rtlCol="0">
            <a:spAutoFit/>
          </a:bodyPr>
          <a:lstStyle/>
          <a:p>
            <a:r>
              <a:rPr lang="en-US">
                <a:latin typeface="+mn-lt"/>
              </a:rPr>
              <a:t>2</a:t>
            </a:r>
            <a:r>
              <a:rPr lang="en-US" baseline="30000">
                <a:latin typeface="+mn-lt"/>
              </a:rPr>
              <a:t>N</a:t>
            </a:r>
            <a:r>
              <a:rPr lang="en-US">
                <a:latin typeface="+mn-lt"/>
              </a:rPr>
              <a:t>-2</a:t>
            </a:r>
          </a:p>
        </p:txBody>
      </p:sp>
      <p:grpSp>
        <p:nvGrpSpPr>
          <p:cNvPr id="17" name="Group 16"/>
          <p:cNvGrpSpPr/>
          <p:nvPr/>
        </p:nvGrpSpPr>
        <p:grpSpPr>
          <a:xfrm>
            <a:off x="5447928" y="2016000"/>
            <a:ext cx="1872208" cy="4392488"/>
            <a:chOff x="5519936" y="2060848"/>
            <a:chExt cx="1872208" cy="4392488"/>
          </a:xfrm>
        </p:grpSpPr>
        <p:sp>
          <p:nvSpPr>
            <p:cNvPr id="4" name="Rectangle 3"/>
            <p:cNvSpPr/>
            <p:nvPr/>
          </p:nvSpPr>
          <p:spPr bwMode="auto">
            <a:xfrm>
              <a:off x="5519936" y="2060848"/>
              <a:ext cx="1872208" cy="4392488"/>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7" name="Straight Connector 6"/>
            <p:cNvCxnSpPr/>
            <p:nvPr/>
          </p:nvCxnSpPr>
          <p:spPr bwMode="auto">
            <a:xfrm>
              <a:off x="5519936" y="2276872"/>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a:off x="5519936" y="2732748"/>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5519936" y="6021288"/>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5519936" y="2492896"/>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5519936" y="6237312"/>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519936" y="3789040"/>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5519936" y="4005064"/>
              <a:ext cx="187220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
        <p:nvSpPr>
          <p:cNvPr id="19" name="TextBox 18"/>
          <p:cNvSpPr txBox="1"/>
          <p:nvPr/>
        </p:nvSpPr>
        <p:spPr>
          <a:xfrm>
            <a:off x="4776844" y="3665324"/>
            <a:ext cx="652743" cy="369332"/>
          </a:xfrm>
          <a:prstGeom prst="rect">
            <a:avLst/>
          </a:prstGeom>
          <a:noFill/>
        </p:spPr>
        <p:txBody>
          <a:bodyPr wrap="none" rtlCol="0">
            <a:spAutoFit/>
          </a:bodyPr>
          <a:lstStyle/>
          <a:p>
            <a:r>
              <a:rPr lang="en-US">
                <a:latin typeface="+mn-lt"/>
              </a:rPr>
              <a:t>1234</a:t>
            </a:r>
          </a:p>
        </p:txBody>
      </p:sp>
      <p:sp>
        <p:nvSpPr>
          <p:cNvPr id="24" name="Line Callout 1 (No Border) 23"/>
          <p:cNvSpPr/>
          <p:nvPr/>
        </p:nvSpPr>
        <p:spPr bwMode="auto">
          <a:xfrm>
            <a:off x="2783632" y="3541804"/>
            <a:ext cx="1368152" cy="391253"/>
          </a:xfrm>
          <a:prstGeom prst="callout1">
            <a:avLst>
              <a:gd name="adj1" fmla="val 51001"/>
              <a:gd name="adj2" fmla="val 106241"/>
              <a:gd name="adj3" fmla="val 78874"/>
              <a:gd name="adj4" fmla="val 147149"/>
            </a:avLst>
          </a:prstGeom>
          <a:noFill/>
          <a:ln w="9525" cap="flat" cmpd="sng" algn="ctr">
            <a:solidFill>
              <a:schemeClr val="tx1"/>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algn="r"/>
            <a:r>
              <a:rPr lang="en-US">
                <a:latin typeface="+mn-lt"/>
              </a:rPr>
              <a:t>the address</a:t>
            </a:r>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15" name="Slide Number Placeholder 14"/>
          <p:cNvSpPr>
            <a:spLocks noGrp="1"/>
          </p:cNvSpPr>
          <p:nvPr>
            <p:ph type="sldNum" sz="quarter" idx="12"/>
          </p:nvPr>
        </p:nvSpPr>
        <p:spPr/>
        <p:txBody>
          <a:bodyPr/>
          <a:lstStyle/>
          <a:p>
            <a:fld id="{F4A1145F-674A-4228-8958-0EA9769F5517}" type="slidenum">
              <a:rPr lang="en-US" altLang="en-US" smtClean="0"/>
              <a:pPr/>
              <a:t>4</a:t>
            </a:fld>
            <a:endParaRPr lang="en-US" altLang="en-US"/>
          </a:p>
        </p:txBody>
      </p:sp>
      <p:sp>
        <p:nvSpPr>
          <p:cNvPr id="20" name="Rounded Rectangular Callout 19"/>
          <p:cNvSpPr/>
          <p:nvPr/>
        </p:nvSpPr>
        <p:spPr>
          <a:xfrm>
            <a:off x="7975429" y="1948809"/>
            <a:ext cx="3378371" cy="821381"/>
          </a:xfrm>
          <a:prstGeom prst="wedgeRoundRectCallout">
            <a:avLst>
              <a:gd name="adj1" fmla="val -65018"/>
              <a:gd name="adj2" fmla="val -3574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Logical view</a:t>
            </a:r>
            <a:br>
              <a:rPr lang="en-US"/>
            </a:br>
            <a:r>
              <a:rPr lang="en-US"/>
              <a:t>(abstraction for programmers)</a:t>
            </a:r>
          </a:p>
        </p:txBody>
      </p:sp>
      <p:sp>
        <p:nvSpPr>
          <p:cNvPr id="21" name="Rounded Rectangular Callout 20"/>
          <p:cNvSpPr/>
          <p:nvPr/>
        </p:nvSpPr>
        <p:spPr>
          <a:xfrm>
            <a:off x="1055440" y="4323322"/>
            <a:ext cx="3378371" cy="821381"/>
          </a:xfrm>
          <a:prstGeom prst="wedgeRoundRectCallout">
            <a:avLst>
              <a:gd name="adj1" fmla="val 27007"/>
              <a:gd name="adj2" fmla="val -9140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Typical 32-bits, or 64-bits</a:t>
            </a:r>
            <a:br>
              <a:rPr lang="en-US"/>
            </a:br>
            <a:r>
              <a:rPr lang="en-US"/>
              <a:t>(also a value stored in pointers)</a:t>
            </a:r>
          </a:p>
        </p:txBody>
      </p:sp>
      <p:sp>
        <p:nvSpPr>
          <p:cNvPr id="22" name="TextBox 21"/>
          <p:cNvSpPr txBox="1"/>
          <p:nvPr/>
        </p:nvSpPr>
        <p:spPr>
          <a:xfrm>
            <a:off x="5826828" y="3737430"/>
            <a:ext cx="1114408" cy="276999"/>
          </a:xfrm>
          <a:prstGeom prst="rect">
            <a:avLst/>
          </a:prstGeom>
          <a:noFill/>
        </p:spPr>
        <p:txBody>
          <a:bodyPr wrap="none" rtlCol="0">
            <a:spAutoFit/>
          </a:bodyPr>
          <a:lstStyle/>
          <a:p>
            <a:r>
              <a:rPr lang="en-US" sz="1200" b="1">
                <a:solidFill>
                  <a:schemeClr val="tx1">
                    <a:lumMod val="50000"/>
                    <a:lumOff val="50000"/>
                  </a:schemeClr>
                </a:solidFill>
                <a:latin typeface="Courier New" panose="02070309020205020404" pitchFamily="49" charset="0"/>
                <a:cs typeface="Courier New" panose="02070309020205020404" pitchFamily="49" charset="0"/>
              </a:rPr>
              <a:t>0b01001011</a:t>
            </a:r>
          </a:p>
        </p:txBody>
      </p:sp>
      <p:sp>
        <p:nvSpPr>
          <p:cNvPr id="25" name="Rounded Rectangular Callout 24"/>
          <p:cNvSpPr/>
          <p:nvPr/>
        </p:nvSpPr>
        <p:spPr>
          <a:xfrm>
            <a:off x="7840516" y="3756196"/>
            <a:ext cx="2729083" cy="567126"/>
          </a:xfrm>
          <a:prstGeom prst="wedgeRoundRectCallout">
            <a:avLst>
              <a:gd name="adj1" fmla="val -65018"/>
              <a:gd name="adj2" fmla="val -3574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One byte per address</a:t>
            </a:r>
          </a:p>
        </p:txBody>
      </p:sp>
    </p:spTree>
    <p:extLst>
      <p:ext uri="{BB962C8B-B14F-4D97-AF65-F5344CB8AC3E}">
        <p14:creationId xmlns:p14="http://schemas.microsoft.com/office/powerpoint/2010/main" val="655655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Memory – physical view</a:t>
            </a:r>
          </a:p>
        </p:txBody>
      </p:sp>
      <p:sp>
        <p:nvSpPr>
          <p:cNvPr id="37" name="Content Placeholder 36"/>
          <p:cNvSpPr>
            <a:spLocks noGrp="1"/>
          </p:cNvSpPr>
          <p:nvPr>
            <p:ph idx="1"/>
          </p:nvPr>
        </p:nvSpPr>
        <p:spPr/>
        <p:txBody>
          <a:bodyPr/>
          <a:lstStyle/>
          <a:p>
            <a:r>
              <a:rPr lang="en-US"/>
              <a:t>2D array</a:t>
            </a:r>
          </a:p>
          <a:p>
            <a:pPr lvl="1"/>
            <a:r>
              <a:rPr lang="en-US"/>
              <a:t>Row x column</a:t>
            </a:r>
          </a:p>
          <a:p>
            <a:pPr lvl="1"/>
            <a:r>
              <a:rPr lang="en-US"/>
              <a:t>Select, access, deselect row</a:t>
            </a:r>
          </a:p>
          <a:p>
            <a:pPr lvl="1"/>
            <a:r>
              <a:rPr lang="en-US"/>
              <a:t>Timing</a:t>
            </a:r>
          </a:p>
          <a:p>
            <a:pPr lvl="2"/>
            <a:r>
              <a:rPr lang="en-US"/>
              <a:t>CAS (</a:t>
            </a:r>
            <a:r>
              <a:rPr lang="en-US" err="1"/>
              <a:t>tCL</a:t>
            </a:r>
            <a:r>
              <a:rPr lang="en-US"/>
              <a:t>) – Column Access Strobe</a:t>
            </a:r>
          </a:p>
          <a:p>
            <a:pPr lvl="2"/>
            <a:r>
              <a:rPr lang="en-US" err="1"/>
              <a:t>tRCD</a:t>
            </a:r>
            <a:r>
              <a:rPr lang="en-US"/>
              <a:t> – Row Address to Column Address Delay</a:t>
            </a:r>
          </a:p>
          <a:p>
            <a:pPr lvl="2"/>
            <a:r>
              <a:rPr lang="en-US" err="1"/>
              <a:t>tRP</a:t>
            </a:r>
            <a:r>
              <a:rPr lang="en-US"/>
              <a:t> – Row </a:t>
            </a:r>
            <a:r>
              <a:rPr lang="en-US" err="1"/>
              <a:t>Precharge</a:t>
            </a:r>
            <a:endParaRPr lang="en-US"/>
          </a:p>
          <a:p>
            <a:pPr lvl="2"/>
            <a:r>
              <a:rPr lang="en-US"/>
              <a:t>RAS (</a:t>
            </a:r>
            <a:r>
              <a:rPr lang="en-US" err="1"/>
              <a:t>tRAS</a:t>
            </a:r>
            <a:r>
              <a:rPr lang="en-US"/>
              <a:t>) – Row Active Time</a:t>
            </a:r>
          </a:p>
          <a:p>
            <a:endParaRPr lang="en-US"/>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35" name="Slide Number Placeholder 34"/>
          <p:cNvSpPr>
            <a:spLocks noGrp="1"/>
          </p:cNvSpPr>
          <p:nvPr>
            <p:ph type="sldNum" sz="quarter" idx="12"/>
          </p:nvPr>
        </p:nvSpPr>
        <p:spPr/>
        <p:txBody>
          <a:bodyPr/>
          <a:lstStyle/>
          <a:p>
            <a:fld id="{F4A1145F-674A-4228-8958-0EA9769F5517}" type="slidenum">
              <a:rPr lang="en-US" altLang="en-US" smtClean="0"/>
              <a:pPr/>
              <a:t>5</a:t>
            </a:fld>
            <a:endParaRPr lang="en-US" altLang="en-US"/>
          </a:p>
        </p:txBody>
      </p:sp>
      <p:sp>
        <p:nvSpPr>
          <p:cNvPr id="5" name="Rectangle 4"/>
          <p:cNvSpPr/>
          <p:nvPr/>
        </p:nvSpPr>
        <p:spPr bwMode="auto">
          <a:xfrm>
            <a:off x="9107799" y="3705854"/>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6" name="Rectangle 5"/>
          <p:cNvSpPr/>
          <p:nvPr/>
        </p:nvSpPr>
        <p:spPr bwMode="auto">
          <a:xfrm>
            <a:off x="9611855" y="3707352"/>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7" name="Rectangle 6"/>
          <p:cNvSpPr/>
          <p:nvPr/>
        </p:nvSpPr>
        <p:spPr bwMode="auto">
          <a:xfrm>
            <a:off x="10619967" y="3717110"/>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8" name="Rectangle 7"/>
          <p:cNvSpPr/>
          <p:nvPr/>
        </p:nvSpPr>
        <p:spPr bwMode="auto">
          <a:xfrm>
            <a:off x="9107799" y="3993886"/>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9" name="Rectangle 8"/>
          <p:cNvSpPr/>
          <p:nvPr/>
        </p:nvSpPr>
        <p:spPr bwMode="auto">
          <a:xfrm>
            <a:off x="9611855" y="3996359"/>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10" name="Rectangle 9"/>
          <p:cNvSpPr/>
          <p:nvPr/>
        </p:nvSpPr>
        <p:spPr bwMode="auto">
          <a:xfrm>
            <a:off x="10619967" y="4005142"/>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11" name="Rectangle 10"/>
          <p:cNvSpPr/>
          <p:nvPr/>
        </p:nvSpPr>
        <p:spPr bwMode="auto">
          <a:xfrm>
            <a:off x="9107799" y="4572549"/>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12" name="Rectangle 11"/>
          <p:cNvSpPr/>
          <p:nvPr/>
        </p:nvSpPr>
        <p:spPr bwMode="auto">
          <a:xfrm>
            <a:off x="9611855" y="4572549"/>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sp>
        <p:nvSpPr>
          <p:cNvPr id="13" name="Rectangle 12"/>
          <p:cNvSpPr/>
          <p:nvPr/>
        </p:nvSpPr>
        <p:spPr bwMode="auto">
          <a:xfrm>
            <a:off x="10619967" y="4575407"/>
            <a:ext cx="504056" cy="28803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a:latin typeface="+mn-lt"/>
            </a:endParaRPr>
          </a:p>
        </p:txBody>
      </p:sp>
      <p:cxnSp>
        <p:nvCxnSpPr>
          <p:cNvPr id="14" name="Straight Connector 13"/>
          <p:cNvCxnSpPr/>
          <p:nvPr/>
        </p:nvCxnSpPr>
        <p:spPr bwMode="auto">
          <a:xfrm>
            <a:off x="10223923" y="3861126"/>
            <a:ext cx="288032"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5" name="Straight Connector 14"/>
          <p:cNvCxnSpPr/>
          <p:nvPr/>
        </p:nvCxnSpPr>
        <p:spPr bwMode="auto">
          <a:xfrm>
            <a:off x="10223923" y="4129037"/>
            <a:ext cx="288032"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6" name="Straight Connector 15"/>
          <p:cNvCxnSpPr/>
          <p:nvPr/>
        </p:nvCxnSpPr>
        <p:spPr bwMode="auto">
          <a:xfrm>
            <a:off x="10223923" y="4716565"/>
            <a:ext cx="288032" cy="0"/>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7" name="Straight Connector 16"/>
          <p:cNvCxnSpPr/>
          <p:nvPr/>
        </p:nvCxnSpPr>
        <p:spPr bwMode="auto">
          <a:xfrm>
            <a:off x="9359827" y="4326134"/>
            <a:ext cx="0" cy="216024"/>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8" name="Straight Connector 17"/>
          <p:cNvCxnSpPr/>
          <p:nvPr/>
        </p:nvCxnSpPr>
        <p:spPr bwMode="auto">
          <a:xfrm>
            <a:off x="9863883" y="4326134"/>
            <a:ext cx="0" cy="216024"/>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19" name="Straight Connector 18"/>
          <p:cNvCxnSpPr/>
          <p:nvPr/>
        </p:nvCxnSpPr>
        <p:spPr bwMode="auto">
          <a:xfrm>
            <a:off x="10871995" y="4326134"/>
            <a:ext cx="0" cy="216024"/>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0" name="Rectangle 19"/>
          <p:cNvSpPr/>
          <p:nvPr/>
        </p:nvSpPr>
        <p:spPr bwMode="auto">
          <a:xfrm>
            <a:off x="5221560" y="5982318"/>
            <a:ext cx="226368" cy="32403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0" tIns="45720" rIns="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1400">
                <a:latin typeface="+mn-lt"/>
              </a:rPr>
              <a:t>C</a:t>
            </a:r>
          </a:p>
        </p:txBody>
      </p:sp>
      <p:sp>
        <p:nvSpPr>
          <p:cNvPr id="21" name="Rectangle 20"/>
          <p:cNvSpPr/>
          <p:nvPr/>
        </p:nvSpPr>
        <p:spPr bwMode="auto">
          <a:xfrm>
            <a:off x="5447928" y="5982318"/>
            <a:ext cx="1972855" cy="32403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0" tIns="45720" rIns="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1400">
                <a:latin typeface="+mn-lt"/>
              </a:rPr>
              <a:t>Row (14 bits)</a:t>
            </a:r>
          </a:p>
        </p:txBody>
      </p:sp>
      <p:sp>
        <p:nvSpPr>
          <p:cNvPr id="22" name="Rectangle 21"/>
          <p:cNvSpPr/>
          <p:nvPr/>
        </p:nvSpPr>
        <p:spPr bwMode="auto">
          <a:xfrm>
            <a:off x="7420783" y="5982318"/>
            <a:ext cx="1074948" cy="32403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0" tIns="45720" rIns="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1400">
                <a:latin typeface="+mn-lt"/>
              </a:rPr>
              <a:t>Bank (3 bits)</a:t>
            </a:r>
          </a:p>
        </p:txBody>
      </p:sp>
      <p:sp>
        <p:nvSpPr>
          <p:cNvPr id="23" name="Rectangle 22"/>
          <p:cNvSpPr/>
          <p:nvPr/>
        </p:nvSpPr>
        <p:spPr bwMode="auto">
          <a:xfrm>
            <a:off x="8495731" y="5982318"/>
            <a:ext cx="1728192" cy="32403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0" tIns="45720" rIns="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1400">
                <a:latin typeface="+mn-lt"/>
              </a:rPr>
              <a:t>Column(11 bits)</a:t>
            </a:r>
          </a:p>
        </p:txBody>
      </p:sp>
      <p:sp>
        <p:nvSpPr>
          <p:cNvPr id="24" name="Rectangle 23"/>
          <p:cNvSpPr/>
          <p:nvPr/>
        </p:nvSpPr>
        <p:spPr bwMode="auto">
          <a:xfrm>
            <a:off x="10223923" y="5982318"/>
            <a:ext cx="1512168" cy="32403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0" tIns="45720" rIns="0" bIns="45720" numCol="1" rtlCol="0" anchor="ctr"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1400">
                <a:latin typeface="+mn-lt"/>
              </a:rPr>
              <a:t>Byte in bus (3 bits)</a:t>
            </a:r>
          </a:p>
        </p:txBody>
      </p:sp>
      <p:sp>
        <p:nvSpPr>
          <p:cNvPr id="25" name="Flowchart: Manual Operation 24"/>
          <p:cNvSpPr/>
          <p:nvPr/>
        </p:nvSpPr>
        <p:spPr bwMode="auto">
          <a:xfrm>
            <a:off x="9102868" y="5206590"/>
            <a:ext cx="2021155" cy="318423"/>
          </a:xfrm>
          <a:prstGeom prst="flowChartManualOperation">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400">
                <a:latin typeface="+mn-lt"/>
              </a:rPr>
              <a:t>Column decoder</a:t>
            </a:r>
          </a:p>
        </p:txBody>
      </p:sp>
      <p:sp>
        <p:nvSpPr>
          <p:cNvPr id="26" name="Flowchart: Manual Operation 25"/>
          <p:cNvSpPr/>
          <p:nvPr/>
        </p:nvSpPr>
        <p:spPr bwMode="auto">
          <a:xfrm rot="5400000">
            <a:off x="7702409" y="4165691"/>
            <a:ext cx="1586643" cy="318423"/>
          </a:xfrm>
          <a:prstGeom prst="flowChartManualOperation">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none" lIns="0" tIns="45720" rIns="91440" bIns="45720" numCol="1" rtlCol="0" anchor="t" anchorCtr="0" compatLnSpc="1">
            <a:prstTxWarp prst="textNoShape">
              <a:avLst/>
            </a:prstTxWarp>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400">
                <a:latin typeface="+mn-lt"/>
              </a:rPr>
              <a:t>Row decoder</a:t>
            </a:r>
          </a:p>
        </p:txBody>
      </p:sp>
      <p:cxnSp>
        <p:nvCxnSpPr>
          <p:cNvPr id="27" name="Straight Arrow Connector 26"/>
          <p:cNvCxnSpPr>
            <a:endCxn id="11" idx="1"/>
          </p:cNvCxnSpPr>
          <p:nvPr/>
        </p:nvCxnSpPr>
        <p:spPr bwMode="auto">
          <a:xfrm>
            <a:off x="8654941" y="4716565"/>
            <a:ext cx="45285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p:cNvCxnSpPr/>
          <p:nvPr/>
        </p:nvCxnSpPr>
        <p:spPr bwMode="auto">
          <a:xfrm>
            <a:off x="8650009" y="4129037"/>
            <a:ext cx="45285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9" name="Straight Arrow Connector 28"/>
          <p:cNvCxnSpPr/>
          <p:nvPr/>
        </p:nvCxnSpPr>
        <p:spPr bwMode="auto">
          <a:xfrm>
            <a:off x="8650009" y="3861126"/>
            <a:ext cx="45285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0" name="Straight Arrow Connector 29"/>
          <p:cNvCxnSpPr>
            <a:endCxn id="11" idx="2"/>
          </p:cNvCxnSpPr>
          <p:nvPr/>
        </p:nvCxnSpPr>
        <p:spPr bwMode="auto">
          <a:xfrm flipV="1">
            <a:off x="9359827" y="4860581"/>
            <a:ext cx="0" cy="346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Straight Arrow Connector 30"/>
          <p:cNvCxnSpPr/>
          <p:nvPr/>
        </p:nvCxnSpPr>
        <p:spPr bwMode="auto">
          <a:xfrm flipV="1">
            <a:off x="9886437" y="4860581"/>
            <a:ext cx="0" cy="346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2" name="Straight Arrow Connector 31"/>
          <p:cNvCxnSpPr/>
          <p:nvPr/>
        </p:nvCxnSpPr>
        <p:spPr bwMode="auto">
          <a:xfrm flipV="1">
            <a:off x="10868977" y="4860581"/>
            <a:ext cx="0" cy="346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3" name="Elbow Connector 32"/>
          <p:cNvCxnSpPr>
            <a:stCxn id="23" idx="0"/>
            <a:endCxn id="25" idx="2"/>
          </p:cNvCxnSpPr>
          <p:nvPr/>
        </p:nvCxnSpPr>
        <p:spPr bwMode="auto">
          <a:xfrm rot="5400000" flipH="1" flipV="1">
            <a:off x="9507983" y="5376856"/>
            <a:ext cx="457306" cy="753618"/>
          </a:xfrm>
          <a:prstGeom prst="bentConnector3">
            <a:avLst/>
          </a:prstGeom>
          <a:solidFill>
            <a:schemeClr val="accent1"/>
          </a:solidFill>
          <a:ln w="9525" cap="flat" cmpd="sng" algn="ctr">
            <a:solidFill>
              <a:schemeClr val="tx1"/>
            </a:solidFill>
            <a:prstDash val="solid"/>
            <a:round/>
            <a:headEnd type="none" w="med" len="med"/>
            <a:tailEnd type="triangle"/>
          </a:ln>
          <a:effectLst/>
        </p:spPr>
      </p:cxnSp>
      <p:cxnSp>
        <p:nvCxnSpPr>
          <p:cNvPr id="34" name="Elbow Connector 33"/>
          <p:cNvCxnSpPr>
            <a:stCxn id="21" idx="0"/>
            <a:endCxn id="26" idx="2"/>
          </p:cNvCxnSpPr>
          <p:nvPr/>
        </p:nvCxnSpPr>
        <p:spPr bwMode="auto">
          <a:xfrm rot="5400000" flipH="1" flipV="1">
            <a:off x="6556728" y="4202530"/>
            <a:ext cx="1657416" cy="1902163"/>
          </a:xfrm>
          <a:prstGeom prst="bentConnector2">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46939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representation – integers</a:t>
            </a:r>
          </a:p>
        </p:txBody>
      </p:sp>
      <p:sp>
        <p:nvSpPr>
          <p:cNvPr id="3" name="Content Placeholder 2"/>
          <p:cNvSpPr>
            <a:spLocks noGrp="1"/>
          </p:cNvSpPr>
          <p:nvPr>
            <p:ph sz="half" idx="1"/>
          </p:nvPr>
        </p:nvSpPr>
        <p:spPr/>
        <p:txBody>
          <a:bodyPr>
            <a:noAutofit/>
          </a:bodyPr>
          <a:lstStyle/>
          <a:p>
            <a:r>
              <a:rPr lang="en-US"/>
              <a:t>Unsigned numbers</a:t>
            </a:r>
          </a:p>
          <a:p>
            <a:pPr lvl="1"/>
            <a:r>
              <a:rPr lang="en-US"/>
              <a:t>Simple binary representation of</a:t>
            </a:r>
            <a:br>
              <a:rPr lang="en-US"/>
            </a:br>
            <a:r>
              <a:rPr lang="en-US"/>
              <a:t>a number</a:t>
            </a:r>
          </a:p>
          <a:p>
            <a:pPr lvl="1"/>
            <a:r>
              <a:rPr lang="en-US"/>
              <a:t>Usual sizes</a:t>
            </a:r>
          </a:p>
          <a:p>
            <a:pPr lvl="2"/>
            <a:r>
              <a:rPr lang="en-US"/>
              <a:t>1, 2, 4, 8 bytes</a:t>
            </a:r>
          </a:p>
          <a:p>
            <a:pPr lvl="1"/>
            <a:r>
              <a:rPr lang="en-US"/>
              <a:t>Represented range</a:t>
            </a:r>
          </a:p>
          <a:p>
            <a:pPr lvl="2"/>
            <a:r>
              <a:rPr lang="en-US"/>
              <a:t>[0; 2</a:t>
            </a:r>
            <a:r>
              <a:rPr lang="en-US" baseline="30000"/>
              <a:t>N</a:t>
            </a:r>
            <a:r>
              <a:rPr lang="en-US"/>
              <a:t>-1]</a:t>
            </a:r>
          </a:p>
        </p:txBody>
      </p:sp>
      <p:sp>
        <p:nvSpPr>
          <p:cNvPr id="6" name="Content Placeholder 5"/>
          <p:cNvSpPr>
            <a:spLocks noGrp="1"/>
          </p:cNvSpPr>
          <p:nvPr>
            <p:ph sz="half" idx="2"/>
          </p:nvPr>
        </p:nvSpPr>
        <p:spPr/>
        <p:txBody>
          <a:bodyPr/>
          <a:lstStyle/>
          <a:p>
            <a:r>
              <a:rPr lang="en-US"/>
              <a:t>Signed numbers</a:t>
            </a:r>
          </a:p>
          <a:p>
            <a:pPr lvl="1"/>
            <a:r>
              <a:rPr lang="en-US"/>
              <a:t>Two’s complement</a:t>
            </a:r>
          </a:p>
          <a:p>
            <a:pPr lvl="2"/>
            <a:r>
              <a:rPr lang="en-US"/>
              <a:t>Bitwise negation + 1</a:t>
            </a:r>
          </a:p>
          <a:p>
            <a:pPr lvl="2"/>
            <a:r>
              <a:rPr lang="en-US"/>
              <a:t>One 0</a:t>
            </a:r>
          </a:p>
          <a:p>
            <a:pPr lvl="2"/>
            <a:r>
              <a:rPr lang="en-US"/>
              <a:t>Compatible with unsigned arithmetic</a:t>
            </a:r>
          </a:p>
          <a:p>
            <a:pPr lvl="1"/>
            <a:r>
              <a:rPr lang="en-US"/>
              <a:t>Asymmetric range</a:t>
            </a:r>
          </a:p>
          <a:p>
            <a:pPr lvl="2"/>
            <a:r>
              <a:rPr lang="en-US"/>
              <a:t>[-2</a:t>
            </a:r>
            <a:r>
              <a:rPr lang="en-US" baseline="30000"/>
              <a:t>N-1</a:t>
            </a:r>
            <a:r>
              <a:rPr lang="en-US"/>
              <a:t>;2</a:t>
            </a:r>
            <a:r>
              <a:rPr lang="en-US" baseline="30000"/>
              <a:t>N-1</a:t>
            </a:r>
            <a:r>
              <a:rPr lang="en-US"/>
              <a:t>-1]</a:t>
            </a:r>
          </a:p>
          <a:p>
            <a:pPr marL="0" indent="0">
              <a:buNone/>
            </a:pPr>
            <a:endParaRPr lang="en-US"/>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6</a:t>
            </a:fld>
            <a:endParaRPr lang="en-US" altLang="en-US"/>
          </a:p>
        </p:txBody>
      </p:sp>
    </p:spTree>
    <p:extLst>
      <p:ext uri="{BB962C8B-B14F-4D97-AF65-F5344CB8AC3E}">
        <p14:creationId xmlns:p14="http://schemas.microsoft.com/office/powerpoint/2010/main" val="150342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896" y="3134398"/>
            <a:ext cx="6668431" cy="1733792"/>
          </a:xfrm>
          <a:prstGeom prst="rect">
            <a:avLst/>
          </a:prstGeom>
        </p:spPr>
      </p:pic>
      <p:sp>
        <p:nvSpPr>
          <p:cNvPr id="2" name="Title 1"/>
          <p:cNvSpPr>
            <a:spLocks noGrp="1"/>
          </p:cNvSpPr>
          <p:nvPr>
            <p:ph type="title"/>
          </p:nvPr>
        </p:nvSpPr>
        <p:spPr/>
        <p:txBody>
          <a:bodyPr/>
          <a:lstStyle/>
          <a:p>
            <a:r>
              <a:rPr lang="en-US"/>
              <a:t>Data representation – floats</a:t>
            </a:r>
          </a:p>
        </p:txBody>
      </p:sp>
      <mc:AlternateContent xmlns:mc="http://schemas.openxmlformats.org/markup-compatibility/2006" xmlns:a14="http://schemas.microsoft.com/office/drawing/2010/main">
        <mc:Choice Requires="a14">
          <p:sp>
            <p:nvSpPr>
              <p:cNvPr id="12" name="Content Placeholder 11"/>
              <p:cNvSpPr>
                <a:spLocks noGrp="1"/>
              </p:cNvSpPr>
              <p:nvPr>
                <p:ph idx="1"/>
              </p:nvPr>
            </p:nvSpPr>
            <p:spPr/>
            <p:txBody>
              <a:bodyPr/>
              <a:lstStyle/>
              <a:p>
                <a:r>
                  <a:rPr lang="en-US"/>
                  <a:t>IEEE 754 floating point numbers</a:t>
                </a:r>
              </a:p>
              <a:p>
                <a:pPr lvl="1"/>
                <a:r>
                  <a:rPr lang="en-US"/>
                  <a:t>Hidden bit convention</a:t>
                </a:r>
              </a:p>
              <a:p>
                <a:pPr lvl="2"/>
                <a:r>
                  <a:rPr lang="en-US"/>
                  <a:t>Memory representation for single-precision, double-precision</a:t>
                </a:r>
              </a:p>
              <a:p>
                <a:pPr lvl="2"/>
                <a:r>
                  <a:rPr lang="en-US"/>
                  <a:t>Use the smallest representable exponent</a:t>
                </a:r>
              </a:p>
              <a:p>
                <a:pPr lvl="3"/>
                <a:r>
                  <a:rPr lang="en-US"/>
                  <a:t>Hide the leading bit of significand, it is always 1</a:t>
                </a:r>
              </a:p>
              <a:p>
                <a:pPr lvl="1"/>
                <a:r>
                  <a:rPr lang="en-US"/>
                  <a:t>Exponent (unsigned)</a:t>
                </a:r>
              </a:p>
              <a:p>
                <a:pPr lvl="2"/>
                <a:r>
                  <a:rPr lang="en-US"/>
                  <a:t>Bias (SP=127, DP=1023)</a:t>
                </a:r>
              </a:p>
              <a:p>
                <a:pPr lvl="2"/>
                <a:r>
                  <a:rPr lang="en-US"/>
                  <a:t>Special values</a:t>
                </a:r>
              </a:p>
              <a:p>
                <a:pPr lvl="1"/>
                <a:r>
                  <a:rPr lang="en-US"/>
                  <a:t>Value</a:t>
                </a:r>
              </a:p>
              <a:p>
                <a:pPr lvl="2"/>
                <a14:m>
                  <m:oMath xmlns:m="http://schemas.openxmlformats.org/officeDocument/2006/math">
                    <m:r>
                      <a:rPr lang="en-US" i="1">
                        <a:latin typeface="Cambria Math" panose="02040503050406030204" pitchFamily="18" charset="0"/>
                      </a:rPr>
                      <m:t>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m:t>
                        </m:r>
                      </m:e>
                      <m:sup>
                        <m:r>
                          <a:rPr lang="en-US" i="1">
                            <a:latin typeface="Cambria Math" panose="02040503050406030204" pitchFamily="18" charset="0"/>
                          </a:rPr>
                          <m:t>𝑠𝑖𝑔𝑛</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𝑠𝑖𝑔𝑛𝑖𝑓𝑖𝑐𝑎𝑛𝑑</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i="1">
                            <a:latin typeface="Cambria Math" panose="02040503050406030204" pitchFamily="18" charset="0"/>
                            <a:ea typeface="Cambria Math" panose="02040503050406030204" pitchFamily="18" charset="0"/>
                          </a:rPr>
                          <m:t>𝑒𝑥𝑝𝑜𝑛𝑒𝑛𝑡</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𝑏𝑖𝑎𝑠</m:t>
                        </m:r>
                      </m:sup>
                    </m:sSup>
                  </m:oMath>
                </a14:m>
                <a:endParaRPr lang="en-US"/>
              </a:p>
              <a:p>
                <a:pPr marL="0" indent="0">
                  <a:buNone/>
                </a:pPr>
                <a:endParaRPr lang="en-US"/>
              </a:p>
            </p:txBody>
          </p:sp>
        </mc:Choice>
        <mc:Fallback xmlns="">
          <p:sp>
            <p:nvSpPr>
              <p:cNvPr id="12" name="Content Placeholder 11"/>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cs-CZ">
                    <a:noFill/>
                  </a:rPr>
                  <a:t> </a:t>
                </a:r>
              </a:p>
            </p:txBody>
          </p:sp>
        </mc:Fallback>
      </mc:AlternateContent>
      <p:sp>
        <p:nvSpPr>
          <p:cNvPr id="3" name="Date Placeholder 2"/>
          <p:cNvSpPr>
            <a:spLocks noGrp="1"/>
          </p:cNvSpPr>
          <p:nvPr>
            <p:ph type="dt" sz="half" idx="10"/>
          </p:nvPr>
        </p:nvSpPr>
        <p:spPr/>
        <p:txBody>
          <a:bodyPr/>
          <a:lstStyle/>
          <a:p>
            <a:r>
              <a:rPr lang="cs-CZ" altLang="en-US"/>
              <a:t>19.3.2025</a:t>
            </a:r>
            <a:endParaRPr lang="en-US" altLang="en-US"/>
          </a:p>
        </p:txBody>
      </p:sp>
      <p:sp>
        <p:nvSpPr>
          <p:cNvPr id="6" name="Slide Number Placeholder 5"/>
          <p:cNvSpPr>
            <a:spLocks noGrp="1"/>
          </p:cNvSpPr>
          <p:nvPr>
            <p:ph type="sldNum" sz="quarter" idx="12"/>
          </p:nvPr>
        </p:nvSpPr>
        <p:spPr/>
        <p:txBody>
          <a:bodyPr/>
          <a:lstStyle/>
          <a:p>
            <a:fld id="{F4A1145F-674A-4228-8958-0EA9769F5517}" type="slidenum">
              <a:rPr lang="en-US" altLang="en-US" smtClean="0"/>
              <a:pPr/>
              <a:t>7</a:t>
            </a:fld>
            <a:endParaRPr lang="en-US" altLang="en-US"/>
          </a:p>
        </p:txBody>
      </p:sp>
      <p:sp>
        <p:nvSpPr>
          <p:cNvPr id="7" name="Rounded Rectangular Callout 6"/>
          <p:cNvSpPr/>
          <p:nvPr/>
        </p:nvSpPr>
        <p:spPr>
          <a:xfrm>
            <a:off x="5699348" y="5534969"/>
            <a:ext cx="5184576" cy="821381"/>
          </a:xfrm>
          <a:prstGeom prst="wedgeRoundRectCallout">
            <a:avLst>
              <a:gd name="adj1" fmla="val 20106"/>
              <a:gd name="adj2" fmla="val -11560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CPUs may internally use different representation</a:t>
            </a:r>
            <a:br>
              <a:rPr lang="en-US"/>
            </a:br>
            <a:r>
              <a:rPr lang="en-US"/>
              <a:t>(more suitable for circuits, but more redundant)</a:t>
            </a:r>
          </a:p>
        </p:txBody>
      </p:sp>
    </p:spTree>
    <p:extLst>
      <p:ext uri="{BB962C8B-B14F-4D97-AF65-F5344CB8AC3E}">
        <p14:creationId xmlns:p14="http://schemas.microsoft.com/office/powerpoint/2010/main" val="386698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representation - Endianness</a:t>
            </a:r>
          </a:p>
        </p:txBody>
      </p:sp>
      <p:sp>
        <p:nvSpPr>
          <p:cNvPr id="9" name="Content Placeholder 8"/>
          <p:cNvSpPr>
            <a:spLocks noGrp="1"/>
          </p:cNvSpPr>
          <p:nvPr>
            <p:ph idx="1"/>
          </p:nvPr>
        </p:nvSpPr>
        <p:spPr/>
        <p:txBody>
          <a:bodyPr/>
          <a:lstStyle/>
          <a:p>
            <a:r>
              <a:rPr lang="en-US"/>
              <a:t>How to store multi-byte numbers?</a:t>
            </a:r>
          </a:p>
          <a:p>
            <a:r>
              <a:rPr lang="en-US"/>
              <a:t>Big endian</a:t>
            </a:r>
          </a:p>
          <a:p>
            <a:pPr lvl="1"/>
            <a:r>
              <a:rPr lang="en-US"/>
              <a:t>MSB first, LSB last</a:t>
            </a:r>
          </a:p>
          <a:p>
            <a:pPr lvl="1"/>
            <a:r>
              <a:rPr lang="en-US"/>
              <a:t>PowerPC, …</a:t>
            </a:r>
          </a:p>
          <a:p>
            <a:r>
              <a:rPr lang="en-US"/>
              <a:t>Little endian</a:t>
            </a:r>
          </a:p>
          <a:p>
            <a:pPr lvl="1"/>
            <a:r>
              <a:rPr lang="en-US"/>
              <a:t>LSB first, MSB last</a:t>
            </a:r>
          </a:p>
          <a:p>
            <a:pPr lvl="1"/>
            <a:r>
              <a:rPr lang="en-US"/>
              <a:t>Intel (x86)</a:t>
            </a:r>
          </a:p>
          <a:p>
            <a:r>
              <a:rPr lang="en-US"/>
              <a:t>Example</a:t>
            </a:r>
          </a:p>
          <a:p>
            <a:pPr lvl="1"/>
            <a:r>
              <a:rPr lang="en-US"/>
              <a:t>Store 32-bit number 0x0A0B0C0D</a:t>
            </a:r>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7" name="Slide Number Placeholder 6"/>
          <p:cNvSpPr>
            <a:spLocks noGrp="1"/>
          </p:cNvSpPr>
          <p:nvPr>
            <p:ph type="sldNum" sz="quarter" idx="12"/>
          </p:nvPr>
        </p:nvSpPr>
        <p:spPr/>
        <p:txBody>
          <a:bodyPr/>
          <a:lstStyle/>
          <a:p>
            <a:fld id="{F4A1145F-674A-4228-8958-0EA9769F5517}" type="slidenum">
              <a:rPr lang="en-US" altLang="en-US" smtClean="0"/>
              <a:pPr/>
              <a:t>8</a:t>
            </a:fld>
            <a:endParaRPr lang="en-US" alt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4032" y="1690688"/>
            <a:ext cx="2680161" cy="239300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7193" y="4097483"/>
            <a:ext cx="2667000" cy="2381250"/>
          </a:xfrm>
          <a:prstGeom prst="rect">
            <a:avLst/>
          </a:prstGeom>
        </p:spPr>
      </p:pic>
      <p:sp>
        <p:nvSpPr>
          <p:cNvPr id="8" name="Rounded Rectangular Callout 7"/>
          <p:cNvSpPr/>
          <p:nvPr/>
        </p:nvSpPr>
        <p:spPr>
          <a:xfrm>
            <a:off x="9256619" y="2780928"/>
            <a:ext cx="2607754" cy="821381"/>
          </a:xfrm>
          <a:prstGeom prst="wedgeRoundRectCallout">
            <a:avLst>
              <a:gd name="adj1" fmla="val -69080"/>
              <a:gd name="adj2" fmla="val 5379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Btw. big endian is used in TCP/IP protocols </a:t>
            </a:r>
          </a:p>
        </p:txBody>
      </p:sp>
    </p:spTree>
    <p:extLst>
      <p:ext uri="{BB962C8B-B14F-4D97-AF65-F5344CB8AC3E}">
        <p14:creationId xmlns:p14="http://schemas.microsoft.com/office/powerpoint/2010/main" val="223447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representation example</a:t>
            </a:r>
          </a:p>
        </p:txBody>
      </p:sp>
      <p:sp>
        <p:nvSpPr>
          <p:cNvPr id="3" name="Content Placeholder 2"/>
          <p:cNvSpPr>
            <a:spLocks noGrp="1"/>
          </p:cNvSpPr>
          <p:nvPr>
            <p:ph idx="1"/>
          </p:nvPr>
        </p:nvSpPr>
        <p:spPr>
          <a:xfrm>
            <a:off x="838200" y="1825625"/>
            <a:ext cx="10515600" cy="1819399"/>
          </a:xfrm>
        </p:spPr>
        <p:txBody>
          <a:bodyPr/>
          <a:lstStyle/>
          <a:p>
            <a:r>
              <a:rPr lang="en-US" err="1"/>
              <a:t>Hexdump</a:t>
            </a:r>
            <a:endParaRPr lang="en-US"/>
          </a:p>
          <a:p>
            <a:pPr lvl="1"/>
            <a:r>
              <a:rPr lang="en-US"/>
              <a:t>32bit system, little endian</a:t>
            </a:r>
          </a:p>
          <a:p>
            <a:pPr lvl="1"/>
            <a:r>
              <a:rPr lang="en-US"/>
              <a:t>Variable </a:t>
            </a:r>
            <a:r>
              <a:rPr lang="en-US" b="1" err="1">
                <a:solidFill>
                  <a:srgbClr val="0070C0"/>
                </a:solidFill>
                <a:latin typeface="Courier New" panose="02070309020205020404" pitchFamily="49" charset="0"/>
                <a:cs typeface="Courier New" panose="02070309020205020404" pitchFamily="49" charset="0"/>
              </a:rPr>
              <a:t>int</a:t>
            </a:r>
            <a:r>
              <a:rPr lang="en-US" b="1">
                <a:latin typeface="Courier New" panose="02070309020205020404" pitchFamily="49" charset="0"/>
                <a:cs typeface="Courier New" panose="02070309020205020404" pitchFamily="49" charset="0"/>
              </a:rPr>
              <a:t> *p</a:t>
            </a:r>
            <a:r>
              <a:rPr lang="en-US"/>
              <a:t> stored at </a:t>
            </a:r>
            <a:r>
              <a:rPr lang="en-US">
                <a:latin typeface="Courier New" panose="02070309020205020404" pitchFamily="49" charset="0"/>
                <a:cs typeface="Courier New" panose="02070309020205020404" pitchFamily="49" charset="0"/>
              </a:rPr>
              <a:t>0x1234</a:t>
            </a:r>
          </a:p>
          <a:p>
            <a:pPr lvl="1"/>
            <a:r>
              <a:rPr lang="en-US"/>
              <a:t>What is the value of </a:t>
            </a:r>
            <a:r>
              <a:rPr lang="en-US" b="1">
                <a:latin typeface="Courier New" panose="02070309020205020404" pitchFamily="49" charset="0"/>
                <a:cs typeface="Courier New" panose="02070309020205020404" pitchFamily="49" charset="0"/>
              </a:rPr>
              <a:t>*p</a:t>
            </a:r>
            <a:r>
              <a:rPr lang="en-US"/>
              <a:t> ?</a:t>
            </a:r>
          </a:p>
          <a:p>
            <a:endParaRPr lang="en-US"/>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9</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2566473959"/>
              </p:ext>
            </p:extLst>
          </p:nvPr>
        </p:nvGraphicFramePr>
        <p:xfrm>
          <a:off x="371424" y="3933056"/>
          <a:ext cx="11449152" cy="1854200"/>
        </p:xfrm>
        <a:graphic>
          <a:graphicData uri="http://schemas.openxmlformats.org/drawingml/2006/table">
            <a:tbl>
              <a:tblPr firstRow="1" bandRow="1">
                <a:tableStyleId>{2D5ABB26-0587-4C30-8999-92F81FD0307C}</a:tableStyleId>
              </a:tblPr>
              <a:tblGrid>
                <a:gridCol w="1080000">
                  <a:extLst>
                    <a:ext uri="{9D8B030D-6E8A-4147-A177-3AD203B41FA5}">
                      <a16:colId xmlns:a16="http://schemas.microsoft.com/office/drawing/2014/main" val="4095424426"/>
                    </a:ext>
                  </a:extLst>
                </a:gridCol>
                <a:gridCol w="648072">
                  <a:extLst>
                    <a:ext uri="{9D8B030D-6E8A-4147-A177-3AD203B41FA5}">
                      <a16:colId xmlns:a16="http://schemas.microsoft.com/office/drawing/2014/main" val="3574677294"/>
                    </a:ext>
                  </a:extLst>
                </a:gridCol>
                <a:gridCol w="648072">
                  <a:extLst>
                    <a:ext uri="{9D8B030D-6E8A-4147-A177-3AD203B41FA5}">
                      <a16:colId xmlns:a16="http://schemas.microsoft.com/office/drawing/2014/main" val="3850148817"/>
                    </a:ext>
                  </a:extLst>
                </a:gridCol>
                <a:gridCol w="648072">
                  <a:extLst>
                    <a:ext uri="{9D8B030D-6E8A-4147-A177-3AD203B41FA5}">
                      <a16:colId xmlns:a16="http://schemas.microsoft.com/office/drawing/2014/main" val="2903251469"/>
                    </a:ext>
                  </a:extLst>
                </a:gridCol>
                <a:gridCol w="648072">
                  <a:extLst>
                    <a:ext uri="{9D8B030D-6E8A-4147-A177-3AD203B41FA5}">
                      <a16:colId xmlns:a16="http://schemas.microsoft.com/office/drawing/2014/main" val="125363811"/>
                    </a:ext>
                  </a:extLst>
                </a:gridCol>
                <a:gridCol w="648072">
                  <a:extLst>
                    <a:ext uri="{9D8B030D-6E8A-4147-A177-3AD203B41FA5}">
                      <a16:colId xmlns:a16="http://schemas.microsoft.com/office/drawing/2014/main" val="2072151810"/>
                    </a:ext>
                  </a:extLst>
                </a:gridCol>
                <a:gridCol w="648072">
                  <a:extLst>
                    <a:ext uri="{9D8B030D-6E8A-4147-A177-3AD203B41FA5}">
                      <a16:colId xmlns:a16="http://schemas.microsoft.com/office/drawing/2014/main" val="939777435"/>
                    </a:ext>
                  </a:extLst>
                </a:gridCol>
                <a:gridCol w="648072">
                  <a:extLst>
                    <a:ext uri="{9D8B030D-6E8A-4147-A177-3AD203B41FA5}">
                      <a16:colId xmlns:a16="http://schemas.microsoft.com/office/drawing/2014/main" val="820718835"/>
                    </a:ext>
                  </a:extLst>
                </a:gridCol>
                <a:gridCol w="648072">
                  <a:extLst>
                    <a:ext uri="{9D8B030D-6E8A-4147-A177-3AD203B41FA5}">
                      <a16:colId xmlns:a16="http://schemas.microsoft.com/office/drawing/2014/main" val="347851984"/>
                    </a:ext>
                  </a:extLst>
                </a:gridCol>
                <a:gridCol w="648072">
                  <a:extLst>
                    <a:ext uri="{9D8B030D-6E8A-4147-A177-3AD203B41FA5}">
                      <a16:colId xmlns:a16="http://schemas.microsoft.com/office/drawing/2014/main" val="2674696028"/>
                    </a:ext>
                  </a:extLst>
                </a:gridCol>
                <a:gridCol w="648072">
                  <a:extLst>
                    <a:ext uri="{9D8B030D-6E8A-4147-A177-3AD203B41FA5}">
                      <a16:colId xmlns:a16="http://schemas.microsoft.com/office/drawing/2014/main" val="2187232575"/>
                    </a:ext>
                  </a:extLst>
                </a:gridCol>
                <a:gridCol w="648072">
                  <a:extLst>
                    <a:ext uri="{9D8B030D-6E8A-4147-A177-3AD203B41FA5}">
                      <a16:colId xmlns:a16="http://schemas.microsoft.com/office/drawing/2014/main" val="1017017520"/>
                    </a:ext>
                  </a:extLst>
                </a:gridCol>
                <a:gridCol w="648072">
                  <a:extLst>
                    <a:ext uri="{9D8B030D-6E8A-4147-A177-3AD203B41FA5}">
                      <a16:colId xmlns:a16="http://schemas.microsoft.com/office/drawing/2014/main" val="372050250"/>
                    </a:ext>
                  </a:extLst>
                </a:gridCol>
                <a:gridCol w="648072">
                  <a:extLst>
                    <a:ext uri="{9D8B030D-6E8A-4147-A177-3AD203B41FA5}">
                      <a16:colId xmlns:a16="http://schemas.microsoft.com/office/drawing/2014/main" val="610113363"/>
                    </a:ext>
                  </a:extLst>
                </a:gridCol>
                <a:gridCol w="648072">
                  <a:extLst>
                    <a:ext uri="{9D8B030D-6E8A-4147-A177-3AD203B41FA5}">
                      <a16:colId xmlns:a16="http://schemas.microsoft.com/office/drawing/2014/main" val="178088923"/>
                    </a:ext>
                  </a:extLst>
                </a:gridCol>
                <a:gridCol w="648072">
                  <a:extLst>
                    <a:ext uri="{9D8B030D-6E8A-4147-A177-3AD203B41FA5}">
                      <a16:colId xmlns:a16="http://schemas.microsoft.com/office/drawing/2014/main" val="470113332"/>
                    </a:ext>
                  </a:extLst>
                </a:gridCol>
                <a:gridCol w="648072">
                  <a:extLst>
                    <a:ext uri="{9D8B030D-6E8A-4147-A177-3AD203B41FA5}">
                      <a16:colId xmlns:a16="http://schemas.microsoft.com/office/drawing/2014/main" val="2433212675"/>
                    </a:ext>
                  </a:extLst>
                </a:gridCol>
              </a:tblGrid>
              <a:tr h="370840">
                <a:tc>
                  <a:txBody>
                    <a:bodyPr/>
                    <a:lstStyle/>
                    <a:p>
                      <a:pPr algn="r"/>
                      <a:endParaRPr lang="en-US" b="1">
                        <a:solidFill>
                          <a:schemeClr val="bg1">
                            <a:lumMod val="50000"/>
                          </a:schemeClr>
                        </a:solidFill>
                        <a:latin typeface="Courier New" panose="02070309020205020404" pitchFamily="49" charset="0"/>
                        <a:cs typeface="Courier New" panose="02070309020205020404" pitchFamily="49" charset="0"/>
                      </a:endParaRPr>
                    </a:p>
                  </a:txBody>
                  <a:tcPr>
                    <a:lnR w="12700" cap="flat" cmpd="sng" algn="ctr">
                      <a:solidFill>
                        <a:schemeClr val="bg1">
                          <a:lumMod val="50000"/>
                        </a:schemeClr>
                      </a:solidFill>
                      <a:prstDash val="solid"/>
                      <a:round/>
                      <a:headEnd type="none" w="med" len="med"/>
                      <a:tailEnd type="none" w="med" len="med"/>
                    </a:lnR>
                    <a:lnB w="12700" cap="flat" cmpd="sng" algn="ctr">
                      <a:solidFill>
                        <a:schemeClr val="bg1">
                          <a:lumMod val="50000"/>
                        </a:schemeClr>
                      </a:solidFill>
                      <a:prstDash val="solid"/>
                      <a:round/>
                      <a:headEnd type="none" w="med" len="med"/>
                      <a:tailEnd type="none" w="med" len="med"/>
                    </a:lnB>
                    <a:noFill/>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0x0</a:t>
                      </a:r>
                    </a:p>
                  </a:txBody>
                  <a:tcPr>
                    <a:lnL w="12700" cap="flat" cmpd="sng" algn="ctr">
                      <a:solidFill>
                        <a:schemeClr val="bg1">
                          <a:lumMod val="50000"/>
                        </a:schemeClr>
                      </a:solidFill>
                      <a:prstDash val="solid"/>
                      <a:round/>
                      <a:headEnd type="none" w="med" len="med"/>
                      <a:tailEnd type="none" w="med" len="med"/>
                    </a:lnL>
                    <a:lnB w="12700" cap="flat" cmpd="sng" algn="ctr">
                      <a:solidFill>
                        <a:schemeClr val="bg1">
                          <a:lumMod val="50000"/>
                        </a:schemeClr>
                      </a:solidFill>
                      <a:prstDash val="solid"/>
                      <a:round/>
                      <a:headEnd type="none" w="med" len="med"/>
                      <a:tailEnd type="none" w="med" len="med"/>
                    </a:lnB>
                    <a:noFill/>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0x1</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0x2</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0x3</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0x4</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0x5</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0x6</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0x7</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0x8</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0x9</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0xa</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0xb</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0xc</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0xd</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0xe</a:t>
                      </a:r>
                    </a:p>
                  </a:txBody>
                  <a:tcPr>
                    <a:lnB w="12700" cap="flat" cmpd="sng" algn="ctr">
                      <a:solidFill>
                        <a:schemeClr val="bg1">
                          <a:lumMod val="50000"/>
                        </a:schemeClr>
                      </a:solidFill>
                      <a:prstDash val="solid"/>
                      <a:round/>
                      <a:headEnd type="none" w="med" len="med"/>
                      <a:tailEnd type="none" w="med" len="med"/>
                    </a:lnB>
                  </a:tcPr>
                </a:tc>
                <a:tc>
                  <a:txBody>
                    <a:bodyPr/>
                    <a:lstStyle/>
                    <a:p>
                      <a:pPr algn="ctr"/>
                      <a:r>
                        <a:rPr lang="en-US" b="1">
                          <a:solidFill>
                            <a:schemeClr val="bg1">
                              <a:lumMod val="50000"/>
                            </a:schemeClr>
                          </a:solidFill>
                          <a:latin typeface="Courier New" panose="02070309020205020404" pitchFamily="49" charset="0"/>
                          <a:cs typeface="Courier New" panose="02070309020205020404" pitchFamily="49" charset="0"/>
                        </a:rPr>
                        <a:t>0xf</a:t>
                      </a:r>
                    </a:p>
                  </a:txBody>
                  <a:tcPr>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266682183"/>
                  </a:ext>
                </a:extLst>
              </a:tr>
              <a:tr h="370840">
                <a:tc>
                  <a:txBody>
                    <a:bodyPr/>
                    <a:lstStyle/>
                    <a:p>
                      <a:pPr algn="r"/>
                      <a:r>
                        <a:rPr lang="en-US" b="1">
                          <a:solidFill>
                            <a:schemeClr val="bg1">
                              <a:lumMod val="50000"/>
                            </a:schemeClr>
                          </a:solidFill>
                          <a:latin typeface="Courier New" panose="02070309020205020404" pitchFamily="49" charset="0"/>
                          <a:cs typeface="Courier New" panose="02070309020205020404" pitchFamily="49" charset="0"/>
                        </a:rPr>
                        <a:t>0x123</a:t>
                      </a:r>
                      <a:r>
                        <a:rPr lang="en-US" b="1">
                          <a:solidFill>
                            <a:schemeClr val="bg1">
                              <a:lumMod val="85000"/>
                            </a:schemeClr>
                          </a:solidFill>
                          <a:latin typeface="Courier New" panose="02070309020205020404" pitchFamily="49" charset="0"/>
                          <a:cs typeface="Courier New" panose="02070309020205020404" pitchFamily="49" charset="0"/>
                        </a:rPr>
                        <a:t>0</a:t>
                      </a:r>
                    </a:p>
                  </a:txBody>
                  <a:tcPr>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noFill/>
                  </a:tcPr>
                </a:tc>
                <a:tc>
                  <a:txBody>
                    <a:bodyPr/>
                    <a:lstStyle/>
                    <a:p>
                      <a:pPr algn="ctr"/>
                      <a:r>
                        <a:rPr lang="en-US" b="1">
                          <a:latin typeface="Courier New" panose="02070309020205020404" pitchFamily="49" charset="0"/>
                          <a:cs typeface="Courier New" panose="02070309020205020404" pitchFamily="49" charset="0"/>
                        </a:rPr>
                        <a:t>be</a:t>
                      </a:r>
                    </a:p>
                  </a:txBody>
                  <a:tcPr>
                    <a:lnL w="12700" cap="flat" cmpd="sng" algn="ctr">
                      <a:solidFill>
                        <a:schemeClr val="bg1">
                          <a:lumMod val="50000"/>
                        </a:schemeClr>
                      </a:solidFill>
                      <a:prstDash val="solid"/>
                      <a:round/>
                      <a:headEnd type="none" w="med" len="med"/>
                      <a:tailEnd type="none" w="med" len="med"/>
                    </a:lnL>
                    <a:lnT w="12700" cap="flat" cmpd="sng" algn="ctr">
                      <a:solidFill>
                        <a:schemeClr val="bg1">
                          <a:lumMod val="50000"/>
                        </a:schemeClr>
                      </a:solidFill>
                      <a:prstDash val="solid"/>
                      <a:round/>
                      <a:headEnd type="none" w="med" len="med"/>
                      <a:tailEnd type="none" w="med" len="med"/>
                    </a:lnT>
                    <a:noFill/>
                  </a:tcPr>
                </a:tc>
                <a:tc>
                  <a:txBody>
                    <a:bodyPr/>
                    <a:lstStyle/>
                    <a:p>
                      <a:pPr algn="ctr"/>
                      <a:r>
                        <a:rPr lang="en-US" b="1" err="1">
                          <a:latin typeface="Courier New" panose="02070309020205020404" pitchFamily="49" charset="0"/>
                          <a:cs typeface="Courier New" panose="02070309020205020404" pitchFamily="49" charset="0"/>
                        </a:rPr>
                        <a:t>ba</a:t>
                      </a:r>
                      <a:endParaRPr lang="en-US" b="1">
                        <a:latin typeface="Courier New" panose="02070309020205020404" pitchFamily="49" charset="0"/>
                        <a:cs typeface="Courier New" panose="02070309020205020404" pitchFamily="49" charset="0"/>
                      </a:endParaRP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ad</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de</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68</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12</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00</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00</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49</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66</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20</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79</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6f</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75</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20</a:t>
                      </a:r>
                    </a:p>
                  </a:txBody>
                  <a:tcPr>
                    <a:lnT w="12700" cap="flat" cmpd="sng" algn="ctr">
                      <a:solidFill>
                        <a:schemeClr val="bg1">
                          <a:lumMod val="50000"/>
                        </a:schemeClr>
                      </a:solidFill>
                      <a:prstDash val="solid"/>
                      <a:round/>
                      <a:headEnd type="none" w="med" len="med"/>
                      <a:tailEnd type="none" w="med" len="med"/>
                    </a:lnT>
                  </a:tcPr>
                </a:tc>
                <a:tc>
                  <a:txBody>
                    <a:bodyPr/>
                    <a:lstStyle/>
                    <a:p>
                      <a:pPr algn="ctr"/>
                      <a:r>
                        <a:rPr lang="en-US" b="1">
                          <a:latin typeface="Courier New" panose="02070309020205020404" pitchFamily="49" charset="0"/>
                          <a:cs typeface="Courier New" panose="02070309020205020404" pitchFamily="49" charset="0"/>
                        </a:rPr>
                        <a:t>63</a:t>
                      </a:r>
                    </a:p>
                  </a:txBody>
                  <a:tcPr>
                    <a:lnT w="12700" cap="flat" cmpd="sng" algn="ctr">
                      <a:solidFill>
                        <a:schemeClr val="bg1">
                          <a:lumMod val="50000"/>
                        </a:schemeClr>
                      </a:solidFill>
                      <a:prstDash val="solid"/>
                      <a:round/>
                      <a:headEnd type="none" w="med" len="med"/>
                      <a:tailEnd type="none" w="med" len="med"/>
                    </a:lnT>
                  </a:tcPr>
                </a:tc>
                <a:extLst>
                  <a:ext uri="{0D108BD9-81ED-4DB2-BD59-A6C34878D82A}">
                    <a16:rowId xmlns:a16="http://schemas.microsoft.com/office/drawing/2014/main" val="3310747650"/>
                  </a:ext>
                </a:extLst>
              </a:tr>
              <a:tr h="370840">
                <a:tc>
                  <a:txBody>
                    <a:bodyPr/>
                    <a:lstStyle/>
                    <a:p>
                      <a:pPr algn="r"/>
                      <a:r>
                        <a:rPr lang="en-US" b="1">
                          <a:solidFill>
                            <a:schemeClr val="bg1">
                              <a:lumMod val="50000"/>
                            </a:schemeClr>
                          </a:solidFill>
                          <a:latin typeface="Courier New" panose="02070309020205020404" pitchFamily="49" charset="0"/>
                          <a:cs typeface="Courier New" panose="02070309020205020404" pitchFamily="49" charset="0"/>
                        </a:rPr>
                        <a:t>0x124</a:t>
                      </a:r>
                      <a:r>
                        <a:rPr lang="en-US" b="1">
                          <a:solidFill>
                            <a:schemeClr val="bg1">
                              <a:lumMod val="85000"/>
                            </a:schemeClr>
                          </a:solidFill>
                          <a:latin typeface="Courier New" panose="02070309020205020404" pitchFamily="49" charset="0"/>
                          <a:cs typeface="Courier New" panose="02070309020205020404" pitchFamily="49" charset="0"/>
                        </a:rPr>
                        <a:t>0</a:t>
                      </a:r>
                    </a:p>
                  </a:txBody>
                  <a:tcPr>
                    <a:lnR w="12700" cap="flat" cmpd="sng" algn="ctr">
                      <a:solidFill>
                        <a:schemeClr val="bg1">
                          <a:lumMod val="50000"/>
                        </a:schemeClr>
                      </a:solidFill>
                      <a:prstDash val="solid"/>
                      <a:round/>
                      <a:headEnd type="none" w="med" len="med"/>
                      <a:tailEnd type="none" w="med" len="med"/>
                    </a:lnR>
                    <a:noFill/>
                  </a:tcPr>
                </a:tc>
                <a:tc>
                  <a:txBody>
                    <a:bodyPr/>
                    <a:lstStyle/>
                    <a:p>
                      <a:pPr algn="ctr"/>
                      <a:r>
                        <a:rPr lang="en-US" b="1">
                          <a:latin typeface="Courier New" panose="02070309020205020404" pitchFamily="49" charset="0"/>
                          <a:cs typeface="Courier New" panose="02070309020205020404" pitchFamily="49" charset="0"/>
                        </a:rPr>
                        <a:t>61</a:t>
                      </a:r>
                    </a:p>
                  </a:txBody>
                  <a:tcPr>
                    <a:lnL w="12700" cap="flat" cmpd="sng" algn="ctr">
                      <a:solidFill>
                        <a:schemeClr val="bg1">
                          <a:lumMod val="50000"/>
                        </a:schemeClr>
                      </a:solidFill>
                      <a:prstDash val="solid"/>
                      <a:round/>
                      <a:headEnd type="none" w="med" len="med"/>
                      <a:tailEnd type="none" w="med" len="med"/>
                    </a:lnL>
                    <a:noFill/>
                  </a:tcPr>
                </a:tc>
                <a:tc>
                  <a:txBody>
                    <a:bodyPr/>
                    <a:lstStyle/>
                    <a:p>
                      <a:pPr algn="ctr"/>
                      <a:r>
                        <a:rPr lang="en-US" b="1">
                          <a:latin typeface="Courier New" panose="02070309020205020404" pitchFamily="49" charset="0"/>
                          <a:cs typeface="Courier New" panose="02070309020205020404" pitchFamily="49" charset="0"/>
                        </a:rPr>
                        <a:t>6e</a:t>
                      </a:r>
                    </a:p>
                  </a:txBody>
                  <a:tcPr/>
                </a:tc>
                <a:tc>
                  <a:txBody>
                    <a:bodyPr/>
                    <a:lstStyle/>
                    <a:p>
                      <a:pPr algn="ctr"/>
                      <a:r>
                        <a:rPr lang="en-US" b="1">
                          <a:latin typeface="Courier New" panose="02070309020205020404" pitchFamily="49" charset="0"/>
                          <a:cs typeface="Courier New" panose="02070309020205020404" pitchFamily="49" charset="0"/>
                        </a:rPr>
                        <a:t>20</a:t>
                      </a:r>
                    </a:p>
                  </a:txBody>
                  <a:tcPr/>
                </a:tc>
                <a:tc>
                  <a:txBody>
                    <a:bodyPr/>
                    <a:lstStyle/>
                    <a:p>
                      <a:pPr algn="ctr"/>
                      <a:r>
                        <a:rPr lang="en-US" b="1">
                          <a:latin typeface="Courier New" panose="02070309020205020404" pitchFamily="49" charset="0"/>
                          <a:cs typeface="Courier New" panose="02070309020205020404" pitchFamily="49" charset="0"/>
                        </a:rPr>
                        <a:t>72</a:t>
                      </a:r>
                    </a:p>
                  </a:txBody>
                  <a:tcPr/>
                </a:tc>
                <a:tc>
                  <a:txBody>
                    <a:bodyPr/>
                    <a:lstStyle/>
                    <a:p>
                      <a:pPr algn="ctr"/>
                      <a:r>
                        <a:rPr lang="en-US" b="1">
                          <a:latin typeface="Courier New" panose="02070309020205020404" pitchFamily="49" charset="0"/>
                          <a:cs typeface="Courier New" panose="02070309020205020404" pitchFamily="49" charset="0"/>
                        </a:rPr>
                        <a:t>65</a:t>
                      </a:r>
                    </a:p>
                  </a:txBody>
                  <a:tcPr/>
                </a:tc>
                <a:tc>
                  <a:txBody>
                    <a:bodyPr/>
                    <a:lstStyle/>
                    <a:p>
                      <a:pPr algn="ctr"/>
                      <a:r>
                        <a:rPr lang="en-US" b="1">
                          <a:latin typeface="Courier New" panose="02070309020205020404" pitchFamily="49" charset="0"/>
                          <a:cs typeface="Courier New" panose="02070309020205020404" pitchFamily="49" charset="0"/>
                        </a:rPr>
                        <a:t>61</a:t>
                      </a:r>
                    </a:p>
                  </a:txBody>
                  <a:tcPr/>
                </a:tc>
                <a:tc>
                  <a:txBody>
                    <a:bodyPr/>
                    <a:lstStyle/>
                    <a:p>
                      <a:pPr algn="ctr"/>
                      <a:r>
                        <a:rPr lang="en-US" b="1">
                          <a:latin typeface="Courier New" panose="02070309020205020404" pitchFamily="49" charset="0"/>
                          <a:cs typeface="Courier New" panose="02070309020205020404" pitchFamily="49" charset="0"/>
                        </a:rPr>
                        <a:t>64</a:t>
                      </a:r>
                    </a:p>
                  </a:txBody>
                  <a:tcPr/>
                </a:tc>
                <a:tc>
                  <a:txBody>
                    <a:bodyPr/>
                    <a:lstStyle/>
                    <a:p>
                      <a:pPr algn="ctr"/>
                      <a:r>
                        <a:rPr lang="en-US" b="1">
                          <a:latin typeface="Courier New" panose="02070309020205020404" pitchFamily="49" charset="0"/>
                          <a:cs typeface="Courier New" panose="02070309020205020404" pitchFamily="49" charset="0"/>
                        </a:rPr>
                        <a:t>20</a:t>
                      </a:r>
                    </a:p>
                  </a:txBody>
                  <a:tcPr/>
                </a:tc>
                <a:tc>
                  <a:txBody>
                    <a:bodyPr/>
                    <a:lstStyle/>
                    <a:p>
                      <a:pPr algn="ctr"/>
                      <a:r>
                        <a:rPr lang="en-US" b="1">
                          <a:latin typeface="Courier New" panose="02070309020205020404" pitchFamily="49" charset="0"/>
                          <a:cs typeface="Courier New" panose="02070309020205020404" pitchFamily="49" charset="0"/>
                        </a:rPr>
                        <a:t>74</a:t>
                      </a:r>
                    </a:p>
                  </a:txBody>
                  <a:tcPr/>
                </a:tc>
                <a:tc>
                  <a:txBody>
                    <a:bodyPr/>
                    <a:lstStyle/>
                    <a:p>
                      <a:pPr algn="ctr"/>
                      <a:r>
                        <a:rPr lang="en-US" b="1">
                          <a:latin typeface="Courier New" panose="02070309020205020404" pitchFamily="49" charset="0"/>
                          <a:cs typeface="Courier New" panose="02070309020205020404" pitchFamily="49" charset="0"/>
                        </a:rPr>
                        <a:t>68</a:t>
                      </a:r>
                    </a:p>
                  </a:txBody>
                  <a:tcPr/>
                </a:tc>
                <a:tc>
                  <a:txBody>
                    <a:bodyPr/>
                    <a:lstStyle/>
                    <a:p>
                      <a:pPr algn="ctr"/>
                      <a:r>
                        <a:rPr lang="en-US" b="1">
                          <a:latin typeface="Courier New" panose="02070309020205020404" pitchFamily="49" charset="0"/>
                          <a:cs typeface="Courier New" panose="02070309020205020404" pitchFamily="49" charset="0"/>
                        </a:rPr>
                        <a:t>69</a:t>
                      </a:r>
                    </a:p>
                  </a:txBody>
                  <a:tcPr/>
                </a:tc>
                <a:tc>
                  <a:txBody>
                    <a:bodyPr/>
                    <a:lstStyle/>
                    <a:p>
                      <a:pPr algn="ctr"/>
                      <a:r>
                        <a:rPr lang="en-US" b="1">
                          <a:latin typeface="Courier New" panose="02070309020205020404" pitchFamily="49" charset="0"/>
                          <a:cs typeface="Courier New" panose="02070309020205020404" pitchFamily="49" charset="0"/>
                        </a:rPr>
                        <a:t>73</a:t>
                      </a:r>
                    </a:p>
                  </a:txBody>
                  <a:tcPr/>
                </a:tc>
                <a:tc>
                  <a:txBody>
                    <a:bodyPr/>
                    <a:lstStyle/>
                    <a:p>
                      <a:pPr algn="ctr"/>
                      <a:r>
                        <a:rPr lang="en-US" b="1">
                          <a:latin typeface="Courier New" panose="02070309020205020404" pitchFamily="49" charset="0"/>
                          <a:cs typeface="Courier New" panose="02070309020205020404" pitchFamily="49" charset="0"/>
                        </a:rPr>
                        <a:t>20</a:t>
                      </a:r>
                    </a:p>
                  </a:txBody>
                  <a:tcPr/>
                </a:tc>
                <a:tc>
                  <a:txBody>
                    <a:bodyPr/>
                    <a:lstStyle/>
                    <a:p>
                      <a:pPr algn="ctr"/>
                      <a:r>
                        <a:rPr lang="en-US" b="1">
                          <a:latin typeface="Courier New" panose="02070309020205020404" pitchFamily="49" charset="0"/>
                          <a:cs typeface="Courier New" panose="02070309020205020404" pitchFamily="49" charset="0"/>
                        </a:rPr>
                        <a:t>79</a:t>
                      </a:r>
                    </a:p>
                  </a:txBody>
                  <a:tcPr/>
                </a:tc>
                <a:tc>
                  <a:txBody>
                    <a:bodyPr/>
                    <a:lstStyle/>
                    <a:p>
                      <a:pPr algn="ctr"/>
                      <a:r>
                        <a:rPr lang="en-US" b="1">
                          <a:latin typeface="Courier New" panose="02070309020205020404" pitchFamily="49" charset="0"/>
                          <a:cs typeface="Courier New" panose="02070309020205020404" pitchFamily="49" charset="0"/>
                        </a:rPr>
                        <a:t>6f</a:t>
                      </a:r>
                    </a:p>
                  </a:txBody>
                  <a:tcPr/>
                </a:tc>
                <a:tc>
                  <a:txBody>
                    <a:bodyPr/>
                    <a:lstStyle/>
                    <a:p>
                      <a:pPr algn="ctr"/>
                      <a:r>
                        <a:rPr lang="en-US" b="1">
                          <a:latin typeface="Courier New" panose="02070309020205020404" pitchFamily="49" charset="0"/>
                          <a:cs typeface="Courier New" panose="02070309020205020404" pitchFamily="49" charset="0"/>
                        </a:rPr>
                        <a:t>75</a:t>
                      </a:r>
                    </a:p>
                  </a:txBody>
                  <a:tcPr/>
                </a:tc>
                <a:extLst>
                  <a:ext uri="{0D108BD9-81ED-4DB2-BD59-A6C34878D82A}">
                    <a16:rowId xmlns:a16="http://schemas.microsoft.com/office/drawing/2014/main" val="1072599472"/>
                  </a:ext>
                </a:extLst>
              </a:tr>
              <a:tr h="370840">
                <a:tc>
                  <a:txBody>
                    <a:bodyPr/>
                    <a:lstStyle/>
                    <a:p>
                      <a:pPr algn="r"/>
                      <a:r>
                        <a:rPr lang="en-US" b="1">
                          <a:solidFill>
                            <a:schemeClr val="bg1">
                              <a:lumMod val="50000"/>
                            </a:schemeClr>
                          </a:solidFill>
                          <a:latin typeface="Courier New" panose="02070309020205020404" pitchFamily="49" charset="0"/>
                          <a:cs typeface="Courier New" panose="02070309020205020404" pitchFamily="49" charset="0"/>
                        </a:rPr>
                        <a:t>0x125</a:t>
                      </a:r>
                      <a:r>
                        <a:rPr lang="en-US" b="1">
                          <a:solidFill>
                            <a:schemeClr val="bg1">
                              <a:lumMod val="85000"/>
                            </a:schemeClr>
                          </a:solidFill>
                          <a:latin typeface="Courier New" panose="02070309020205020404" pitchFamily="49" charset="0"/>
                          <a:cs typeface="Courier New" panose="02070309020205020404" pitchFamily="49" charset="0"/>
                        </a:rPr>
                        <a:t>0</a:t>
                      </a:r>
                    </a:p>
                  </a:txBody>
                  <a:tcPr>
                    <a:lnR w="12700" cap="flat" cmpd="sng" algn="ctr">
                      <a:solidFill>
                        <a:schemeClr val="bg1">
                          <a:lumMod val="50000"/>
                        </a:schemeClr>
                      </a:solidFill>
                      <a:prstDash val="solid"/>
                      <a:round/>
                      <a:headEnd type="none" w="med" len="med"/>
                      <a:tailEnd type="none" w="med" len="med"/>
                    </a:lnR>
                    <a:noFill/>
                  </a:tcPr>
                </a:tc>
                <a:tc>
                  <a:txBody>
                    <a:bodyPr/>
                    <a:lstStyle/>
                    <a:p>
                      <a:pPr algn="ctr"/>
                      <a:r>
                        <a:rPr lang="en-US" b="1">
                          <a:latin typeface="Courier New" panose="02070309020205020404" pitchFamily="49" charset="0"/>
                          <a:cs typeface="Courier New" panose="02070309020205020404" pitchFamily="49" charset="0"/>
                        </a:rPr>
                        <a:t>20</a:t>
                      </a:r>
                    </a:p>
                  </a:txBody>
                  <a:tcPr>
                    <a:lnL w="12700" cap="flat" cmpd="sng" algn="ctr">
                      <a:solidFill>
                        <a:schemeClr val="bg1">
                          <a:lumMod val="50000"/>
                        </a:schemeClr>
                      </a:solidFill>
                      <a:prstDash val="solid"/>
                      <a:round/>
                      <a:headEnd type="none" w="med" len="med"/>
                      <a:tailEnd type="none" w="med" len="med"/>
                    </a:lnL>
                    <a:noFill/>
                  </a:tcPr>
                </a:tc>
                <a:tc>
                  <a:txBody>
                    <a:bodyPr/>
                    <a:lstStyle/>
                    <a:p>
                      <a:pPr algn="ctr"/>
                      <a:r>
                        <a:rPr lang="en-US" b="1">
                          <a:latin typeface="Courier New" panose="02070309020205020404" pitchFamily="49" charset="0"/>
                          <a:cs typeface="Courier New" panose="02070309020205020404" pitchFamily="49" charset="0"/>
                        </a:rPr>
                        <a:t>75</a:t>
                      </a:r>
                    </a:p>
                  </a:txBody>
                  <a:tcPr/>
                </a:tc>
                <a:tc>
                  <a:txBody>
                    <a:bodyPr/>
                    <a:lstStyle/>
                    <a:p>
                      <a:pPr algn="ctr"/>
                      <a:r>
                        <a:rPr lang="en-US" b="1">
                          <a:latin typeface="Courier New" panose="02070309020205020404" pitchFamily="49" charset="0"/>
                          <a:cs typeface="Courier New" panose="02070309020205020404" pitchFamily="49" charset="0"/>
                        </a:rPr>
                        <a:t>6e</a:t>
                      </a:r>
                    </a:p>
                  </a:txBody>
                  <a:tcPr/>
                </a:tc>
                <a:tc>
                  <a:txBody>
                    <a:bodyPr/>
                    <a:lstStyle/>
                    <a:p>
                      <a:pPr algn="ctr"/>
                      <a:r>
                        <a:rPr lang="en-US" b="1">
                          <a:latin typeface="Courier New" panose="02070309020205020404" pitchFamily="49" charset="0"/>
                          <a:cs typeface="Courier New" panose="02070309020205020404" pitchFamily="49" charset="0"/>
                        </a:rPr>
                        <a:t>64</a:t>
                      </a:r>
                    </a:p>
                  </a:txBody>
                  <a:tcPr/>
                </a:tc>
                <a:tc>
                  <a:txBody>
                    <a:bodyPr/>
                    <a:lstStyle/>
                    <a:p>
                      <a:pPr algn="ctr"/>
                      <a:r>
                        <a:rPr lang="en-US" b="1">
                          <a:latin typeface="Courier New" panose="02070309020205020404" pitchFamily="49" charset="0"/>
                          <a:cs typeface="Courier New" panose="02070309020205020404" pitchFamily="49" charset="0"/>
                        </a:rPr>
                        <a:t>65</a:t>
                      </a:r>
                    </a:p>
                  </a:txBody>
                  <a:tcPr/>
                </a:tc>
                <a:tc>
                  <a:txBody>
                    <a:bodyPr/>
                    <a:lstStyle/>
                    <a:p>
                      <a:pPr algn="ctr"/>
                      <a:r>
                        <a:rPr lang="en-US" b="1">
                          <a:latin typeface="Courier New" panose="02070309020205020404" pitchFamily="49" charset="0"/>
                          <a:cs typeface="Courier New" panose="02070309020205020404" pitchFamily="49" charset="0"/>
                        </a:rPr>
                        <a:t>72</a:t>
                      </a:r>
                    </a:p>
                  </a:txBody>
                  <a:tcPr/>
                </a:tc>
                <a:tc>
                  <a:txBody>
                    <a:bodyPr/>
                    <a:lstStyle/>
                    <a:p>
                      <a:pPr algn="ctr"/>
                      <a:r>
                        <a:rPr lang="en-US" b="1">
                          <a:latin typeface="Courier New" panose="02070309020205020404" pitchFamily="49" charset="0"/>
                          <a:cs typeface="Courier New" panose="02070309020205020404" pitchFamily="49" charset="0"/>
                        </a:rPr>
                        <a:t>73</a:t>
                      </a:r>
                    </a:p>
                  </a:txBody>
                  <a:tcPr/>
                </a:tc>
                <a:tc>
                  <a:txBody>
                    <a:bodyPr/>
                    <a:lstStyle/>
                    <a:p>
                      <a:pPr algn="ctr"/>
                      <a:r>
                        <a:rPr lang="en-US" b="1">
                          <a:latin typeface="Courier New" panose="02070309020205020404" pitchFamily="49" charset="0"/>
                          <a:cs typeface="Courier New" panose="02070309020205020404" pitchFamily="49" charset="0"/>
                        </a:rPr>
                        <a:t>74</a:t>
                      </a:r>
                    </a:p>
                  </a:txBody>
                  <a:tcPr/>
                </a:tc>
                <a:tc>
                  <a:txBody>
                    <a:bodyPr/>
                    <a:lstStyle/>
                    <a:p>
                      <a:pPr algn="ctr"/>
                      <a:r>
                        <a:rPr lang="en-US" b="1">
                          <a:latin typeface="Courier New" panose="02070309020205020404" pitchFamily="49" charset="0"/>
                          <a:cs typeface="Courier New" panose="02070309020205020404" pitchFamily="49" charset="0"/>
                        </a:rPr>
                        <a:t>61</a:t>
                      </a:r>
                    </a:p>
                  </a:txBody>
                  <a:tcPr/>
                </a:tc>
                <a:tc>
                  <a:txBody>
                    <a:bodyPr/>
                    <a:lstStyle/>
                    <a:p>
                      <a:pPr algn="ctr"/>
                      <a:r>
                        <a:rPr lang="en-US" b="1">
                          <a:latin typeface="Courier New" panose="02070309020205020404" pitchFamily="49" charset="0"/>
                          <a:cs typeface="Courier New" panose="02070309020205020404" pitchFamily="49" charset="0"/>
                        </a:rPr>
                        <a:t>6e</a:t>
                      </a:r>
                    </a:p>
                  </a:txBody>
                  <a:tcPr/>
                </a:tc>
                <a:tc>
                  <a:txBody>
                    <a:bodyPr/>
                    <a:lstStyle/>
                    <a:p>
                      <a:pPr algn="ctr"/>
                      <a:r>
                        <a:rPr lang="en-US" b="1">
                          <a:latin typeface="Courier New" panose="02070309020205020404" pitchFamily="49" charset="0"/>
                          <a:cs typeface="Courier New" panose="02070309020205020404" pitchFamily="49" charset="0"/>
                        </a:rPr>
                        <a:t>64</a:t>
                      </a:r>
                    </a:p>
                  </a:txBody>
                  <a:tcPr/>
                </a:tc>
                <a:tc>
                  <a:txBody>
                    <a:bodyPr/>
                    <a:lstStyle/>
                    <a:p>
                      <a:pPr algn="ctr"/>
                      <a:r>
                        <a:rPr lang="en-US" b="1">
                          <a:latin typeface="Courier New" panose="02070309020205020404" pitchFamily="49" charset="0"/>
                          <a:cs typeface="Courier New" panose="02070309020205020404" pitchFamily="49" charset="0"/>
                        </a:rPr>
                        <a:t>20</a:t>
                      </a:r>
                    </a:p>
                  </a:txBody>
                  <a:tcPr/>
                </a:tc>
                <a:tc>
                  <a:txBody>
                    <a:bodyPr/>
                    <a:lstStyle/>
                    <a:p>
                      <a:pPr algn="ctr"/>
                      <a:r>
                        <a:rPr lang="en-US" b="1">
                          <a:latin typeface="Courier New" panose="02070309020205020404" pitchFamily="49" charset="0"/>
                          <a:cs typeface="Courier New" panose="02070309020205020404" pitchFamily="49" charset="0"/>
                        </a:rPr>
                        <a:t>48</a:t>
                      </a:r>
                    </a:p>
                  </a:txBody>
                  <a:tcPr/>
                </a:tc>
                <a:tc>
                  <a:txBody>
                    <a:bodyPr/>
                    <a:lstStyle/>
                    <a:p>
                      <a:pPr algn="ctr"/>
                      <a:r>
                        <a:rPr lang="en-US" b="1">
                          <a:latin typeface="Courier New" panose="02070309020205020404" pitchFamily="49" charset="0"/>
                          <a:cs typeface="Courier New" panose="02070309020205020404" pitchFamily="49" charset="0"/>
                        </a:rPr>
                        <a:t>65</a:t>
                      </a:r>
                    </a:p>
                  </a:txBody>
                  <a:tcPr/>
                </a:tc>
                <a:tc>
                  <a:txBody>
                    <a:bodyPr/>
                    <a:lstStyle/>
                    <a:p>
                      <a:pPr algn="ctr"/>
                      <a:r>
                        <a:rPr lang="en-US" b="1">
                          <a:latin typeface="Courier New" panose="02070309020205020404" pitchFamily="49" charset="0"/>
                          <a:cs typeface="Courier New" panose="02070309020205020404" pitchFamily="49" charset="0"/>
                        </a:rPr>
                        <a:t>78</a:t>
                      </a:r>
                    </a:p>
                  </a:txBody>
                  <a:tcPr/>
                </a:tc>
                <a:tc>
                  <a:txBody>
                    <a:bodyPr/>
                    <a:lstStyle/>
                    <a:p>
                      <a:pPr algn="ctr"/>
                      <a:r>
                        <a:rPr lang="en-US" b="1">
                          <a:latin typeface="Courier New" panose="02070309020205020404" pitchFamily="49" charset="0"/>
                          <a:cs typeface="Courier New" panose="02070309020205020404" pitchFamily="49" charset="0"/>
                        </a:rPr>
                        <a:t>64</a:t>
                      </a:r>
                    </a:p>
                  </a:txBody>
                  <a:tcPr/>
                </a:tc>
                <a:extLst>
                  <a:ext uri="{0D108BD9-81ED-4DB2-BD59-A6C34878D82A}">
                    <a16:rowId xmlns:a16="http://schemas.microsoft.com/office/drawing/2014/main" val="586015603"/>
                  </a:ext>
                </a:extLst>
              </a:tr>
              <a:tr h="370840">
                <a:tc>
                  <a:txBody>
                    <a:bodyPr/>
                    <a:lstStyle/>
                    <a:p>
                      <a:pPr algn="r"/>
                      <a:r>
                        <a:rPr lang="en-US" b="1">
                          <a:solidFill>
                            <a:schemeClr val="bg1">
                              <a:lumMod val="50000"/>
                            </a:schemeClr>
                          </a:solidFill>
                          <a:latin typeface="Courier New" panose="02070309020205020404" pitchFamily="49" charset="0"/>
                          <a:cs typeface="Courier New" panose="02070309020205020404" pitchFamily="49" charset="0"/>
                        </a:rPr>
                        <a:t>0x126</a:t>
                      </a:r>
                      <a:r>
                        <a:rPr lang="en-US" b="1">
                          <a:solidFill>
                            <a:schemeClr val="bg1">
                              <a:lumMod val="85000"/>
                            </a:schemeClr>
                          </a:solidFill>
                          <a:latin typeface="Courier New" panose="02070309020205020404" pitchFamily="49" charset="0"/>
                          <a:cs typeface="Courier New" panose="02070309020205020404" pitchFamily="49" charset="0"/>
                        </a:rPr>
                        <a:t>0</a:t>
                      </a:r>
                    </a:p>
                  </a:txBody>
                  <a:tcPr>
                    <a:lnR w="12700" cap="flat" cmpd="sng" algn="ctr">
                      <a:solidFill>
                        <a:schemeClr val="bg1">
                          <a:lumMod val="50000"/>
                        </a:schemeClr>
                      </a:solidFill>
                      <a:prstDash val="solid"/>
                      <a:round/>
                      <a:headEnd type="none" w="med" len="med"/>
                      <a:tailEnd type="none" w="med" len="med"/>
                    </a:lnR>
                    <a:noFill/>
                  </a:tcPr>
                </a:tc>
                <a:tc>
                  <a:txBody>
                    <a:bodyPr/>
                    <a:lstStyle/>
                    <a:p>
                      <a:pPr algn="ctr"/>
                      <a:r>
                        <a:rPr lang="en-US" b="1">
                          <a:latin typeface="Courier New" panose="02070309020205020404" pitchFamily="49" charset="0"/>
                          <a:cs typeface="Courier New" panose="02070309020205020404" pitchFamily="49" charset="0"/>
                        </a:rPr>
                        <a:t>75</a:t>
                      </a:r>
                    </a:p>
                  </a:txBody>
                  <a:tcPr>
                    <a:lnL w="12700" cap="flat" cmpd="sng" algn="ctr">
                      <a:solidFill>
                        <a:schemeClr val="bg1">
                          <a:lumMod val="50000"/>
                        </a:schemeClr>
                      </a:solidFill>
                      <a:prstDash val="solid"/>
                      <a:round/>
                      <a:headEnd type="none" w="med" len="med"/>
                      <a:tailEnd type="none" w="med" len="med"/>
                    </a:lnL>
                    <a:noFill/>
                  </a:tcPr>
                </a:tc>
                <a:tc>
                  <a:txBody>
                    <a:bodyPr/>
                    <a:lstStyle/>
                    <a:p>
                      <a:pPr algn="ctr"/>
                      <a:r>
                        <a:rPr lang="en-US" b="1">
                          <a:latin typeface="Courier New" panose="02070309020205020404" pitchFamily="49" charset="0"/>
                          <a:cs typeface="Courier New" panose="02070309020205020404" pitchFamily="49" charset="0"/>
                        </a:rPr>
                        <a:t>6d</a:t>
                      </a:r>
                    </a:p>
                  </a:txBody>
                  <a:tcPr/>
                </a:tc>
                <a:tc>
                  <a:txBody>
                    <a:bodyPr/>
                    <a:lstStyle/>
                    <a:p>
                      <a:pPr algn="ctr"/>
                      <a:r>
                        <a:rPr lang="en-US" b="1">
                          <a:latin typeface="Courier New" panose="02070309020205020404" pitchFamily="49" charset="0"/>
                          <a:cs typeface="Courier New" panose="02070309020205020404" pitchFamily="49" charset="0"/>
                        </a:rPr>
                        <a:t>70</a:t>
                      </a:r>
                    </a:p>
                  </a:txBody>
                  <a:tcPr/>
                </a:tc>
                <a:tc>
                  <a:txBody>
                    <a:bodyPr/>
                    <a:lstStyle/>
                    <a:p>
                      <a:pPr algn="ctr"/>
                      <a:r>
                        <a:rPr lang="en-US" b="1">
                          <a:latin typeface="Courier New" panose="02070309020205020404" pitchFamily="49" charset="0"/>
                          <a:cs typeface="Courier New" panose="02070309020205020404" pitchFamily="49" charset="0"/>
                        </a:rPr>
                        <a:t>73</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3a</a:t>
                      </a:r>
                    </a:p>
                  </a:txBody>
                  <a:tcPr/>
                </a:tc>
                <a:tc>
                  <a:txBody>
                    <a:bodyPr/>
                    <a:lstStyle/>
                    <a:p>
                      <a:pPr algn="ctr"/>
                      <a:r>
                        <a:rPr lang="en-US" b="1">
                          <a:latin typeface="Courier New" panose="02070309020205020404" pitchFamily="49" charset="0"/>
                          <a:cs typeface="Courier New" panose="02070309020205020404" pitchFamily="49" charset="0"/>
                        </a:rPr>
                        <a:t>01</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00</a:t>
                      </a:r>
                    </a:p>
                  </a:txBody>
                  <a:tcPr/>
                </a:tc>
                <a:tc>
                  <a:txBody>
                    <a:bodyPr/>
                    <a:lstStyle/>
                    <a:p>
                      <a:pPr algn="ctr"/>
                      <a:r>
                        <a:rPr lang="en-US" b="1">
                          <a:latin typeface="Courier New" panose="02070309020205020404" pitchFamily="49" charset="0"/>
                          <a:cs typeface="Courier New" panose="02070309020205020404" pitchFamily="49" charset="0"/>
                        </a:rPr>
                        <a:t>01</a:t>
                      </a:r>
                    </a:p>
                  </a:txBody>
                  <a:tcPr/>
                </a:tc>
                <a:tc>
                  <a:txBody>
                    <a:bodyPr/>
                    <a:lstStyle/>
                    <a:p>
                      <a:pPr algn="ctr"/>
                      <a:r>
                        <a:rPr lang="en-US" b="1">
                          <a:latin typeface="Courier New" panose="02070309020205020404" pitchFamily="49" charset="0"/>
                          <a:cs typeface="Courier New" panose="02070309020205020404" pitchFamily="49" charset="0"/>
                        </a:rPr>
                        <a:t>b0</a:t>
                      </a:r>
                    </a:p>
                  </a:txBody>
                  <a:tcPr/>
                </a:tc>
                <a:tc>
                  <a:txBody>
                    <a:bodyPr/>
                    <a:lstStyle/>
                    <a:p>
                      <a:pPr algn="ctr"/>
                      <a:r>
                        <a:rPr lang="en-US" b="1">
                          <a:latin typeface="Courier New" panose="02070309020205020404" pitchFamily="49" charset="0"/>
                          <a:cs typeface="Courier New" panose="02070309020205020404" pitchFamily="49" charset="0"/>
                        </a:rPr>
                        <a:t>01</a:t>
                      </a:r>
                    </a:p>
                  </a:txBody>
                  <a:tcPr/>
                </a:tc>
                <a:tc>
                  <a:txBody>
                    <a:bodyPr/>
                    <a:lstStyle/>
                    <a:p>
                      <a:pPr algn="ctr"/>
                      <a:r>
                        <a:rPr lang="en-US" b="1">
                          <a:latin typeface="Courier New" panose="02070309020205020404" pitchFamily="49" charset="0"/>
                          <a:cs typeface="Courier New" panose="02070309020205020404" pitchFamily="49" charset="0"/>
                        </a:rPr>
                        <a:t>c0</a:t>
                      </a:r>
                    </a:p>
                  </a:txBody>
                  <a:tcPr/>
                </a:tc>
                <a:extLst>
                  <a:ext uri="{0D108BD9-81ED-4DB2-BD59-A6C34878D82A}">
                    <a16:rowId xmlns:a16="http://schemas.microsoft.com/office/drawing/2014/main" val="2863756049"/>
                  </a:ext>
                </a:extLst>
              </a:tr>
            </a:tbl>
          </a:graphicData>
        </a:graphic>
      </p:graphicFrame>
    </p:spTree>
    <p:extLst>
      <p:ext uri="{BB962C8B-B14F-4D97-AF65-F5344CB8AC3E}">
        <p14:creationId xmlns:p14="http://schemas.microsoft.com/office/powerpoint/2010/main" val="14393663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alignment – inner padding</a:t>
            </a:r>
          </a:p>
        </p:txBody>
      </p:sp>
      <p:sp>
        <p:nvSpPr>
          <p:cNvPr id="3" name="Content Placeholder 2"/>
          <p:cNvSpPr>
            <a:spLocks noGrp="1"/>
          </p:cNvSpPr>
          <p:nvPr>
            <p:ph idx="1"/>
          </p:nvPr>
        </p:nvSpPr>
        <p:spPr/>
        <p:txBody>
          <a:bodyPr vert="horz" lIns="91440" tIns="45720" rIns="91440" bIns="45720" rtlCol="0" anchor="t">
            <a:normAutofit/>
          </a:bodyPr>
          <a:lstStyle/>
          <a:p>
            <a:r>
              <a:rPr lang="en-US"/>
              <a:t>Modern CPUs require data in memory aligned to their size</a:t>
            </a:r>
          </a:p>
          <a:p>
            <a:pPr lvl="1"/>
            <a:r>
              <a:rPr lang="en-US"/>
              <a:t>E.g., integer (4B) must have address aligned to 4</a:t>
            </a:r>
          </a:p>
          <a:p>
            <a:pPr lvl="1"/>
            <a:r>
              <a:rPr lang="en-US"/>
              <a:t>Structure is aligned to largest data type available on CPU (e.g., 16B)</a:t>
            </a:r>
          </a:p>
        </p:txBody>
      </p:sp>
      <p:sp>
        <p:nvSpPr>
          <p:cNvPr id="5" name="Date Placeholder 4"/>
          <p:cNvSpPr>
            <a:spLocks noGrp="1"/>
          </p:cNvSpPr>
          <p:nvPr>
            <p:ph type="dt" sz="half" idx="10"/>
          </p:nvPr>
        </p:nvSpPr>
        <p:spPr/>
        <p:txBody>
          <a:bodyPr/>
          <a:lstStyle/>
          <a:p>
            <a:r>
              <a:rPr lang="cs-CZ" altLang="en-US"/>
              <a:t>19.3.2025</a:t>
            </a:r>
            <a:endParaRPr lang="en-US" altLang="en-US"/>
          </a:p>
        </p:txBody>
      </p:sp>
      <p:sp>
        <p:nvSpPr>
          <p:cNvPr id="7" name="Slide Number Placeholder 6"/>
          <p:cNvSpPr>
            <a:spLocks noGrp="1"/>
          </p:cNvSpPr>
          <p:nvPr>
            <p:ph type="sldNum" sz="quarter" idx="12"/>
          </p:nvPr>
        </p:nvSpPr>
        <p:spPr/>
        <p:txBody>
          <a:bodyPr/>
          <a:lstStyle/>
          <a:p>
            <a:fld id="{169EAE92-5121-41FC-8DEC-DA73929E0C34}" type="slidenum">
              <a:rPr lang="en-US" altLang="en-US" smtClean="0"/>
              <a:pPr/>
              <a:t>10</a:t>
            </a:fld>
            <a:endParaRPr lang="en-US" altLang="en-US"/>
          </a:p>
        </p:txBody>
      </p:sp>
      <p:sp>
        <p:nvSpPr>
          <p:cNvPr id="4" name="Content Placeholder 3"/>
          <p:cNvSpPr>
            <a:spLocks noGrp="1"/>
          </p:cNvSpPr>
          <p:nvPr>
            <p:ph sz="half" idx="4294967295"/>
          </p:nvPr>
        </p:nvSpPr>
        <p:spPr>
          <a:xfrm>
            <a:off x="1044353" y="3331119"/>
            <a:ext cx="2819400" cy="2663825"/>
          </a:xfrm>
        </p:spPr>
        <p:txBody>
          <a:bodyPr/>
          <a:lstStyle/>
          <a:p>
            <a:pPr marL="0" indent="0">
              <a:buNone/>
            </a:pPr>
            <a:r>
              <a:rPr lang="en-US" b="1" err="1">
                <a:solidFill>
                  <a:srgbClr val="0070C0"/>
                </a:solidFill>
                <a:latin typeface="Courier New" panose="02070309020205020404" pitchFamily="49" charset="0"/>
                <a:cs typeface="Courier New" panose="02070309020205020404" pitchFamily="49" charset="0"/>
              </a:rPr>
              <a:t>struct</a:t>
            </a:r>
            <a:r>
              <a:rPr lang="en-US" b="1">
                <a:solidFill>
                  <a:schemeClr val="accent2"/>
                </a:solidFill>
                <a:latin typeface="Courier New" panose="02070309020205020404" pitchFamily="49" charset="0"/>
                <a:cs typeface="Courier New" panose="02070309020205020404" pitchFamily="49" charset="0"/>
              </a:rPr>
              <a:t> </a:t>
            </a:r>
            <a:r>
              <a:rPr lang="en-US" b="1" err="1">
                <a:latin typeface="Courier New" panose="02070309020205020404" pitchFamily="49" charset="0"/>
                <a:cs typeface="Courier New" panose="02070309020205020404" pitchFamily="49" charset="0"/>
              </a:rPr>
              <a:t>dem</a:t>
            </a:r>
            <a:r>
              <a:rPr lang="en-US" b="1">
                <a:latin typeface="Courier New" panose="02070309020205020404" pitchFamily="49" charset="0"/>
                <a:cs typeface="Courier New" panose="02070309020205020404" pitchFamily="49" charset="0"/>
              </a:rPr>
              <a:t> {</a:t>
            </a:r>
          </a:p>
          <a:p>
            <a:pPr marL="0" indent="0">
              <a:buNone/>
            </a:pPr>
            <a:r>
              <a:rPr lang="en-US" b="1">
                <a:latin typeface="Courier New" panose="02070309020205020404" pitchFamily="49" charset="0"/>
                <a:cs typeface="Courier New" panose="02070309020205020404" pitchFamily="49" charset="0"/>
              </a:rPr>
              <a:t>  </a:t>
            </a:r>
            <a:r>
              <a:rPr lang="en-US" b="1">
                <a:solidFill>
                  <a:srgbClr val="0070C0"/>
                </a:solidFill>
                <a:latin typeface="Courier New" panose="02070309020205020404" pitchFamily="49" charset="0"/>
                <a:cs typeface="Courier New" panose="02070309020205020404" pitchFamily="49" charset="0"/>
              </a:rPr>
              <a:t>char</a:t>
            </a:r>
            <a:r>
              <a:rPr lang="en-US" b="1">
                <a:latin typeface="Courier New" panose="02070309020205020404" pitchFamily="49" charset="0"/>
                <a:cs typeface="Courier New" panose="02070309020205020404" pitchFamily="49" charset="0"/>
              </a:rPr>
              <a:t> c;</a:t>
            </a:r>
          </a:p>
          <a:p>
            <a:pPr marL="0" indent="0">
              <a:buNone/>
            </a:pPr>
            <a:r>
              <a:rPr lang="en-US" b="1">
                <a:latin typeface="Courier New" panose="02070309020205020404" pitchFamily="49" charset="0"/>
                <a:cs typeface="Courier New" panose="02070309020205020404" pitchFamily="49" charset="0"/>
              </a:rPr>
              <a:t>  </a:t>
            </a:r>
            <a:r>
              <a:rPr lang="en-US" b="1">
                <a:solidFill>
                  <a:srgbClr val="0070C0"/>
                </a:solidFill>
                <a:latin typeface="Courier New" panose="02070309020205020404" pitchFamily="49" charset="0"/>
                <a:cs typeface="Courier New" panose="02070309020205020404" pitchFamily="49" charset="0"/>
              </a:rPr>
              <a:t>double</a:t>
            </a:r>
            <a:r>
              <a:rPr lang="en-US" b="1">
                <a:latin typeface="Courier New" panose="02070309020205020404" pitchFamily="49" charset="0"/>
                <a:cs typeface="Courier New" panose="02070309020205020404" pitchFamily="49" charset="0"/>
              </a:rPr>
              <a:t> d;</a:t>
            </a:r>
          </a:p>
          <a:p>
            <a:pPr marL="0" indent="0">
              <a:buNone/>
            </a:pPr>
            <a:r>
              <a:rPr lang="en-US" b="1">
                <a:latin typeface="Courier New" panose="02070309020205020404" pitchFamily="49" charset="0"/>
                <a:cs typeface="Courier New" panose="02070309020205020404" pitchFamily="49" charset="0"/>
              </a:rPr>
              <a:t>  </a:t>
            </a:r>
            <a:r>
              <a:rPr lang="en-US" b="1" err="1">
                <a:solidFill>
                  <a:srgbClr val="0070C0"/>
                </a:solidFill>
                <a:latin typeface="Courier New" panose="02070309020205020404" pitchFamily="49" charset="0"/>
                <a:cs typeface="Courier New" panose="02070309020205020404" pitchFamily="49" charset="0"/>
              </a:rPr>
              <a:t>int</a:t>
            </a:r>
            <a:r>
              <a:rPr lang="en-US" b="1">
                <a:latin typeface="Courier New" panose="02070309020205020404" pitchFamily="49" charset="0"/>
                <a:cs typeface="Courier New" panose="02070309020205020404" pitchFamily="49" charset="0"/>
              </a:rPr>
              <a:t> </a:t>
            </a:r>
            <a:r>
              <a:rPr lang="en-US" b="1" err="1">
                <a:latin typeface="Courier New" panose="02070309020205020404" pitchFamily="49" charset="0"/>
                <a:cs typeface="Courier New" panose="02070309020205020404" pitchFamily="49" charset="0"/>
              </a:rPr>
              <a:t>i</a:t>
            </a:r>
            <a:r>
              <a:rPr lang="en-US" b="1">
                <a:latin typeface="Courier New" panose="02070309020205020404" pitchFamily="49" charset="0"/>
                <a:cs typeface="Courier New" panose="02070309020205020404" pitchFamily="49" charset="0"/>
              </a:rPr>
              <a:t>;</a:t>
            </a:r>
          </a:p>
          <a:p>
            <a:pPr marL="0" indent="0">
              <a:buNone/>
            </a:pPr>
            <a:r>
              <a:rPr lang="en-US" b="1">
                <a:latin typeface="Courier New" panose="02070309020205020404" pitchFamily="49" charset="0"/>
                <a:cs typeface="Courier New" panose="02070309020205020404" pitchFamily="49" charset="0"/>
              </a:rPr>
              <a:t>};</a:t>
            </a:r>
          </a:p>
        </p:txBody>
      </p:sp>
      <p:cxnSp>
        <p:nvCxnSpPr>
          <p:cNvPr id="6" name="Straight Connector 5"/>
          <p:cNvCxnSpPr/>
          <p:nvPr/>
        </p:nvCxnSpPr>
        <p:spPr bwMode="auto">
          <a:xfrm>
            <a:off x="5754306" y="3371147"/>
            <a:ext cx="0" cy="276601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a:off x="6762418" y="3371147"/>
            <a:ext cx="0" cy="2766019"/>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0" name="Rectangle 9"/>
          <p:cNvSpPr/>
          <p:nvPr/>
        </p:nvSpPr>
        <p:spPr bwMode="auto">
          <a:xfrm>
            <a:off x="5754306" y="3509241"/>
            <a:ext cx="1008112"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a:t>
            </a:r>
          </a:p>
        </p:txBody>
      </p:sp>
      <p:sp>
        <p:nvSpPr>
          <p:cNvPr id="11" name="Rectangle 10"/>
          <p:cNvSpPr/>
          <p:nvPr/>
        </p:nvSpPr>
        <p:spPr bwMode="auto">
          <a:xfrm>
            <a:off x="5754306" y="3869281"/>
            <a:ext cx="1008112" cy="100811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a:t>
            </a:r>
          </a:p>
        </p:txBody>
      </p:sp>
      <p:sp>
        <p:nvSpPr>
          <p:cNvPr id="12" name="Rectangle 11"/>
          <p:cNvSpPr/>
          <p:nvPr/>
        </p:nvSpPr>
        <p:spPr bwMode="auto">
          <a:xfrm>
            <a:off x="5754306" y="4877393"/>
            <a:ext cx="1008112" cy="64807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latin typeface="+mn-lt"/>
              </a:rPr>
              <a:t>i</a:t>
            </a:r>
            <a:endParaRPr lang="en-US">
              <a:latin typeface="+mn-lt"/>
            </a:endParaRPr>
          </a:p>
        </p:txBody>
      </p:sp>
      <p:sp>
        <p:nvSpPr>
          <p:cNvPr id="13" name="TextBox 12"/>
          <p:cNvSpPr txBox="1"/>
          <p:nvPr/>
        </p:nvSpPr>
        <p:spPr>
          <a:xfrm>
            <a:off x="5072168" y="3499949"/>
            <a:ext cx="317716" cy="369332"/>
          </a:xfrm>
          <a:prstGeom prst="rect">
            <a:avLst/>
          </a:prstGeom>
          <a:noFill/>
        </p:spPr>
        <p:txBody>
          <a:bodyPr wrap="none" rtlCol="0">
            <a:spAutoFit/>
          </a:bodyPr>
          <a:lstStyle/>
          <a:p>
            <a:r>
              <a:rPr lang="en-US">
                <a:latin typeface="+mn-lt"/>
              </a:rPr>
              <a:t>A</a:t>
            </a:r>
          </a:p>
        </p:txBody>
      </p:sp>
      <p:sp>
        <p:nvSpPr>
          <p:cNvPr id="14" name="TextBox 13"/>
          <p:cNvSpPr txBox="1"/>
          <p:nvPr/>
        </p:nvSpPr>
        <p:spPr>
          <a:xfrm>
            <a:off x="6762418" y="3499949"/>
            <a:ext cx="426720" cy="369332"/>
          </a:xfrm>
          <a:prstGeom prst="rect">
            <a:avLst/>
          </a:prstGeom>
          <a:noFill/>
        </p:spPr>
        <p:txBody>
          <a:bodyPr wrap="none" rtlCol="0">
            <a:spAutoFit/>
          </a:bodyPr>
          <a:lstStyle/>
          <a:p>
            <a:r>
              <a:rPr lang="en-US">
                <a:latin typeface="+mn-lt"/>
              </a:rPr>
              <a:t>1B</a:t>
            </a:r>
          </a:p>
        </p:txBody>
      </p:sp>
      <p:sp>
        <p:nvSpPr>
          <p:cNvPr id="15" name="TextBox 14"/>
          <p:cNvSpPr txBox="1"/>
          <p:nvPr/>
        </p:nvSpPr>
        <p:spPr>
          <a:xfrm>
            <a:off x="5077653" y="3864635"/>
            <a:ext cx="550151" cy="369332"/>
          </a:xfrm>
          <a:prstGeom prst="rect">
            <a:avLst/>
          </a:prstGeom>
          <a:noFill/>
        </p:spPr>
        <p:txBody>
          <a:bodyPr wrap="none" rtlCol="0">
            <a:spAutoFit/>
          </a:bodyPr>
          <a:lstStyle/>
          <a:p>
            <a:r>
              <a:rPr lang="en-US">
                <a:latin typeface="+mn-lt"/>
              </a:rPr>
              <a:t>A+1</a:t>
            </a:r>
          </a:p>
        </p:txBody>
      </p:sp>
      <p:sp>
        <p:nvSpPr>
          <p:cNvPr id="16" name="TextBox 15"/>
          <p:cNvSpPr txBox="1"/>
          <p:nvPr/>
        </p:nvSpPr>
        <p:spPr>
          <a:xfrm>
            <a:off x="5072169" y="4877393"/>
            <a:ext cx="550151" cy="369332"/>
          </a:xfrm>
          <a:prstGeom prst="rect">
            <a:avLst/>
          </a:prstGeom>
          <a:noFill/>
        </p:spPr>
        <p:txBody>
          <a:bodyPr wrap="none" rtlCol="0">
            <a:spAutoFit/>
          </a:bodyPr>
          <a:lstStyle/>
          <a:p>
            <a:r>
              <a:rPr lang="en-US">
                <a:latin typeface="+mn-lt"/>
              </a:rPr>
              <a:t>A+9</a:t>
            </a:r>
          </a:p>
        </p:txBody>
      </p:sp>
      <p:sp>
        <p:nvSpPr>
          <p:cNvPr id="17" name="TextBox 16"/>
          <p:cNvSpPr txBox="1"/>
          <p:nvPr/>
        </p:nvSpPr>
        <p:spPr>
          <a:xfrm>
            <a:off x="6762418" y="4188671"/>
            <a:ext cx="426720" cy="369332"/>
          </a:xfrm>
          <a:prstGeom prst="rect">
            <a:avLst/>
          </a:prstGeom>
          <a:noFill/>
        </p:spPr>
        <p:txBody>
          <a:bodyPr wrap="none" rtlCol="0">
            <a:spAutoFit/>
          </a:bodyPr>
          <a:lstStyle/>
          <a:p>
            <a:r>
              <a:rPr lang="en-US">
                <a:latin typeface="+mn-lt"/>
              </a:rPr>
              <a:t>8B</a:t>
            </a:r>
          </a:p>
        </p:txBody>
      </p:sp>
      <p:sp>
        <p:nvSpPr>
          <p:cNvPr id="18" name="TextBox 17"/>
          <p:cNvSpPr txBox="1"/>
          <p:nvPr/>
        </p:nvSpPr>
        <p:spPr>
          <a:xfrm>
            <a:off x="6762418" y="5016763"/>
            <a:ext cx="426720" cy="369332"/>
          </a:xfrm>
          <a:prstGeom prst="rect">
            <a:avLst/>
          </a:prstGeom>
          <a:noFill/>
        </p:spPr>
        <p:txBody>
          <a:bodyPr wrap="none" rtlCol="0">
            <a:spAutoFit/>
          </a:bodyPr>
          <a:lstStyle/>
          <a:p>
            <a:r>
              <a:rPr lang="en-US">
                <a:latin typeface="+mn-lt"/>
              </a:rPr>
              <a:t>4B</a:t>
            </a:r>
          </a:p>
        </p:txBody>
      </p:sp>
      <p:sp>
        <p:nvSpPr>
          <p:cNvPr id="21" name="TextBox 20"/>
          <p:cNvSpPr txBox="1"/>
          <p:nvPr/>
        </p:nvSpPr>
        <p:spPr>
          <a:xfrm>
            <a:off x="5072169" y="5525465"/>
            <a:ext cx="667170" cy="369332"/>
          </a:xfrm>
          <a:prstGeom prst="rect">
            <a:avLst/>
          </a:prstGeom>
          <a:noFill/>
        </p:spPr>
        <p:txBody>
          <a:bodyPr wrap="none" rtlCol="0">
            <a:spAutoFit/>
          </a:bodyPr>
          <a:lstStyle/>
          <a:p>
            <a:r>
              <a:rPr lang="en-US">
                <a:latin typeface="+mn-lt"/>
              </a:rPr>
              <a:t>A+13</a:t>
            </a:r>
          </a:p>
        </p:txBody>
      </p:sp>
      <p:grpSp>
        <p:nvGrpSpPr>
          <p:cNvPr id="8" name="Group 7"/>
          <p:cNvGrpSpPr/>
          <p:nvPr/>
        </p:nvGrpSpPr>
        <p:grpSpPr>
          <a:xfrm>
            <a:off x="8610600" y="3159424"/>
            <a:ext cx="2116970" cy="3298558"/>
            <a:chOff x="8539058" y="2883926"/>
            <a:chExt cx="2116970" cy="3298558"/>
          </a:xfrm>
        </p:grpSpPr>
        <p:cxnSp>
          <p:nvCxnSpPr>
            <p:cNvPr id="23" name="Straight Connector 22"/>
            <p:cNvCxnSpPr/>
            <p:nvPr/>
          </p:nvCxnSpPr>
          <p:spPr bwMode="auto">
            <a:xfrm>
              <a:off x="9221196" y="2883926"/>
              <a:ext cx="0" cy="311389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4" name="Straight Connector 23"/>
            <p:cNvCxnSpPr/>
            <p:nvPr/>
          </p:nvCxnSpPr>
          <p:spPr bwMode="auto">
            <a:xfrm>
              <a:off x="10229308" y="2883926"/>
              <a:ext cx="0" cy="311389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5" name="Rectangle 24"/>
            <p:cNvSpPr/>
            <p:nvPr/>
          </p:nvSpPr>
          <p:spPr bwMode="auto">
            <a:xfrm>
              <a:off x="9221196" y="3035245"/>
              <a:ext cx="1008112"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a:t>
              </a:r>
            </a:p>
          </p:txBody>
        </p:sp>
        <p:sp>
          <p:nvSpPr>
            <p:cNvPr id="26" name="Rectangle 25"/>
            <p:cNvSpPr/>
            <p:nvPr/>
          </p:nvSpPr>
          <p:spPr bwMode="auto">
            <a:xfrm>
              <a:off x="9221196" y="4161614"/>
              <a:ext cx="1008112" cy="100811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d</a:t>
              </a:r>
            </a:p>
          </p:txBody>
        </p:sp>
        <p:sp>
          <p:nvSpPr>
            <p:cNvPr id="27" name="Rectangle 26"/>
            <p:cNvSpPr/>
            <p:nvPr/>
          </p:nvSpPr>
          <p:spPr bwMode="auto">
            <a:xfrm>
              <a:off x="9221196" y="5169726"/>
              <a:ext cx="1008112" cy="64807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latin typeface="+mn-lt"/>
                </a:rPr>
                <a:t>i</a:t>
              </a:r>
              <a:endParaRPr lang="en-US">
                <a:latin typeface="+mn-lt"/>
              </a:endParaRPr>
            </a:p>
          </p:txBody>
        </p:sp>
        <p:sp>
          <p:nvSpPr>
            <p:cNvPr id="28" name="TextBox 27"/>
            <p:cNvSpPr txBox="1"/>
            <p:nvPr/>
          </p:nvSpPr>
          <p:spPr>
            <a:xfrm>
              <a:off x="8539058" y="3025953"/>
              <a:ext cx="317716" cy="369332"/>
            </a:xfrm>
            <a:prstGeom prst="rect">
              <a:avLst/>
            </a:prstGeom>
            <a:noFill/>
          </p:spPr>
          <p:txBody>
            <a:bodyPr wrap="none" rtlCol="0">
              <a:spAutoFit/>
            </a:bodyPr>
            <a:lstStyle/>
            <a:p>
              <a:r>
                <a:rPr lang="en-US">
                  <a:latin typeface="+mn-lt"/>
                </a:rPr>
                <a:t>A</a:t>
              </a:r>
            </a:p>
          </p:txBody>
        </p:sp>
        <p:sp>
          <p:nvSpPr>
            <p:cNvPr id="29" name="TextBox 28"/>
            <p:cNvSpPr txBox="1"/>
            <p:nvPr/>
          </p:nvSpPr>
          <p:spPr>
            <a:xfrm>
              <a:off x="10229308" y="3025953"/>
              <a:ext cx="426720" cy="369332"/>
            </a:xfrm>
            <a:prstGeom prst="rect">
              <a:avLst/>
            </a:prstGeom>
            <a:noFill/>
          </p:spPr>
          <p:txBody>
            <a:bodyPr wrap="none" rtlCol="0">
              <a:spAutoFit/>
            </a:bodyPr>
            <a:lstStyle/>
            <a:p>
              <a:r>
                <a:rPr lang="en-US">
                  <a:latin typeface="+mn-lt"/>
                </a:rPr>
                <a:t>1B</a:t>
              </a:r>
            </a:p>
          </p:txBody>
        </p:sp>
        <p:sp>
          <p:nvSpPr>
            <p:cNvPr id="30" name="TextBox 29"/>
            <p:cNvSpPr txBox="1"/>
            <p:nvPr/>
          </p:nvSpPr>
          <p:spPr>
            <a:xfrm>
              <a:off x="8544543" y="4156968"/>
              <a:ext cx="550151" cy="369332"/>
            </a:xfrm>
            <a:prstGeom prst="rect">
              <a:avLst/>
            </a:prstGeom>
            <a:noFill/>
          </p:spPr>
          <p:txBody>
            <a:bodyPr wrap="none" rtlCol="0">
              <a:spAutoFit/>
            </a:bodyPr>
            <a:lstStyle/>
            <a:p>
              <a:r>
                <a:rPr lang="en-US">
                  <a:latin typeface="+mn-lt"/>
                </a:rPr>
                <a:t>A+8</a:t>
              </a:r>
            </a:p>
          </p:txBody>
        </p:sp>
        <p:sp>
          <p:nvSpPr>
            <p:cNvPr id="31" name="TextBox 30"/>
            <p:cNvSpPr txBox="1"/>
            <p:nvPr/>
          </p:nvSpPr>
          <p:spPr>
            <a:xfrm>
              <a:off x="8539059" y="5169726"/>
              <a:ext cx="667170" cy="369332"/>
            </a:xfrm>
            <a:prstGeom prst="rect">
              <a:avLst/>
            </a:prstGeom>
            <a:noFill/>
          </p:spPr>
          <p:txBody>
            <a:bodyPr wrap="none" rtlCol="0">
              <a:spAutoFit/>
            </a:bodyPr>
            <a:lstStyle/>
            <a:p>
              <a:r>
                <a:rPr lang="en-US">
                  <a:latin typeface="+mn-lt"/>
                </a:rPr>
                <a:t>A+16</a:t>
              </a:r>
            </a:p>
          </p:txBody>
        </p:sp>
        <p:sp>
          <p:nvSpPr>
            <p:cNvPr id="32" name="TextBox 31"/>
            <p:cNvSpPr txBox="1"/>
            <p:nvPr/>
          </p:nvSpPr>
          <p:spPr>
            <a:xfrm>
              <a:off x="10229308" y="4481004"/>
              <a:ext cx="426720" cy="369332"/>
            </a:xfrm>
            <a:prstGeom prst="rect">
              <a:avLst/>
            </a:prstGeom>
            <a:noFill/>
          </p:spPr>
          <p:txBody>
            <a:bodyPr wrap="none" rtlCol="0">
              <a:spAutoFit/>
            </a:bodyPr>
            <a:lstStyle/>
            <a:p>
              <a:r>
                <a:rPr lang="en-US">
                  <a:latin typeface="+mn-lt"/>
                </a:rPr>
                <a:t>8B</a:t>
              </a:r>
            </a:p>
          </p:txBody>
        </p:sp>
        <p:sp>
          <p:nvSpPr>
            <p:cNvPr id="33" name="TextBox 32"/>
            <p:cNvSpPr txBox="1"/>
            <p:nvPr/>
          </p:nvSpPr>
          <p:spPr>
            <a:xfrm>
              <a:off x="10229308" y="5309096"/>
              <a:ext cx="426720" cy="369332"/>
            </a:xfrm>
            <a:prstGeom prst="rect">
              <a:avLst/>
            </a:prstGeom>
            <a:noFill/>
          </p:spPr>
          <p:txBody>
            <a:bodyPr wrap="none" rtlCol="0">
              <a:spAutoFit/>
            </a:bodyPr>
            <a:lstStyle/>
            <a:p>
              <a:r>
                <a:rPr lang="en-US">
                  <a:latin typeface="+mn-lt"/>
                </a:rPr>
                <a:t>4B</a:t>
              </a:r>
            </a:p>
          </p:txBody>
        </p:sp>
        <p:sp>
          <p:nvSpPr>
            <p:cNvPr id="34" name="TextBox 33"/>
            <p:cNvSpPr txBox="1"/>
            <p:nvPr/>
          </p:nvSpPr>
          <p:spPr>
            <a:xfrm>
              <a:off x="8539058" y="5813152"/>
              <a:ext cx="667170" cy="369332"/>
            </a:xfrm>
            <a:prstGeom prst="rect">
              <a:avLst/>
            </a:prstGeom>
            <a:noFill/>
          </p:spPr>
          <p:txBody>
            <a:bodyPr wrap="none" rtlCol="0">
              <a:spAutoFit/>
            </a:bodyPr>
            <a:lstStyle/>
            <a:p>
              <a:r>
                <a:rPr lang="en-US">
                  <a:latin typeface="+mn-lt"/>
                </a:rPr>
                <a:t>A+20</a:t>
              </a:r>
            </a:p>
          </p:txBody>
        </p:sp>
        <p:sp>
          <p:nvSpPr>
            <p:cNvPr id="40" name="TextBox 39"/>
            <p:cNvSpPr txBox="1"/>
            <p:nvPr/>
          </p:nvSpPr>
          <p:spPr>
            <a:xfrm>
              <a:off x="10229308" y="3593783"/>
              <a:ext cx="426720" cy="369332"/>
            </a:xfrm>
            <a:prstGeom prst="rect">
              <a:avLst/>
            </a:prstGeom>
            <a:noFill/>
          </p:spPr>
          <p:txBody>
            <a:bodyPr wrap="none" rtlCol="0">
              <a:spAutoFit/>
            </a:bodyPr>
            <a:lstStyle/>
            <a:p>
              <a:r>
                <a:rPr lang="en-US">
                  <a:latin typeface="+mn-lt"/>
                </a:rPr>
                <a:t>7B</a:t>
              </a:r>
            </a:p>
          </p:txBody>
        </p:sp>
      </p:grpSp>
      <p:cxnSp>
        <p:nvCxnSpPr>
          <p:cNvPr id="42" name="Straight Connector 41"/>
          <p:cNvCxnSpPr/>
          <p:nvPr/>
        </p:nvCxnSpPr>
        <p:spPr bwMode="auto">
          <a:xfrm>
            <a:off x="5029107" y="3228361"/>
            <a:ext cx="2448272" cy="2908804"/>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45" name="Straight Connector 44"/>
          <p:cNvCxnSpPr/>
          <p:nvPr/>
        </p:nvCxnSpPr>
        <p:spPr bwMode="auto">
          <a:xfrm flipH="1">
            <a:off x="5052881" y="3228361"/>
            <a:ext cx="2448272" cy="2908804"/>
          </a:xfrm>
          <a:prstGeom prst="line">
            <a:avLst/>
          </a:prstGeom>
          <a:solidFill>
            <a:schemeClr val="accent1"/>
          </a:solidFill>
          <a:ln w="762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3064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Data alignment – outer padding</a:t>
            </a:r>
          </a:p>
        </p:txBody>
      </p:sp>
      <p:sp>
        <p:nvSpPr>
          <p:cNvPr id="6" name="Content Placeholder 5"/>
          <p:cNvSpPr>
            <a:spLocks noGrp="1"/>
          </p:cNvSpPr>
          <p:nvPr>
            <p:ph idx="1"/>
          </p:nvPr>
        </p:nvSpPr>
        <p:spPr/>
        <p:txBody>
          <a:bodyPr/>
          <a:lstStyle/>
          <a:p>
            <a:pPr marL="0" indent="0">
              <a:buNone/>
            </a:pPr>
            <a:r>
              <a:rPr lang="en-US" b="1" err="1">
                <a:solidFill>
                  <a:schemeClr val="accent2"/>
                </a:solidFill>
                <a:latin typeface="Courier New" panose="02070309020205020404" pitchFamily="49" charset="0"/>
                <a:cs typeface="Courier New" panose="02070309020205020404" pitchFamily="49" charset="0"/>
              </a:rPr>
              <a:t>dem</a:t>
            </a:r>
            <a:r>
              <a:rPr lang="en-US" b="1">
                <a:solidFill>
                  <a:schemeClr val="accent2"/>
                </a:solidFill>
                <a:latin typeface="Courier New" panose="02070309020205020404" pitchFamily="49" charset="0"/>
                <a:cs typeface="Courier New" panose="02070309020205020404" pitchFamily="49" charset="0"/>
              </a:rPr>
              <a:t> </a:t>
            </a:r>
            <a:r>
              <a:rPr lang="en-US" b="1" err="1">
                <a:solidFill>
                  <a:schemeClr val="accent2"/>
                </a:solidFill>
                <a:latin typeface="Courier New" panose="02070309020205020404" pitchFamily="49" charset="0"/>
                <a:cs typeface="Courier New" panose="02070309020205020404" pitchFamily="49" charset="0"/>
              </a:rPr>
              <a:t>arr</a:t>
            </a:r>
            <a:r>
              <a:rPr lang="en-US" b="1">
                <a:solidFill>
                  <a:schemeClr val="accent2"/>
                </a:solidFill>
                <a:latin typeface="Courier New" panose="02070309020205020404" pitchFamily="49" charset="0"/>
                <a:cs typeface="Courier New" panose="02070309020205020404" pitchFamily="49" charset="0"/>
              </a:rPr>
              <a:t>[2];</a:t>
            </a:r>
          </a:p>
        </p:txBody>
      </p:sp>
      <p:sp>
        <p:nvSpPr>
          <p:cNvPr id="2" name="Date Placeholder 1"/>
          <p:cNvSpPr>
            <a:spLocks noGrp="1"/>
          </p:cNvSpPr>
          <p:nvPr>
            <p:ph type="dt" sz="half" idx="10"/>
          </p:nvPr>
        </p:nvSpPr>
        <p:spPr/>
        <p:txBody>
          <a:bodyPr/>
          <a:lstStyle/>
          <a:p>
            <a:r>
              <a:rPr lang="cs-CZ" altLang="en-US"/>
              <a:t>19.3.2025</a:t>
            </a:r>
            <a:endParaRPr lang="en-US" altLang="en-US"/>
          </a:p>
        </p:txBody>
      </p:sp>
      <p:sp>
        <p:nvSpPr>
          <p:cNvPr id="3" name="Slide Number Placeholder 2"/>
          <p:cNvSpPr>
            <a:spLocks noGrp="1"/>
          </p:cNvSpPr>
          <p:nvPr>
            <p:ph type="sldNum" sz="quarter" idx="12"/>
          </p:nvPr>
        </p:nvSpPr>
        <p:spPr/>
        <p:txBody>
          <a:bodyPr/>
          <a:lstStyle/>
          <a:p>
            <a:fld id="{F4A1145F-674A-4228-8958-0EA9769F5517}" type="slidenum">
              <a:rPr lang="en-US" altLang="en-US" smtClean="0"/>
              <a:pPr/>
              <a:t>11</a:t>
            </a:fld>
            <a:endParaRPr lang="en-US" altLang="en-US"/>
          </a:p>
        </p:txBody>
      </p:sp>
      <p:cxnSp>
        <p:nvCxnSpPr>
          <p:cNvPr id="7" name="Straight Connector 6"/>
          <p:cNvCxnSpPr/>
          <p:nvPr/>
        </p:nvCxnSpPr>
        <p:spPr bwMode="auto">
          <a:xfrm>
            <a:off x="4483946" y="1894821"/>
            <a:ext cx="0" cy="427818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flipH="1">
            <a:off x="5486378" y="1894821"/>
            <a:ext cx="5680" cy="427818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9" name="Rectangle 8"/>
          <p:cNvSpPr/>
          <p:nvPr/>
        </p:nvSpPr>
        <p:spPr bwMode="auto">
          <a:xfrm>
            <a:off x="4483946" y="2046141"/>
            <a:ext cx="1008112" cy="22808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ctr" anchorCtr="0" compatLnSpc="1">
            <a:prstTxWarp prst="textNoShape">
              <a:avLst/>
            </a:prstTxWarp>
          </a:bodyPr>
          <a:lstStyle/>
          <a:p>
            <a:pPr algn="ctr"/>
            <a:r>
              <a:rPr lang="en-US"/>
              <a:t>c</a:t>
            </a:r>
          </a:p>
        </p:txBody>
      </p:sp>
      <p:sp>
        <p:nvSpPr>
          <p:cNvPr id="10" name="Rectangle 9"/>
          <p:cNvSpPr/>
          <p:nvPr/>
        </p:nvSpPr>
        <p:spPr bwMode="auto">
          <a:xfrm>
            <a:off x="4483946" y="2800142"/>
            <a:ext cx="1008112" cy="526467"/>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a:t>
            </a:r>
          </a:p>
        </p:txBody>
      </p:sp>
      <p:sp>
        <p:nvSpPr>
          <p:cNvPr id="11" name="Rectangle 10"/>
          <p:cNvSpPr/>
          <p:nvPr/>
        </p:nvSpPr>
        <p:spPr bwMode="auto">
          <a:xfrm>
            <a:off x="4483946" y="3323700"/>
            <a:ext cx="1008112" cy="36933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t>i</a:t>
            </a:r>
            <a:endParaRPr lang="en-US"/>
          </a:p>
        </p:txBody>
      </p:sp>
      <p:sp>
        <p:nvSpPr>
          <p:cNvPr id="12" name="TextBox 11"/>
          <p:cNvSpPr txBox="1"/>
          <p:nvPr/>
        </p:nvSpPr>
        <p:spPr>
          <a:xfrm>
            <a:off x="3795885" y="1972049"/>
            <a:ext cx="338554" cy="369332"/>
          </a:xfrm>
          <a:prstGeom prst="rect">
            <a:avLst/>
          </a:prstGeom>
          <a:noFill/>
        </p:spPr>
        <p:txBody>
          <a:bodyPr wrap="none" rtlCol="0">
            <a:spAutoFit/>
          </a:bodyPr>
          <a:lstStyle/>
          <a:p>
            <a:r>
              <a:rPr lang="en-US"/>
              <a:t>A</a:t>
            </a:r>
          </a:p>
        </p:txBody>
      </p:sp>
      <p:sp>
        <p:nvSpPr>
          <p:cNvPr id="13" name="TextBox 12"/>
          <p:cNvSpPr txBox="1"/>
          <p:nvPr/>
        </p:nvSpPr>
        <p:spPr>
          <a:xfrm>
            <a:off x="5494530" y="1972049"/>
            <a:ext cx="466794" cy="369332"/>
          </a:xfrm>
          <a:prstGeom prst="rect">
            <a:avLst/>
          </a:prstGeom>
          <a:noFill/>
        </p:spPr>
        <p:txBody>
          <a:bodyPr wrap="none" rtlCol="0">
            <a:spAutoFit/>
          </a:bodyPr>
          <a:lstStyle/>
          <a:p>
            <a:r>
              <a:rPr lang="en-US"/>
              <a:t>1B</a:t>
            </a:r>
          </a:p>
        </p:txBody>
      </p:sp>
      <p:sp>
        <p:nvSpPr>
          <p:cNvPr id="14" name="TextBox 13"/>
          <p:cNvSpPr txBox="1"/>
          <p:nvPr/>
        </p:nvSpPr>
        <p:spPr>
          <a:xfrm>
            <a:off x="3795886" y="2710388"/>
            <a:ext cx="601447" cy="369332"/>
          </a:xfrm>
          <a:prstGeom prst="rect">
            <a:avLst/>
          </a:prstGeom>
          <a:noFill/>
        </p:spPr>
        <p:txBody>
          <a:bodyPr wrap="none" rtlCol="0">
            <a:spAutoFit/>
          </a:bodyPr>
          <a:lstStyle/>
          <a:p>
            <a:r>
              <a:rPr lang="en-US"/>
              <a:t>A+8</a:t>
            </a:r>
          </a:p>
        </p:txBody>
      </p:sp>
      <p:sp>
        <p:nvSpPr>
          <p:cNvPr id="15" name="TextBox 14"/>
          <p:cNvSpPr txBox="1"/>
          <p:nvPr/>
        </p:nvSpPr>
        <p:spPr>
          <a:xfrm>
            <a:off x="3796222" y="3329546"/>
            <a:ext cx="729687" cy="369332"/>
          </a:xfrm>
          <a:prstGeom prst="rect">
            <a:avLst/>
          </a:prstGeom>
          <a:noFill/>
        </p:spPr>
        <p:txBody>
          <a:bodyPr wrap="none" rtlCol="0">
            <a:spAutoFit/>
          </a:bodyPr>
          <a:lstStyle/>
          <a:p>
            <a:r>
              <a:rPr lang="en-US"/>
              <a:t>A+16</a:t>
            </a:r>
          </a:p>
        </p:txBody>
      </p:sp>
      <p:sp>
        <p:nvSpPr>
          <p:cNvPr id="16" name="TextBox 15"/>
          <p:cNvSpPr txBox="1"/>
          <p:nvPr/>
        </p:nvSpPr>
        <p:spPr>
          <a:xfrm>
            <a:off x="5494530" y="2878708"/>
            <a:ext cx="466794" cy="369332"/>
          </a:xfrm>
          <a:prstGeom prst="rect">
            <a:avLst/>
          </a:prstGeom>
          <a:noFill/>
        </p:spPr>
        <p:txBody>
          <a:bodyPr wrap="none" rtlCol="0">
            <a:spAutoFit/>
          </a:bodyPr>
          <a:lstStyle/>
          <a:p>
            <a:r>
              <a:rPr lang="en-US"/>
              <a:t>8B</a:t>
            </a:r>
          </a:p>
        </p:txBody>
      </p:sp>
      <p:sp>
        <p:nvSpPr>
          <p:cNvPr id="17" name="TextBox 16"/>
          <p:cNvSpPr txBox="1"/>
          <p:nvPr/>
        </p:nvSpPr>
        <p:spPr>
          <a:xfrm>
            <a:off x="5494530" y="3324977"/>
            <a:ext cx="466794" cy="369332"/>
          </a:xfrm>
          <a:prstGeom prst="rect">
            <a:avLst/>
          </a:prstGeom>
          <a:noFill/>
        </p:spPr>
        <p:txBody>
          <a:bodyPr wrap="none" rtlCol="0">
            <a:spAutoFit/>
          </a:bodyPr>
          <a:lstStyle/>
          <a:p>
            <a:r>
              <a:rPr lang="en-US"/>
              <a:t>4B</a:t>
            </a:r>
          </a:p>
        </p:txBody>
      </p:sp>
      <p:sp>
        <p:nvSpPr>
          <p:cNvPr id="18" name="TextBox 17"/>
          <p:cNvSpPr txBox="1"/>
          <p:nvPr/>
        </p:nvSpPr>
        <p:spPr>
          <a:xfrm>
            <a:off x="3796221" y="3630077"/>
            <a:ext cx="729687" cy="369332"/>
          </a:xfrm>
          <a:prstGeom prst="rect">
            <a:avLst/>
          </a:prstGeom>
          <a:noFill/>
        </p:spPr>
        <p:txBody>
          <a:bodyPr wrap="none" rtlCol="0">
            <a:spAutoFit/>
          </a:bodyPr>
          <a:lstStyle/>
          <a:p>
            <a:r>
              <a:rPr lang="en-US"/>
              <a:t>A+20</a:t>
            </a:r>
          </a:p>
        </p:txBody>
      </p:sp>
      <p:sp>
        <p:nvSpPr>
          <p:cNvPr id="19" name="TextBox 18"/>
          <p:cNvSpPr txBox="1"/>
          <p:nvPr/>
        </p:nvSpPr>
        <p:spPr>
          <a:xfrm>
            <a:off x="5494530" y="2346702"/>
            <a:ext cx="466794" cy="369332"/>
          </a:xfrm>
          <a:prstGeom prst="rect">
            <a:avLst/>
          </a:prstGeom>
          <a:noFill/>
        </p:spPr>
        <p:txBody>
          <a:bodyPr wrap="none" rtlCol="0">
            <a:spAutoFit/>
          </a:bodyPr>
          <a:lstStyle/>
          <a:p>
            <a:r>
              <a:rPr lang="en-US"/>
              <a:t>7B</a:t>
            </a:r>
          </a:p>
        </p:txBody>
      </p:sp>
      <p:sp>
        <p:nvSpPr>
          <p:cNvPr id="22" name="Rectangle 21"/>
          <p:cNvSpPr/>
          <p:nvPr/>
        </p:nvSpPr>
        <p:spPr bwMode="auto">
          <a:xfrm>
            <a:off x="4483946" y="3693033"/>
            <a:ext cx="1004902" cy="22808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ctr" anchorCtr="0" compatLnSpc="1">
            <a:prstTxWarp prst="textNoShape">
              <a:avLst/>
            </a:prstTxWarp>
          </a:bodyPr>
          <a:lstStyle/>
          <a:p>
            <a:pPr algn="ctr"/>
            <a:r>
              <a:rPr lang="en-US"/>
              <a:t>c</a:t>
            </a:r>
          </a:p>
        </p:txBody>
      </p:sp>
      <p:sp>
        <p:nvSpPr>
          <p:cNvPr id="23" name="Rectangle 22"/>
          <p:cNvSpPr/>
          <p:nvPr/>
        </p:nvSpPr>
        <p:spPr bwMode="auto">
          <a:xfrm>
            <a:off x="4483946" y="4447033"/>
            <a:ext cx="1004902" cy="526467"/>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a:t>
            </a:r>
          </a:p>
        </p:txBody>
      </p:sp>
      <p:sp>
        <p:nvSpPr>
          <p:cNvPr id="24" name="Rectangle 23"/>
          <p:cNvSpPr/>
          <p:nvPr/>
        </p:nvSpPr>
        <p:spPr bwMode="auto">
          <a:xfrm>
            <a:off x="4483946" y="4971869"/>
            <a:ext cx="1004902" cy="36933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t>i</a:t>
            </a:r>
            <a:endParaRPr lang="en-US"/>
          </a:p>
        </p:txBody>
      </p:sp>
      <p:sp>
        <p:nvSpPr>
          <p:cNvPr id="25" name="TextBox 24"/>
          <p:cNvSpPr txBox="1"/>
          <p:nvPr/>
        </p:nvSpPr>
        <p:spPr>
          <a:xfrm>
            <a:off x="5494530" y="3618941"/>
            <a:ext cx="466794" cy="369332"/>
          </a:xfrm>
          <a:prstGeom prst="rect">
            <a:avLst/>
          </a:prstGeom>
          <a:noFill/>
        </p:spPr>
        <p:txBody>
          <a:bodyPr wrap="none" rtlCol="0">
            <a:spAutoFit/>
          </a:bodyPr>
          <a:lstStyle/>
          <a:p>
            <a:r>
              <a:rPr lang="en-US"/>
              <a:t>1B</a:t>
            </a:r>
          </a:p>
        </p:txBody>
      </p:sp>
      <p:sp>
        <p:nvSpPr>
          <p:cNvPr id="26" name="TextBox 25"/>
          <p:cNvSpPr txBox="1"/>
          <p:nvPr/>
        </p:nvSpPr>
        <p:spPr>
          <a:xfrm>
            <a:off x="5494530" y="4525600"/>
            <a:ext cx="466794" cy="369332"/>
          </a:xfrm>
          <a:prstGeom prst="rect">
            <a:avLst/>
          </a:prstGeom>
          <a:noFill/>
        </p:spPr>
        <p:txBody>
          <a:bodyPr wrap="none" rtlCol="0">
            <a:spAutoFit/>
          </a:bodyPr>
          <a:lstStyle/>
          <a:p>
            <a:r>
              <a:rPr lang="en-US"/>
              <a:t>8B</a:t>
            </a:r>
          </a:p>
        </p:txBody>
      </p:sp>
      <p:sp>
        <p:nvSpPr>
          <p:cNvPr id="27" name="TextBox 26"/>
          <p:cNvSpPr txBox="1"/>
          <p:nvPr/>
        </p:nvSpPr>
        <p:spPr>
          <a:xfrm>
            <a:off x="5494530" y="4971869"/>
            <a:ext cx="466794" cy="369332"/>
          </a:xfrm>
          <a:prstGeom prst="rect">
            <a:avLst/>
          </a:prstGeom>
          <a:noFill/>
        </p:spPr>
        <p:txBody>
          <a:bodyPr wrap="none" rtlCol="0">
            <a:spAutoFit/>
          </a:bodyPr>
          <a:lstStyle/>
          <a:p>
            <a:r>
              <a:rPr lang="en-US"/>
              <a:t>4B</a:t>
            </a:r>
          </a:p>
        </p:txBody>
      </p:sp>
      <p:sp>
        <p:nvSpPr>
          <p:cNvPr id="28" name="TextBox 27"/>
          <p:cNvSpPr txBox="1"/>
          <p:nvPr/>
        </p:nvSpPr>
        <p:spPr>
          <a:xfrm>
            <a:off x="5494530" y="3993594"/>
            <a:ext cx="466794" cy="369332"/>
          </a:xfrm>
          <a:prstGeom prst="rect">
            <a:avLst/>
          </a:prstGeom>
          <a:noFill/>
        </p:spPr>
        <p:txBody>
          <a:bodyPr wrap="none" rtlCol="0">
            <a:spAutoFit/>
          </a:bodyPr>
          <a:lstStyle/>
          <a:p>
            <a:r>
              <a:rPr lang="en-US"/>
              <a:t>7B</a:t>
            </a:r>
          </a:p>
        </p:txBody>
      </p:sp>
      <p:sp>
        <p:nvSpPr>
          <p:cNvPr id="29" name="TextBox 28"/>
          <p:cNvSpPr txBox="1"/>
          <p:nvPr/>
        </p:nvSpPr>
        <p:spPr>
          <a:xfrm>
            <a:off x="3796221" y="4445982"/>
            <a:ext cx="729687" cy="369332"/>
          </a:xfrm>
          <a:prstGeom prst="rect">
            <a:avLst/>
          </a:prstGeom>
          <a:noFill/>
        </p:spPr>
        <p:txBody>
          <a:bodyPr wrap="none" rtlCol="0">
            <a:spAutoFit/>
          </a:bodyPr>
          <a:lstStyle/>
          <a:p>
            <a:r>
              <a:rPr lang="en-US"/>
              <a:t>A+28</a:t>
            </a:r>
          </a:p>
        </p:txBody>
      </p:sp>
      <p:sp>
        <p:nvSpPr>
          <p:cNvPr id="30" name="TextBox 29"/>
          <p:cNvSpPr txBox="1"/>
          <p:nvPr/>
        </p:nvSpPr>
        <p:spPr>
          <a:xfrm>
            <a:off x="3796221" y="4971869"/>
            <a:ext cx="729687" cy="369332"/>
          </a:xfrm>
          <a:prstGeom prst="rect">
            <a:avLst/>
          </a:prstGeom>
          <a:noFill/>
        </p:spPr>
        <p:txBody>
          <a:bodyPr wrap="none" rtlCol="0">
            <a:spAutoFit/>
          </a:bodyPr>
          <a:lstStyle/>
          <a:p>
            <a:r>
              <a:rPr lang="en-US"/>
              <a:t>A+36</a:t>
            </a:r>
          </a:p>
        </p:txBody>
      </p:sp>
      <p:sp>
        <p:nvSpPr>
          <p:cNvPr id="31" name="TextBox 30"/>
          <p:cNvSpPr txBox="1"/>
          <p:nvPr/>
        </p:nvSpPr>
        <p:spPr>
          <a:xfrm>
            <a:off x="3796221" y="5347190"/>
            <a:ext cx="729687" cy="369332"/>
          </a:xfrm>
          <a:prstGeom prst="rect">
            <a:avLst/>
          </a:prstGeom>
          <a:noFill/>
        </p:spPr>
        <p:txBody>
          <a:bodyPr wrap="none" rtlCol="0">
            <a:spAutoFit/>
          </a:bodyPr>
          <a:lstStyle/>
          <a:p>
            <a:r>
              <a:rPr lang="en-US"/>
              <a:t>A+40</a:t>
            </a:r>
          </a:p>
        </p:txBody>
      </p:sp>
      <p:sp>
        <p:nvSpPr>
          <p:cNvPr id="34" name="Right Brace 33"/>
          <p:cNvSpPr/>
          <p:nvPr/>
        </p:nvSpPr>
        <p:spPr bwMode="auto">
          <a:xfrm>
            <a:off x="5961324" y="2046141"/>
            <a:ext cx="394830" cy="1646892"/>
          </a:xfrm>
          <a:prstGeom prst="rightBrace">
            <a:avLst>
              <a:gd name="adj1" fmla="val 8333"/>
              <a:gd name="adj2" fmla="val 5000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5" name="TextBox 34"/>
          <p:cNvSpPr txBox="1"/>
          <p:nvPr/>
        </p:nvSpPr>
        <p:spPr>
          <a:xfrm>
            <a:off x="6348927" y="2684921"/>
            <a:ext cx="1011815" cy="369332"/>
          </a:xfrm>
          <a:prstGeom prst="rect">
            <a:avLst/>
          </a:prstGeom>
          <a:noFill/>
        </p:spPr>
        <p:txBody>
          <a:bodyPr wrap="none" rtlCol="0">
            <a:spAutoFit/>
          </a:bodyPr>
          <a:lstStyle/>
          <a:p>
            <a:r>
              <a:rPr lang="en-US" b="1" err="1">
                <a:solidFill>
                  <a:schemeClr val="accent2"/>
                </a:solidFill>
                <a:latin typeface="Courier New" panose="02070309020205020404" pitchFamily="49" charset="0"/>
                <a:cs typeface="Courier New" panose="02070309020205020404" pitchFamily="49" charset="0"/>
              </a:rPr>
              <a:t>arr</a:t>
            </a:r>
            <a:r>
              <a:rPr lang="en-US" b="1">
                <a:solidFill>
                  <a:schemeClr val="accent2"/>
                </a:solidFill>
                <a:latin typeface="Courier New" panose="02070309020205020404" pitchFamily="49" charset="0"/>
                <a:cs typeface="Courier New" panose="02070309020205020404" pitchFamily="49" charset="0"/>
              </a:rPr>
              <a:t>[0]</a:t>
            </a:r>
          </a:p>
        </p:txBody>
      </p:sp>
      <p:sp>
        <p:nvSpPr>
          <p:cNvPr id="36" name="Right Brace 35"/>
          <p:cNvSpPr/>
          <p:nvPr/>
        </p:nvSpPr>
        <p:spPr bwMode="auto">
          <a:xfrm>
            <a:off x="5968552" y="3702154"/>
            <a:ext cx="394830" cy="1646892"/>
          </a:xfrm>
          <a:prstGeom prst="rightBrace">
            <a:avLst>
              <a:gd name="adj1" fmla="val 8333"/>
              <a:gd name="adj2" fmla="val 5000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37" name="TextBox 36"/>
          <p:cNvSpPr txBox="1"/>
          <p:nvPr/>
        </p:nvSpPr>
        <p:spPr>
          <a:xfrm>
            <a:off x="6356155" y="4340934"/>
            <a:ext cx="1011815" cy="369332"/>
          </a:xfrm>
          <a:prstGeom prst="rect">
            <a:avLst/>
          </a:prstGeom>
          <a:noFill/>
        </p:spPr>
        <p:txBody>
          <a:bodyPr wrap="none" rtlCol="0">
            <a:spAutoFit/>
          </a:bodyPr>
          <a:lstStyle/>
          <a:p>
            <a:r>
              <a:rPr lang="en-US" b="1" err="1">
                <a:solidFill>
                  <a:schemeClr val="accent2"/>
                </a:solidFill>
                <a:latin typeface="Courier New" panose="02070309020205020404" pitchFamily="49" charset="0"/>
                <a:cs typeface="Courier New" panose="02070309020205020404" pitchFamily="49" charset="0"/>
              </a:rPr>
              <a:t>arr</a:t>
            </a:r>
            <a:r>
              <a:rPr lang="en-US" b="1">
                <a:solidFill>
                  <a:schemeClr val="accent2"/>
                </a:solidFill>
                <a:latin typeface="Courier New" panose="02070309020205020404" pitchFamily="49" charset="0"/>
                <a:cs typeface="Courier New" panose="02070309020205020404" pitchFamily="49" charset="0"/>
              </a:rPr>
              <a:t>[1]</a:t>
            </a:r>
          </a:p>
        </p:txBody>
      </p:sp>
      <p:sp>
        <p:nvSpPr>
          <p:cNvPr id="38" name="TextBox 37"/>
          <p:cNvSpPr txBox="1"/>
          <p:nvPr/>
        </p:nvSpPr>
        <p:spPr>
          <a:xfrm>
            <a:off x="3106583" y="4445982"/>
            <a:ext cx="646331" cy="369332"/>
          </a:xfrm>
          <a:prstGeom prst="rect">
            <a:avLst/>
          </a:prstGeom>
          <a:noFill/>
        </p:spPr>
        <p:txBody>
          <a:bodyPr wrap="none" rtlCol="0">
            <a:spAutoFit/>
          </a:bodyPr>
          <a:lstStyle/>
          <a:p>
            <a:r>
              <a:rPr lang="en-US">
                <a:solidFill>
                  <a:srgbClr val="FF0000"/>
                </a:solidFill>
              </a:rPr>
              <a:t>%8?</a:t>
            </a:r>
          </a:p>
        </p:txBody>
      </p:sp>
      <p:cxnSp>
        <p:nvCxnSpPr>
          <p:cNvPr id="39" name="Straight Connector 38"/>
          <p:cNvCxnSpPr/>
          <p:nvPr/>
        </p:nvCxnSpPr>
        <p:spPr bwMode="auto">
          <a:xfrm>
            <a:off x="8447126" y="1894821"/>
            <a:ext cx="0" cy="4278187"/>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flipH="1">
            <a:off x="9449558" y="1894821"/>
            <a:ext cx="5680" cy="427818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1" name="Rectangle 40"/>
          <p:cNvSpPr/>
          <p:nvPr/>
        </p:nvSpPr>
        <p:spPr bwMode="auto">
          <a:xfrm>
            <a:off x="8447126" y="2046141"/>
            <a:ext cx="1008112" cy="22808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ctr" anchorCtr="0" compatLnSpc="1">
            <a:prstTxWarp prst="textNoShape">
              <a:avLst/>
            </a:prstTxWarp>
          </a:bodyPr>
          <a:lstStyle/>
          <a:p>
            <a:pPr algn="ctr"/>
            <a:r>
              <a:rPr lang="en-US"/>
              <a:t>c</a:t>
            </a:r>
          </a:p>
        </p:txBody>
      </p:sp>
      <p:sp>
        <p:nvSpPr>
          <p:cNvPr id="42" name="Rectangle 41"/>
          <p:cNvSpPr/>
          <p:nvPr/>
        </p:nvSpPr>
        <p:spPr bwMode="auto">
          <a:xfrm>
            <a:off x="8447126" y="2800142"/>
            <a:ext cx="1008112" cy="526467"/>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a:t>
            </a:r>
          </a:p>
        </p:txBody>
      </p:sp>
      <p:sp>
        <p:nvSpPr>
          <p:cNvPr id="43" name="Rectangle 42"/>
          <p:cNvSpPr/>
          <p:nvPr/>
        </p:nvSpPr>
        <p:spPr bwMode="auto">
          <a:xfrm>
            <a:off x="8447126" y="3323700"/>
            <a:ext cx="1008112" cy="36933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t>i</a:t>
            </a:r>
            <a:endParaRPr lang="en-US"/>
          </a:p>
        </p:txBody>
      </p:sp>
      <p:sp>
        <p:nvSpPr>
          <p:cNvPr id="44" name="TextBox 43"/>
          <p:cNvSpPr txBox="1"/>
          <p:nvPr/>
        </p:nvSpPr>
        <p:spPr>
          <a:xfrm>
            <a:off x="7759065" y="1972049"/>
            <a:ext cx="338554" cy="369332"/>
          </a:xfrm>
          <a:prstGeom prst="rect">
            <a:avLst/>
          </a:prstGeom>
          <a:noFill/>
        </p:spPr>
        <p:txBody>
          <a:bodyPr wrap="none" rtlCol="0">
            <a:spAutoFit/>
          </a:bodyPr>
          <a:lstStyle/>
          <a:p>
            <a:r>
              <a:rPr lang="en-US"/>
              <a:t>A</a:t>
            </a:r>
          </a:p>
        </p:txBody>
      </p:sp>
      <p:sp>
        <p:nvSpPr>
          <p:cNvPr id="45" name="TextBox 44"/>
          <p:cNvSpPr txBox="1"/>
          <p:nvPr/>
        </p:nvSpPr>
        <p:spPr>
          <a:xfrm>
            <a:off x="9457710" y="1972049"/>
            <a:ext cx="466794" cy="369332"/>
          </a:xfrm>
          <a:prstGeom prst="rect">
            <a:avLst/>
          </a:prstGeom>
          <a:noFill/>
        </p:spPr>
        <p:txBody>
          <a:bodyPr wrap="none" rtlCol="0">
            <a:spAutoFit/>
          </a:bodyPr>
          <a:lstStyle/>
          <a:p>
            <a:r>
              <a:rPr lang="en-US"/>
              <a:t>1B</a:t>
            </a:r>
          </a:p>
        </p:txBody>
      </p:sp>
      <p:sp>
        <p:nvSpPr>
          <p:cNvPr id="46" name="TextBox 45"/>
          <p:cNvSpPr txBox="1"/>
          <p:nvPr/>
        </p:nvSpPr>
        <p:spPr>
          <a:xfrm>
            <a:off x="7759066" y="2710388"/>
            <a:ext cx="601447" cy="369332"/>
          </a:xfrm>
          <a:prstGeom prst="rect">
            <a:avLst/>
          </a:prstGeom>
          <a:noFill/>
        </p:spPr>
        <p:txBody>
          <a:bodyPr wrap="none" rtlCol="0">
            <a:spAutoFit/>
          </a:bodyPr>
          <a:lstStyle/>
          <a:p>
            <a:r>
              <a:rPr lang="en-US"/>
              <a:t>A+8</a:t>
            </a:r>
          </a:p>
        </p:txBody>
      </p:sp>
      <p:sp>
        <p:nvSpPr>
          <p:cNvPr id="47" name="TextBox 46"/>
          <p:cNvSpPr txBox="1"/>
          <p:nvPr/>
        </p:nvSpPr>
        <p:spPr>
          <a:xfrm>
            <a:off x="7759066" y="3329546"/>
            <a:ext cx="729687" cy="369332"/>
          </a:xfrm>
          <a:prstGeom prst="rect">
            <a:avLst/>
          </a:prstGeom>
          <a:noFill/>
        </p:spPr>
        <p:txBody>
          <a:bodyPr wrap="none" rtlCol="0">
            <a:spAutoFit/>
          </a:bodyPr>
          <a:lstStyle/>
          <a:p>
            <a:r>
              <a:rPr lang="en-US"/>
              <a:t>A+16</a:t>
            </a:r>
          </a:p>
        </p:txBody>
      </p:sp>
      <p:sp>
        <p:nvSpPr>
          <p:cNvPr id="48" name="TextBox 47"/>
          <p:cNvSpPr txBox="1"/>
          <p:nvPr/>
        </p:nvSpPr>
        <p:spPr>
          <a:xfrm>
            <a:off x="9457710" y="2878708"/>
            <a:ext cx="466794" cy="369332"/>
          </a:xfrm>
          <a:prstGeom prst="rect">
            <a:avLst/>
          </a:prstGeom>
          <a:noFill/>
        </p:spPr>
        <p:txBody>
          <a:bodyPr wrap="none" rtlCol="0">
            <a:spAutoFit/>
          </a:bodyPr>
          <a:lstStyle/>
          <a:p>
            <a:r>
              <a:rPr lang="en-US"/>
              <a:t>8B</a:t>
            </a:r>
          </a:p>
        </p:txBody>
      </p:sp>
      <p:sp>
        <p:nvSpPr>
          <p:cNvPr id="49" name="TextBox 48"/>
          <p:cNvSpPr txBox="1"/>
          <p:nvPr/>
        </p:nvSpPr>
        <p:spPr>
          <a:xfrm>
            <a:off x="9457710" y="3324977"/>
            <a:ext cx="466794" cy="369332"/>
          </a:xfrm>
          <a:prstGeom prst="rect">
            <a:avLst/>
          </a:prstGeom>
          <a:noFill/>
        </p:spPr>
        <p:txBody>
          <a:bodyPr wrap="none" rtlCol="0">
            <a:spAutoFit/>
          </a:bodyPr>
          <a:lstStyle/>
          <a:p>
            <a:r>
              <a:rPr lang="en-US"/>
              <a:t>4B</a:t>
            </a:r>
          </a:p>
        </p:txBody>
      </p:sp>
      <p:sp>
        <p:nvSpPr>
          <p:cNvPr id="50" name="TextBox 49"/>
          <p:cNvSpPr txBox="1"/>
          <p:nvPr/>
        </p:nvSpPr>
        <p:spPr>
          <a:xfrm>
            <a:off x="7759066" y="3939810"/>
            <a:ext cx="729687" cy="369332"/>
          </a:xfrm>
          <a:prstGeom prst="rect">
            <a:avLst/>
          </a:prstGeom>
          <a:noFill/>
        </p:spPr>
        <p:txBody>
          <a:bodyPr wrap="none" rtlCol="0">
            <a:spAutoFit/>
          </a:bodyPr>
          <a:lstStyle/>
          <a:p>
            <a:r>
              <a:rPr lang="en-US"/>
              <a:t>A+24</a:t>
            </a:r>
          </a:p>
        </p:txBody>
      </p:sp>
      <p:sp>
        <p:nvSpPr>
          <p:cNvPr id="51" name="TextBox 50"/>
          <p:cNvSpPr txBox="1"/>
          <p:nvPr/>
        </p:nvSpPr>
        <p:spPr>
          <a:xfrm>
            <a:off x="9457710" y="2346702"/>
            <a:ext cx="466794" cy="369332"/>
          </a:xfrm>
          <a:prstGeom prst="rect">
            <a:avLst/>
          </a:prstGeom>
          <a:noFill/>
        </p:spPr>
        <p:txBody>
          <a:bodyPr wrap="none" rtlCol="0">
            <a:spAutoFit/>
          </a:bodyPr>
          <a:lstStyle/>
          <a:p>
            <a:r>
              <a:rPr lang="en-US"/>
              <a:t>7B</a:t>
            </a:r>
          </a:p>
        </p:txBody>
      </p:sp>
      <p:sp>
        <p:nvSpPr>
          <p:cNvPr id="52" name="Rectangle 51"/>
          <p:cNvSpPr/>
          <p:nvPr/>
        </p:nvSpPr>
        <p:spPr bwMode="auto">
          <a:xfrm>
            <a:off x="8447126" y="4002766"/>
            <a:ext cx="1004902" cy="22808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0" rIns="91440" bIns="0" numCol="1" rtlCol="0" anchor="ctr" anchorCtr="0" compatLnSpc="1">
            <a:prstTxWarp prst="textNoShape">
              <a:avLst/>
            </a:prstTxWarp>
          </a:bodyPr>
          <a:lstStyle/>
          <a:p>
            <a:pPr algn="ctr"/>
            <a:r>
              <a:rPr lang="en-US"/>
              <a:t>c</a:t>
            </a:r>
          </a:p>
        </p:txBody>
      </p:sp>
      <p:sp>
        <p:nvSpPr>
          <p:cNvPr id="53" name="Rectangle 52"/>
          <p:cNvSpPr/>
          <p:nvPr/>
        </p:nvSpPr>
        <p:spPr bwMode="auto">
          <a:xfrm>
            <a:off x="8447126" y="4756766"/>
            <a:ext cx="1004902" cy="526467"/>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a:t>
            </a:r>
          </a:p>
        </p:txBody>
      </p:sp>
      <p:sp>
        <p:nvSpPr>
          <p:cNvPr id="54" name="Rectangle 53"/>
          <p:cNvSpPr/>
          <p:nvPr/>
        </p:nvSpPr>
        <p:spPr bwMode="auto">
          <a:xfrm>
            <a:off x="8447126" y="5281602"/>
            <a:ext cx="1004902" cy="36933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err="1"/>
              <a:t>i</a:t>
            </a:r>
            <a:endParaRPr lang="en-US"/>
          </a:p>
        </p:txBody>
      </p:sp>
      <p:sp>
        <p:nvSpPr>
          <p:cNvPr id="55" name="TextBox 54"/>
          <p:cNvSpPr txBox="1"/>
          <p:nvPr/>
        </p:nvSpPr>
        <p:spPr>
          <a:xfrm>
            <a:off x="9457710" y="3928674"/>
            <a:ext cx="466794" cy="369332"/>
          </a:xfrm>
          <a:prstGeom prst="rect">
            <a:avLst/>
          </a:prstGeom>
          <a:noFill/>
        </p:spPr>
        <p:txBody>
          <a:bodyPr wrap="none" rtlCol="0">
            <a:spAutoFit/>
          </a:bodyPr>
          <a:lstStyle/>
          <a:p>
            <a:r>
              <a:rPr lang="en-US"/>
              <a:t>1B</a:t>
            </a:r>
          </a:p>
        </p:txBody>
      </p:sp>
      <p:sp>
        <p:nvSpPr>
          <p:cNvPr id="56" name="TextBox 55"/>
          <p:cNvSpPr txBox="1"/>
          <p:nvPr/>
        </p:nvSpPr>
        <p:spPr>
          <a:xfrm>
            <a:off x="9457710" y="4835333"/>
            <a:ext cx="466794" cy="369332"/>
          </a:xfrm>
          <a:prstGeom prst="rect">
            <a:avLst/>
          </a:prstGeom>
          <a:noFill/>
        </p:spPr>
        <p:txBody>
          <a:bodyPr wrap="none" rtlCol="0">
            <a:spAutoFit/>
          </a:bodyPr>
          <a:lstStyle/>
          <a:p>
            <a:r>
              <a:rPr lang="en-US"/>
              <a:t>8B</a:t>
            </a:r>
          </a:p>
        </p:txBody>
      </p:sp>
      <p:sp>
        <p:nvSpPr>
          <p:cNvPr id="57" name="TextBox 56"/>
          <p:cNvSpPr txBox="1"/>
          <p:nvPr/>
        </p:nvSpPr>
        <p:spPr>
          <a:xfrm>
            <a:off x="9457710" y="5281602"/>
            <a:ext cx="466794" cy="369332"/>
          </a:xfrm>
          <a:prstGeom prst="rect">
            <a:avLst/>
          </a:prstGeom>
          <a:noFill/>
        </p:spPr>
        <p:txBody>
          <a:bodyPr wrap="none" rtlCol="0">
            <a:spAutoFit/>
          </a:bodyPr>
          <a:lstStyle/>
          <a:p>
            <a:r>
              <a:rPr lang="en-US"/>
              <a:t>4B</a:t>
            </a:r>
          </a:p>
        </p:txBody>
      </p:sp>
      <p:sp>
        <p:nvSpPr>
          <p:cNvPr id="58" name="TextBox 57"/>
          <p:cNvSpPr txBox="1"/>
          <p:nvPr/>
        </p:nvSpPr>
        <p:spPr>
          <a:xfrm>
            <a:off x="9457710" y="4303327"/>
            <a:ext cx="466794" cy="369332"/>
          </a:xfrm>
          <a:prstGeom prst="rect">
            <a:avLst/>
          </a:prstGeom>
          <a:noFill/>
        </p:spPr>
        <p:txBody>
          <a:bodyPr wrap="none" rtlCol="0">
            <a:spAutoFit/>
          </a:bodyPr>
          <a:lstStyle/>
          <a:p>
            <a:r>
              <a:rPr lang="en-US"/>
              <a:t>7B</a:t>
            </a:r>
          </a:p>
        </p:txBody>
      </p:sp>
      <p:sp>
        <p:nvSpPr>
          <p:cNvPr id="59" name="TextBox 58"/>
          <p:cNvSpPr txBox="1"/>
          <p:nvPr/>
        </p:nvSpPr>
        <p:spPr>
          <a:xfrm>
            <a:off x="7759066" y="4755715"/>
            <a:ext cx="729687" cy="369332"/>
          </a:xfrm>
          <a:prstGeom prst="rect">
            <a:avLst/>
          </a:prstGeom>
          <a:noFill/>
        </p:spPr>
        <p:txBody>
          <a:bodyPr wrap="none" rtlCol="0">
            <a:spAutoFit/>
          </a:bodyPr>
          <a:lstStyle/>
          <a:p>
            <a:r>
              <a:rPr lang="en-US"/>
              <a:t>A+32</a:t>
            </a:r>
          </a:p>
        </p:txBody>
      </p:sp>
      <p:sp>
        <p:nvSpPr>
          <p:cNvPr id="60" name="TextBox 59"/>
          <p:cNvSpPr txBox="1"/>
          <p:nvPr/>
        </p:nvSpPr>
        <p:spPr>
          <a:xfrm>
            <a:off x="7759066" y="5281602"/>
            <a:ext cx="729687" cy="369332"/>
          </a:xfrm>
          <a:prstGeom prst="rect">
            <a:avLst/>
          </a:prstGeom>
          <a:noFill/>
        </p:spPr>
        <p:txBody>
          <a:bodyPr wrap="none" rtlCol="0">
            <a:spAutoFit/>
          </a:bodyPr>
          <a:lstStyle/>
          <a:p>
            <a:r>
              <a:rPr lang="en-US"/>
              <a:t>A+40</a:t>
            </a:r>
          </a:p>
        </p:txBody>
      </p:sp>
      <p:sp>
        <p:nvSpPr>
          <p:cNvPr id="61" name="TextBox 60"/>
          <p:cNvSpPr txBox="1"/>
          <p:nvPr/>
        </p:nvSpPr>
        <p:spPr>
          <a:xfrm>
            <a:off x="7759066" y="5954995"/>
            <a:ext cx="729687" cy="369332"/>
          </a:xfrm>
          <a:prstGeom prst="rect">
            <a:avLst/>
          </a:prstGeom>
          <a:noFill/>
        </p:spPr>
        <p:txBody>
          <a:bodyPr wrap="none" rtlCol="0">
            <a:spAutoFit/>
          </a:bodyPr>
          <a:lstStyle/>
          <a:p>
            <a:r>
              <a:rPr lang="en-US"/>
              <a:t>A+48</a:t>
            </a:r>
          </a:p>
        </p:txBody>
      </p:sp>
      <p:sp>
        <p:nvSpPr>
          <p:cNvPr id="62" name="Right Brace 61"/>
          <p:cNvSpPr/>
          <p:nvPr/>
        </p:nvSpPr>
        <p:spPr bwMode="auto">
          <a:xfrm>
            <a:off x="9931732" y="2046141"/>
            <a:ext cx="387602" cy="1960425"/>
          </a:xfrm>
          <a:prstGeom prst="rightBrace">
            <a:avLst>
              <a:gd name="adj1" fmla="val 8333"/>
              <a:gd name="adj2" fmla="val 5000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63" name="TextBox 62"/>
          <p:cNvSpPr txBox="1"/>
          <p:nvPr/>
        </p:nvSpPr>
        <p:spPr>
          <a:xfrm>
            <a:off x="10312107" y="2684921"/>
            <a:ext cx="1011815" cy="369332"/>
          </a:xfrm>
          <a:prstGeom prst="rect">
            <a:avLst/>
          </a:prstGeom>
          <a:noFill/>
        </p:spPr>
        <p:txBody>
          <a:bodyPr wrap="none" rtlCol="0">
            <a:spAutoFit/>
          </a:bodyPr>
          <a:lstStyle/>
          <a:p>
            <a:r>
              <a:rPr lang="en-US" b="1" err="1">
                <a:solidFill>
                  <a:schemeClr val="accent2"/>
                </a:solidFill>
                <a:latin typeface="Courier New" panose="02070309020205020404" pitchFamily="49" charset="0"/>
                <a:cs typeface="Courier New" panose="02070309020205020404" pitchFamily="49" charset="0"/>
              </a:rPr>
              <a:t>arr</a:t>
            </a:r>
            <a:r>
              <a:rPr lang="en-US" b="1">
                <a:solidFill>
                  <a:schemeClr val="accent2"/>
                </a:solidFill>
                <a:latin typeface="Courier New" panose="02070309020205020404" pitchFamily="49" charset="0"/>
                <a:cs typeface="Courier New" panose="02070309020205020404" pitchFamily="49" charset="0"/>
              </a:rPr>
              <a:t>[0]</a:t>
            </a:r>
          </a:p>
        </p:txBody>
      </p:sp>
      <p:sp>
        <p:nvSpPr>
          <p:cNvPr id="64" name="Right Brace 63"/>
          <p:cNvSpPr/>
          <p:nvPr/>
        </p:nvSpPr>
        <p:spPr bwMode="auto">
          <a:xfrm>
            <a:off x="9931732" y="4011887"/>
            <a:ext cx="394830" cy="1947503"/>
          </a:xfrm>
          <a:prstGeom prst="rightBrace">
            <a:avLst>
              <a:gd name="adj1" fmla="val 8333"/>
              <a:gd name="adj2" fmla="val 50000"/>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65" name="TextBox 64"/>
          <p:cNvSpPr txBox="1"/>
          <p:nvPr/>
        </p:nvSpPr>
        <p:spPr>
          <a:xfrm>
            <a:off x="10319335" y="4800971"/>
            <a:ext cx="1011815" cy="369332"/>
          </a:xfrm>
          <a:prstGeom prst="rect">
            <a:avLst/>
          </a:prstGeom>
          <a:noFill/>
        </p:spPr>
        <p:txBody>
          <a:bodyPr wrap="none" rtlCol="0">
            <a:spAutoFit/>
          </a:bodyPr>
          <a:lstStyle/>
          <a:p>
            <a:r>
              <a:rPr lang="en-US" b="1" err="1">
                <a:solidFill>
                  <a:schemeClr val="accent2"/>
                </a:solidFill>
                <a:latin typeface="Courier New" panose="02070309020205020404" pitchFamily="49" charset="0"/>
                <a:cs typeface="Courier New" panose="02070309020205020404" pitchFamily="49" charset="0"/>
              </a:rPr>
              <a:t>arr</a:t>
            </a:r>
            <a:r>
              <a:rPr lang="en-US" b="1">
                <a:solidFill>
                  <a:schemeClr val="accent2"/>
                </a:solidFill>
                <a:latin typeface="Courier New" panose="02070309020205020404" pitchFamily="49" charset="0"/>
                <a:cs typeface="Courier New" panose="02070309020205020404" pitchFamily="49" charset="0"/>
              </a:rPr>
              <a:t>[1]</a:t>
            </a:r>
          </a:p>
        </p:txBody>
      </p:sp>
      <p:sp>
        <p:nvSpPr>
          <p:cNvPr id="66" name="TextBox 65"/>
          <p:cNvSpPr txBox="1"/>
          <p:nvPr/>
        </p:nvSpPr>
        <p:spPr>
          <a:xfrm>
            <a:off x="9457710" y="3640606"/>
            <a:ext cx="466794" cy="369332"/>
          </a:xfrm>
          <a:prstGeom prst="rect">
            <a:avLst/>
          </a:prstGeom>
          <a:noFill/>
        </p:spPr>
        <p:txBody>
          <a:bodyPr wrap="none" rtlCol="0">
            <a:spAutoFit/>
          </a:bodyPr>
          <a:lstStyle/>
          <a:p>
            <a:r>
              <a:rPr lang="en-US"/>
              <a:t>4B</a:t>
            </a:r>
          </a:p>
        </p:txBody>
      </p:sp>
      <p:cxnSp>
        <p:nvCxnSpPr>
          <p:cNvPr id="68" name="Straight Connector 67"/>
          <p:cNvCxnSpPr/>
          <p:nvPr/>
        </p:nvCxnSpPr>
        <p:spPr bwMode="auto">
          <a:xfrm flipV="1">
            <a:off x="8443052" y="5959391"/>
            <a:ext cx="1006507"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4" name="TextBox 73"/>
          <p:cNvSpPr txBox="1"/>
          <p:nvPr/>
        </p:nvSpPr>
        <p:spPr>
          <a:xfrm>
            <a:off x="9457710" y="5619648"/>
            <a:ext cx="466794" cy="369332"/>
          </a:xfrm>
          <a:prstGeom prst="rect">
            <a:avLst/>
          </a:prstGeom>
          <a:noFill/>
        </p:spPr>
        <p:txBody>
          <a:bodyPr wrap="none" rtlCol="0">
            <a:spAutoFit/>
          </a:bodyPr>
          <a:lstStyle/>
          <a:p>
            <a:r>
              <a:rPr lang="en-US"/>
              <a:t>4B</a:t>
            </a:r>
          </a:p>
        </p:txBody>
      </p:sp>
      <p:cxnSp>
        <p:nvCxnSpPr>
          <p:cNvPr id="75" name="Straight Connector 74"/>
          <p:cNvCxnSpPr/>
          <p:nvPr/>
        </p:nvCxnSpPr>
        <p:spPr bwMode="auto">
          <a:xfrm>
            <a:off x="3759836" y="2615465"/>
            <a:ext cx="2448272" cy="2908804"/>
          </a:xfrm>
          <a:prstGeom prst="line">
            <a:avLst/>
          </a:prstGeom>
          <a:solidFill>
            <a:schemeClr val="accent1"/>
          </a:solidFill>
          <a:ln w="76200" cap="flat" cmpd="sng" algn="ctr">
            <a:solidFill>
              <a:srgbClr val="FF0000"/>
            </a:solidFill>
            <a:prstDash val="solid"/>
            <a:round/>
            <a:headEnd type="none" w="med" len="med"/>
            <a:tailEnd type="none" w="med" len="med"/>
          </a:ln>
          <a:effectLst/>
        </p:spPr>
      </p:cxnSp>
      <p:cxnSp>
        <p:nvCxnSpPr>
          <p:cNvPr id="76" name="Straight Connector 75"/>
          <p:cNvCxnSpPr/>
          <p:nvPr/>
        </p:nvCxnSpPr>
        <p:spPr bwMode="auto">
          <a:xfrm flipH="1">
            <a:off x="3783610" y="2615465"/>
            <a:ext cx="2448272" cy="2908804"/>
          </a:xfrm>
          <a:prstGeom prst="line">
            <a:avLst/>
          </a:prstGeom>
          <a:solidFill>
            <a:schemeClr val="accent1"/>
          </a:solidFill>
          <a:ln w="762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02924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animBg="1"/>
      <p:bldP spid="42" grpId="0" animBg="1"/>
      <p:bldP spid="43" grpId="0" animBg="1"/>
      <p:bldP spid="44" grpId="0"/>
      <p:bldP spid="45" grpId="0"/>
      <p:bldP spid="46" grpId="0"/>
      <p:bldP spid="47" grpId="0"/>
      <p:bldP spid="48" grpId="0"/>
      <p:bldP spid="49" grpId="0"/>
      <p:bldP spid="50" grpId="0"/>
      <p:bldP spid="51" grpId="0"/>
      <p:bldP spid="52" grpId="0" animBg="1"/>
      <p:bldP spid="53" grpId="0" animBg="1"/>
      <p:bldP spid="54" grpId="0" animBg="1"/>
      <p:bldP spid="55" grpId="0"/>
      <p:bldP spid="56" grpId="0"/>
      <p:bldP spid="57" grpId="0"/>
      <p:bldP spid="58" grpId="0"/>
      <p:bldP spid="59" grpId="0"/>
      <p:bldP spid="60" grpId="0"/>
      <p:bldP spid="61" grpId="0"/>
      <p:bldP spid="62" grpId="0" animBg="1"/>
      <p:bldP spid="63" grpId="0"/>
      <p:bldP spid="64" grpId="0" animBg="1"/>
      <p:bldP spid="65" grpId="0"/>
      <p:bldP spid="66" grpId="0"/>
      <p:bldP spid="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Memory management</a:t>
            </a:r>
          </a:p>
        </p:txBody>
      </p:sp>
      <p:sp>
        <p:nvSpPr>
          <p:cNvPr id="3" name="Content Placeholder 2"/>
          <p:cNvSpPr>
            <a:spLocks noGrp="1"/>
          </p:cNvSpPr>
          <p:nvPr>
            <p:ph idx="1"/>
          </p:nvPr>
        </p:nvSpPr>
        <p:spPr/>
        <p:txBody>
          <a:bodyPr/>
          <a:lstStyle/>
          <a:p>
            <a:r>
              <a:rPr lang="en-US"/>
              <a:t>Global variables</a:t>
            </a:r>
          </a:p>
          <a:p>
            <a:pPr lvl="1"/>
            <a:r>
              <a:rPr lang="en-US"/>
              <a:t>Allocated at the beginning, fixed place, released when application terminates</a:t>
            </a:r>
          </a:p>
          <a:p>
            <a:r>
              <a:rPr lang="en-US"/>
              <a:t>Local variables, function arguments</a:t>
            </a:r>
          </a:p>
          <a:p>
            <a:pPr lvl="1"/>
            <a:r>
              <a:rPr lang="en-US"/>
              <a:t>Allocated on the stack by shifting stack pointer</a:t>
            </a:r>
          </a:p>
          <a:p>
            <a:pPr lvl="1"/>
            <a:r>
              <a:rPr lang="en-US"/>
              <a:t>Stack growth, reallocation</a:t>
            </a:r>
          </a:p>
          <a:p>
            <a:r>
              <a:rPr lang="en-US"/>
              <a:t>Dynamically allocated variables</a:t>
            </a:r>
          </a:p>
          <a:p>
            <a:pPr lvl="1"/>
            <a:r>
              <a:rPr lang="en-US"/>
              <a:t>Allocated explicitly by the programmer (</a:t>
            </a:r>
            <a:r>
              <a:rPr lang="en-US" b="1" err="1">
                <a:latin typeface="Courier New" panose="02070309020205020404" pitchFamily="49" charset="0"/>
                <a:cs typeface="Courier New" panose="02070309020205020404" pitchFamily="49" charset="0"/>
              </a:rPr>
              <a:t>malloc</a:t>
            </a:r>
            <a:r>
              <a:rPr lang="en-US" b="1">
                <a:latin typeface="Courier New" panose="02070309020205020404" pitchFamily="49" charset="0"/>
                <a:cs typeface="Courier New" panose="02070309020205020404" pitchFamily="49" charset="0"/>
              </a:rPr>
              <a:t>()</a:t>
            </a:r>
            <a:r>
              <a:rPr lang="en-US"/>
              <a:t>, </a:t>
            </a:r>
            <a:r>
              <a:rPr lang="en-US" b="1">
                <a:solidFill>
                  <a:srgbClr val="0070C0"/>
                </a:solidFill>
                <a:latin typeface="Courier New" panose="02070309020205020404" pitchFamily="49" charset="0"/>
                <a:cs typeface="Courier New" panose="02070309020205020404" pitchFamily="49" charset="0"/>
              </a:rPr>
              <a:t>new</a:t>
            </a:r>
            <a:r>
              <a:rPr lang="en-US"/>
              <a:t>, </a:t>
            </a:r>
            <a:r>
              <a:rPr lang="en-US" b="1" err="1">
                <a:latin typeface="Courier New" panose="02070309020205020404" pitchFamily="49" charset="0"/>
                <a:cs typeface="Courier New" panose="02070309020205020404" pitchFamily="49" charset="0"/>
              </a:rPr>
              <a:t>unique_ptr</a:t>
            </a:r>
            <a:r>
              <a:rPr lang="en-US"/>
              <a:t>, …)</a:t>
            </a:r>
          </a:p>
          <a:p>
            <a:pPr lvl="1"/>
            <a:r>
              <a:rPr lang="en-US"/>
              <a:t>Specially dedicated memory block for these allocations</a:t>
            </a:r>
          </a:p>
          <a:p>
            <a:pPr lvl="2"/>
            <a:r>
              <a:rPr lang="en-US"/>
              <a:t>Requires special management provided by the runtime in cooperation with OS</a:t>
            </a:r>
            <a:br>
              <a:rPr lang="en-US"/>
            </a:br>
            <a:r>
              <a:rPr lang="en-US"/>
              <a:t>(OS allocates huge chunks, runtime manages fine-grained allocation)</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12</a:t>
            </a:fld>
            <a:endParaRPr lang="en-US" altLang="en-US"/>
          </a:p>
        </p:txBody>
      </p:sp>
    </p:spTree>
    <p:extLst>
      <p:ext uri="{BB962C8B-B14F-4D97-AF65-F5344CB8AC3E}">
        <p14:creationId xmlns:p14="http://schemas.microsoft.com/office/powerpoint/2010/main" val="3923010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Memory allocation</a:t>
            </a:r>
          </a:p>
        </p:txBody>
      </p:sp>
      <p:sp>
        <p:nvSpPr>
          <p:cNvPr id="3" name="Content Placeholder 2"/>
          <p:cNvSpPr>
            <a:spLocks noGrp="1"/>
          </p:cNvSpPr>
          <p:nvPr>
            <p:ph idx="1"/>
          </p:nvPr>
        </p:nvSpPr>
        <p:spPr/>
        <p:txBody>
          <a:bodyPr vert="horz" lIns="91440" tIns="45720" rIns="91440" bIns="45720" rtlCol="0" anchor="t">
            <a:normAutofit/>
          </a:bodyPr>
          <a:lstStyle/>
          <a:p>
            <a:r>
              <a:rPr lang="en-US" dirty="0"/>
              <a:t>Task</a:t>
            </a:r>
          </a:p>
          <a:p>
            <a:pPr lvl="1"/>
            <a:r>
              <a:rPr lang="en-US" dirty="0"/>
              <a:t>Locate a block of unused memory of sufficient size</a:t>
            </a:r>
            <a:endParaRPr lang="en-US" dirty="0">
              <a:cs typeface="Calibri"/>
            </a:endParaRPr>
          </a:p>
          <a:p>
            <a:pPr lvl="1"/>
            <a:r>
              <a:rPr lang="en-US" dirty="0"/>
              <a:t>Allocate portions from a large pool of memory</a:t>
            </a:r>
          </a:p>
          <a:p>
            <a:pPr lvl="2"/>
            <a:r>
              <a:rPr lang="en-US" dirty="0"/>
              <a:t>Heap, memory arena/pool</a:t>
            </a:r>
          </a:p>
          <a:p>
            <a:r>
              <a:rPr lang="en-US" dirty="0"/>
              <a:t>Lifecycle</a:t>
            </a:r>
          </a:p>
          <a:p>
            <a:pPr lvl="1"/>
            <a:r>
              <a:rPr lang="en-US" dirty="0"/>
              <a:t>Allocate a block</a:t>
            </a:r>
          </a:p>
          <a:p>
            <a:pPr lvl="2"/>
            <a:r>
              <a:rPr lang="en-US" dirty="0"/>
              <a:t>Different strategies, allocators</a:t>
            </a:r>
          </a:p>
          <a:p>
            <a:pPr lvl="1"/>
            <a:r>
              <a:rPr lang="en-US" dirty="0"/>
              <a:t>Use the block</a:t>
            </a:r>
          </a:p>
          <a:p>
            <a:pPr lvl="1"/>
            <a:r>
              <a:rPr lang="en-US" dirty="0"/>
              <a:t>Free the block</a:t>
            </a:r>
          </a:p>
          <a:p>
            <a:pPr lvl="2"/>
            <a:r>
              <a:rPr lang="en-US" dirty="0"/>
              <a:t>Explicitly,  by a garbage collector</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13</a:t>
            </a:fld>
            <a:endParaRPr lang="en-US" altLang="en-US"/>
          </a:p>
        </p:txBody>
      </p:sp>
      <p:sp>
        <p:nvSpPr>
          <p:cNvPr id="6" name="Rounded Rectangular Callout 21">
            <a:extLst>
              <a:ext uri="{FF2B5EF4-FFF2-40B4-BE49-F238E27FC236}">
                <a16:creationId xmlns:a16="http://schemas.microsoft.com/office/drawing/2014/main" id="{63AE614F-7C13-A578-5075-94637405B904}"/>
              </a:ext>
            </a:extLst>
          </p:cNvPr>
          <p:cNvSpPr/>
          <p:nvPr/>
        </p:nvSpPr>
        <p:spPr>
          <a:xfrm>
            <a:off x="5356851" y="3290369"/>
            <a:ext cx="4049542" cy="876116"/>
          </a:xfrm>
          <a:prstGeom prst="wedgeRoundRectCallout">
            <a:avLst>
              <a:gd name="adj1" fmla="val -116563"/>
              <a:gd name="adj2" fmla="val -3841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Not a d-regular heap, binomial heap, nor Fibonacci heap (the data structures)</a:t>
            </a:r>
          </a:p>
        </p:txBody>
      </p:sp>
    </p:spTree>
    <p:extLst>
      <p:ext uri="{BB962C8B-B14F-4D97-AF65-F5344CB8AC3E}">
        <p14:creationId xmlns:p14="http://schemas.microsoft.com/office/powerpoint/2010/main" val="4256746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Fragmentation</a:t>
            </a:r>
          </a:p>
        </p:txBody>
      </p:sp>
      <p:sp>
        <p:nvSpPr>
          <p:cNvPr id="3" name="Content Placeholder 2"/>
          <p:cNvSpPr>
            <a:spLocks noGrp="1"/>
          </p:cNvSpPr>
          <p:nvPr>
            <p:ph idx="1"/>
          </p:nvPr>
        </p:nvSpPr>
        <p:spPr/>
        <p:txBody>
          <a:bodyPr/>
          <a:lstStyle/>
          <a:p>
            <a:r>
              <a:rPr lang="en-US" dirty="0"/>
              <a:t>Internal</a:t>
            </a:r>
          </a:p>
          <a:p>
            <a:pPr lvl="1"/>
            <a:r>
              <a:rPr lang="en-US" dirty="0"/>
              <a:t>Allocated more memory than needed in a block (e.g., by 64B blocks)</a:t>
            </a:r>
          </a:p>
          <a:p>
            <a:r>
              <a:rPr lang="en-US" dirty="0"/>
              <a:t>External</a:t>
            </a:r>
          </a:p>
          <a:p>
            <a:pPr lvl="1"/>
            <a:r>
              <a:rPr lang="en-US" dirty="0"/>
              <a:t>Free memory is separated into small blocks and interspersed by allocated memory</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14</a:t>
            </a:fld>
            <a:endParaRPr lang="en-US" altLang="en-US"/>
          </a:p>
        </p:txBody>
      </p:sp>
      <p:sp>
        <p:nvSpPr>
          <p:cNvPr id="8" name="Rectangle 7"/>
          <p:cNvSpPr/>
          <p:nvPr/>
        </p:nvSpPr>
        <p:spPr bwMode="auto">
          <a:xfrm>
            <a:off x="2567608" y="4159201"/>
            <a:ext cx="1656184" cy="50405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requested</a:t>
            </a:r>
          </a:p>
        </p:txBody>
      </p:sp>
      <p:sp>
        <p:nvSpPr>
          <p:cNvPr id="9" name="Rectangle 8"/>
          <p:cNvSpPr/>
          <p:nvPr/>
        </p:nvSpPr>
        <p:spPr bwMode="auto">
          <a:xfrm>
            <a:off x="1631504" y="4159201"/>
            <a:ext cx="936104" cy="50405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0" name="Rectangle 9"/>
          <p:cNvSpPr/>
          <p:nvPr/>
        </p:nvSpPr>
        <p:spPr bwMode="auto">
          <a:xfrm>
            <a:off x="4583832" y="4159201"/>
            <a:ext cx="936104" cy="50405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1" name="Rectangle 10"/>
          <p:cNvSpPr/>
          <p:nvPr/>
        </p:nvSpPr>
        <p:spPr bwMode="auto">
          <a:xfrm>
            <a:off x="4223792" y="4159201"/>
            <a:ext cx="360040" cy="504056"/>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2" name="Right Brace 11"/>
          <p:cNvSpPr/>
          <p:nvPr/>
        </p:nvSpPr>
        <p:spPr bwMode="auto">
          <a:xfrm rot="5400000">
            <a:off x="3368697" y="3871967"/>
            <a:ext cx="414046" cy="2016224"/>
          </a:xfrm>
          <a:prstGeom prst="rightBrac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3" name="TextBox 12"/>
          <p:cNvSpPr txBox="1"/>
          <p:nvPr/>
        </p:nvSpPr>
        <p:spPr>
          <a:xfrm>
            <a:off x="3021722" y="5078877"/>
            <a:ext cx="1107996" cy="369332"/>
          </a:xfrm>
          <a:prstGeom prst="rect">
            <a:avLst/>
          </a:prstGeom>
          <a:noFill/>
        </p:spPr>
        <p:txBody>
          <a:bodyPr wrap="none" rtlCol="0">
            <a:spAutoFit/>
          </a:bodyPr>
          <a:lstStyle/>
          <a:p>
            <a:r>
              <a:rPr lang="en-US"/>
              <a:t>allocated</a:t>
            </a:r>
          </a:p>
        </p:txBody>
      </p:sp>
      <p:sp>
        <p:nvSpPr>
          <p:cNvPr id="14" name="Rectangle 13"/>
          <p:cNvSpPr/>
          <p:nvPr/>
        </p:nvSpPr>
        <p:spPr bwMode="auto">
          <a:xfrm>
            <a:off x="1631504" y="5671369"/>
            <a:ext cx="936104" cy="50405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5" name="Rectangle 14"/>
          <p:cNvSpPr/>
          <p:nvPr/>
        </p:nvSpPr>
        <p:spPr bwMode="auto">
          <a:xfrm>
            <a:off x="2567608" y="5671369"/>
            <a:ext cx="576064" cy="50405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6" name="Rectangle 15"/>
          <p:cNvSpPr/>
          <p:nvPr/>
        </p:nvSpPr>
        <p:spPr bwMode="auto">
          <a:xfrm>
            <a:off x="3143672" y="5671370"/>
            <a:ext cx="576064" cy="501897"/>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7" name="Rectangle 16"/>
          <p:cNvSpPr/>
          <p:nvPr/>
        </p:nvSpPr>
        <p:spPr bwMode="auto">
          <a:xfrm>
            <a:off x="4581389" y="5671369"/>
            <a:ext cx="1658627" cy="50405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8" name="Rectangle 17"/>
          <p:cNvSpPr/>
          <p:nvPr/>
        </p:nvSpPr>
        <p:spPr bwMode="auto">
          <a:xfrm>
            <a:off x="3717295" y="5671369"/>
            <a:ext cx="866537" cy="50405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9" name="Rectangle 18"/>
          <p:cNvSpPr/>
          <p:nvPr/>
        </p:nvSpPr>
        <p:spPr bwMode="auto">
          <a:xfrm>
            <a:off x="6240016" y="5671370"/>
            <a:ext cx="432049" cy="501897"/>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0" name="Rectangle 19"/>
          <p:cNvSpPr/>
          <p:nvPr/>
        </p:nvSpPr>
        <p:spPr bwMode="auto">
          <a:xfrm>
            <a:off x="6672064" y="5671369"/>
            <a:ext cx="576064" cy="50405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1" name="Rectangle 20"/>
          <p:cNvSpPr/>
          <p:nvPr/>
        </p:nvSpPr>
        <p:spPr bwMode="auto">
          <a:xfrm>
            <a:off x="7248128" y="5669210"/>
            <a:ext cx="936104" cy="50405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22" name="Rounded Rectangular Callout 21"/>
          <p:cNvSpPr/>
          <p:nvPr/>
        </p:nvSpPr>
        <p:spPr>
          <a:xfrm>
            <a:off x="5953200" y="4109353"/>
            <a:ext cx="1711868" cy="567126"/>
          </a:xfrm>
          <a:prstGeom prst="wedgeRoundRectCallout">
            <a:avLst>
              <a:gd name="adj1" fmla="val -83380"/>
              <a:gd name="adj2" fmla="val -13912"/>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The heap</a:t>
            </a:r>
          </a:p>
        </p:txBody>
      </p:sp>
      <p:sp>
        <p:nvSpPr>
          <p:cNvPr id="23" name="Rounded Rectangular Callout 22"/>
          <p:cNvSpPr/>
          <p:nvPr/>
        </p:nvSpPr>
        <p:spPr>
          <a:xfrm>
            <a:off x="6690395" y="4935124"/>
            <a:ext cx="2447056" cy="567126"/>
          </a:xfrm>
          <a:prstGeom prst="wedgeRoundRectCallout">
            <a:avLst>
              <a:gd name="adj1" fmla="val -58468"/>
              <a:gd name="adj2" fmla="val 93577"/>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Gap after freed block</a:t>
            </a:r>
          </a:p>
        </p:txBody>
      </p:sp>
    </p:spTree>
    <p:extLst>
      <p:ext uri="{BB962C8B-B14F-4D97-AF65-F5344CB8AC3E}">
        <p14:creationId xmlns:p14="http://schemas.microsoft.com/office/powerpoint/2010/main" val="369932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Dynamic memory allocation</a:t>
            </a:r>
          </a:p>
        </p:txBody>
      </p:sp>
      <p:sp>
        <p:nvSpPr>
          <p:cNvPr id="3" name="Content Placeholder 2"/>
          <p:cNvSpPr>
            <a:spLocks noGrp="1"/>
          </p:cNvSpPr>
          <p:nvPr>
            <p:ph idx="1"/>
          </p:nvPr>
        </p:nvSpPr>
        <p:spPr/>
        <p:txBody>
          <a:bodyPr/>
          <a:lstStyle/>
          <a:p>
            <a:r>
              <a:rPr lang="en-US"/>
              <a:t>Contiguous allocation of variable size</a:t>
            </a:r>
          </a:p>
          <a:p>
            <a:r>
              <a:rPr lang="en-US"/>
              <a:t>Free blocks evidence</a:t>
            </a:r>
          </a:p>
          <a:p>
            <a:pPr lvl="1"/>
            <a:r>
              <a:rPr lang="en-US"/>
              <a:t>Linked list</a:t>
            </a:r>
          </a:p>
          <a:p>
            <a:pPr lvl="1"/>
            <a:r>
              <a:rPr lang="en-US"/>
              <a:t>Bitmap</a:t>
            </a:r>
          </a:p>
          <a:p>
            <a:pPr lvl="2"/>
            <a:r>
              <a:rPr lang="en-US"/>
              <a:t>Each bit represents a block of a fixed size</a:t>
            </a:r>
          </a:p>
        </p:txBody>
      </p:sp>
      <p:sp>
        <p:nvSpPr>
          <p:cNvPr id="12" name="Date Placeholder 11"/>
          <p:cNvSpPr>
            <a:spLocks noGrp="1"/>
          </p:cNvSpPr>
          <p:nvPr>
            <p:ph type="dt" sz="half" idx="10"/>
          </p:nvPr>
        </p:nvSpPr>
        <p:spPr/>
        <p:txBody>
          <a:bodyPr/>
          <a:lstStyle/>
          <a:p>
            <a:r>
              <a:rPr lang="cs-CZ" altLang="en-US"/>
              <a:t>19.3.2025</a:t>
            </a:r>
            <a:endParaRPr lang="en-US" altLang="en-US"/>
          </a:p>
        </p:txBody>
      </p:sp>
      <p:sp>
        <p:nvSpPr>
          <p:cNvPr id="13" name="Slide Number Placeholder 12"/>
          <p:cNvSpPr>
            <a:spLocks noGrp="1"/>
          </p:cNvSpPr>
          <p:nvPr>
            <p:ph type="sldNum" sz="quarter" idx="12"/>
          </p:nvPr>
        </p:nvSpPr>
        <p:spPr/>
        <p:txBody>
          <a:bodyPr/>
          <a:lstStyle/>
          <a:p>
            <a:fld id="{F4A1145F-674A-4228-8958-0EA9769F5517}" type="slidenum">
              <a:rPr lang="en-US" altLang="en-US" smtClean="0"/>
              <a:pPr/>
              <a:t>15</a:t>
            </a:fld>
            <a:endParaRPr lang="en-US" altLang="en-US"/>
          </a:p>
        </p:txBody>
      </p:sp>
      <p:sp>
        <p:nvSpPr>
          <p:cNvPr id="4" name="Rectangle 3"/>
          <p:cNvSpPr/>
          <p:nvPr/>
        </p:nvSpPr>
        <p:spPr bwMode="auto">
          <a:xfrm>
            <a:off x="2396398" y="4293096"/>
            <a:ext cx="1064872" cy="50189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5" name="Rectangle 4"/>
          <p:cNvSpPr/>
          <p:nvPr/>
        </p:nvSpPr>
        <p:spPr bwMode="auto">
          <a:xfrm>
            <a:off x="3461270" y="4293096"/>
            <a:ext cx="425646" cy="50189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6" name="Rectangle 5"/>
          <p:cNvSpPr/>
          <p:nvPr/>
        </p:nvSpPr>
        <p:spPr bwMode="auto">
          <a:xfrm>
            <a:off x="3886916" y="4293097"/>
            <a:ext cx="639226" cy="501897"/>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7" name="Rectangle 6"/>
          <p:cNvSpPr/>
          <p:nvPr/>
        </p:nvSpPr>
        <p:spPr bwMode="auto">
          <a:xfrm>
            <a:off x="5375920" y="4293096"/>
            <a:ext cx="1698554" cy="50189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8" name="Rectangle 7"/>
          <p:cNvSpPr/>
          <p:nvPr/>
        </p:nvSpPr>
        <p:spPr bwMode="auto">
          <a:xfrm>
            <a:off x="4526142" y="4293097"/>
            <a:ext cx="849778" cy="501895"/>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9" name="Rectangle 8"/>
          <p:cNvSpPr/>
          <p:nvPr/>
        </p:nvSpPr>
        <p:spPr bwMode="auto">
          <a:xfrm>
            <a:off x="7074474" y="4293097"/>
            <a:ext cx="425134" cy="501897"/>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0" name="Rectangle 9"/>
          <p:cNvSpPr/>
          <p:nvPr/>
        </p:nvSpPr>
        <p:spPr bwMode="auto">
          <a:xfrm>
            <a:off x="7499608" y="4293096"/>
            <a:ext cx="639226" cy="50189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11" name="Rectangle 10"/>
          <p:cNvSpPr/>
          <p:nvPr/>
        </p:nvSpPr>
        <p:spPr bwMode="auto">
          <a:xfrm>
            <a:off x="8138834" y="4290937"/>
            <a:ext cx="851292" cy="50405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cxnSp>
        <p:nvCxnSpPr>
          <p:cNvPr id="36" name="Curved Connector 35"/>
          <p:cNvCxnSpPr>
            <a:stCxn id="4" idx="2"/>
            <a:endCxn id="6" idx="2"/>
          </p:cNvCxnSpPr>
          <p:nvPr/>
        </p:nvCxnSpPr>
        <p:spPr bwMode="auto">
          <a:xfrm rot="16200000" flipH="1">
            <a:off x="3567682" y="4156145"/>
            <a:ext cx="1" cy="1277695"/>
          </a:xfrm>
          <a:prstGeom prst="curvedConnector3">
            <a:avLst>
              <a:gd name="adj1" fmla="val 22860100000"/>
            </a:avLst>
          </a:prstGeom>
          <a:solidFill>
            <a:schemeClr val="accent1"/>
          </a:solidFill>
          <a:ln w="9525" cap="flat" cmpd="sng" algn="ctr">
            <a:solidFill>
              <a:schemeClr val="tx1"/>
            </a:solidFill>
            <a:prstDash val="solid"/>
            <a:round/>
            <a:headEnd type="none" w="med" len="med"/>
            <a:tailEnd type="triangle"/>
          </a:ln>
          <a:effectLst/>
        </p:spPr>
      </p:cxnSp>
      <p:cxnSp>
        <p:nvCxnSpPr>
          <p:cNvPr id="38" name="Curved Connector 37"/>
          <p:cNvCxnSpPr>
            <a:stCxn id="6" idx="2"/>
            <a:endCxn id="9" idx="2"/>
          </p:cNvCxnSpPr>
          <p:nvPr/>
        </p:nvCxnSpPr>
        <p:spPr bwMode="auto">
          <a:xfrm rot="16200000" flipH="1">
            <a:off x="5746785" y="3254737"/>
            <a:ext cx="12700" cy="3080512"/>
          </a:xfrm>
          <a:prstGeom prst="curvedConnector3">
            <a:avLst>
              <a:gd name="adj1" fmla="val 1800000"/>
            </a:avLst>
          </a:prstGeom>
          <a:solidFill>
            <a:schemeClr val="accent1"/>
          </a:solidFill>
          <a:ln w="9525" cap="flat" cmpd="sng" algn="ctr">
            <a:solidFill>
              <a:schemeClr val="tx1"/>
            </a:solidFill>
            <a:prstDash val="solid"/>
            <a:round/>
            <a:headEnd type="none" w="med" len="med"/>
            <a:tailEnd type="triangle"/>
          </a:ln>
          <a:effectLst/>
        </p:spPr>
      </p:cxnSp>
      <p:cxnSp>
        <p:nvCxnSpPr>
          <p:cNvPr id="40" name="Curved Connector 39"/>
          <p:cNvCxnSpPr>
            <a:stCxn id="9" idx="2"/>
            <a:endCxn id="11" idx="2"/>
          </p:cNvCxnSpPr>
          <p:nvPr/>
        </p:nvCxnSpPr>
        <p:spPr bwMode="auto">
          <a:xfrm rot="16200000" flipH="1">
            <a:off x="7925760" y="4156274"/>
            <a:ext cx="12700" cy="1277439"/>
          </a:xfrm>
          <a:prstGeom prst="curvedConnector3">
            <a:avLst>
              <a:gd name="adj1" fmla="val 1800000"/>
            </a:avLst>
          </a:prstGeom>
          <a:solidFill>
            <a:schemeClr val="accent1"/>
          </a:solidFill>
          <a:ln w="9525" cap="flat" cmpd="sng" algn="ctr">
            <a:solidFill>
              <a:schemeClr val="tx1"/>
            </a:solidFill>
            <a:prstDash val="solid"/>
            <a:round/>
            <a:headEnd type="none" w="med" len="med"/>
            <a:tailEnd type="triangle"/>
          </a:ln>
          <a:effectLst/>
        </p:spPr>
      </p:cxnSp>
      <p:cxnSp>
        <p:nvCxnSpPr>
          <p:cNvPr id="44" name="Curved Connector 43"/>
          <p:cNvCxnSpPr>
            <a:endCxn id="4" idx="2"/>
          </p:cNvCxnSpPr>
          <p:nvPr/>
        </p:nvCxnSpPr>
        <p:spPr bwMode="auto">
          <a:xfrm flipV="1">
            <a:off x="2033914" y="4794992"/>
            <a:ext cx="894920" cy="218184"/>
          </a:xfrm>
          <a:prstGeom prst="curvedConnector2">
            <a:avLst/>
          </a:prstGeom>
          <a:solidFill>
            <a:schemeClr val="accent1"/>
          </a:solidFill>
          <a:ln w="9525" cap="flat" cmpd="sng" algn="ctr">
            <a:solidFill>
              <a:schemeClr val="tx1"/>
            </a:solidFill>
            <a:prstDash val="solid"/>
            <a:round/>
            <a:headEnd type="none" w="med" len="med"/>
            <a:tailEnd type="triangle"/>
          </a:ln>
          <a:effectLst/>
        </p:spPr>
      </p:cxnSp>
      <p:sp>
        <p:nvSpPr>
          <p:cNvPr id="45" name="Rectangle 44"/>
          <p:cNvSpPr/>
          <p:nvPr/>
        </p:nvSpPr>
        <p:spPr bwMode="auto">
          <a:xfrm>
            <a:off x="2396398" y="5517232"/>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46" name="Rectangle 45"/>
          <p:cNvSpPr/>
          <p:nvPr/>
        </p:nvSpPr>
        <p:spPr bwMode="auto">
          <a:xfrm>
            <a:off x="2609978" y="5517232"/>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47" name="Rectangle 46"/>
          <p:cNvSpPr/>
          <p:nvPr/>
        </p:nvSpPr>
        <p:spPr bwMode="auto">
          <a:xfrm>
            <a:off x="2823558" y="5517232"/>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48" name="Rectangle 47"/>
          <p:cNvSpPr/>
          <p:nvPr/>
        </p:nvSpPr>
        <p:spPr bwMode="auto">
          <a:xfrm>
            <a:off x="3035624" y="5517231"/>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49" name="Rectangle 48"/>
          <p:cNvSpPr/>
          <p:nvPr/>
        </p:nvSpPr>
        <p:spPr bwMode="auto">
          <a:xfrm>
            <a:off x="3249204" y="5517230"/>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50" name="Rectangle 49"/>
          <p:cNvSpPr/>
          <p:nvPr/>
        </p:nvSpPr>
        <p:spPr bwMode="auto">
          <a:xfrm>
            <a:off x="3461270" y="5517230"/>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51" name="Rectangle 50"/>
          <p:cNvSpPr/>
          <p:nvPr/>
        </p:nvSpPr>
        <p:spPr bwMode="auto">
          <a:xfrm>
            <a:off x="3673336" y="5517230"/>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52" name="Rectangle 51"/>
          <p:cNvSpPr/>
          <p:nvPr/>
        </p:nvSpPr>
        <p:spPr bwMode="auto">
          <a:xfrm>
            <a:off x="3886916" y="5517230"/>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53" name="Rectangle 52"/>
          <p:cNvSpPr/>
          <p:nvPr/>
        </p:nvSpPr>
        <p:spPr bwMode="auto">
          <a:xfrm>
            <a:off x="4100496" y="5517230"/>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54" name="Rectangle 53"/>
          <p:cNvSpPr/>
          <p:nvPr/>
        </p:nvSpPr>
        <p:spPr bwMode="auto">
          <a:xfrm>
            <a:off x="4312562" y="5517229"/>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55" name="Rectangle 54"/>
          <p:cNvSpPr/>
          <p:nvPr/>
        </p:nvSpPr>
        <p:spPr bwMode="auto">
          <a:xfrm>
            <a:off x="4526142" y="5517228"/>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56" name="Rectangle 55"/>
          <p:cNvSpPr/>
          <p:nvPr/>
        </p:nvSpPr>
        <p:spPr bwMode="auto">
          <a:xfrm>
            <a:off x="4738208" y="5517228"/>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69" name="Rectangle 68"/>
          <p:cNvSpPr/>
          <p:nvPr/>
        </p:nvSpPr>
        <p:spPr bwMode="auto">
          <a:xfrm>
            <a:off x="4948760" y="5517228"/>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0" name="Rectangle 69"/>
          <p:cNvSpPr/>
          <p:nvPr/>
        </p:nvSpPr>
        <p:spPr bwMode="auto">
          <a:xfrm>
            <a:off x="5162340" y="5517228"/>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1" name="Rectangle 70"/>
          <p:cNvSpPr/>
          <p:nvPr/>
        </p:nvSpPr>
        <p:spPr bwMode="auto">
          <a:xfrm>
            <a:off x="5375920" y="5517228"/>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2" name="Rectangle 71"/>
          <p:cNvSpPr/>
          <p:nvPr/>
        </p:nvSpPr>
        <p:spPr bwMode="auto">
          <a:xfrm>
            <a:off x="5587986" y="5517227"/>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3" name="Rectangle 72"/>
          <p:cNvSpPr/>
          <p:nvPr/>
        </p:nvSpPr>
        <p:spPr bwMode="auto">
          <a:xfrm>
            <a:off x="5801566" y="5517226"/>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4" name="Rectangle 73"/>
          <p:cNvSpPr/>
          <p:nvPr/>
        </p:nvSpPr>
        <p:spPr bwMode="auto">
          <a:xfrm>
            <a:off x="6013632" y="5517226"/>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5" name="Rectangle 74"/>
          <p:cNvSpPr/>
          <p:nvPr/>
        </p:nvSpPr>
        <p:spPr bwMode="auto">
          <a:xfrm>
            <a:off x="6225698" y="5517226"/>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6" name="Rectangle 75"/>
          <p:cNvSpPr/>
          <p:nvPr/>
        </p:nvSpPr>
        <p:spPr bwMode="auto">
          <a:xfrm>
            <a:off x="6439278" y="5517226"/>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7" name="Rectangle 76"/>
          <p:cNvSpPr/>
          <p:nvPr/>
        </p:nvSpPr>
        <p:spPr bwMode="auto">
          <a:xfrm>
            <a:off x="6652858" y="5517226"/>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8" name="Rectangle 77"/>
          <p:cNvSpPr/>
          <p:nvPr/>
        </p:nvSpPr>
        <p:spPr bwMode="auto">
          <a:xfrm>
            <a:off x="6864924" y="5517225"/>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79" name="Rectangle 78"/>
          <p:cNvSpPr/>
          <p:nvPr/>
        </p:nvSpPr>
        <p:spPr bwMode="auto">
          <a:xfrm>
            <a:off x="7078504" y="5517224"/>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80" name="Rectangle 79"/>
          <p:cNvSpPr/>
          <p:nvPr/>
        </p:nvSpPr>
        <p:spPr bwMode="auto">
          <a:xfrm>
            <a:off x="7290570" y="5517224"/>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81" name="Rectangle 80"/>
          <p:cNvSpPr/>
          <p:nvPr/>
        </p:nvSpPr>
        <p:spPr bwMode="auto">
          <a:xfrm>
            <a:off x="7499608" y="5517227"/>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82" name="Rectangle 81"/>
          <p:cNvSpPr/>
          <p:nvPr/>
        </p:nvSpPr>
        <p:spPr bwMode="auto">
          <a:xfrm>
            <a:off x="7713188" y="5517227"/>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83" name="Rectangle 82"/>
          <p:cNvSpPr/>
          <p:nvPr/>
        </p:nvSpPr>
        <p:spPr bwMode="auto">
          <a:xfrm>
            <a:off x="7926768" y="5517227"/>
            <a:ext cx="213580"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1</a:t>
            </a:r>
          </a:p>
        </p:txBody>
      </p:sp>
      <p:sp>
        <p:nvSpPr>
          <p:cNvPr id="84" name="Rectangle 83"/>
          <p:cNvSpPr/>
          <p:nvPr/>
        </p:nvSpPr>
        <p:spPr bwMode="auto">
          <a:xfrm>
            <a:off x="8138834" y="5517226"/>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85" name="Rectangle 84"/>
          <p:cNvSpPr/>
          <p:nvPr/>
        </p:nvSpPr>
        <p:spPr bwMode="auto">
          <a:xfrm>
            <a:off x="8352414" y="5517225"/>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86" name="Rectangle 85"/>
          <p:cNvSpPr/>
          <p:nvPr/>
        </p:nvSpPr>
        <p:spPr bwMode="auto">
          <a:xfrm>
            <a:off x="8564480" y="5517225"/>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
        <p:nvSpPr>
          <p:cNvPr id="87" name="Rectangle 86"/>
          <p:cNvSpPr/>
          <p:nvPr/>
        </p:nvSpPr>
        <p:spPr bwMode="auto">
          <a:xfrm>
            <a:off x="8776546" y="5517225"/>
            <a:ext cx="213580" cy="36004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a:r>
              <a:rPr lang="en-US"/>
              <a:t>0</a:t>
            </a:r>
          </a:p>
        </p:txBody>
      </p:sp>
    </p:spTree>
    <p:extLst>
      <p:ext uri="{BB962C8B-B14F-4D97-AF65-F5344CB8AC3E}">
        <p14:creationId xmlns:p14="http://schemas.microsoft.com/office/powerpoint/2010/main" val="2781971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Allocation algorithms</a:t>
            </a:r>
          </a:p>
        </p:txBody>
      </p:sp>
      <p:sp>
        <p:nvSpPr>
          <p:cNvPr id="3" name="Content Placeholder 2"/>
          <p:cNvSpPr>
            <a:spLocks noGrp="1"/>
          </p:cNvSpPr>
          <p:nvPr>
            <p:ph sz="half" idx="1"/>
          </p:nvPr>
        </p:nvSpPr>
        <p:spPr/>
        <p:txBody>
          <a:bodyPr>
            <a:noAutofit/>
          </a:bodyPr>
          <a:lstStyle/>
          <a:p>
            <a:r>
              <a:rPr lang="en-US"/>
              <a:t>First fit</a:t>
            </a:r>
          </a:p>
          <a:p>
            <a:pPr lvl="1"/>
            <a:r>
              <a:rPr lang="en-US"/>
              <a:t>Start from the beginning, find the first free space big enough to accommodate the required block</a:t>
            </a:r>
          </a:p>
          <a:p>
            <a:pPr lvl="1"/>
            <a:r>
              <a:rPr lang="en-US"/>
              <a:t>Pros: fast, simple</a:t>
            </a:r>
            <a:br>
              <a:rPr lang="en-US"/>
            </a:br>
            <a:r>
              <a:rPr lang="en-US"/>
              <a:t>Cons: can divide larger blocks</a:t>
            </a:r>
          </a:p>
          <a:p>
            <a:r>
              <a:rPr lang="en-US"/>
              <a:t>Next fit</a:t>
            </a:r>
          </a:p>
          <a:p>
            <a:pPr lvl="1"/>
            <a:r>
              <a:rPr lang="en-US"/>
              <a:t>Like the first fit, but starts from the last position</a:t>
            </a:r>
          </a:p>
          <a:p>
            <a:pPr lvl="1"/>
            <a:r>
              <a:rPr lang="en-US"/>
              <a:t>Pros: fast, doesn’t make </a:t>
            </a:r>
            <a:r>
              <a:rPr lang="en-US" err="1"/>
              <a:t>fragmen-tation</a:t>
            </a:r>
            <a:r>
              <a:rPr lang="en-US"/>
              <a:t> on the start of the heap</a:t>
            </a:r>
          </a:p>
        </p:txBody>
      </p:sp>
      <p:sp>
        <p:nvSpPr>
          <p:cNvPr id="6" name="Content Placeholder 5"/>
          <p:cNvSpPr>
            <a:spLocks noGrp="1"/>
          </p:cNvSpPr>
          <p:nvPr>
            <p:ph sz="half" idx="2"/>
          </p:nvPr>
        </p:nvSpPr>
        <p:spPr/>
        <p:txBody>
          <a:bodyPr/>
          <a:lstStyle/>
          <a:p>
            <a:r>
              <a:rPr lang="en-US"/>
              <a:t>Best fit</a:t>
            </a:r>
          </a:p>
          <a:p>
            <a:pPr lvl="1"/>
            <a:r>
              <a:rPr lang="en-US"/>
              <a:t>Start from the beginning, find the smallest space big enough</a:t>
            </a:r>
          </a:p>
          <a:p>
            <a:pPr lvl="1"/>
            <a:r>
              <a:rPr lang="en-US"/>
              <a:t>Pros: keeps large blocks</a:t>
            </a:r>
            <a:br>
              <a:rPr lang="en-US"/>
            </a:br>
            <a:r>
              <a:rPr lang="en-US"/>
              <a:t>Cons: slower, creates many tiny blocks</a:t>
            </a:r>
          </a:p>
          <a:p>
            <a:r>
              <a:rPr lang="en-US"/>
              <a:t>Worst fit</a:t>
            </a:r>
          </a:p>
          <a:p>
            <a:pPr lvl="1"/>
            <a:r>
              <a:rPr lang="en-US"/>
              <a:t>Start from the beginning, find the largest space</a:t>
            </a:r>
          </a:p>
          <a:p>
            <a:pPr lvl="1"/>
            <a:r>
              <a:rPr lang="en-US"/>
              <a:t>Cons: divides large blocks</a:t>
            </a:r>
          </a:p>
          <a:p>
            <a:pPr marL="0" indent="0">
              <a:buNone/>
            </a:pPr>
            <a:endParaRPr lang="en-US"/>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16</a:t>
            </a:fld>
            <a:endParaRPr lang="en-US" altLang="en-US"/>
          </a:p>
        </p:txBody>
      </p:sp>
    </p:spTree>
    <p:extLst>
      <p:ext uri="{BB962C8B-B14F-4D97-AF65-F5344CB8AC3E}">
        <p14:creationId xmlns:p14="http://schemas.microsoft.com/office/powerpoint/2010/main" val="273738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9A5743F-D835-D878-03FA-B1C424CFC740}"/>
              </a:ext>
            </a:extLst>
          </p:cNvPr>
          <p:cNvSpPr>
            <a:spLocks noGrp="1"/>
          </p:cNvSpPr>
          <p:nvPr>
            <p:ph type="title"/>
          </p:nvPr>
        </p:nvSpPr>
        <p:spPr/>
        <p:txBody>
          <a:bodyPr/>
          <a:lstStyle/>
          <a:p>
            <a:r>
              <a:rPr lang="en-US" dirty="0"/>
              <a:t>Allocation algorithms</a:t>
            </a:r>
            <a:endParaRPr lang="cs-CZ" dirty="0"/>
          </a:p>
        </p:txBody>
      </p:sp>
      <p:pic>
        <p:nvPicPr>
          <p:cNvPr id="10" name="Content Placeholder 9" descr="A collage of cats in boxes&#10;&#10;AI-generated content may be incorrect.">
            <a:extLst>
              <a:ext uri="{FF2B5EF4-FFF2-40B4-BE49-F238E27FC236}">
                <a16:creationId xmlns:a16="http://schemas.microsoft.com/office/drawing/2014/main" id="{CB3CF313-9005-BF1F-F2B0-346AF0B9F2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3050"/>
            <a:ext cx="4618595" cy="5178425"/>
          </a:xfrm>
        </p:spPr>
      </p:pic>
      <p:sp>
        <p:nvSpPr>
          <p:cNvPr id="5" name="Date Placeholder 4">
            <a:extLst>
              <a:ext uri="{FF2B5EF4-FFF2-40B4-BE49-F238E27FC236}">
                <a16:creationId xmlns:a16="http://schemas.microsoft.com/office/drawing/2014/main" id="{08D5EA89-B8F2-A080-D078-ECE2F6D214AA}"/>
              </a:ext>
            </a:extLst>
          </p:cNvPr>
          <p:cNvSpPr>
            <a:spLocks noGrp="1"/>
          </p:cNvSpPr>
          <p:nvPr>
            <p:ph type="dt" sz="half" idx="10"/>
          </p:nvPr>
        </p:nvSpPr>
        <p:spPr/>
        <p:txBody>
          <a:bodyPr/>
          <a:lstStyle/>
          <a:p>
            <a:r>
              <a:rPr lang="cs-CZ" altLang="en-US"/>
              <a:t>19.3.2025</a:t>
            </a:r>
            <a:endParaRPr lang="en-US" altLang="en-US"/>
          </a:p>
        </p:txBody>
      </p:sp>
      <p:sp>
        <p:nvSpPr>
          <p:cNvPr id="6" name="Slide Number Placeholder 5">
            <a:extLst>
              <a:ext uri="{FF2B5EF4-FFF2-40B4-BE49-F238E27FC236}">
                <a16:creationId xmlns:a16="http://schemas.microsoft.com/office/drawing/2014/main" id="{434D2664-13E5-39EE-FEE2-A8C6F96E1033}"/>
              </a:ext>
            </a:extLst>
          </p:cNvPr>
          <p:cNvSpPr>
            <a:spLocks noGrp="1"/>
          </p:cNvSpPr>
          <p:nvPr>
            <p:ph type="sldNum" sz="quarter" idx="12"/>
          </p:nvPr>
        </p:nvSpPr>
        <p:spPr/>
        <p:txBody>
          <a:bodyPr/>
          <a:lstStyle/>
          <a:p>
            <a:fld id="{169EAE92-5121-41FC-8DEC-DA73929E0C34}" type="slidenum">
              <a:rPr lang="en-US" altLang="en-US" smtClean="0"/>
              <a:pPr/>
              <a:t>17</a:t>
            </a:fld>
            <a:endParaRPr lang="en-US" altLang="en-US"/>
          </a:p>
        </p:txBody>
      </p:sp>
      <p:pic>
        <p:nvPicPr>
          <p:cNvPr id="12" name="Picture 11" descr="A person looking at a white container with a red and black object">
            <a:extLst>
              <a:ext uri="{FF2B5EF4-FFF2-40B4-BE49-F238E27FC236}">
                <a16:creationId xmlns:a16="http://schemas.microsoft.com/office/drawing/2014/main" id="{4CAC67C5-17D6-F130-66A1-862FD9EB7159}"/>
              </a:ext>
            </a:extLst>
          </p:cNvPr>
          <p:cNvPicPr>
            <a:picLocks/>
          </p:cNvPicPr>
          <p:nvPr/>
        </p:nvPicPr>
        <p:blipFill>
          <a:blip r:embed="rId3">
            <a:extLst>
              <a:ext uri="{28A0092B-C50C-407E-A947-70E740481C1C}">
                <a14:useLocalDpi xmlns:a14="http://schemas.microsoft.com/office/drawing/2010/main" val="0"/>
              </a:ext>
            </a:extLst>
          </a:blip>
          <a:srcRect l="18769" r="18871"/>
          <a:stretch/>
        </p:blipFill>
        <p:spPr>
          <a:xfrm>
            <a:off x="5800725" y="2015331"/>
            <a:ext cx="5910727" cy="4381500"/>
          </a:xfrm>
          <a:prstGeom prst="rect">
            <a:avLst/>
          </a:prstGeom>
        </p:spPr>
      </p:pic>
    </p:spTree>
    <p:extLst>
      <p:ext uri="{BB962C8B-B14F-4D97-AF65-F5344CB8AC3E}">
        <p14:creationId xmlns:p14="http://schemas.microsoft.com/office/powerpoint/2010/main" val="418090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Allocation algorithms example</a:t>
            </a:r>
          </a:p>
        </p:txBody>
      </p:sp>
      <p:sp>
        <p:nvSpPr>
          <p:cNvPr id="3" name="Content Placeholder 2"/>
          <p:cNvSpPr>
            <a:spLocks noGrp="1"/>
          </p:cNvSpPr>
          <p:nvPr>
            <p:ph sz="half" idx="1"/>
          </p:nvPr>
        </p:nvSpPr>
        <p:spPr>
          <a:xfrm>
            <a:off x="838200" y="1825625"/>
            <a:ext cx="5181600" cy="3029310"/>
          </a:xfrm>
        </p:spPr>
        <p:txBody>
          <a:bodyPr>
            <a:normAutofit/>
          </a:bodyPr>
          <a:lstStyle/>
          <a:p>
            <a:r>
              <a:rPr lang="en-US"/>
              <a:t>Allocate (per 64B blocks)</a:t>
            </a:r>
          </a:p>
          <a:p>
            <a:pPr marL="457200" lvl="1" indent="0">
              <a:buNone/>
            </a:pPr>
            <a:r>
              <a:rPr lang="en-US"/>
              <a:t>A ~ 42 B</a:t>
            </a:r>
            <a:br>
              <a:rPr lang="en-US"/>
            </a:br>
            <a:r>
              <a:rPr lang="en-US" err="1"/>
              <a:t>B</a:t>
            </a:r>
            <a:r>
              <a:rPr lang="en-US"/>
              <a:t> ~ 2 KiB</a:t>
            </a:r>
            <a:br>
              <a:rPr lang="en-US"/>
            </a:br>
            <a:r>
              <a:rPr lang="en-US"/>
              <a:t>C ~ 100 B</a:t>
            </a:r>
            <a:br>
              <a:rPr lang="en-US"/>
            </a:br>
            <a:r>
              <a:rPr lang="en-US"/>
              <a:t>D ~ 400 B</a:t>
            </a:r>
            <a:br>
              <a:rPr lang="en-US"/>
            </a:br>
            <a:r>
              <a:rPr lang="en-US"/>
              <a:t>E ~ 4 B</a:t>
            </a:r>
          </a:p>
          <a:p>
            <a:r>
              <a:rPr lang="en-US"/>
              <a:t>Deallocate B and D</a:t>
            </a:r>
          </a:p>
        </p:txBody>
      </p:sp>
      <p:sp>
        <p:nvSpPr>
          <p:cNvPr id="4" name="Content Placeholder 3"/>
          <p:cNvSpPr>
            <a:spLocks noGrp="1"/>
          </p:cNvSpPr>
          <p:nvPr>
            <p:ph sz="half" idx="2"/>
          </p:nvPr>
        </p:nvSpPr>
        <p:spPr>
          <a:xfrm>
            <a:off x="6172200" y="1825625"/>
            <a:ext cx="5181600" cy="2323455"/>
          </a:xfrm>
        </p:spPr>
        <p:txBody>
          <a:bodyPr>
            <a:normAutofit/>
          </a:bodyPr>
          <a:lstStyle/>
          <a:p>
            <a:r>
              <a:rPr lang="en-US"/>
              <a:t>Allocate F ~ 314 B</a:t>
            </a:r>
          </a:p>
          <a:p>
            <a:r>
              <a:rPr lang="en-US"/>
              <a:t>What will happen in</a:t>
            </a:r>
          </a:p>
          <a:p>
            <a:pPr lvl="1"/>
            <a:r>
              <a:rPr lang="en-US"/>
              <a:t>First fit</a:t>
            </a:r>
          </a:p>
          <a:p>
            <a:pPr lvl="1"/>
            <a:r>
              <a:rPr lang="en-US"/>
              <a:t>Best fit</a:t>
            </a:r>
          </a:p>
          <a:p>
            <a:pPr lvl="1"/>
            <a:r>
              <a:rPr lang="en-US"/>
              <a:t>Next fit</a:t>
            </a:r>
          </a:p>
        </p:txBody>
      </p:sp>
      <p:sp>
        <p:nvSpPr>
          <p:cNvPr id="5" name="Date Placeholder 4"/>
          <p:cNvSpPr>
            <a:spLocks noGrp="1"/>
          </p:cNvSpPr>
          <p:nvPr>
            <p:ph type="dt" sz="half" idx="10"/>
          </p:nvPr>
        </p:nvSpPr>
        <p:spPr/>
        <p:txBody>
          <a:bodyPr/>
          <a:lstStyle/>
          <a:p>
            <a:r>
              <a:rPr lang="cs-CZ" altLang="en-US"/>
              <a:t>19.3.2025</a:t>
            </a:r>
            <a:endParaRPr lang="en-US" altLang="en-US"/>
          </a:p>
        </p:txBody>
      </p:sp>
      <p:sp>
        <p:nvSpPr>
          <p:cNvPr id="6" name="Slide Number Placeholder 5"/>
          <p:cNvSpPr>
            <a:spLocks noGrp="1"/>
          </p:cNvSpPr>
          <p:nvPr>
            <p:ph type="sldNum" sz="quarter" idx="12"/>
          </p:nvPr>
        </p:nvSpPr>
        <p:spPr/>
        <p:txBody>
          <a:bodyPr/>
          <a:lstStyle/>
          <a:p>
            <a:fld id="{169EAE92-5121-41FC-8DEC-DA73929E0C34}" type="slidenum">
              <a:rPr lang="en-US" altLang="en-US" smtClean="0"/>
              <a:pPr/>
              <a:t>18</a:t>
            </a:fld>
            <a:endParaRPr lang="en-US" altLang="en-US"/>
          </a:p>
        </p:txBody>
      </p:sp>
      <p:sp>
        <p:nvSpPr>
          <p:cNvPr id="7" name="Rectangle 6"/>
          <p:cNvSpPr/>
          <p:nvPr/>
        </p:nvSpPr>
        <p:spPr bwMode="auto">
          <a:xfrm>
            <a:off x="1058975" y="5400000"/>
            <a:ext cx="10226449" cy="540000"/>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p>
        </p:txBody>
      </p:sp>
      <p:sp>
        <p:nvSpPr>
          <p:cNvPr id="8" name="Rectangle 7"/>
          <p:cNvSpPr/>
          <p:nvPr/>
        </p:nvSpPr>
        <p:spPr bwMode="auto">
          <a:xfrm>
            <a:off x="1058975" y="5400000"/>
            <a:ext cx="18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A</a:t>
            </a:r>
          </a:p>
        </p:txBody>
      </p:sp>
      <p:sp>
        <p:nvSpPr>
          <p:cNvPr id="9" name="Rectangle 8"/>
          <p:cNvSpPr/>
          <p:nvPr/>
        </p:nvSpPr>
        <p:spPr bwMode="auto">
          <a:xfrm>
            <a:off x="1238975" y="5400000"/>
            <a:ext cx="576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B</a:t>
            </a:r>
          </a:p>
        </p:txBody>
      </p:sp>
      <p:sp>
        <p:nvSpPr>
          <p:cNvPr id="10" name="Rectangle 9"/>
          <p:cNvSpPr/>
          <p:nvPr/>
        </p:nvSpPr>
        <p:spPr bwMode="auto">
          <a:xfrm>
            <a:off x="6998975" y="5400000"/>
            <a:ext cx="36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C</a:t>
            </a:r>
          </a:p>
        </p:txBody>
      </p:sp>
      <p:sp>
        <p:nvSpPr>
          <p:cNvPr id="11" name="Rectangle 10"/>
          <p:cNvSpPr/>
          <p:nvPr/>
        </p:nvSpPr>
        <p:spPr bwMode="auto">
          <a:xfrm>
            <a:off x="7356267" y="5400000"/>
            <a:ext cx="126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D</a:t>
            </a:r>
          </a:p>
        </p:txBody>
      </p:sp>
      <p:sp>
        <p:nvSpPr>
          <p:cNvPr id="12" name="Rectangle 11"/>
          <p:cNvSpPr/>
          <p:nvPr/>
        </p:nvSpPr>
        <p:spPr bwMode="auto">
          <a:xfrm>
            <a:off x="8610600" y="5400000"/>
            <a:ext cx="18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E</a:t>
            </a:r>
          </a:p>
        </p:txBody>
      </p:sp>
      <p:sp>
        <p:nvSpPr>
          <p:cNvPr id="13" name="Rectangle 12"/>
          <p:cNvSpPr/>
          <p:nvPr/>
        </p:nvSpPr>
        <p:spPr bwMode="auto">
          <a:xfrm>
            <a:off x="8790600" y="5400000"/>
            <a:ext cx="90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F</a:t>
            </a:r>
          </a:p>
        </p:txBody>
      </p:sp>
      <p:sp>
        <p:nvSpPr>
          <p:cNvPr id="14" name="TextBox 13"/>
          <p:cNvSpPr txBox="1"/>
          <p:nvPr/>
        </p:nvSpPr>
        <p:spPr>
          <a:xfrm>
            <a:off x="1148975" y="5068766"/>
            <a:ext cx="590226" cy="276999"/>
          </a:xfrm>
          <a:prstGeom prst="rect">
            <a:avLst/>
          </a:prstGeom>
          <a:noFill/>
        </p:spPr>
        <p:txBody>
          <a:bodyPr wrap="none" rtlCol="0">
            <a:spAutoFit/>
          </a:bodyPr>
          <a:lstStyle/>
          <a:p>
            <a:r>
              <a:rPr lang="en-US" sz="1200"/>
              <a:t>+64 B</a:t>
            </a:r>
          </a:p>
        </p:txBody>
      </p:sp>
      <p:sp>
        <p:nvSpPr>
          <p:cNvPr id="15" name="TextBox 14"/>
          <p:cNvSpPr txBox="1"/>
          <p:nvPr/>
        </p:nvSpPr>
        <p:spPr>
          <a:xfrm>
            <a:off x="7226123" y="5068765"/>
            <a:ext cx="760144" cy="276999"/>
          </a:xfrm>
          <a:prstGeom prst="rect">
            <a:avLst/>
          </a:prstGeom>
          <a:noFill/>
        </p:spPr>
        <p:txBody>
          <a:bodyPr wrap="none" rtlCol="0">
            <a:spAutoFit/>
          </a:bodyPr>
          <a:lstStyle/>
          <a:p>
            <a:r>
              <a:rPr lang="en-US" sz="1200"/>
              <a:t>+2240 B</a:t>
            </a:r>
          </a:p>
        </p:txBody>
      </p:sp>
      <p:sp>
        <p:nvSpPr>
          <p:cNvPr id="16" name="TextBox 15"/>
          <p:cNvSpPr txBox="1"/>
          <p:nvPr/>
        </p:nvSpPr>
        <p:spPr>
          <a:xfrm>
            <a:off x="8700600" y="5068767"/>
            <a:ext cx="760144" cy="276999"/>
          </a:xfrm>
          <a:prstGeom prst="rect">
            <a:avLst/>
          </a:prstGeom>
          <a:noFill/>
        </p:spPr>
        <p:txBody>
          <a:bodyPr wrap="none" rtlCol="0">
            <a:spAutoFit/>
          </a:bodyPr>
          <a:lstStyle/>
          <a:p>
            <a:r>
              <a:rPr lang="en-US" sz="1200"/>
              <a:t>+2752 B</a:t>
            </a:r>
          </a:p>
        </p:txBody>
      </p:sp>
      <p:sp>
        <p:nvSpPr>
          <p:cNvPr id="17" name="Rectangle 16"/>
          <p:cNvSpPr/>
          <p:nvPr/>
        </p:nvSpPr>
        <p:spPr bwMode="auto">
          <a:xfrm>
            <a:off x="1238975" y="5400000"/>
            <a:ext cx="90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F</a:t>
            </a:r>
          </a:p>
        </p:txBody>
      </p:sp>
      <p:sp>
        <p:nvSpPr>
          <p:cNvPr id="19" name="Rectangle 18"/>
          <p:cNvSpPr/>
          <p:nvPr/>
        </p:nvSpPr>
        <p:spPr bwMode="auto">
          <a:xfrm>
            <a:off x="7356267" y="5400000"/>
            <a:ext cx="900000" cy="54000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t>F</a:t>
            </a:r>
          </a:p>
        </p:txBody>
      </p:sp>
    </p:spTree>
    <p:extLst>
      <p:ext uri="{BB962C8B-B14F-4D97-AF65-F5344CB8AC3E}">
        <p14:creationId xmlns:p14="http://schemas.microsoft.com/office/powerpoint/2010/main" val="174894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fade">
                                      <p:cBhvr>
                                        <p:cTn id="19" dur="500"/>
                                        <p:tgtEl>
                                          <p:spTgt spid="4">
                                            <p:txEl>
                                              <p:pRg st="1" end="1"/>
                                            </p:txEl>
                                          </p:spTgt>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5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17"/>
                                        </p:tgtEl>
                                      </p:cBhvr>
                                    </p:animEffect>
                                    <p:set>
                                      <p:cBhvr>
                                        <p:cTn id="33" dur="1" fill="hold">
                                          <p:stCondLst>
                                            <p:cond delay="499"/>
                                          </p:stCondLst>
                                        </p:cTn>
                                        <p:tgtEl>
                                          <p:spTgt spid="17"/>
                                        </p:tgtEl>
                                        <p:attrNameLst>
                                          <p:attrName>style.visibility</p:attrName>
                                        </p:attrNameLst>
                                      </p:cBhvr>
                                      <p:to>
                                        <p:strVal val="hidden"/>
                                      </p:to>
                                    </p:set>
                                  </p:childTnLst>
                                </p:cTn>
                              </p:par>
                            </p:childTnLst>
                          </p:cTn>
                        </p:par>
                        <p:par>
                          <p:cTn id="34" fill="hold">
                            <p:stCondLst>
                              <p:cond delay="500"/>
                            </p:stCondLst>
                            <p:childTnLst>
                              <p:par>
                                <p:cTn id="35" presetID="10" presetClass="entr" presetSubtype="0" fill="hold" nodeType="after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5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19"/>
                                        </p:tgtEl>
                                      </p:cBhvr>
                                    </p:animEffect>
                                    <p:set>
                                      <p:cBhvr>
                                        <p:cTn id="47" dur="1" fill="hold">
                                          <p:stCondLst>
                                            <p:cond delay="499"/>
                                          </p:stCondLst>
                                        </p:cTn>
                                        <p:tgtEl>
                                          <p:spTgt spid="19"/>
                                        </p:tgtEl>
                                        <p:attrNameLst>
                                          <p:attrName>style.visibility</p:attrName>
                                        </p:attrNameLst>
                                      </p:cBhvr>
                                      <p:to>
                                        <p:strVal val="hidden"/>
                                      </p:to>
                                    </p:se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4">
                                            <p:txEl>
                                              <p:pRg st="4" end="4"/>
                                            </p:txEl>
                                          </p:spTgt>
                                        </p:tgtEl>
                                        <p:attrNameLst>
                                          <p:attrName>style.visibility</p:attrName>
                                        </p:attrNameLst>
                                      </p:cBhvr>
                                      <p:to>
                                        <p:strVal val="visible"/>
                                      </p:to>
                                    </p:set>
                                    <p:animEffect transition="in" filter="fade">
                                      <p:cBhvr>
                                        <p:cTn id="51" dur="500"/>
                                        <p:tgtEl>
                                          <p:spTgt spid="4">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7" grpId="0" animBg="1"/>
      <p:bldP spid="17" grpId="1" animBg="1"/>
      <p:bldP spid="19" grpId="0" animBg="1"/>
      <p:bldP spid="19"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Buddy memory allocation</a:t>
            </a:r>
          </a:p>
        </p:txBody>
      </p:sp>
      <p:sp>
        <p:nvSpPr>
          <p:cNvPr id="3" name="Content Placeholder 2"/>
          <p:cNvSpPr>
            <a:spLocks noGrp="1"/>
          </p:cNvSpPr>
          <p:nvPr>
            <p:ph idx="1"/>
          </p:nvPr>
        </p:nvSpPr>
        <p:spPr/>
        <p:txBody>
          <a:bodyPr>
            <a:normAutofit/>
          </a:bodyPr>
          <a:lstStyle/>
          <a:p>
            <a:r>
              <a:rPr lang="en-US"/>
              <a:t>Blocks of 2</a:t>
            </a:r>
            <a:r>
              <a:rPr lang="en-US" baseline="30000"/>
              <a:t>N</a:t>
            </a:r>
            <a:r>
              <a:rPr lang="en-US"/>
              <a:t> size</a:t>
            </a:r>
          </a:p>
          <a:p>
            <a:pPr lvl="1"/>
            <a:r>
              <a:rPr lang="en-US"/>
              <a:t>Address aligned to 2</a:t>
            </a:r>
            <a:r>
              <a:rPr lang="en-US" baseline="30000"/>
              <a:t>N</a:t>
            </a:r>
          </a:p>
          <a:p>
            <a:r>
              <a:rPr lang="en-US"/>
              <a:t>Find the smallest 2</a:t>
            </a:r>
            <a:r>
              <a:rPr lang="en-US" baseline="30000"/>
              <a:t>N</a:t>
            </a:r>
            <a:r>
              <a:rPr lang="en-US"/>
              <a:t> block fitting the required size</a:t>
            </a:r>
          </a:p>
          <a:p>
            <a:pPr lvl="1"/>
            <a:r>
              <a:rPr lang="en-US"/>
              <a:t>“List” of free blocks lists with fixed sizes 2</a:t>
            </a:r>
            <a:r>
              <a:rPr lang="en-US" baseline="30000"/>
              <a:t>N</a:t>
            </a:r>
          </a:p>
          <a:p>
            <a:r>
              <a:rPr lang="en-US"/>
              <a:t>If there are no small blocks, create them by dividing larger blocks</a:t>
            </a:r>
          </a:p>
          <a:p>
            <a:pPr lvl="1"/>
            <a:r>
              <a:rPr lang="en-US"/>
              <a:t>Buddies</a:t>
            </a:r>
          </a:p>
          <a:p>
            <a:pPr lvl="2"/>
            <a:r>
              <a:rPr lang="en-US"/>
              <a:t>Find the buddy address by </a:t>
            </a:r>
            <a:r>
              <a:rPr lang="en-US" err="1"/>
              <a:t>XORing</a:t>
            </a:r>
            <a:r>
              <a:rPr lang="en-US"/>
              <a:t> my address with the block size</a:t>
            </a:r>
          </a:p>
          <a:p>
            <a:r>
              <a:rPr lang="en-US"/>
              <a:t>Merge blocks back when both buddies are free</a:t>
            </a:r>
          </a:p>
          <a:p>
            <a:r>
              <a:rPr lang="en-US"/>
              <a:t>Significant internal fragmentation</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19</a:t>
            </a:fld>
            <a:endParaRPr lang="en-US" altLang="en-US"/>
          </a:p>
        </p:txBody>
      </p:sp>
    </p:spTree>
    <p:extLst>
      <p:ext uri="{BB962C8B-B14F-4D97-AF65-F5344CB8AC3E}">
        <p14:creationId xmlns:p14="http://schemas.microsoft.com/office/powerpoint/2010/main" val="1974294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Buddy memory allocation</a:t>
            </a:r>
          </a:p>
        </p:txBody>
      </p:sp>
      <p:sp>
        <p:nvSpPr>
          <p:cNvPr id="4" name="Rectangle 3"/>
          <p:cNvSpPr/>
          <p:nvPr/>
        </p:nvSpPr>
        <p:spPr bwMode="auto">
          <a:xfrm>
            <a:off x="2279576" y="1916832"/>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64</a:t>
            </a:r>
          </a:p>
        </p:txBody>
      </p:sp>
      <p:sp>
        <p:nvSpPr>
          <p:cNvPr id="5" name="Rectangle 4"/>
          <p:cNvSpPr/>
          <p:nvPr/>
        </p:nvSpPr>
        <p:spPr bwMode="auto">
          <a:xfrm>
            <a:off x="2279576" y="2416026"/>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128</a:t>
            </a:r>
          </a:p>
        </p:txBody>
      </p:sp>
      <p:sp>
        <p:nvSpPr>
          <p:cNvPr id="6" name="Rectangle 5"/>
          <p:cNvSpPr/>
          <p:nvPr/>
        </p:nvSpPr>
        <p:spPr bwMode="auto">
          <a:xfrm>
            <a:off x="2279576" y="3422778"/>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512</a:t>
            </a:r>
          </a:p>
        </p:txBody>
      </p:sp>
      <p:sp>
        <p:nvSpPr>
          <p:cNvPr id="7" name="Rectangle 6"/>
          <p:cNvSpPr/>
          <p:nvPr/>
        </p:nvSpPr>
        <p:spPr bwMode="auto">
          <a:xfrm>
            <a:off x="2279576" y="2920082"/>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256</a:t>
            </a:r>
          </a:p>
        </p:txBody>
      </p:sp>
      <p:sp>
        <p:nvSpPr>
          <p:cNvPr id="8" name="Rectangle 7"/>
          <p:cNvSpPr/>
          <p:nvPr/>
        </p:nvSpPr>
        <p:spPr bwMode="auto">
          <a:xfrm>
            <a:off x="2279576" y="3923332"/>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1k</a:t>
            </a:r>
          </a:p>
        </p:txBody>
      </p:sp>
      <p:sp>
        <p:nvSpPr>
          <p:cNvPr id="9" name="Rectangle 8"/>
          <p:cNvSpPr/>
          <p:nvPr/>
        </p:nvSpPr>
        <p:spPr bwMode="auto">
          <a:xfrm>
            <a:off x="2279576" y="4426028"/>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2k</a:t>
            </a:r>
          </a:p>
        </p:txBody>
      </p:sp>
      <p:sp>
        <p:nvSpPr>
          <p:cNvPr id="10" name="Rectangle 9"/>
          <p:cNvSpPr/>
          <p:nvPr/>
        </p:nvSpPr>
        <p:spPr bwMode="auto">
          <a:xfrm>
            <a:off x="2279576" y="4926582"/>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4k</a:t>
            </a:r>
          </a:p>
        </p:txBody>
      </p:sp>
      <p:sp>
        <p:nvSpPr>
          <p:cNvPr id="11" name="Rectangle 10"/>
          <p:cNvSpPr/>
          <p:nvPr/>
        </p:nvSpPr>
        <p:spPr bwMode="auto">
          <a:xfrm>
            <a:off x="2279576" y="5429278"/>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8k</a:t>
            </a:r>
          </a:p>
        </p:txBody>
      </p:sp>
      <p:sp>
        <p:nvSpPr>
          <p:cNvPr id="12" name="Rectangle 11"/>
          <p:cNvSpPr/>
          <p:nvPr/>
        </p:nvSpPr>
        <p:spPr bwMode="auto">
          <a:xfrm>
            <a:off x="2279576" y="5924176"/>
            <a:ext cx="792088" cy="50405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16k</a:t>
            </a:r>
          </a:p>
        </p:txBody>
      </p:sp>
      <p:cxnSp>
        <p:nvCxnSpPr>
          <p:cNvPr id="14" name="Straight Arrow Connector 13"/>
          <p:cNvCxnSpPr>
            <a:stCxn id="6" idx="3"/>
            <a:endCxn id="15" idx="1"/>
          </p:cNvCxnSpPr>
          <p:nvPr/>
        </p:nvCxnSpPr>
        <p:spPr bwMode="auto">
          <a:xfrm>
            <a:off x="3071664" y="3674806"/>
            <a:ext cx="50405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Rectangle 14"/>
          <p:cNvSpPr/>
          <p:nvPr/>
        </p:nvSpPr>
        <p:spPr bwMode="auto">
          <a:xfrm>
            <a:off x="3575720" y="3494786"/>
            <a:ext cx="1584176" cy="36004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A:1024,S:512</a:t>
            </a:r>
          </a:p>
        </p:txBody>
      </p:sp>
      <p:sp>
        <p:nvSpPr>
          <p:cNvPr id="22" name="Rectangle 21"/>
          <p:cNvSpPr/>
          <p:nvPr/>
        </p:nvSpPr>
        <p:spPr bwMode="auto">
          <a:xfrm>
            <a:off x="3575720" y="5996184"/>
            <a:ext cx="1656184" cy="36004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A:16384,S:16k</a:t>
            </a:r>
          </a:p>
        </p:txBody>
      </p:sp>
      <p:cxnSp>
        <p:nvCxnSpPr>
          <p:cNvPr id="24" name="Straight Arrow Connector 23"/>
          <p:cNvCxnSpPr>
            <a:stCxn id="12" idx="3"/>
            <a:endCxn id="22" idx="1"/>
          </p:cNvCxnSpPr>
          <p:nvPr/>
        </p:nvCxnSpPr>
        <p:spPr bwMode="auto">
          <a:xfrm>
            <a:off x="3071664" y="6176204"/>
            <a:ext cx="50405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7" name="Rectangle 26"/>
          <p:cNvSpPr/>
          <p:nvPr/>
        </p:nvSpPr>
        <p:spPr bwMode="auto">
          <a:xfrm>
            <a:off x="8041178" y="3494786"/>
            <a:ext cx="1510244" cy="36004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A:1024,S:256</a:t>
            </a:r>
          </a:p>
        </p:txBody>
      </p:sp>
      <p:sp>
        <p:nvSpPr>
          <p:cNvPr id="32" name="Rectangle 31"/>
          <p:cNvSpPr/>
          <p:nvPr/>
        </p:nvSpPr>
        <p:spPr bwMode="auto">
          <a:xfrm>
            <a:off x="3575720" y="2992090"/>
            <a:ext cx="1510244" cy="36004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A:1280,S:256</a:t>
            </a:r>
          </a:p>
        </p:txBody>
      </p:sp>
      <p:cxnSp>
        <p:nvCxnSpPr>
          <p:cNvPr id="34" name="Straight Arrow Connector 33"/>
          <p:cNvCxnSpPr>
            <a:stCxn id="7" idx="3"/>
            <a:endCxn id="32" idx="1"/>
          </p:cNvCxnSpPr>
          <p:nvPr/>
        </p:nvCxnSpPr>
        <p:spPr bwMode="auto">
          <a:xfrm>
            <a:off x="3071664" y="3172110"/>
            <a:ext cx="504056"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6" name="Straight Arrow Connector 35"/>
          <p:cNvCxnSpPr>
            <a:stCxn id="15" idx="0"/>
            <a:endCxn id="32" idx="2"/>
          </p:cNvCxnSpPr>
          <p:nvPr/>
        </p:nvCxnSpPr>
        <p:spPr bwMode="auto">
          <a:xfrm flipH="1" flipV="1">
            <a:off x="4330842" y="3352130"/>
            <a:ext cx="36966" cy="14265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8" name="Straight Arrow Connector 37"/>
          <p:cNvCxnSpPr>
            <a:stCxn id="15" idx="3"/>
            <a:endCxn id="27" idx="1"/>
          </p:cNvCxnSpPr>
          <p:nvPr/>
        </p:nvCxnSpPr>
        <p:spPr bwMode="auto">
          <a:xfrm>
            <a:off x="5159896" y="3674806"/>
            <a:ext cx="288128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1" name="Straight Arrow Connector 40"/>
          <p:cNvCxnSpPr>
            <a:stCxn id="27" idx="0"/>
            <a:endCxn id="16" idx="2"/>
          </p:cNvCxnSpPr>
          <p:nvPr/>
        </p:nvCxnSpPr>
        <p:spPr bwMode="auto">
          <a:xfrm flipV="1">
            <a:off x="8796300" y="2564904"/>
            <a:ext cx="0" cy="9298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Date Placeholder 2"/>
          <p:cNvSpPr>
            <a:spLocks noGrp="1"/>
          </p:cNvSpPr>
          <p:nvPr>
            <p:ph type="dt" sz="half" idx="10"/>
          </p:nvPr>
        </p:nvSpPr>
        <p:spPr/>
        <p:txBody>
          <a:bodyPr/>
          <a:lstStyle/>
          <a:p>
            <a:r>
              <a:rPr lang="cs-CZ" altLang="en-US"/>
              <a:t>19.3.2025</a:t>
            </a:r>
            <a:endParaRPr lang="en-US" altLang="en-US"/>
          </a:p>
        </p:txBody>
      </p:sp>
      <p:sp>
        <p:nvSpPr>
          <p:cNvPr id="13" name="Slide Number Placeholder 12"/>
          <p:cNvSpPr>
            <a:spLocks noGrp="1"/>
          </p:cNvSpPr>
          <p:nvPr>
            <p:ph type="sldNum" sz="quarter" idx="12"/>
          </p:nvPr>
        </p:nvSpPr>
        <p:spPr/>
        <p:txBody>
          <a:bodyPr/>
          <a:lstStyle/>
          <a:p>
            <a:fld id="{F4A1145F-674A-4228-8958-0EA9769F5517}" type="slidenum">
              <a:rPr lang="en-US" altLang="en-US" smtClean="0"/>
              <a:pPr/>
              <a:t>20</a:t>
            </a:fld>
            <a:endParaRPr lang="en-US" altLang="en-US"/>
          </a:p>
        </p:txBody>
      </p:sp>
      <p:sp>
        <p:nvSpPr>
          <p:cNvPr id="16" name="Rounded Rectangle 15"/>
          <p:cNvSpPr/>
          <p:nvPr/>
        </p:nvSpPr>
        <p:spPr>
          <a:xfrm>
            <a:off x="7896200" y="1854116"/>
            <a:ext cx="1800200" cy="71078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t>Request 200B</a:t>
            </a:r>
          </a:p>
        </p:txBody>
      </p:sp>
    </p:spTree>
    <p:extLst>
      <p:ext uri="{BB962C8B-B14F-4D97-AF65-F5344CB8AC3E}">
        <p14:creationId xmlns:p14="http://schemas.microsoft.com/office/powerpoint/2010/main" val="3424153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7"/>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36"/>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38"/>
                                        </p:tgtEl>
                                        <p:attrNameLst>
                                          <p:attrName>style.visibility</p:attrName>
                                        </p:attrNameLst>
                                      </p:cBhvr>
                                      <p:to>
                                        <p:strVal val="hidden"/>
                                      </p:to>
                                    </p:set>
                                  </p:childTnLst>
                                </p:cTn>
                              </p:par>
                              <p:par>
                                <p:cTn id="28" presetID="1" presetClass="exit" presetSubtype="0" fill="hold" nodeType="withEffect">
                                  <p:stCondLst>
                                    <p:cond delay="0"/>
                                  </p:stCondLst>
                                  <p:childTnLst>
                                    <p:set>
                                      <p:cBhvr>
                                        <p:cTn id="29" dur="1" fill="hold">
                                          <p:stCondLst>
                                            <p:cond delay="0"/>
                                          </p:stCondLst>
                                        </p:cTn>
                                        <p:tgtEl>
                                          <p:spTgt spid="14"/>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7" grpId="0" animBg="1"/>
      <p:bldP spid="32"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Cache</a:t>
            </a:r>
          </a:p>
        </p:txBody>
      </p:sp>
      <p:sp>
        <p:nvSpPr>
          <p:cNvPr id="3" name="Content Placeholder 2"/>
          <p:cNvSpPr>
            <a:spLocks noGrp="1"/>
          </p:cNvSpPr>
          <p:nvPr>
            <p:ph sz="half" idx="1"/>
          </p:nvPr>
        </p:nvSpPr>
        <p:spPr/>
        <p:txBody>
          <a:bodyPr>
            <a:normAutofit/>
          </a:bodyPr>
          <a:lstStyle/>
          <a:p>
            <a:r>
              <a:rPr lang="en-US" dirty="0"/>
              <a:t>HW or even SW</a:t>
            </a:r>
          </a:p>
          <a:p>
            <a:pPr lvl="1"/>
            <a:r>
              <a:rPr lang="en-US" dirty="0"/>
              <a:t>A structure holding data</a:t>
            </a:r>
          </a:p>
          <a:p>
            <a:pPr lvl="2"/>
            <a:r>
              <a:rPr lang="en-US" dirty="0"/>
              <a:t>Data loads/computations (for the first time) is slow/expensive</a:t>
            </a:r>
          </a:p>
          <a:p>
            <a:pPr lvl="2"/>
            <a:r>
              <a:rPr lang="en-US" dirty="0"/>
              <a:t>Future requests for that data can be served faster</a:t>
            </a:r>
          </a:p>
          <a:p>
            <a:pPr lvl="2"/>
            <a:r>
              <a:rPr lang="en-US" dirty="0"/>
              <a:t>Limited (fixed) size</a:t>
            </a:r>
          </a:p>
          <a:p>
            <a:pPr lvl="1"/>
            <a:r>
              <a:rPr lang="en-US" dirty="0"/>
              <a:t>Generic cache operation</a:t>
            </a:r>
          </a:p>
          <a:p>
            <a:pPr lvl="2"/>
            <a:r>
              <a:rPr lang="en-US" dirty="0"/>
              <a:t>Make a request for data</a:t>
            </a:r>
          </a:p>
          <a:p>
            <a:pPr lvl="2"/>
            <a:r>
              <a:rPr lang="en-US" dirty="0"/>
              <a:t>Are data placed in the cache?</a:t>
            </a:r>
          </a:p>
          <a:p>
            <a:pPr lvl="2"/>
            <a:r>
              <a:rPr lang="en-US" dirty="0"/>
              <a:t>If they are, return them, otherwise do a slow calculation/access</a:t>
            </a:r>
          </a:p>
        </p:txBody>
      </p:sp>
      <p:sp>
        <p:nvSpPr>
          <p:cNvPr id="6" name="Content Placeholder 5"/>
          <p:cNvSpPr>
            <a:spLocks noGrp="1"/>
          </p:cNvSpPr>
          <p:nvPr>
            <p:ph sz="half" idx="2"/>
          </p:nvPr>
        </p:nvSpPr>
        <p:spPr/>
        <p:txBody>
          <a:bodyPr>
            <a:normAutofit/>
          </a:bodyPr>
          <a:lstStyle/>
          <a:p>
            <a:r>
              <a:rPr lang="en-US"/>
              <a:t>Cache in CPU</a:t>
            </a:r>
          </a:p>
          <a:p>
            <a:pPr lvl="1"/>
            <a:r>
              <a:rPr lang="en-US"/>
              <a:t>Hides memory latency</a:t>
            </a:r>
          </a:p>
          <a:p>
            <a:pPr lvl="1"/>
            <a:r>
              <a:rPr lang="en-US"/>
              <a:t>Based on the locality of reference</a:t>
            </a:r>
          </a:p>
          <a:p>
            <a:pPr lvl="1"/>
            <a:r>
              <a:rPr lang="en-US"/>
              <a:t>CPU cache operation</a:t>
            </a:r>
          </a:p>
          <a:p>
            <a:pPr lvl="2"/>
            <a:r>
              <a:rPr lang="en-US"/>
              <a:t>Make a request for data in the memory</a:t>
            </a:r>
          </a:p>
          <a:p>
            <a:pPr lvl="2"/>
            <a:r>
              <a:rPr lang="en-US"/>
              <a:t>Are data placed in the cache? Look in all levels of cache in the CPU from the fastest L1 to the slowest LLC</a:t>
            </a:r>
          </a:p>
          <a:p>
            <a:pPr lvl="2"/>
            <a:r>
              <a:rPr lang="en-US"/>
              <a:t>If they are, return them to the execution unit in a CPU core, otherwise do a full memory access</a:t>
            </a:r>
          </a:p>
          <a:p>
            <a:pPr marL="0" indent="0">
              <a:buNone/>
            </a:pPr>
            <a:endParaRPr lang="en-US"/>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21</a:t>
            </a:fld>
            <a:endParaRPr lang="en-US" altLang="en-US"/>
          </a:p>
        </p:txBody>
      </p:sp>
    </p:spTree>
    <p:extLst>
      <p:ext uri="{BB962C8B-B14F-4D97-AF65-F5344CB8AC3E}">
        <p14:creationId xmlns:p14="http://schemas.microsoft.com/office/powerpoint/2010/main" val="4158751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574EDAC-F663-3D24-0676-792F324233A1}"/>
              </a:ext>
            </a:extLst>
          </p:cNvPr>
          <p:cNvSpPr>
            <a:spLocks noGrp="1"/>
          </p:cNvSpPr>
          <p:nvPr>
            <p:ph type="title"/>
          </p:nvPr>
        </p:nvSpPr>
        <p:spPr/>
        <p:txBody>
          <a:bodyPr/>
          <a:lstStyle/>
          <a:p>
            <a:r>
              <a:rPr lang="en-US" dirty="0"/>
              <a:t>Real World Cache Example</a:t>
            </a:r>
            <a:endParaRPr lang="cs-CZ" dirty="0"/>
          </a:p>
        </p:txBody>
      </p:sp>
      <p:sp>
        <p:nvSpPr>
          <p:cNvPr id="5" name="Date Placeholder 4">
            <a:extLst>
              <a:ext uri="{FF2B5EF4-FFF2-40B4-BE49-F238E27FC236}">
                <a16:creationId xmlns:a16="http://schemas.microsoft.com/office/drawing/2014/main" id="{3F4297C4-DB15-84FE-B8A1-C60C27BFD8E5}"/>
              </a:ext>
            </a:extLst>
          </p:cNvPr>
          <p:cNvSpPr>
            <a:spLocks noGrp="1"/>
          </p:cNvSpPr>
          <p:nvPr>
            <p:ph type="dt" sz="half" idx="10"/>
          </p:nvPr>
        </p:nvSpPr>
        <p:spPr/>
        <p:txBody>
          <a:bodyPr/>
          <a:lstStyle/>
          <a:p>
            <a:r>
              <a:rPr lang="cs-CZ" altLang="en-US"/>
              <a:t>19.3.2025</a:t>
            </a:r>
            <a:endParaRPr lang="en-US" altLang="en-US"/>
          </a:p>
        </p:txBody>
      </p:sp>
      <p:sp>
        <p:nvSpPr>
          <p:cNvPr id="6" name="Slide Number Placeholder 5">
            <a:extLst>
              <a:ext uri="{FF2B5EF4-FFF2-40B4-BE49-F238E27FC236}">
                <a16:creationId xmlns:a16="http://schemas.microsoft.com/office/drawing/2014/main" id="{3E2CF9FE-0579-FD46-A729-580C16E0D47E}"/>
              </a:ext>
            </a:extLst>
          </p:cNvPr>
          <p:cNvSpPr>
            <a:spLocks noGrp="1"/>
          </p:cNvSpPr>
          <p:nvPr>
            <p:ph type="sldNum" sz="quarter" idx="12"/>
          </p:nvPr>
        </p:nvSpPr>
        <p:spPr/>
        <p:txBody>
          <a:bodyPr/>
          <a:lstStyle/>
          <a:p>
            <a:fld id="{169EAE92-5121-41FC-8DEC-DA73929E0C34}" type="slidenum">
              <a:rPr lang="en-US" altLang="en-US" smtClean="0"/>
              <a:pPr/>
              <a:t>22</a:t>
            </a:fld>
            <a:endParaRPr lang="en-US" altLang="en-US"/>
          </a:p>
        </p:txBody>
      </p:sp>
      <p:pic>
        <p:nvPicPr>
          <p:cNvPr id="9" name="Content Placeholder 6">
            <a:extLst>
              <a:ext uri="{FF2B5EF4-FFF2-40B4-BE49-F238E27FC236}">
                <a16:creationId xmlns:a16="http://schemas.microsoft.com/office/drawing/2014/main" id="{7E952172-AFB2-EEA2-2DC2-655CC114D0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74540" y="2356643"/>
            <a:ext cx="3395262" cy="2502064"/>
          </a:xfrm>
          <a:prstGeom prst="rect">
            <a:avLst/>
          </a:prstGeom>
        </p:spPr>
      </p:pic>
      <p:pic>
        <p:nvPicPr>
          <p:cNvPr id="10" name="Picture 9">
            <a:extLst>
              <a:ext uri="{FF2B5EF4-FFF2-40B4-BE49-F238E27FC236}">
                <a16:creationId xmlns:a16="http://schemas.microsoft.com/office/drawing/2014/main" id="{B1018863-94E9-3735-4771-50A78F8FD7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8956" y="1808880"/>
            <a:ext cx="4837389" cy="3628042"/>
          </a:xfrm>
          <a:prstGeom prst="rect">
            <a:avLst/>
          </a:prstGeom>
        </p:spPr>
      </p:pic>
      <p:pic>
        <p:nvPicPr>
          <p:cNvPr id="11" name="Picture 10">
            <a:extLst>
              <a:ext uri="{FF2B5EF4-FFF2-40B4-BE49-F238E27FC236}">
                <a16:creationId xmlns:a16="http://schemas.microsoft.com/office/drawing/2014/main" id="{78B57DAB-25A2-D18C-27EE-1D66EBFBB7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690688"/>
            <a:ext cx="1887186" cy="3744416"/>
          </a:xfrm>
          <a:prstGeom prst="rect">
            <a:avLst/>
          </a:prstGeom>
        </p:spPr>
      </p:pic>
      <p:sp>
        <p:nvSpPr>
          <p:cNvPr id="12" name="TextBox 11">
            <a:extLst>
              <a:ext uri="{FF2B5EF4-FFF2-40B4-BE49-F238E27FC236}">
                <a16:creationId xmlns:a16="http://schemas.microsoft.com/office/drawing/2014/main" id="{F6262BBE-A182-2845-42C0-18993CFFC397}"/>
              </a:ext>
            </a:extLst>
          </p:cNvPr>
          <p:cNvSpPr txBox="1"/>
          <p:nvPr/>
        </p:nvSpPr>
        <p:spPr>
          <a:xfrm>
            <a:off x="973393" y="5526395"/>
            <a:ext cx="1192955" cy="646331"/>
          </a:xfrm>
          <a:prstGeom prst="rect">
            <a:avLst/>
          </a:prstGeom>
          <a:noFill/>
        </p:spPr>
        <p:txBody>
          <a:bodyPr wrap="none" rtlCol="0">
            <a:spAutoFit/>
          </a:bodyPr>
          <a:lstStyle/>
          <a:p>
            <a:pPr algn="ctr"/>
            <a:r>
              <a:rPr lang="en-US" dirty="0">
                <a:latin typeface="+mn-lt"/>
              </a:rPr>
              <a:t>A bachelor</a:t>
            </a:r>
            <a:br>
              <a:rPr lang="en-US" dirty="0">
                <a:latin typeface="+mn-lt"/>
              </a:rPr>
            </a:br>
            <a:r>
              <a:rPr lang="en-US" dirty="0">
                <a:latin typeface="+mn-lt"/>
              </a:rPr>
              <a:t>(</a:t>
            </a:r>
            <a:r>
              <a:rPr lang="en-US" dirty="0" err="1">
                <a:latin typeface="+mn-lt"/>
              </a:rPr>
              <a:t>Matfyz</a:t>
            </a:r>
            <a:r>
              <a:rPr lang="cs-CZ" dirty="0" err="1">
                <a:latin typeface="+mn-lt"/>
              </a:rPr>
              <a:t>ák</a:t>
            </a:r>
            <a:r>
              <a:rPr lang="en-US" dirty="0">
                <a:latin typeface="+mn-lt"/>
              </a:rPr>
              <a:t>)</a:t>
            </a:r>
            <a:endParaRPr lang="cs-CZ" dirty="0">
              <a:latin typeface="+mn-lt"/>
            </a:endParaRPr>
          </a:p>
        </p:txBody>
      </p:sp>
      <p:sp>
        <p:nvSpPr>
          <p:cNvPr id="13" name="TextBox 12">
            <a:extLst>
              <a:ext uri="{FF2B5EF4-FFF2-40B4-BE49-F238E27FC236}">
                <a16:creationId xmlns:a16="http://schemas.microsoft.com/office/drawing/2014/main" id="{2C58B157-B787-F69E-28CF-125099F2D351}"/>
              </a:ext>
            </a:extLst>
          </p:cNvPr>
          <p:cNvSpPr txBox="1"/>
          <p:nvPr/>
        </p:nvSpPr>
        <p:spPr>
          <a:xfrm>
            <a:off x="7924950" y="5573470"/>
            <a:ext cx="2625399" cy="646331"/>
          </a:xfrm>
          <a:prstGeom prst="rect">
            <a:avLst/>
          </a:prstGeom>
          <a:noFill/>
        </p:spPr>
        <p:txBody>
          <a:bodyPr wrap="none" rtlCol="0">
            <a:spAutoFit/>
          </a:bodyPr>
          <a:lstStyle/>
          <a:p>
            <a:pPr algn="ctr"/>
            <a:r>
              <a:rPr lang="en-US" dirty="0">
                <a:latin typeface="+mn-lt"/>
              </a:rPr>
              <a:t>Wardrobe</a:t>
            </a:r>
            <a:br>
              <a:rPr lang="en-US" dirty="0">
                <a:latin typeface="+mn-lt"/>
              </a:rPr>
            </a:br>
            <a:r>
              <a:rPr lang="en-US" dirty="0">
                <a:latin typeface="+mn-lt"/>
              </a:rPr>
              <a:t>(too distant from the bed)</a:t>
            </a:r>
            <a:endParaRPr lang="cs-CZ" dirty="0">
              <a:latin typeface="+mn-lt"/>
            </a:endParaRPr>
          </a:p>
        </p:txBody>
      </p:sp>
      <p:sp>
        <p:nvSpPr>
          <p:cNvPr id="14" name="TextBox 13">
            <a:extLst>
              <a:ext uri="{FF2B5EF4-FFF2-40B4-BE49-F238E27FC236}">
                <a16:creationId xmlns:a16="http://schemas.microsoft.com/office/drawing/2014/main" id="{C0F9AD55-370E-3B31-B667-95A3A9880D53}"/>
              </a:ext>
            </a:extLst>
          </p:cNvPr>
          <p:cNvSpPr txBox="1"/>
          <p:nvPr/>
        </p:nvSpPr>
        <p:spPr>
          <a:xfrm>
            <a:off x="3496340" y="4788640"/>
            <a:ext cx="2551661" cy="923330"/>
          </a:xfrm>
          <a:prstGeom prst="rect">
            <a:avLst/>
          </a:prstGeom>
          <a:noFill/>
        </p:spPr>
        <p:txBody>
          <a:bodyPr wrap="none" rtlCol="0">
            <a:spAutoFit/>
          </a:bodyPr>
          <a:lstStyle/>
          <a:p>
            <a:pPr algn="ctr"/>
            <a:r>
              <a:rPr lang="en-US" dirty="0">
                <a:latin typeface="+mn-lt"/>
              </a:rPr>
              <a:t>Cache of clothes</a:t>
            </a:r>
            <a:br>
              <a:rPr lang="en-US" dirty="0">
                <a:latin typeface="+mn-lt"/>
              </a:rPr>
            </a:br>
            <a:r>
              <a:rPr lang="en-US" dirty="0">
                <a:latin typeface="+mn-lt"/>
              </a:rPr>
              <a:t>(accessible in O(1) due to</a:t>
            </a:r>
            <a:br>
              <a:rPr lang="en-US" dirty="0">
                <a:latin typeface="+mn-lt"/>
              </a:rPr>
            </a:br>
            <a:r>
              <a:rPr lang="en-US" dirty="0">
                <a:latin typeface="+mn-lt"/>
              </a:rPr>
              <a:t>ingenious organization)</a:t>
            </a:r>
            <a:endParaRPr lang="cs-CZ" dirty="0">
              <a:latin typeface="+mn-lt"/>
            </a:endParaRPr>
          </a:p>
        </p:txBody>
      </p:sp>
    </p:spTree>
    <p:extLst>
      <p:ext uri="{BB962C8B-B14F-4D97-AF65-F5344CB8AC3E}">
        <p14:creationId xmlns:p14="http://schemas.microsoft.com/office/powerpoint/2010/main" val="232127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Cache terminology</a:t>
            </a:r>
          </a:p>
        </p:txBody>
      </p:sp>
      <p:sp>
        <p:nvSpPr>
          <p:cNvPr id="3" name="Content Placeholder 2"/>
          <p:cNvSpPr>
            <a:spLocks noGrp="1"/>
          </p:cNvSpPr>
          <p:nvPr>
            <p:ph sz="half" idx="1"/>
          </p:nvPr>
        </p:nvSpPr>
        <p:spPr/>
        <p:txBody>
          <a:bodyPr>
            <a:normAutofit/>
          </a:bodyPr>
          <a:lstStyle/>
          <a:p>
            <a:r>
              <a:rPr lang="en-US" dirty="0"/>
              <a:t>Cache line/entry</a:t>
            </a:r>
          </a:p>
          <a:p>
            <a:pPr lvl="1"/>
            <a:r>
              <a:rPr lang="en-US" dirty="0"/>
              <a:t>Caches are organized in lines</a:t>
            </a:r>
            <a:endParaRPr lang="cs-CZ" dirty="0"/>
          </a:p>
          <a:p>
            <a:pPr lvl="2"/>
            <a:r>
              <a:rPr lang="en-US" dirty="0"/>
              <a:t>The usual size is about 64B</a:t>
            </a:r>
          </a:p>
          <a:p>
            <a:pPr lvl="2"/>
            <a:r>
              <a:rPr lang="en-US" dirty="0"/>
              <a:t>Aligned</a:t>
            </a:r>
          </a:p>
          <a:p>
            <a:r>
              <a:rPr lang="en-US" dirty="0"/>
              <a:t>Cache hit</a:t>
            </a:r>
          </a:p>
          <a:p>
            <a:pPr lvl="1"/>
            <a:r>
              <a:rPr lang="en-US" dirty="0"/>
              <a:t>Request served from the cache</a:t>
            </a:r>
            <a:endParaRPr lang="cs-CZ" dirty="0"/>
          </a:p>
          <a:p>
            <a:pPr lvl="1"/>
            <a:r>
              <a:rPr lang="en-US" dirty="0"/>
              <a:t>Success rate is around 97%</a:t>
            </a:r>
          </a:p>
          <a:p>
            <a:pPr lvl="2"/>
            <a:r>
              <a:rPr lang="en-US" dirty="0"/>
              <a:t>Common problems/algorithms</a:t>
            </a:r>
          </a:p>
        </p:txBody>
      </p:sp>
      <p:sp>
        <p:nvSpPr>
          <p:cNvPr id="6" name="Content Placeholder 5"/>
          <p:cNvSpPr>
            <a:spLocks noGrp="1"/>
          </p:cNvSpPr>
          <p:nvPr>
            <p:ph sz="half" idx="2"/>
          </p:nvPr>
        </p:nvSpPr>
        <p:spPr/>
        <p:txBody>
          <a:bodyPr>
            <a:normAutofit/>
          </a:bodyPr>
          <a:lstStyle/>
          <a:p>
            <a:r>
              <a:rPr lang="en-US"/>
              <a:t>Cache miss</a:t>
            </a:r>
          </a:p>
          <a:p>
            <a:pPr lvl="1"/>
            <a:r>
              <a:rPr lang="en-US"/>
              <a:t>Data not found in a cache hierarchy, do a full memory access</a:t>
            </a:r>
          </a:p>
          <a:p>
            <a:pPr lvl="1"/>
            <a:r>
              <a:rPr lang="en-US"/>
              <a:t>Load data from the memory to a cache line</a:t>
            </a:r>
          </a:p>
          <a:p>
            <a:pPr lvl="2"/>
            <a:r>
              <a:rPr lang="en-US"/>
              <a:t>Select either a free cache line or select a victim cache line</a:t>
            </a:r>
          </a:p>
          <a:p>
            <a:pPr lvl="2"/>
            <a:r>
              <a:rPr lang="en-US"/>
              <a:t>Store modified cache lines back to the memory</a:t>
            </a:r>
          </a:p>
          <a:p>
            <a:r>
              <a:rPr lang="en-US"/>
              <a:t>Cache line state</a:t>
            </a:r>
          </a:p>
          <a:p>
            <a:pPr lvl="1"/>
            <a:r>
              <a:rPr lang="en-US"/>
              <a:t>MESI protocol</a:t>
            </a:r>
          </a:p>
          <a:p>
            <a:pPr marL="0" indent="0">
              <a:buNone/>
            </a:pPr>
            <a:endParaRPr lang="en-US"/>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23</a:t>
            </a:fld>
            <a:endParaRPr lang="en-US" altLang="en-US"/>
          </a:p>
        </p:txBody>
      </p:sp>
    </p:spTree>
    <p:extLst>
      <p:ext uri="{BB962C8B-B14F-4D97-AF65-F5344CB8AC3E}">
        <p14:creationId xmlns:p14="http://schemas.microsoft.com/office/powerpoint/2010/main" val="2592063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CPU caches (reminder)</a:t>
            </a:r>
          </a:p>
        </p:txBody>
      </p:sp>
      <p:grpSp>
        <p:nvGrpSpPr>
          <p:cNvPr id="33" name="Group 32"/>
          <p:cNvGrpSpPr/>
          <p:nvPr/>
        </p:nvGrpSpPr>
        <p:grpSpPr>
          <a:xfrm>
            <a:off x="2197224" y="1988840"/>
            <a:ext cx="1594520" cy="2880320"/>
            <a:chOff x="457200" y="1628800"/>
            <a:chExt cx="1594520" cy="2880320"/>
          </a:xfrm>
        </p:grpSpPr>
        <p:sp>
          <p:nvSpPr>
            <p:cNvPr id="70" name="Rectangle 69"/>
            <p:cNvSpPr/>
            <p:nvPr/>
          </p:nvSpPr>
          <p:spPr bwMode="auto">
            <a:xfrm>
              <a:off x="457200" y="1628800"/>
              <a:ext cx="1594520" cy="2880320"/>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CORE 0</a:t>
              </a:r>
            </a:p>
          </p:txBody>
        </p:sp>
        <p:sp>
          <p:nvSpPr>
            <p:cNvPr id="71" name="Rectangle 70"/>
            <p:cNvSpPr/>
            <p:nvPr/>
          </p:nvSpPr>
          <p:spPr bwMode="auto">
            <a:xfrm>
              <a:off x="755576"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T0</a:t>
              </a:r>
            </a:p>
          </p:txBody>
        </p:sp>
        <p:sp>
          <p:nvSpPr>
            <p:cNvPr id="72" name="Rectangle 71"/>
            <p:cNvSpPr/>
            <p:nvPr/>
          </p:nvSpPr>
          <p:spPr bwMode="auto">
            <a:xfrm>
              <a:off x="1259632"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T4</a:t>
              </a:r>
            </a:p>
          </p:txBody>
        </p:sp>
        <p:sp>
          <p:nvSpPr>
            <p:cNvPr id="73" name="Rectangle 72"/>
            <p:cNvSpPr/>
            <p:nvPr/>
          </p:nvSpPr>
          <p:spPr bwMode="auto">
            <a:xfrm>
              <a:off x="755576" y="2276872"/>
              <a:ext cx="1008112" cy="432048"/>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EU</a:t>
              </a:r>
            </a:p>
          </p:txBody>
        </p:sp>
        <p:sp>
          <p:nvSpPr>
            <p:cNvPr id="74" name="Rectangle 73"/>
            <p:cNvSpPr/>
            <p:nvPr/>
          </p:nvSpPr>
          <p:spPr bwMode="auto">
            <a:xfrm>
              <a:off x="755576" y="270892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L1I</a:t>
              </a:r>
            </a:p>
          </p:txBody>
        </p:sp>
        <p:sp>
          <p:nvSpPr>
            <p:cNvPr id="75" name="Rectangle 74"/>
            <p:cNvSpPr/>
            <p:nvPr/>
          </p:nvSpPr>
          <p:spPr bwMode="auto">
            <a:xfrm>
              <a:off x="755576" y="306896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L1D</a:t>
              </a:r>
            </a:p>
          </p:txBody>
        </p:sp>
        <p:sp>
          <p:nvSpPr>
            <p:cNvPr id="76" name="Rectangle 75"/>
            <p:cNvSpPr/>
            <p:nvPr/>
          </p:nvSpPr>
          <p:spPr bwMode="auto">
            <a:xfrm>
              <a:off x="755576" y="3429000"/>
              <a:ext cx="1008112"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L2</a:t>
              </a:r>
            </a:p>
          </p:txBody>
        </p:sp>
      </p:grpSp>
      <p:grpSp>
        <p:nvGrpSpPr>
          <p:cNvPr id="34" name="Group 33"/>
          <p:cNvGrpSpPr/>
          <p:nvPr/>
        </p:nvGrpSpPr>
        <p:grpSpPr>
          <a:xfrm>
            <a:off x="4269142" y="1986104"/>
            <a:ext cx="1594520" cy="2880320"/>
            <a:chOff x="457200" y="1628800"/>
            <a:chExt cx="1594520" cy="2880320"/>
          </a:xfrm>
        </p:grpSpPr>
        <p:sp>
          <p:nvSpPr>
            <p:cNvPr id="63" name="Rectangle 62"/>
            <p:cNvSpPr/>
            <p:nvPr/>
          </p:nvSpPr>
          <p:spPr bwMode="auto">
            <a:xfrm>
              <a:off x="457200" y="1628800"/>
              <a:ext cx="1594520" cy="2880320"/>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CORE 1</a:t>
              </a:r>
            </a:p>
          </p:txBody>
        </p:sp>
        <p:sp>
          <p:nvSpPr>
            <p:cNvPr id="64" name="Rectangle 63"/>
            <p:cNvSpPr/>
            <p:nvPr/>
          </p:nvSpPr>
          <p:spPr bwMode="auto">
            <a:xfrm>
              <a:off x="755576"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T1</a:t>
              </a:r>
            </a:p>
          </p:txBody>
        </p:sp>
        <p:sp>
          <p:nvSpPr>
            <p:cNvPr id="65" name="Rectangle 64"/>
            <p:cNvSpPr/>
            <p:nvPr/>
          </p:nvSpPr>
          <p:spPr bwMode="auto">
            <a:xfrm>
              <a:off x="1259632"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T5</a:t>
              </a:r>
            </a:p>
          </p:txBody>
        </p:sp>
        <p:sp>
          <p:nvSpPr>
            <p:cNvPr id="66" name="Rectangle 65"/>
            <p:cNvSpPr/>
            <p:nvPr/>
          </p:nvSpPr>
          <p:spPr bwMode="auto">
            <a:xfrm>
              <a:off x="755576" y="2276872"/>
              <a:ext cx="1008112" cy="432048"/>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EU</a:t>
              </a:r>
            </a:p>
          </p:txBody>
        </p:sp>
        <p:sp>
          <p:nvSpPr>
            <p:cNvPr id="67" name="Rectangle 66"/>
            <p:cNvSpPr/>
            <p:nvPr/>
          </p:nvSpPr>
          <p:spPr bwMode="auto">
            <a:xfrm>
              <a:off x="755576" y="270892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L1I</a:t>
              </a:r>
            </a:p>
          </p:txBody>
        </p:sp>
        <p:sp>
          <p:nvSpPr>
            <p:cNvPr id="68" name="Rectangle 67"/>
            <p:cNvSpPr/>
            <p:nvPr/>
          </p:nvSpPr>
          <p:spPr bwMode="auto">
            <a:xfrm>
              <a:off x="755576" y="306896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L1D</a:t>
              </a:r>
            </a:p>
          </p:txBody>
        </p:sp>
        <p:sp>
          <p:nvSpPr>
            <p:cNvPr id="69" name="Rectangle 68"/>
            <p:cNvSpPr/>
            <p:nvPr/>
          </p:nvSpPr>
          <p:spPr bwMode="auto">
            <a:xfrm>
              <a:off x="755576" y="3429000"/>
              <a:ext cx="1008112"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L2</a:t>
              </a:r>
            </a:p>
          </p:txBody>
        </p:sp>
      </p:grpSp>
      <p:grpSp>
        <p:nvGrpSpPr>
          <p:cNvPr id="35" name="Group 34"/>
          <p:cNvGrpSpPr/>
          <p:nvPr/>
        </p:nvGrpSpPr>
        <p:grpSpPr>
          <a:xfrm>
            <a:off x="6341060" y="1993702"/>
            <a:ext cx="1594520" cy="2880320"/>
            <a:chOff x="457200" y="1628800"/>
            <a:chExt cx="1594520" cy="2880320"/>
          </a:xfrm>
        </p:grpSpPr>
        <p:sp>
          <p:nvSpPr>
            <p:cNvPr id="56" name="Rectangle 55"/>
            <p:cNvSpPr/>
            <p:nvPr/>
          </p:nvSpPr>
          <p:spPr bwMode="auto">
            <a:xfrm>
              <a:off x="457200" y="1628800"/>
              <a:ext cx="1594520" cy="2880320"/>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CORE 2</a:t>
              </a:r>
            </a:p>
          </p:txBody>
        </p:sp>
        <p:sp>
          <p:nvSpPr>
            <p:cNvPr id="57" name="Rectangle 56"/>
            <p:cNvSpPr/>
            <p:nvPr/>
          </p:nvSpPr>
          <p:spPr bwMode="auto">
            <a:xfrm>
              <a:off x="755576"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T2</a:t>
              </a:r>
            </a:p>
          </p:txBody>
        </p:sp>
        <p:sp>
          <p:nvSpPr>
            <p:cNvPr id="58" name="Rectangle 57"/>
            <p:cNvSpPr/>
            <p:nvPr/>
          </p:nvSpPr>
          <p:spPr bwMode="auto">
            <a:xfrm>
              <a:off x="1259632"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T6</a:t>
              </a:r>
            </a:p>
          </p:txBody>
        </p:sp>
        <p:sp>
          <p:nvSpPr>
            <p:cNvPr id="59" name="Rectangle 58"/>
            <p:cNvSpPr/>
            <p:nvPr/>
          </p:nvSpPr>
          <p:spPr bwMode="auto">
            <a:xfrm>
              <a:off x="755576" y="2276872"/>
              <a:ext cx="1008112" cy="432048"/>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EU</a:t>
              </a:r>
            </a:p>
          </p:txBody>
        </p:sp>
        <p:sp>
          <p:nvSpPr>
            <p:cNvPr id="60" name="Rectangle 59"/>
            <p:cNvSpPr/>
            <p:nvPr/>
          </p:nvSpPr>
          <p:spPr bwMode="auto">
            <a:xfrm>
              <a:off x="755576" y="270892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L1I</a:t>
              </a:r>
            </a:p>
          </p:txBody>
        </p:sp>
        <p:sp>
          <p:nvSpPr>
            <p:cNvPr id="61" name="Rectangle 60"/>
            <p:cNvSpPr/>
            <p:nvPr/>
          </p:nvSpPr>
          <p:spPr bwMode="auto">
            <a:xfrm>
              <a:off x="755576" y="306896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L1D</a:t>
              </a:r>
            </a:p>
          </p:txBody>
        </p:sp>
        <p:sp>
          <p:nvSpPr>
            <p:cNvPr id="62" name="Rectangle 61"/>
            <p:cNvSpPr/>
            <p:nvPr/>
          </p:nvSpPr>
          <p:spPr bwMode="auto">
            <a:xfrm>
              <a:off x="755576" y="3429000"/>
              <a:ext cx="1008112"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L2</a:t>
              </a:r>
            </a:p>
          </p:txBody>
        </p:sp>
      </p:grpSp>
      <p:grpSp>
        <p:nvGrpSpPr>
          <p:cNvPr id="46" name="Group 45"/>
          <p:cNvGrpSpPr/>
          <p:nvPr/>
        </p:nvGrpSpPr>
        <p:grpSpPr>
          <a:xfrm>
            <a:off x="8412978" y="1993702"/>
            <a:ext cx="1594520" cy="2880320"/>
            <a:chOff x="457200" y="1628800"/>
            <a:chExt cx="1594520" cy="2880320"/>
          </a:xfrm>
        </p:grpSpPr>
        <p:sp>
          <p:nvSpPr>
            <p:cNvPr id="49" name="Rectangle 48"/>
            <p:cNvSpPr/>
            <p:nvPr/>
          </p:nvSpPr>
          <p:spPr bwMode="auto">
            <a:xfrm>
              <a:off x="457200" y="1628800"/>
              <a:ext cx="1594520" cy="2880320"/>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CORE 3</a:t>
              </a:r>
            </a:p>
          </p:txBody>
        </p:sp>
        <p:sp>
          <p:nvSpPr>
            <p:cNvPr id="50" name="Rectangle 49"/>
            <p:cNvSpPr/>
            <p:nvPr/>
          </p:nvSpPr>
          <p:spPr bwMode="auto">
            <a:xfrm>
              <a:off x="755576"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T3</a:t>
              </a:r>
            </a:p>
          </p:txBody>
        </p:sp>
        <p:sp>
          <p:nvSpPr>
            <p:cNvPr id="51" name="Rectangle 50"/>
            <p:cNvSpPr/>
            <p:nvPr/>
          </p:nvSpPr>
          <p:spPr bwMode="auto">
            <a:xfrm>
              <a:off x="1259632" y="1844824"/>
              <a:ext cx="504056"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T7</a:t>
              </a:r>
            </a:p>
          </p:txBody>
        </p:sp>
        <p:sp>
          <p:nvSpPr>
            <p:cNvPr id="52" name="Rectangle 51"/>
            <p:cNvSpPr/>
            <p:nvPr/>
          </p:nvSpPr>
          <p:spPr bwMode="auto">
            <a:xfrm>
              <a:off x="755576" y="2276872"/>
              <a:ext cx="1008112" cy="432048"/>
            </a:xfrm>
            <a:prstGeom prst="rect">
              <a:avLst/>
            </a:prstGeom>
            <a:solidFill>
              <a:schemeClr val="tx2">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EU</a:t>
              </a:r>
            </a:p>
          </p:txBody>
        </p:sp>
        <p:sp>
          <p:nvSpPr>
            <p:cNvPr id="53" name="Rectangle 52"/>
            <p:cNvSpPr/>
            <p:nvPr/>
          </p:nvSpPr>
          <p:spPr bwMode="auto">
            <a:xfrm>
              <a:off x="755576" y="270892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L1I</a:t>
              </a:r>
            </a:p>
          </p:txBody>
        </p:sp>
        <p:sp>
          <p:nvSpPr>
            <p:cNvPr id="54" name="Rectangle 53"/>
            <p:cNvSpPr/>
            <p:nvPr/>
          </p:nvSpPr>
          <p:spPr bwMode="auto">
            <a:xfrm>
              <a:off x="755576" y="3068960"/>
              <a:ext cx="1008112"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L1D</a:t>
              </a:r>
            </a:p>
          </p:txBody>
        </p:sp>
        <p:sp>
          <p:nvSpPr>
            <p:cNvPr id="55" name="Rectangle 54"/>
            <p:cNvSpPr/>
            <p:nvPr/>
          </p:nvSpPr>
          <p:spPr bwMode="auto">
            <a:xfrm>
              <a:off x="755576" y="3429000"/>
              <a:ext cx="1008112" cy="648072"/>
            </a:xfrm>
            <a:prstGeom prst="rect">
              <a:avLst/>
            </a:prstGeom>
            <a:solidFill>
              <a:schemeClr val="accent6">
                <a:lumMod val="40000"/>
                <a:lumOff val="6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L2</a:t>
              </a:r>
            </a:p>
          </p:txBody>
        </p:sp>
      </p:grpSp>
      <p:sp>
        <p:nvSpPr>
          <p:cNvPr id="47" name="Rectangle 46"/>
          <p:cNvSpPr/>
          <p:nvPr/>
        </p:nvSpPr>
        <p:spPr bwMode="auto">
          <a:xfrm>
            <a:off x="2197224" y="5090046"/>
            <a:ext cx="7810274" cy="864096"/>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L3/LLC</a:t>
            </a:r>
          </a:p>
        </p:txBody>
      </p:sp>
      <p:sp>
        <p:nvSpPr>
          <p:cNvPr id="48" name="Rectangle 47"/>
          <p:cNvSpPr/>
          <p:nvPr/>
        </p:nvSpPr>
        <p:spPr bwMode="auto">
          <a:xfrm>
            <a:off x="2063552" y="1844824"/>
            <a:ext cx="8064896" cy="4608512"/>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b" anchorCtr="0" compatLnSpc="1">
            <a:prstTxWarp prst="textNoShape">
              <a:avLst/>
            </a:prstTxWarp>
          </a:bodyPr>
          <a:lstStyle>
            <a:defPPr>
              <a:defRPr lang="en-US"/>
            </a:defPPr>
            <a:lvl1pPr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1pPr>
            <a:lvl2pPr marL="4572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2pPr>
            <a:lvl3pPr marL="9144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3pPr>
            <a:lvl4pPr marL="13716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4pPr>
            <a:lvl5pPr marL="1828800" algn="l" rtl="0" eaLnBrk="0" fontAlgn="base" hangingPunct="0">
              <a:spcBef>
                <a:spcPct val="20000"/>
              </a:spcBef>
              <a:spcAft>
                <a:spcPct val="0"/>
              </a:spcAft>
              <a:buClr>
                <a:schemeClr val="tx2"/>
              </a:buClr>
              <a:buSzPct val="70000"/>
              <a:buFont typeface="Wingdings" pitchFamily="2" charset="2"/>
              <a:buChar char="l"/>
              <a:defRPr sz="3000" kern="1200">
                <a:solidFill>
                  <a:schemeClr val="tx1"/>
                </a:solidFill>
                <a:latin typeface="Arial" charset="0"/>
                <a:ea typeface="+mn-ea"/>
                <a:cs typeface="+mn-cs"/>
              </a:defRPr>
            </a:lvl5pPr>
            <a:lvl6pPr marL="2286000" algn="l" defTabSz="914400" rtl="0" eaLnBrk="1" latinLnBrk="0" hangingPunct="1">
              <a:defRPr sz="3000" kern="1200">
                <a:solidFill>
                  <a:schemeClr val="tx1"/>
                </a:solidFill>
                <a:latin typeface="Arial" charset="0"/>
                <a:ea typeface="+mn-ea"/>
                <a:cs typeface="+mn-cs"/>
              </a:defRPr>
            </a:lvl6pPr>
            <a:lvl7pPr marL="2743200" algn="l" defTabSz="914400" rtl="0" eaLnBrk="1" latinLnBrk="0" hangingPunct="1">
              <a:defRPr sz="3000" kern="1200">
                <a:solidFill>
                  <a:schemeClr val="tx1"/>
                </a:solidFill>
                <a:latin typeface="Arial" charset="0"/>
                <a:ea typeface="+mn-ea"/>
                <a:cs typeface="+mn-cs"/>
              </a:defRPr>
            </a:lvl7pPr>
            <a:lvl8pPr marL="3200400" algn="l" defTabSz="914400" rtl="0" eaLnBrk="1" latinLnBrk="0" hangingPunct="1">
              <a:defRPr sz="3000" kern="1200">
                <a:solidFill>
                  <a:schemeClr val="tx1"/>
                </a:solidFill>
                <a:latin typeface="Arial" charset="0"/>
                <a:ea typeface="+mn-ea"/>
                <a:cs typeface="+mn-cs"/>
              </a:defRPr>
            </a:lvl8pPr>
            <a:lvl9pPr marL="3657600" algn="l" defTabSz="914400" rtl="0" eaLnBrk="1" latinLnBrk="0" hangingPunct="1">
              <a:defRPr sz="3000" kern="1200">
                <a:solidFill>
                  <a:schemeClr val="tx1"/>
                </a:solidFill>
                <a:latin typeface="Arial" charset="0"/>
                <a:ea typeface="+mn-ea"/>
                <a:cs typeface="+mn-cs"/>
              </a:defRPr>
            </a:lvl9pPr>
          </a:lstStyle>
          <a:p>
            <a:pPr algn="ctr" eaLnBrk="1" hangingPunct="1">
              <a:spcBef>
                <a:spcPct val="0"/>
              </a:spcBef>
              <a:buClrTx/>
              <a:buSzTx/>
              <a:buNone/>
            </a:pPr>
            <a:r>
              <a:rPr lang="en-US" sz="1800"/>
              <a:t>Package</a:t>
            </a:r>
          </a:p>
        </p:txBody>
      </p:sp>
      <p:sp>
        <p:nvSpPr>
          <p:cNvPr id="3" name="Date Placeholder 2"/>
          <p:cNvSpPr>
            <a:spLocks noGrp="1"/>
          </p:cNvSpPr>
          <p:nvPr>
            <p:ph type="dt" sz="half" idx="10"/>
          </p:nvPr>
        </p:nvSpPr>
        <p:spPr/>
        <p:txBody>
          <a:bodyPr/>
          <a:lstStyle/>
          <a:p>
            <a:r>
              <a:rPr lang="cs-CZ" altLang="en-US"/>
              <a:t>19.3.2025</a:t>
            </a:r>
            <a:endParaRPr lang="en-US" altLang="en-US"/>
          </a:p>
        </p:txBody>
      </p:sp>
      <p:sp>
        <p:nvSpPr>
          <p:cNvPr id="4" name="Slide Number Placeholder 3"/>
          <p:cNvSpPr>
            <a:spLocks noGrp="1"/>
          </p:cNvSpPr>
          <p:nvPr>
            <p:ph type="sldNum" sz="quarter" idx="12"/>
          </p:nvPr>
        </p:nvSpPr>
        <p:spPr/>
        <p:txBody>
          <a:bodyPr/>
          <a:lstStyle/>
          <a:p>
            <a:fld id="{F4A1145F-674A-4228-8958-0EA9769F5517}" type="slidenum">
              <a:rPr lang="en-US" altLang="en-US" smtClean="0"/>
              <a:pPr/>
              <a:t>24</a:t>
            </a:fld>
            <a:endParaRPr lang="en-US" altLang="en-US"/>
          </a:p>
        </p:txBody>
      </p:sp>
    </p:spTree>
    <p:extLst>
      <p:ext uri="{BB962C8B-B14F-4D97-AF65-F5344CB8AC3E}">
        <p14:creationId xmlns:p14="http://schemas.microsoft.com/office/powerpoint/2010/main" val="4173062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Associative memory</a:t>
            </a:r>
          </a:p>
        </p:txBody>
      </p:sp>
      <p:sp>
        <p:nvSpPr>
          <p:cNvPr id="3" name="Content Placeholder 2"/>
          <p:cNvSpPr>
            <a:spLocks noGrp="1"/>
          </p:cNvSpPr>
          <p:nvPr>
            <p:ph idx="1"/>
          </p:nvPr>
        </p:nvSpPr>
        <p:spPr/>
        <p:txBody>
          <a:bodyPr/>
          <a:lstStyle/>
          <a:p>
            <a:r>
              <a:rPr lang="en-US"/>
              <a:t>Associative memory</a:t>
            </a:r>
          </a:p>
          <a:p>
            <a:pPr lvl="1"/>
            <a:r>
              <a:rPr lang="en-US"/>
              <a:t>Very fast</a:t>
            </a:r>
          </a:p>
          <a:p>
            <a:pPr lvl="1"/>
            <a:r>
              <a:rPr lang="en-US"/>
              <a:t>Content based addressing</a:t>
            </a:r>
          </a:p>
          <a:p>
            <a:pPr lvl="1"/>
            <a:r>
              <a:rPr lang="en-US"/>
              <a:t>Used in CPU caches</a:t>
            </a:r>
          </a:p>
        </p:txBody>
      </p:sp>
      <p:sp>
        <p:nvSpPr>
          <p:cNvPr id="8" name="Date Placeholder 7"/>
          <p:cNvSpPr>
            <a:spLocks noGrp="1"/>
          </p:cNvSpPr>
          <p:nvPr>
            <p:ph type="dt" sz="half" idx="10"/>
          </p:nvPr>
        </p:nvSpPr>
        <p:spPr/>
        <p:txBody>
          <a:bodyPr/>
          <a:lstStyle/>
          <a:p>
            <a:r>
              <a:rPr lang="cs-CZ" altLang="en-US"/>
              <a:t>19.3.2025</a:t>
            </a:r>
            <a:endParaRPr lang="en-US" altLang="en-US"/>
          </a:p>
        </p:txBody>
      </p:sp>
      <p:sp>
        <p:nvSpPr>
          <p:cNvPr id="9" name="Slide Number Placeholder 8"/>
          <p:cNvSpPr>
            <a:spLocks noGrp="1"/>
          </p:cNvSpPr>
          <p:nvPr>
            <p:ph type="sldNum" sz="quarter" idx="12"/>
          </p:nvPr>
        </p:nvSpPr>
        <p:spPr/>
        <p:txBody>
          <a:bodyPr/>
          <a:lstStyle/>
          <a:p>
            <a:fld id="{F4A1145F-674A-4228-8958-0EA9769F5517}" type="slidenum">
              <a:rPr lang="en-US" altLang="en-US" smtClean="0"/>
              <a:pPr/>
              <a:t>25</a:t>
            </a:fld>
            <a:endParaRPr lang="en-US" altLang="en-US"/>
          </a:p>
        </p:txBody>
      </p:sp>
      <p:grpSp>
        <p:nvGrpSpPr>
          <p:cNvPr id="16" name="Group 15"/>
          <p:cNvGrpSpPr/>
          <p:nvPr/>
        </p:nvGrpSpPr>
        <p:grpSpPr>
          <a:xfrm>
            <a:off x="2155557" y="3677317"/>
            <a:ext cx="1442856" cy="2271789"/>
            <a:chOff x="2155557" y="3677317"/>
            <a:chExt cx="1442856" cy="2271789"/>
          </a:xfrm>
        </p:grpSpPr>
        <p:sp>
          <p:nvSpPr>
            <p:cNvPr id="10" name="TextBox 9"/>
            <p:cNvSpPr txBox="1"/>
            <p:nvPr/>
          </p:nvSpPr>
          <p:spPr>
            <a:xfrm>
              <a:off x="2190270" y="3677317"/>
              <a:ext cx="499560" cy="369332"/>
            </a:xfrm>
            <a:prstGeom prst="rect">
              <a:avLst/>
            </a:prstGeom>
            <a:noFill/>
          </p:spPr>
          <p:txBody>
            <a:bodyPr wrap="none" rtlCol="0">
              <a:spAutoFit/>
            </a:bodyPr>
            <a:lstStyle/>
            <a:p>
              <a:r>
                <a:rPr lang="en-US">
                  <a:latin typeface="+mn-lt"/>
                </a:rPr>
                <a:t>key</a:t>
              </a:r>
            </a:p>
          </p:txBody>
        </p:sp>
        <p:sp>
          <p:nvSpPr>
            <p:cNvPr id="11" name="TextBox 10"/>
            <p:cNvSpPr txBox="1"/>
            <p:nvPr/>
          </p:nvSpPr>
          <p:spPr>
            <a:xfrm>
              <a:off x="2795620" y="3678700"/>
              <a:ext cx="686213" cy="369332"/>
            </a:xfrm>
            <a:prstGeom prst="rect">
              <a:avLst/>
            </a:prstGeom>
            <a:noFill/>
          </p:spPr>
          <p:txBody>
            <a:bodyPr wrap="none" rtlCol="0">
              <a:spAutoFit/>
            </a:bodyPr>
            <a:lstStyle/>
            <a:p>
              <a:r>
                <a:rPr lang="en-US">
                  <a:latin typeface="+mn-lt"/>
                </a:rPr>
                <a:t>value</a:t>
              </a:r>
            </a:p>
          </p:txBody>
        </p:sp>
        <p:sp>
          <p:nvSpPr>
            <p:cNvPr id="12" name="Rectangle 11"/>
            <p:cNvSpPr/>
            <p:nvPr/>
          </p:nvSpPr>
          <p:spPr bwMode="auto">
            <a:xfrm>
              <a:off x="2155557" y="4046650"/>
              <a:ext cx="576064"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3" name="Rectangle 12"/>
            <p:cNvSpPr/>
            <p:nvPr/>
          </p:nvSpPr>
          <p:spPr bwMode="auto">
            <a:xfrm>
              <a:off x="2731621" y="4046650"/>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4" name="Rectangle 13"/>
            <p:cNvSpPr/>
            <p:nvPr/>
          </p:nvSpPr>
          <p:spPr bwMode="auto">
            <a:xfrm>
              <a:off x="2155557" y="4365903"/>
              <a:ext cx="576064"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5" name="Rectangle 14"/>
            <p:cNvSpPr/>
            <p:nvPr/>
          </p:nvSpPr>
          <p:spPr bwMode="auto">
            <a:xfrm>
              <a:off x="2731621" y="4365903"/>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0" name="Rectangle 19"/>
            <p:cNvSpPr/>
            <p:nvPr/>
          </p:nvSpPr>
          <p:spPr bwMode="auto">
            <a:xfrm>
              <a:off x="2155557" y="5629853"/>
              <a:ext cx="578760"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1" name="Rectangle 20"/>
            <p:cNvSpPr/>
            <p:nvPr/>
          </p:nvSpPr>
          <p:spPr bwMode="auto">
            <a:xfrm>
              <a:off x="2734317" y="5629853"/>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2" name="Rectangle 21"/>
            <p:cNvSpPr/>
            <p:nvPr/>
          </p:nvSpPr>
          <p:spPr bwMode="auto">
            <a:xfrm>
              <a:off x="2155557" y="5311983"/>
              <a:ext cx="576064"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3" name="Rectangle 22"/>
            <p:cNvSpPr/>
            <p:nvPr/>
          </p:nvSpPr>
          <p:spPr bwMode="auto">
            <a:xfrm>
              <a:off x="2731621" y="5311983"/>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4" name="Rectangle 23"/>
            <p:cNvSpPr/>
            <p:nvPr/>
          </p:nvSpPr>
          <p:spPr bwMode="auto">
            <a:xfrm>
              <a:off x="2155557" y="5001643"/>
              <a:ext cx="576064"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5" name="Rectangle 24"/>
            <p:cNvSpPr/>
            <p:nvPr/>
          </p:nvSpPr>
          <p:spPr bwMode="auto">
            <a:xfrm>
              <a:off x="2731621" y="5001643"/>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6" name="Rectangle 25"/>
            <p:cNvSpPr/>
            <p:nvPr/>
          </p:nvSpPr>
          <p:spPr bwMode="auto">
            <a:xfrm>
              <a:off x="2155557" y="4683773"/>
              <a:ext cx="576064" cy="319253"/>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27" name="Rectangle 26"/>
            <p:cNvSpPr/>
            <p:nvPr/>
          </p:nvSpPr>
          <p:spPr bwMode="auto">
            <a:xfrm>
              <a:off x="2731621" y="4683773"/>
              <a:ext cx="864096" cy="319253"/>
            </a:xfrm>
            <a:prstGeom prst="rect">
              <a:avLst/>
            </a:prstGeom>
            <a:solidFill>
              <a:schemeClr val="accent6">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grpSp>
      <p:grpSp>
        <p:nvGrpSpPr>
          <p:cNvPr id="17" name="Group 16"/>
          <p:cNvGrpSpPr/>
          <p:nvPr/>
        </p:nvGrpSpPr>
        <p:grpSpPr>
          <a:xfrm>
            <a:off x="5470958" y="1761557"/>
            <a:ext cx="4440702" cy="4520178"/>
            <a:chOff x="5470958" y="1761557"/>
            <a:chExt cx="4440702" cy="4520178"/>
          </a:xfrm>
        </p:grpSpPr>
        <p:sp>
          <p:nvSpPr>
            <p:cNvPr id="32" name="Rectangle 31"/>
            <p:cNvSpPr/>
            <p:nvPr/>
          </p:nvSpPr>
          <p:spPr bwMode="auto">
            <a:xfrm>
              <a:off x="6190050" y="2131031"/>
              <a:ext cx="1296144" cy="4150704"/>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4" name="Rectangle 63"/>
            <p:cNvSpPr/>
            <p:nvPr/>
          </p:nvSpPr>
          <p:spPr bwMode="auto">
            <a:xfrm>
              <a:off x="6189060" y="5527476"/>
              <a:ext cx="1297135" cy="226267"/>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3" name="Rectangle 62"/>
            <p:cNvSpPr/>
            <p:nvPr/>
          </p:nvSpPr>
          <p:spPr bwMode="auto">
            <a:xfrm>
              <a:off x="6189060" y="4865884"/>
              <a:ext cx="1297135" cy="226267"/>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2" name="Rectangle 61"/>
            <p:cNvSpPr/>
            <p:nvPr/>
          </p:nvSpPr>
          <p:spPr bwMode="auto">
            <a:xfrm>
              <a:off x="6189060" y="3500641"/>
              <a:ext cx="1297135" cy="226267"/>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1" name="Rectangle 60"/>
            <p:cNvSpPr/>
            <p:nvPr/>
          </p:nvSpPr>
          <p:spPr bwMode="auto">
            <a:xfrm>
              <a:off x="6189060" y="2779323"/>
              <a:ext cx="1297135" cy="226267"/>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4" name="Rectangle 3"/>
            <p:cNvSpPr/>
            <p:nvPr/>
          </p:nvSpPr>
          <p:spPr bwMode="auto">
            <a:xfrm>
              <a:off x="8037355" y="4197649"/>
              <a:ext cx="792088"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8832</a:t>
              </a:r>
            </a:p>
          </p:txBody>
        </p:sp>
        <p:sp>
          <p:nvSpPr>
            <p:cNvPr id="5" name="Rectangle 4"/>
            <p:cNvSpPr/>
            <p:nvPr/>
          </p:nvSpPr>
          <p:spPr bwMode="auto">
            <a:xfrm>
              <a:off x="8037355" y="4557689"/>
              <a:ext cx="792088"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7296</a:t>
              </a:r>
            </a:p>
          </p:txBody>
        </p:sp>
        <p:sp>
          <p:nvSpPr>
            <p:cNvPr id="6" name="Rectangle 5"/>
            <p:cNvSpPr/>
            <p:nvPr/>
          </p:nvSpPr>
          <p:spPr bwMode="auto">
            <a:xfrm>
              <a:off x="8037355" y="4917729"/>
              <a:ext cx="792088"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1334</a:t>
              </a:r>
            </a:p>
          </p:txBody>
        </p:sp>
        <p:sp>
          <p:nvSpPr>
            <p:cNvPr id="7" name="Rectangle 6"/>
            <p:cNvSpPr/>
            <p:nvPr/>
          </p:nvSpPr>
          <p:spPr bwMode="auto">
            <a:xfrm>
              <a:off x="8037355" y="5277769"/>
              <a:ext cx="792088" cy="360040"/>
            </a:xfrm>
            <a:prstGeom prst="rect">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r>
                <a:rPr lang="en-US">
                  <a:latin typeface="+mn-lt"/>
                </a:rPr>
                <a:t>4096</a:t>
              </a:r>
            </a:p>
          </p:txBody>
        </p:sp>
        <p:sp>
          <p:nvSpPr>
            <p:cNvPr id="30" name="TextBox 29"/>
            <p:cNvSpPr txBox="1"/>
            <p:nvPr/>
          </p:nvSpPr>
          <p:spPr>
            <a:xfrm>
              <a:off x="7971368" y="3794886"/>
              <a:ext cx="933461" cy="369332"/>
            </a:xfrm>
            <a:prstGeom prst="rect">
              <a:avLst/>
            </a:prstGeom>
            <a:noFill/>
          </p:spPr>
          <p:txBody>
            <a:bodyPr wrap="none" rtlCol="0">
              <a:spAutoFit/>
            </a:bodyPr>
            <a:lstStyle/>
            <a:p>
              <a:r>
                <a:rPr lang="en-US">
                  <a:latin typeface="+mn-lt"/>
                </a:rPr>
                <a:t>Address</a:t>
              </a:r>
            </a:p>
          </p:txBody>
        </p:sp>
        <p:sp>
          <p:nvSpPr>
            <p:cNvPr id="38" name="TextBox 37"/>
            <p:cNvSpPr txBox="1"/>
            <p:nvPr/>
          </p:nvSpPr>
          <p:spPr>
            <a:xfrm>
              <a:off x="5470958" y="2721886"/>
              <a:ext cx="652743" cy="369332"/>
            </a:xfrm>
            <a:prstGeom prst="rect">
              <a:avLst/>
            </a:prstGeom>
            <a:noFill/>
          </p:spPr>
          <p:txBody>
            <a:bodyPr wrap="none" rtlCol="0">
              <a:spAutoFit/>
            </a:bodyPr>
            <a:lstStyle/>
            <a:p>
              <a:pPr algn="r"/>
              <a:r>
                <a:rPr lang="en-US">
                  <a:latin typeface="+mn-lt"/>
                </a:rPr>
                <a:t>1334</a:t>
              </a:r>
            </a:p>
          </p:txBody>
        </p:sp>
        <p:sp>
          <p:nvSpPr>
            <p:cNvPr id="49" name="TextBox 48"/>
            <p:cNvSpPr txBox="1"/>
            <p:nvPr/>
          </p:nvSpPr>
          <p:spPr>
            <a:xfrm>
              <a:off x="6489309" y="1761557"/>
              <a:ext cx="639919" cy="369332"/>
            </a:xfrm>
            <a:prstGeom prst="rect">
              <a:avLst/>
            </a:prstGeom>
            <a:noFill/>
          </p:spPr>
          <p:txBody>
            <a:bodyPr wrap="none" rtlCol="0">
              <a:spAutoFit/>
            </a:bodyPr>
            <a:lstStyle/>
            <a:p>
              <a:r>
                <a:rPr lang="en-US">
                  <a:latin typeface="+mn-lt"/>
                </a:rPr>
                <a:t>RAM</a:t>
              </a:r>
            </a:p>
          </p:txBody>
        </p:sp>
        <p:sp>
          <p:nvSpPr>
            <p:cNvPr id="50" name="TextBox 49"/>
            <p:cNvSpPr txBox="1"/>
            <p:nvPr/>
          </p:nvSpPr>
          <p:spPr>
            <a:xfrm>
              <a:off x="5470958" y="3429108"/>
              <a:ext cx="652743" cy="369332"/>
            </a:xfrm>
            <a:prstGeom prst="rect">
              <a:avLst/>
            </a:prstGeom>
            <a:noFill/>
          </p:spPr>
          <p:txBody>
            <a:bodyPr wrap="none" rtlCol="0">
              <a:spAutoFit/>
            </a:bodyPr>
            <a:lstStyle/>
            <a:p>
              <a:pPr algn="r"/>
              <a:r>
                <a:rPr lang="en-US">
                  <a:latin typeface="+mn-lt"/>
                </a:rPr>
                <a:t>4096</a:t>
              </a:r>
            </a:p>
          </p:txBody>
        </p:sp>
        <p:sp>
          <p:nvSpPr>
            <p:cNvPr id="51" name="TextBox 50"/>
            <p:cNvSpPr txBox="1"/>
            <p:nvPr/>
          </p:nvSpPr>
          <p:spPr>
            <a:xfrm>
              <a:off x="5516573" y="4769592"/>
              <a:ext cx="652743" cy="369332"/>
            </a:xfrm>
            <a:prstGeom prst="rect">
              <a:avLst/>
            </a:prstGeom>
            <a:noFill/>
          </p:spPr>
          <p:txBody>
            <a:bodyPr wrap="none" rtlCol="0">
              <a:spAutoFit/>
            </a:bodyPr>
            <a:lstStyle/>
            <a:p>
              <a:pPr algn="r"/>
              <a:r>
                <a:rPr lang="en-US">
                  <a:latin typeface="+mn-lt"/>
                </a:rPr>
                <a:t>7296</a:t>
              </a:r>
            </a:p>
          </p:txBody>
        </p:sp>
        <p:sp>
          <p:nvSpPr>
            <p:cNvPr id="52" name="TextBox 51"/>
            <p:cNvSpPr txBox="1"/>
            <p:nvPr/>
          </p:nvSpPr>
          <p:spPr>
            <a:xfrm>
              <a:off x="5498724" y="5471609"/>
              <a:ext cx="652743" cy="369332"/>
            </a:xfrm>
            <a:prstGeom prst="rect">
              <a:avLst/>
            </a:prstGeom>
            <a:noFill/>
          </p:spPr>
          <p:txBody>
            <a:bodyPr wrap="none" rtlCol="0">
              <a:spAutoFit/>
            </a:bodyPr>
            <a:lstStyle/>
            <a:p>
              <a:pPr algn="r"/>
              <a:r>
                <a:rPr lang="en-US">
                  <a:latin typeface="+mn-lt"/>
                </a:rPr>
                <a:t>8832</a:t>
              </a:r>
            </a:p>
          </p:txBody>
        </p:sp>
        <p:cxnSp>
          <p:nvCxnSpPr>
            <p:cNvPr id="54" name="Straight Arrow Connector 53"/>
            <p:cNvCxnSpPr>
              <a:endCxn id="6" idx="1"/>
            </p:cNvCxnSpPr>
            <p:nvPr/>
          </p:nvCxnSpPr>
          <p:spPr bwMode="auto">
            <a:xfrm>
              <a:off x="7486195" y="2927265"/>
              <a:ext cx="551161" cy="21704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6" name="Straight Arrow Connector 55"/>
            <p:cNvCxnSpPr>
              <a:endCxn id="7" idx="1"/>
            </p:cNvCxnSpPr>
            <p:nvPr/>
          </p:nvCxnSpPr>
          <p:spPr bwMode="auto">
            <a:xfrm>
              <a:off x="7486195" y="3647345"/>
              <a:ext cx="551161" cy="18104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58" name="Straight Arrow Connector 57"/>
            <p:cNvCxnSpPr>
              <a:endCxn id="5" idx="1"/>
            </p:cNvCxnSpPr>
            <p:nvPr/>
          </p:nvCxnSpPr>
          <p:spPr bwMode="auto">
            <a:xfrm flipV="1">
              <a:off x="7486195" y="4737709"/>
              <a:ext cx="551161" cy="22139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60" name="Straight Arrow Connector 59"/>
            <p:cNvCxnSpPr>
              <a:endCxn id="4" idx="1"/>
            </p:cNvCxnSpPr>
            <p:nvPr/>
          </p:nvCxnSpPr>
          <p:spPr bwMode="auto">
            <a:xfrm flipV="1">
              <a:off x="7486195" y="4377669"/>
              <a:ext cx="551161" cy="126014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65" name="Rectangle 64"/>
            <p:cNvSpPr/>
            <p:nvPr/>
          </p:nvSpPr>
          <p:spPr bwMode="auto">
            <a:xfrm>
              <a:off x="8829443" y="4197649"/>
              <a:ext cx="1080120" cy="36004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6" name="Rectangle 65"/>
            <p:cNvSpPr/>
            <p:nvPr/>
          </p:nvSpPr>
          <p:spPr bwMode="auto">
            <a:xfrm>
              <a:off x="8831540" y="4557689"/>
              <a:ext cx="1080120" cy="36004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7" name="Rectangle 66"/>
            <p:cNvSpPr/>
            <p:nvPr/>
          </p:nvSpPr>
          <p:spPr bwMode="auto">
            <a:xfrm>
              <a:off x="8829443" y="4917729"/>
              <a:ext cx="1080120" cy="36004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68" name="Rectangle 67"/>
            <p:cNvSpPr/>
            <p:nvPr/>
          </p:nvSpPr>
          <p:spPr bwMode="auto">
            <a:xfrm>
              <a:off x="8829443" y="5276969"/>
              <a:ext cx="1080120" cy="360040"/>
            </a:xfrm>
            <a:prstGeom prst="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grpSp>
      <p:sp>
        <p:nvSpPr>
          <p:cNvPr id="44" name="Rounded Rectangular Callout 43"/>
          <p:cNvSpPr/>
          <p:nvPr/>
        </p:nvSpPr>
        <p:spPr>
          <a:xfrm>
            <a:off x="9209785" y="2372410"/>
            <a:ext cx="2607754" cy="1132009"/>
          </a:xfrm>
          <a:prstGeom prst="wedgeRoundRectCallout">
            <a:avLst>
              <a:gd name="adj1" fmla="val -40495"/>
              <a:gd name="adj2" fmla="val 9243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Fully associative</a:t>
            </a:r>
            <a:br>
              <a:rPr lang="en-US"/>
            </a:br>
            <a:r>
              <a:rPr lang="en-US"/>
              <a:t>vs.</a:t>
            </a:r>
            <a:br>
              <a:rPr lang="en-US"/>
            </a:br>
            <a:r>
              <a:rPr lang="en-US"/>
              <a:t>n-way associative</a:t>
            </a:r>
          </a:p>
        </p:txBody>
      </p:sp>
    </p:spTree>
    <p:extLst>
      <p:ext uri="{BB962C8B-B14F-4D97-AF65-F5344CB8AC3E}">
        <p14:creationId xmlns:p14="http://schemas.microsoft.com/office/powerpoint/2010/main" val="168291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NUMA</a:t>
            </a:r>
          </a:p>
        </p:txBody>
      </p:sp>
      <p:sp>
        <p:nvSpPr>
          <p:cNvPr id="3" name="Content Placeholder 2"/>
          <p:cNvSpPr>
            <a:spLocks noGrp="1"/>
          </p:cNvSpPr>
          <p:nvPr>
            <p:ph idx="1"/>
          </p:nvPr>
        </p:nvSpPr>
        <p:spPr/>
        <p:txBody>
          <a:bodyPr>
            <a:normAutofit/>
          </a:bodyPr>
          <a:lstStyle/>
          <a:p>
            <a:r>
              <a:rPr lang="en-US"/>
              <a:t>Multiprocessors</a:t>
            </a:r>
          </a:p>
          <a:p>
            <a:pPr lvl="1"/>
            <a:r>
              <a:rPr lang="en-US"/>
              <a:t>SMP – Symmetric multiprocessing</a:t>
            </a:r>
          </a:p>
          <a:p>
            <a:pPr lvl="1"/>
            <a:r>
              <a:rPr lang="en-US"/>
              <a:t>NUMA – Non-uniform memory access</a:t>
            </a:r>
          </a:p>
        </p:txBody>
      </p:sp>
      <p:sp>
        <p:nvSpPr>
          <p:cNvPr id="32" name="Date Placeholder 31"/>
          <p:cNvSpPr>
            <a:spLocks noGrp="1"/>
          </p:cNvSpPr>
          <p:nvPr>
            <p:ph type="dt" sz="half" idx="10"/>
          </p:nvPr>
        </p:nvSpPr>
        <p:spPr/>
        <p:txBody>
          <a:bodyPr/>
          <a:lstStyle/>
          <a:p>
            <a:r>
              <a:rPr lang="cs-CZ" altLang="en-US"/>
              <a:t>19.3.2025</a:t>
            </a:r>
            <a:endParaRPr lang="en-US" altLang="en-US"/>
          </a:p>
        </p:txBody>
      </p:sp>
      <p:sp>
        <p:nvSpPr>
          <p:cNvPr id="33" name="Slide Number Placeholder 32"/>
          <p:cNvSpPr>
            <a:spLocks noGrp="1"/>
          </p:cNvSpPr>
          <p:nvPr>
            <p:ph type="sldNum" sz="quarter" idx="12"/>
          </p:nvPr>
        </p:nvSpPr>
        <p:spPr/>
        <p:txBody>
          <a:bodyPr/>
          <a:lstStyle/>
          <a:p>
            <a:fld id="{F4A1145F-674A-4228-8958-0EA9769F5517}" type="slidenum">
              <a:rPr lang="en-US" altLang="en-US" smtClean="0"/>
              <a:pPr/>
              <a:t>26</a:t>
            </a:fld>
            <a:endParaRPr lang="en-US" altLang="en-US"/>
          </a:p>
        </p:txBody>
      </p:sp>
      <p:sp>
        <p:nvSpPr>
          <p:cNvPr id="4" name="Rectangle 3"/>
          <p:cNvSpPr/>
          <p:nvPr/>
        </p:nvSpPr>
        <p:spPr bwMode="auto">
          <a:xfrm>
            <a:off x="2244891" y="3763048"/>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CPU1</a:t>
            </a:r>
          </a:p>
        </p:txBody>
      </p:sp>
      <p:sp>
        <p:nvSpPr>
          <p:cNvPr id="5" name="Rectangle 4"/>
          <p:cNvSpPr/>
          <p:nvPr/>
        </p:nvSpPr>
        <p:spPr bwMode="auto">
          <a:xfrm>
            <a:off x="3253003" y="3763048"/>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CPU2</a:t>
            </a:r>
          </a:p>
        </p:txBody>
      </p:sp>
      <p:sp>
        <p:nvSpPr>
          <p:cNvPr id="6" name="Left-Right Arrow 5"/>
          <p:cNvSpPr/>
          <p:nvPr/>
        </p:nvSpPr>
        <p:spPr bwMode="auto">
          <a:xfrm>
            <a:off x="1848847" y="4267104"/>
            <a:ext cx="2556284" cy="720080"/>
          </a:xfrm>
          <a:prstGeom prst="leftRightArrow">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System bus</a:t>
            </a:r>
          </a:p>
        </p:txBody>
      </p:sp>
      <p:sp>
        <p:nvSpPr>
          <p:cNvPr id="7" name="Rectangle 6"/>
          <p:cNvSpPr/>
          <p:nvPr/>
        </p:nvSpPr>
        <p:spPr bwMode="auto">
          <a:xfrm>
            <a:off x="2676939" y="5131200"/>
            <a:ext cx="936104"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RAM</a:t>
            </a:r>
          </a:p>
        </p:txBody>
      </p:sp>
      <p:sp>
        <p:nvSpPr>
          <p:cNvPr id="8" name="Up-Down Arrow 7"/>
          <p:cNvSpPr/>
          <p:nvPr/>
        </p:nvSpPr>
        <p:spPr bwMode="auto">
          <a:xfrm>
            <a:off x="2568927" y="4123088"/>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9" name="Up-Down Arrow 8"/>
          <p:cNvSpPr/>
          <p:nvPr/>
        </p:nvSpPr>
        <p:spPr bwMode="auto">
          <a:xfrm>
            <a:off x="3577039" y="4123088"/>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0" name="Up-Down Arrow 9"/>
          <p:cNvSpPr/>
          <p:nvPr/>
        </p:nvSpPr>
        <p:spPr bwMode="auto">
          <a:xfrm>
            <a:off x="3055601" y="4828304"/>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US">
              <a:latin typeface="+mn-lt"/>
            </a:endParaRPr>
          </a:p>
        </p:txBody>
      </p:sp>
      <p:sp>
        <p:nvSpPr>
          <p:cNvPr id="11" name="Rectangle 10"/>
          <p:cNvSpPr/>
          <p:nvPr/>
        </p:nvSpPr>
        <p:spPr bwMode="auto">
          <a:xfrm>
            <a:off x="5890820" y="3850085"/>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CPU1</a:t>
            </a:r>
          </a:p>
        </p:txBody>
      </p:sp>
      <p:sp>
        <p:nvSpPr>
          <p:cNvPr id="12" name="Rectangle 11"/>
          <p:cNvSpPr/>
          <p:nvPr/>
        </p:nvSpPr>
        <p:spPr bwMode="auto">
          <a:xfrm>
            <a:off x="5890820" y="5127300"/>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CPU2</a:t>
            </a:r>
          </a:p>
        </p:txBody>
      </p:sp>
      <p:sp>
        <p:nvSpPr>
          <p:cNvPr id="13" name="Rectangle 12"/>
          <p:cNvSpPr/>
          <p:nvPr/>
        </p:nvSpPr>
        <p:spPr bwMode="auto">
          <a:xfrm>
            <a:off x="7698260" y="5127300"/>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CPU4</a:t>
            </a:r>
          </a:p>
        </p:txBody>
      </p:sp>
      <p:sp>
        <p:nvSpPr>
          <p:cNvPr id="14" name="Rectangle 13"/>
          <p:cNvSpPr/>
          <p:nvPr/>
        </p:nvSpPr>
        <p:spPr bwMode="auto">
          <a:xfrm>
            <a:off x="7697116" y="3846184"/>
            <a:ext cx="792088" cy="360040"/>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CPU3</a:t>
            </a:r>
          </a:p>
        </p:txBody>
      </p:sp>
      <p:sp>
        <p:nvSpPr>
          <p:cNvPr id="15" name="Up-Down Arrow 14"/>
          <p:cNvSpPr/>
          <p:nvPr/>
        </p:nvSpPr>
        <p:spPr bwMode="auto">
          <a:xfrm>
            <a:off x="6109892" y="4206224"/>
            <a:ext cx="360040" cy="921076"/>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16" name="Up-Down Arrow 15"/>
          <p:cNvSpPr/>
          <p:nvPr/>
        </p:nvSpPr>
        <p:spPr bwMode="auto">
          <a:xfrm>
            <a:off x="7910092" y="4206224"/>
            <a:ext cx="360040" cy="921076"/>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17" name="Left-Right Arrow 16"/>
          <p:cNvSpPr/>
          <p:nvPr/>
        </p:nvSpPr>
        <p:spPr bwMode="auto">
          <a:xfrm>
            <a:off x="6682908" y="3846184"/>
            <a:ext cx="1014208" cy="360040"/>
          </a:xfrm>
          <a:prstGeom prst="lef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18" name="Left-Right Arrow 17"/>
          <p:cNvSpPr/>
          <p:nvPr/>
        </p:nvSpPr>
        <p:spPr bwMode="auto">
          <a:xfrm>
            <a:off x="6682908" y="5127300"/>
            <a:ext cx="1014208" cy="360040"/>
          </a:xfrm>
          <a:prstGeom prst="leftRight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19" name="Up-Down Arrow 18"/>
          <p:cNvSpPr/>
          <p:nvPr/>
        </p:nvSpPr>
        <p:spPr bwMode="auto">
          <a:xfrm>
            <a:off x="6214856" y="3557778"/>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20" name="Up-Down Arrow 19"/>
          <p:cNvSpPr/>
          <p:nvPr/>
        </p:nvSpPr>
        <p:spPr bwMode="auto">
          <a:xfrm>
            <a:off x="8018104" y="5491615"/>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21" name="Up-Down Arrow 20"/>
          <p:cNvSpPr/>
          <p:nvPr/>
        </p:nvSpPr>
        <p:spPr bwMode="auto">
          <a:xfrm>
            <a:off x="8018104" y="3562053"/>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22" name="Up-Down Arrow 21"/>
          <p:cNvSpPr/>
          <p:nvPr/>
        </p:nvSpPr>
        <p:spPr bwMode="auto">
          <a:xfrm>
            <a:off x="6214856" y="5491615"/>
            <a:ext cx="144016" cy="288032"/>
          </a:xfrm>
          <a:prstGeom prst="upDownArrow">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endParaRPr lang="en-US">
              <a:latin typeface="+mn-lt"/>
            </a:endParaRPr>
          </a:p>
        </p:txBody>
      </p:sp>
      <p:sp>
        <p:nvSpPr>
          <p:cNvPr id="23" name="Rectangle 22"/>
          <p:cNvSpPr/>
          <p:nvPr/>
        </p:nvSpPr>
        <p:spPr bwMode="auto">
          <a:xfrm>
            <a:off x="7622060" y="5779647"/>
            <a:ext cx="936104" cy="36004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RAM4</a:t>
            </a:r>
          </a:p>
        </p:txBody>
      </p:sp>
      <p:sp>
        <p:nvSpPr>
          <p:cNvPr id="24" name="Rectangle 23"/>
          <p:cNvSpPr/>
          <p:nvPr/>
        </p:nvSpPr>
        <p:spPr bwMode="auto">
          <a:xfrm>
            <a:off x="7622060" y="3205626"/>
            <a:ext cx="936104" cy="360040"/>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RAM3</a:t>
            </a:r>
          </a:p>
        </p:txBody>
      </p:sp>
      <p:sp>
        <p:nvSpPr>
          <p:cNvPr id="25" name="Rectangle 24"/>
          <p:cNvSpPr/>
          <p:nvPr/>
        </p:nvSpPr>
        <p:spPr bwMode="auto">
          <a:xfrm>
            <a:off x="5818812" y="5787059"/>
            <a:ext cx="936104" cy="36004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RAM2</a:t>
            </a:r>
          </a:p>
        </p:txBody>
      </p:sp>
      <p:sp>
        <p:nvSpPr>
          <p:cNvPr id="26" name="Rectangle 25"/>
          <p:cNvSpPr/>
          <p:nvPr/>
        </p:nvSpPr>
        <p:spPr bwMode="auto">
          <a:xfrm>
            <a:off x="5818812" y="3198181"/>
            <a:ext cx="936104" cy="36004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en-US">
                <a:latin typeface="+mn-lt"/>
              </a:rPr>
              <a:t>RAM1</a:t>
            </a:r>
          </a:p>
        </p:txBody>
      </p:sp>
      <p:sp>
        <p:nvSpPr>
          <p:cNvPr id="28" name="TextBox 27"/>
          <p:cNvSpPr txBox="1"/>
          <p:nvPr/>
        </p:nvSpPr>
        <p:spPr>
          <a:xfrm>
            <a:off x="9264352" y="1849927"/>
            <a:ext cx="1521763" cy="369332"/>
          </a:xfrm>
          <a:prstGeom prst="rect">
            <a:avLst/>
          </a:prstGeom>
          <a:noFill/>
        </p:spPr>
        <p:txBody>
          <a:bodyPr wrap="none" rtlCol="0">
            <a:spAutoFit/>
          </a:bodyPr>
          <a:lstStyle/>
          <a:p>
            <a:r>
              <a:rPr lang="en-US">
                <a:latin typeface="+mn-lt"/>
              </a:rPr>
              <a:t>Address space</a:t>
            </a:r>
          </a:p>
        </p:txBody>
      </p:sp>
      <p:grpSp>
        <p:nvGrpSpPr>
          <p:cNvPr id="34" name="Group 33"/>
          <p:cNvGrpSpPr/>
          <p:nvPr/>
        </p:nvGrpSpPr>
        <p:grpSpPr>
          <a:xfrm>
            <a:off x="9528359" y="2300159"/>
            <a:ext cx="1081592" cy="3732332"/>
            <a:chOff x="9528359" y="2300159"/>
            <a:chExt cx="1081592" cy="3732332"/>
          </a:xfrm>
        </p:grpSpPr>
        <p:sp>
          <p:nvSpPr>
            <p:cNvPr id="27" name="Rectangle 26"/>
            <p:cNvSpPr/>
            <p:nvPr/>
          </p:nvSpPr>
          <p:spPr bwMode="auto">
            <a:xfrm>
              <a:off x="9528359" y="2300159"/>
              <a:ext cx="1080120" cy="936104"/>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RAM1</a:t>
              </a:r>
            </a:p>
          </p:txBody>
        </p:sp>
        <p:sp>
          <p:nvSpPr>
            <p:cNvPr id="29" name="Rectangle 28"/>
            <p:cNvSpPr/>
            <p:nvPr/>
          </p:nvSpPr>
          <p:spPr bwMode="auto">
            <a:xfrm>
              <a:off x="9528359" y="3230221"/>
              <a:ext cx="1080120" cy="936104"/>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RAM2</a:t>
              </a:r>
            </a:p>
          </p:txBody>
        </p:sp>
        <p:sp>
          <p:nvSpPr>
            <p:cNvPr id="30" name="Rectangle 29"/>
            <p:cNvSpPr/>
            <p:nvPr/>
          </p:nvSpPr>
          <p:spPr bwMode="auto">
            <a:xfrm>
              <a:off x="9528359" y="5096387"/>
              <a:ext cx="1080120" cy="936104"/>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RAM4</a:t>
              </a:r>
            </a:p>
          </p:txBody>
        </p:sp>
        <p:sp>
          <p:nvSpPr>
            <p:cNvPr id="31" name="Rectangle 30"/>
            <p:cNvSpPr/>
            <p:nvPr/>
          </p:nvSpPr>
          <p:spPr bwMode="auto">
            <a:xfrm>
              <a:off x="9529831" y="4166325"/>
              <a:ext cx="1080120" cy="936104"/>
            </a:xfrm>
            <a:prstGeom prst="rect">
              <a:avLst/>
            </a:prstGeom>
            <a:solidFill>
              <a:schemeClr val="accent4">
                <a:lumMod val="20000"/>
                <a:lumOff val="8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atin typeface="+mn-lt"/>
                </a:rPr>
                <a:t>RAM3</a:t>
              </a:r>
            </a:p>
          </p:txBody>
        </p:sp>
      </p:grpSp>
    </p:spTree>
    <p:extLst>
      <p:ext uri="{BB962C8B-B14F-4D97-AF65-F5344CB8AC3E}">
        <p14:creationId xmlns:p14="http://schemas.microsoft.com/office/powerpoint/2010/main" val="2664702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Discussion</a:t>
            </a:r>
          </a:p>
        </p:txBody>
      </p:sp>
      <p:sp>
        <p:nvSpPr>
          <p:cNvPr id="4" name="Date Placeholder 3"/>
          <p:cNvSpPr>
            <a:spLocks noGrp="1"/>
          </p:cNvSpPr>
          <p:nvPr>
            <p:ph type="dt" sz="half" idx="10"/>
          </p:nvPr>
        </p:nvSpPr>
        <p:spPr/>
        <p:txBody>
          <a:bodyPr/>
          <a:lstStyle/>
          <a:p>
            <a:r>
              <a:rPr lang="cs-CZ" altLang="en-US"/>
              <a:t>19.3.2025</a:t>
            </a:r>
            <a:endParaRPr lang="en-US" altLang="en-US"/>
          </a:p>
        </p:txBody>
      </p:sp>
      <p:sp>
        <p:nvSpPr>
          <p:cNvPr id="5" name="Slide Number Placeholder 4"/>
          <p:cNvSpPr>
            <a:spLocks noGrp="1"/>
          </p:cNvSpPr>
          <p:nvPr>
            <p:ph type="sldNum" sz="quarter" idx="12"/>
          </p:nvPr>
        </p:nvSpPr>
        <p:spPr/>
        <p:txBody>
          <a:bodyPr/>
          <a:lstStyle/>
          <a:p>
            <a:fld id="{F4A1145F-674A-4228-8958-0EA9769F5517}" type="slidenum">
              <a:rPr lang="en-US" altLang="en-US" smtClean="0"/>
              <a:pPr/>
              <a:t>27</a:t>
            </a:fld>
            <a:endParaRPr lang="en-US" altLang="en-US"/>
          </a:p>
        </p:txBody>
      </p:sp>
      <p:pic>
        <p:nvPicPr>
          <p:cNvPr id="6" name="Picture 7" descr="http://www.peirnet.net/moodle/file.php/1/face_question_mar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439" y="1865610"/>
            <a:ext cx="4315817" cy="431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1060040"/>
      </p:ext>
    </p:extLst>
  </p:cSld>
  <p:clrMapOvr>
    <a:masterClrMapping/>
  </p:clrMapOvr>
</p:sld>
</file>

<file path=ppt/theme/theme1.xml><?xml version="1.0" encoding="utf-8"?>
<a:theme xmlns:a="http://schemas.openxmlformats.org/drawingml/2006/main" name="kuba">
  <a:themeElements>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kuba">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kuba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kuba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kuba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kuba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kuba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kuba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kuba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kuba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kuba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kuba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lides-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s-theme" id="{B506BBAE-7B29-471E-98D8-11EBE1E364B1}" vid="{D89F9550-F518-42A1-84C0-A3FA72197EC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F672D1A12B65B47AC1B61537578BD28" ma:contentTypeVersion="12" ma:contentTypeDescription="Create a new document." ma:contentTypeScope="" ma:versionID="5a82d84582cde9052097bd1b0cc75dba">
  <xsd:schema xmlns:xsd="http://www.w3.org/2001/XMLSchema" xmlns:xs="http://www.w3.org/2001/XMLSchema" xmlns:p="http://schemas.microsoft.com/office/2006/metadata/properties" xmlns:ns2="1c0ec0c6-5c42-41c6-8024-9200e69c8a29" xmlns:ns3="2fd21476-4047-415c-8b38-5026f9093e44" targetNamespace="http://schemas.microsoft.com/office/2006/metadata/properties" ma:root="true" ma:fieldsID="3fcc552a00055e6511e078b2ffb69500" ns2:_="" ns3:_="">
    <xsd:import namespace="1c0ec0c6-5c42-41c6-8024-9200e69c8a29"/>
    <xsd:import namespace="2fd21476-4047-415c-8b38-5026f9093e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bjectDetectorVersions"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0ec0c6-5c42-41c6-8024-9200e69c8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fd21476-4047-415c-8b38-5026f9093e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A0B9E1-5F21-4139-8DBD-6B3D5301B476}">
  <ds:schemaRefs>
    <ds:schemaRef ds:uri="http://schemas.microsoft.com/sharepoint/v3/contenttype/forms"/>
  </ds:schemaRefs>
</ds:datastoreItem>
</file>

<file path=customXml/itemProps2.xml><?xml version="1.0" encoding="utf-8"?>
<ds:datastoreItem xmlns:ds="http://schemas.openxmlformats.org/officeDocument/2006/customXml" ds:itemID="{21BBC112-A2A8-40D5-B0A7-DE8E136DFAC5}">
  <ds:schemaRefs>
    <ds:schemaRef ds:uri="http://purl.org/dc/elements/1.1/"/>
    <ds:schemaRef ds:uri="http://www.w3.org/XML/1998/namespace"/>
    <ds:schemaRef ds:uri="http://schemas.microsoft.com/office/infopath/2007/PartnerControls"/>
    <ds:schemaRef ds:uri="http://purl.org/dc/terms/"/>
    <ds:schemaRef ds:uri="1c0ec0c6-5c42-41c6-8024-9200e69c8a29"/>
    <ds:schemaRef ds:uri="http://schemas.openxmlformats.org/package/2006/metadata/core-properties"/>
    <ds:schemaRef ds:uri="http://purl.org/dc/dcmitype/"/>
    <ds:schemaRef ds:uri="http://schemas.microsoft.com/office/2006/documentManagement/types"/>
    <ds:schemaRef ds:uri="2fd21476-4047-415c-8b38-5026f9093e44"/>
    <ds:schemaRef ds:uri="http://schemas.microsoft.com/office/2006/metadata/properties"/>
  </ds:schemaRefs>
</ds:datastoreItem>
</file>

<file path=customXml/itemProps3.xml><?xml version="1.0" encoding="utf-8"?>
<ds:datastoreItem xmlns:ds="http://schemas.openxmlformats.org/officeDocument/2006/customXml" ds:itemID="{71B2CCB0-232D-4203-BD88-BCBDF7C18A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0ec0c6-5c42-41c6-8024-9200e69c8a29"/>
    <ds:schemaRef ds:uri="2fd21476-4047-415c-8b38-5026f9093e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kuba</Template>
  <TotalTime>46</TotalTime>
  <Words>1925</Words>
  <Application>Microsoft Office PowerPoint</Application>
  <PresentationFormat>Širokoúhlá obrazovka</PresentationFormat>
  <Paragraphs>577</Paragraphs>
  <Slides>27</Slides>
  <Notes>10</Notes>
  <HiddenSlides>0</HiddenSlides>
  <MMClips>0</MMClips>
  <ScaleCrop>false</ScaleCrop>
  <HeadingPairs>
    <vt:vector size="6" baseType="variant">
      <vt:variant>
        <vt:lpstr>Použitá písma</vt:lpstr>
      </vt:variant>
      <vt:variant>
        <vt:i4>6</vt:i4>
      </vt:variant>
      <vt:variant>
        <vt:lpstr>Motiv</vt:lpstr>
      </vt:variant>
      <vt:variant>
        <vt:i4>2</vt:i4>
      </vt:variant>
      <vt:variant>
        <vt:lpstr>Nadpisy snímků</vt:lpstr>
      </vt:variant>
      <vt:variant>
        <vt:i4>27</vt:i4>
      </vt:variant>
    </vt:vector>
  </HeadingPairs>
  <TitlesOfParts>
    <vt:vector size="35" baseType="lpstr">
      <vt:lpstr>Cambria Math</vt:lpstr>
      <vt:lpstr>Wingdings</vt:lpstr>
      <vt:lpstr>Calibri Light</vt:lpstr>
      <vt:lpstr>Arial</vt:lpstr>
      <vt:lpstr>Calibri</vt:lpstr>
      <vt:lpstr>Courier New</vt:lpstr>
      <vt:lpstr>kuba</vt:lpstr>
      <vt:lpstr>slides-theme</vt:lpstr>
      <vt:lpstr>Memory</vt:lpstr>
      <vt:lpstr>Computer memory hierarchy</vt:lpstr>
      <vt:lpstr>Memory</vt:lpstr>
      <vt:lpstr>Memory – address space</vt:lpstr>
      <vt:lpstr>Memory – physical view</vt:lpstr>
      <vt:lpstr>Data representation – integers</vt:lpstr>
      <vt:lpstr>Data representation – floats</vt:lpstr>
      <vt:lpstr>Data representation - Endianness</vt:lpstr>
      <vt:lpstr>Data representation example</vt:lpstr>
      <vt:lpstr>Data alignment – inner padding</vt:lpstr>
      <vt:lpstr>Data alignment – outer padding</vt:lpstr>
      <vt:lpstr>Memory management</vt:lpstr>
      <vt:lpstr>Memory allocation</vt:lpstr>
      <vt:lpstr>Fragmentation</vt:lpstr>
      <vt:lpstr>Dynamic memory allocation</vt:lpstr>
      <vt:lpstr>Allocation algorithms</vt:lpstr>
      <vt:lpstr>Allocation algorithms</vt:lpstr>
      <vt:lpstr>Allocation algorithms example</vt:lpstr>
      <vt:lpstr>Buddy memory allocation</vt:lpstr>
      <vt:lpstr>Buddy memory allocation</vt:lpstr>
      <vt:lpstr>Cache</vt:lpstr>
      <vt:lpstr>Real World Cache Example</vt:lpstr>
      <vt:lpstr>Cache terminology</vt:lpstr>
      <vt:lpstr>CPU caches (reminder)</vt:lpstr>
      <vt:lpstr>Associative memory</vt:lpstr>
      <vt:lpstr>NUMA</vt:lpstr>
      <vt:lpstr>Discussion</vt:lpstr>
    </vt:vector>
  </TitlesOfParts>
  <Company>Ulita, KSI, MFF UK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Principy překladačů</dc:title>
  <dc:creator>Jakub Yaghob</dc:creator>
  <cp:lastModifiedBy>Petr Ježek</cp:lastModifiedBy>
  <cp:revision>2</cp:revision>
  <dcterms:created xsi:type="dcterms:W3CDTF">2005-09-28T09:53:52Z</dcterms:created>
  <dcterms:modified xsi:type="dcterms:W3CDTF">2025-06-05T12:34:11Z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0x010100CF672D1A12B65B47AC1B61537578BD28</vt:lpwstr>
  </property>
</Properties>
</file>