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9" r:id="rId4"/>
    <p:sldMasterId id="2147483661" r:id="rId5"/>
  </p:sldMasterIdLst>
  <p:notesMasterIdLst>
    <p:notesMasterId r:id="rId91"/>
  </p:notesMasterIdLst>
  <p:sldIdLst>
    <p:sldId id="256" r:id="rId6"/>
    <p:sldId id="359" r:id="rId7"/>
    <p:sldId id="278" r:id="rId8"/>
    <p:sldId id="280" r:id="rId9"/>
    <p:sldId id="355" r:id="rId10"/>
    <p:sldId id="357" r:id="rId11"/>
    <p:sldId id="279" r:id="rId12"/>
    <p:sldId id="282" r:id="rId13"/>
    <p:sldId id="283" r:id="rId14"/>
    <p:sldId id="281" r:id="rId15"/>
    <p:sldId id="284" r:id="rId16"/>
    <p:sldId id="285" r:id="rId17"/>
    <p:sldId id="286" r:id="rId18"/>
    <p:sldId id="358" r:id="rId19"/>
    <p:sldId id="287" r:id="rId20"/>
    <p:sldId id="356" r:id="rId21"/>
    <p:sldId id="288" r:id="rId22"/>
    <p:sldId id="289" r:id="rId23"/>
    <p:sldId id="335" r:id="rId24"/>
    <p:sldId id="290" r:id="rId25"/>
    <p:sldId id="291" r:id="rId26"/>
    <p:sldId id="336" r:id="rId27"/>
    <p:sldId id="338" r:id="rId28"/>
    <p:sldId id="360" r:id="rId29"/>
    <p:sldId id="339" r:id="rId30"/>
    <p:sldId id="292" r:id="rId31"/>
    <p:sldId id="337" r:id="rId32"/>
    <p:sldId id="298" r:id="rId33"/>
    <p:sldId id="293" r:id="rId34"/>
    <p:sldId id="295" r:id="rId35"/>
    <p:sldId id="294" r:id="rId36"/>
    <p:sldId id="299" r:id="rId37"/>
    <p:sldId id="363" r:id="rId38"/>
    <p:sldId id="296" r:id="rId39"/>
    <p:sldId id="297" r:id="rId40"/>
    <p:sldId id="300" r:id="rId41"/>
    <p:sldId id="340" r:id="rId42"/>
    <p:sldId id="361" r:id="rId43"/>
    <p:sldId id="302" r:id="rId44"/>
    <p:sldId id="342" r:id="rId45"/>
    <p:sldId id="346" r:id="rId46"/>
    <p:sldId id="343" r:id="rId47"/>
    <p:sldId id="303" r:id="rId48"/>
    <p:sldId id="345" r:id="rId49"/>
    <p:sldId id="344" r:id="rId50"/>
    <p:sldId id="348" r:id="rId51"/>
    <p:sldId id="304" r:id="rId52"/>
    <p:sldId id="305" r:id="rId53"/>
    <p:sldId id="306" r:id="rId54"/>
    <p:sldId id="349" r:id="rId55"/>
    <p:sldId id="327" r:id="rId56"/>
    <p:sldId id="328" r:id="rId57"/>
    <p:sldId id="329" r:id="rId58"/>
    <p:sldId id="330" r:id="rId59"/>
    <p:sldId id="331" r:id="rId60"/>
    <p:sldId id="332" r:id="rId61"/>
    <p:sldId id="333" r:id="rId62"/>
    <p:sldId id="341" r:id="rId63"/>
    <p:sldId id="351" r:id="rId64"/>
    <p:sldId id="352" r:id="rId65"/>
    <p:sldId id="350" r:id="rId66"/>
    <p:sldId id="307" r:id="rId67"/>
    <p:sldId id="310" r:id="rId68"/>
    <p:sldId id="308" r:id="rId69"/>
    <p:sldId id="309" r:id="rId70"/>
    <p:sldId id="353" r:id="rId71"/>
    <p:sldId id="311" r:id="rId72"/>
    <p:sldId id="354" r:id="rId73"/>
    <p:sldId id="312" r:id="rId74"/>
    <p:sldId id="313" r:id="rId75"/>
    <p:sldId id="314" r:id="rId76"/>
    <p:sldId id="362" r:id="rId77"/>
    <p:sldId id="315" r:id="rId78"/>
    <p:sldId id="316" r:id="rId79"/>
    <p:sldId id="317" r:id="rId80"/>
    <p:sldId id="318" r:id="rId81"/>
    <p:sldId id="320" r:id="rId82"/>
    <p:sldId id="321" r:id="rId83"/>
    <p:sldId id="319" r:id="rId84"/>
    <p:sldId id="322" r:id="rId85"/>
    <p:sldId id="323" r:id="rId86"/>
    <p:sldId id="324" r:id="rId87"/>
    <p:sldId id="325" r:id="rId88"/>
    <p:sldId id="326" r:id="rId89"/>
    <p:sldId id="334" r:id="rId90"/>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DB528E2A-7987-42E7-8D84-6B2D74558830}">
          <p14:sldIdLst>
            <p14:sldId id="256"/>
            <p14:sldId id="359"/>
            <p14:sldId id="278"/>
            <p14:sldId id="280"/>
            <p14:sldId id="355"/>
            <p14:sldId id="357"/>
            <p14:sldId id="279"/>
            <p14:sldId id="282"/>
            <p14:sldId id="283"/>
            <p14:sldId id="281"/>
            <p14:sldId id="284"/>
            <p14:sldId id="285"/>
            <p14:sldId id="286"/>
            <p14:sldId id="358"/>
            <p14:sldId id="287"/>
            <p14:sldId id="356"/>
            <p14:sldId id="288"/>
            <p14:sldId id="289"/>
            <p14:sldId id="335"/>
            <p14:sldId id="290"/>
            <p14:sldId id="291"/>
            <p14:sldId id="336"/>
            <p14:sldId id="338"/>
            <p14:sldId id="360"/>
            <p14:sldId id="339"/>
            <p14:sldId id="292"/>
            <p14:sldId id="337"/>
            <p14:sldId id="298"/>
            <p14:sldId id="293"/>
            <p14:sldId id="295"/>
            <p14:sldId id="294"/>
            <p14:sldId id="299"/>
            <p14:sldId id="363"/>
            <p14:sldId id="296"/>
            <p14:sldId id="297"/>
            <p14:sldId id="300"/>
            <p14:sldId id="340"/>
            <p14:sldId id="361"/>
            <p14:sldId id="302"/>
            <p14:sldId id="342"/>
            <p14:sldId id="346"/>
            <p14:sldId id="343"/>
            <p14:sldId id="303"/>
            <p14:sldId id="345"/>
            <p14:sldId id="344"/>
            <p14:sldId id="348"/>
            <p14:sldId id="304"/>
            <p14:sldId id="305"/>
            <p14:sldId id="306"/>
            <p14:sldId id="349"/>
            <p14:sldId id="327"/>
            <p14:sldId id="328"/>
            <p14:sldId id="329"/>
            <p14:sldId id="330"/>
            <p14:sldId id="331"/>
            <p14:sldId id="332"/>
            <p14:sldId id="333"/>
            <p14:sldId id="341"/>
            <p14:sldId id="351"/>
            <p14:sldId id="352"/>
            <p14:sldId id="350"/>
            <p14:sldId id="307"/>
            <p14:sldId id="310"/>
            <p14:sldId id="308"/>
            <p14:sldId id="309"/>
            <p14:sldId id="353"/>
            <p14:sldId id="311"/>
            <p14:sldId id="354"/>
            <p14:sldId id="312"/>
            <p14:sldId id="313"/>
            <p14:sldId id="314"/>
            <p14:sldId id="362"/>
            <p14:sldId id="315"/>
            <p14:sldId id="316"/>
            <p14:sldId id="317"/>
            <p14:sldId id="318"/>
            <p14:sldId id="320"/>
            <p14:sldId id="321"/>
            <p14:sldId id="319"/>
            <p14:sldId id="322"/>
            <p14:sldId id="323"/>
            <p14:sldId id="324"/>
            <p14:sldId id="325"/>
            <p14:sldId id="326"/>
            <p14:sldId id="33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kub Yaghob" initials="JY" lastIdx="1" clrIdx="0">
    <p:extLst>
      <p:ext uri="{19B8F6BF-5375-455C-9EA6-DF929625EA0E}">
        <p15:presenceInfo xmlns:p15="http://schemas.microsoft.com/office/powerpoint/2012/main" userId="1ae363f9ee66881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FF"/>
    <a:srgbClr val="FF00FF"/>
    <a:srgbClr val="FF33CC"/>
    <a:srgbClr val="33CC33"/>
    <a:srgbClr val="FF3399"/>
    <a:srgbClr val="00FF00"/>
    <a:srgbClr val="6699FF"/>
    <a:srgbClr val="CC66FF"/>
    <a:srgbClr val="0066FF"/>
    <a:srgbClr val="99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8D1C21-723B-4D18-84C2-A203FADAE045}" v="5" dt="2025-05-22T11:38:38.8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45" autoAdjust="0"/>
    <p:restoredTop sz="86258" autoAdjust="0"/>
  </p:normalViewPr>
  <p:slideViewPr>
    <p:cSldViewPr snapToGrid="0">
      <p:cViewPr varScale="1">
        <p:scale>
          <a:sx n="71" d="100"/>
          <a:sy n="71" d="100"/>
        </p:scale>
        <p:origin x="1190" y="5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theme" Target="theme/theme1.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0" Type="http://schemas.openxmlformats.org/officeDocument/2006/relationships/slide" Target="slides/slide75.xml"/><Relationship Id="rId85" Type="http://schemas.openxmlformats.org/officeDocument/2006/relationships/slide" Target="slides/slide80.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microsoft.com/office/2015/10/relationships/revisionInfo" Target="revisionInfo.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commentAuthors" Target="commentAuthors.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819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819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819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19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819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8C042EEA-9F9B-4B91-B52A-073E94FB90D8}" type="slidenum">
              <a:rPr lang="en-US"/>
              <a:pPr/>
              <a:t>‹#›</a:t>
            </a:fld>
            <a:endParaRPr lang="en-US"/>
          </a:p>
        </p:txBody>
      </p:sp>
    </p:spTree>
    <p:extLst>
      <p:ext uri="{BB962C8B-B14F-4D97-AF65-F5344CB8AC3E}">
        <p14:creationId xmlns:p14="http://schemas.microsoft.com/office/powerpoint/2010/main" val="24193271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Modularity example</a:t>
            </a:r>
            <a:r>
              <a:rPr lang="en-US" baseline="0" dirty="0"/>
              <a:t> – USB drivers. USB is a generic bus, anything can be plugged in. The OS must recognize newly plugged USB device and load the right driver dynamically.</a:t>
            </a:r>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7</a:t>
            </a:fld>
            <a:endParaRPr lang="en-US"/>
          </a:p>
        </p:txBody>
      </p:sp>
    </p:spTree>
    <p:extLst>
      <p:ext uri="{BB962C8B-B14F-4D97-AF65-F5344CB8AC3E}">
        <p14:creationId xmlns:p14="http://schemas.microsoft.com/office/powerpoint/2010/main" val="4272842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Intel</a:t>
            </a:r>
            <a:r>
              <a:rPr lang="en-US" baseline="0" dirty="0"/>
              <a:t> CPU design was modeled by this – the CPU had 4 rings of security (0 = kernels, 3 = user space). Intermediate rings (1 and 2) were meant for things like memory management or device drivers.</a:t>
            </a:r>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8</a:t>
            </a:fld>
            <a:endParaRPr lang="en-US"/>
          </a:p>
        </p:txBody>
      </p:sp>
    </p:spTree>
    <p:extLst>
      <p:ext uri="{BB962C8B-B14F-4D97-AF65-F5344CB8AC3E}">
        <p14:creationId xmlns:p14="http://schemas.microsoft.com/office/powerpoint/2010/main" val="3837758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9</a:t>
            </a:fld>
            <a:endParaRPr lang="en-US"/>
          </a:p>
        </p:txBody>
      </p:sp>
    </p:spTree>
    <p:extLst>
      <p:ext uri="{BB962C8B-B14F-4D97-AF65-F5344CB8AC3E}">
        <p14:creationId xmlns:p14="http://schemas.microsoft.com/office/powerpoint/2010/main" val="66547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a:t>
            </a:r>
            <a:r>
              <a:rPr lang="en-US" baseline="0" dirty="0"/>
              <a:t>matrix structure of current Linux kernel design. The vertical communication is good, horizontal communication is not so good.</a:t>
            </a:r>
          </a:p>
          <a:p>
            <a:r>
              <a:rPr lang="en-US" baseline="0" dirty="0"/>
              <a:t>Some “modules” cannot be easily located in one slot – e.g., Page cache and swap (spans between memory and storage), or networking storage (spans between storage and networking).</a:t>
            </a:r>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10</a:t>
            </a:fld>
            <a:endParaRPr lang="en-US"/>
          </a:p>
        </p:txBody>
      </p:sp>
    </p:spTree>
    <p:extLst>
      <p:ext uri="{BB962C8B-B14F-4D97-AF65-F5344CB8AC3E}">
        <p14:creationId xmlns:p14="http://schemas.microsoft.com/office/powerpoint/2010/main" val="3299058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 example</a:t>
            </a:r>
            <a:r>
              <a:rPr lang="en-US" baseline="0" dirty="0"/>
              <a:t> – old HDD (PATA,SCSI)</a:t>
            </a:r>
          </a:p>
          <a:p>
            <a:r>
              <a:rPr lang="en-US" baseline="0" dirty="0"/>
              <a:t>Star example – modern HDDs (SATA, M.2)</a:t>
            </a:r>
          </a:p>
          <a:p>
            <a:r>
              <a:rPr lang="en-US" baseline="0" dirty="0"/>
              <a:t>Tree example - USB</a:t>
            </a:r>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13</a:t>
            </a:fld>
            <a:endParaRPr lang="en-US"/>
          </a:p>
        </p:txBody>
      </p:sp>
    </p:spTree>
    <p:extLst>
      <p:ext uri="{BB962C8B-B14F-4D97-AF65-F5344CB8AC3E}">
        <p14:creationId xmlns:p14="http://schemas.microsoft.com/office/powerpoint/2010/main" val="19536563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opening + reading a file.</a:t>
            </a:r>
          </a:p>
        </p:txBody>
      </p:sp>
      <p:sp>
        <p:nvSpPr>
          <p:cNvPr id="4" name="Slide Number Placeholder 3"/>
          <p:cNvSpPr>
            <a:spLocks noGrp="1"/>
          </p:cNvSpPr>
          <p:nvPr>
            <p:ph type="sldNum" sz="quarter" idx="10"/>
          </p:nvPr>
        </p:nvSpPr>
        <p:spPr/>
        <p:txBody>
          <a:bodyPr/>
          <a:lstStyle/>
          <a:p>
            <a:fld id="{8C042EEA-9F9B-4B91-B52A-073E94FB90D8}" type="slidenum">
              <a:rPr lang="en-US" smtClean="0"/>
              <a:pPr/>
              <a:t>15</a:t>
            </a:fld>
            <a:endParaRPr lang="en-US"/>
          </a:p>
        </p:txBody>
      </p:sp>
    </p:spTree>
    <p:extLst>
      <p:ext uri="{BB962C8B-B14F-4D97-AF65-F5344CB8AC3E}">
        <p14:creationId xmlns:p14="http://schemas.microsoft.com/office/powerpoint/2010/main" val="2571475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wish to see the complete thing:</a:t>
            </a:r>
            <a:r>
              <a:rPr lang="en-US" baseline="0" dirty="0"/>
              <a:t> </a:t>
            </a:r>
            <a:r>
              <a:rPr lang="en-US" dirty="0"/>
              <a:t>https://wiki.osdev.org/ATA_PIO_Mode</a:t>
            </a:r>
          </a:p>
          <a:p>
            <a:endParaRPr lang="en-US" dirty="0"/>
          </a:p>
          <a:p>
            <a:r>
              <a:rPr lang="en-US" dirty="0"/>
              <a:t>PIO</a:t>
            </a:r>
            <a:r>
              <a:rPr lang="en-US" baseline="0" dirty="0"/>
              <a:t> is very old and has not been used in decades.. Contemporary storage devices rely mainly on DMA.</a:t>
            </a:r>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16</a:t>
            </a:fld>
            <a:endParaRPr lang="en-US"/>
          </a:p>
        </p:txBody>
      </p:sp>
    </p:spTree>
    <p:extLst>
      <p:ext uri="{BB962C8B-B14F-4D97-AF65-F5344CB8AC3E}">
        <p14:creationId xmlns:p14="http://schemas.microsoft.com/office/powerpoint/2010/main" val="3897216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DMA</a:t>
            </a:r>
            <a:r>
              <a:rPr lang="en-US" baseline="0" dirty="0"/>
              <a:t> example – disk transfers</a:t>
            </a:r>
          </a:p>
          <a:p>
            <a:r>
              <a:rPr lang="en-US" baseline="0" dirty="0"/>
              <a:t>Scatter/Gather example – network card</a:t>
            </a:r>
          </a:p>
          <a:p>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17</a:t>
            </a:fld>
            <a:endParaRPr lang="en-US"/>
          </a:p>
        </p:txBody>
      </p:sp>
    </p:spTree>
    <p:extLst>
      <p:ext uri="{BB962C8B-B14F-4D97-AF65-F5344CB8AC3E}">
        <p14:creationId xmlns:p14="http://schemas.microsoft.com/office/powerpoint/2010/main" val="11899690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Masking ma</a:t>
            </a:r>
            <a:r>
              <a:rPr lang="en-US" baseline="0" dirty="0"/>
              <a:t>y be necessary for critical operations (e.g., handling interrupts ;) ).</a:t>
            </a:r>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18</a:t>
            </a:fld>
            <a:endParaRPr lang="en-US"/>
          </a:p>
        </p:txBody>
      </p:sp>
    </p:spTree>
    <p:extLst>
      <p:ext uri="{BB962C8B-B14F-4D97-AF65-F5344CB8AC3E}">
        <p14:creationId xmlns:p14="http://schemas.microsoft.com/office/powerpoint/2010/main" val="22005441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https://wiki.osdev.org/Exceptions</a:t>
            </a:r>
          </a:p>
          <a:p>
            <a:endParaRPr lang="en-US" dirty="0"/>
          </a:p>
          <a:p>
            <a:r>
              <a:rPr lang="en-US" dirty="0"/>
              <a:t>Besides traps and faults there</a:t>
            </a:r>
            <a:r>
              <a:rPr lang="en-US" baseline="0" dirty="0"/>
              <a:t> are also “aborts” (severe unrecoverable errors).</a:t>
            </a:r>
            <a:endParaRPr lang="en-US" dirty="0"/>
          </a:p>
          <a:p>
            <a:endParaRPr lang="en-US" baseline="0" dirty="0"/>
          </a:p>
          <a:p>
            <a:r>
              <a:rPr lang="en-US" baseline="0" dirty="0"/>
              <a:t>A few examples:</a:t>
            </a:r>
          </a:p>
          <a:p>
            <a:r>
              <a:rPr lang="en-US" baseline="0" dirty="0"/>
              <a:t>Breakpoint – useful since it takes only 1B (debugger can replace the 1</a:t>
            </a:r>
            <a:r>
              <a:rPr lang="en-US" baseline="30000" dirty="0"/>
              <a:t>st</a:t>
            </a:r>
            <a:r>
              <a:rPr lang="en-US" baseline="0" dirty="0"/>
              <a:t> byte of any instruction) and it is a trap</a:t>
            </a:r>
          </a:p>
          <a:p>
            <a:r>
              <a:rPr lang="en-US" baseline="0" dirty="0"/>
              <a:t>Overflow – another example of trap, triggered by INTO instruction (if overflow flag is set)</a:t>
            </a:r>
          </a:p>
          <a:p>
            <a:r>
              <a:rPr lang="en-US" dirty="0"/>
              <a:t>Double fault = exception failed (unhandled or</a:t>
            </a:r>
            <a:r>
              <a:rPr lang="en-US" baseline="0" dirty="0"/>
              <a:t> the handler causes an error) – cannot be recovered, faulting process must terminate (btw. there is also triple fault that is triggered when double fault fails and it restarts the CPU)</a:t>
            </a:r>
          </a:p>
          <a:p>
            <a:r>
              <a:rPr lang="en-US" baseline="0" dirty="0"/>
              <a:t>Page fault = memory protection (will be later)</a:t>
            </a:r>
          </a:p>
          <a:p>
            <a:endParaRPr lang="en-US" baseline="0"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19</a:t>
            </a:fld>
            <a:endParaRPr lang="en-US"/>
          </a:p>
        </p:txBody>
      </p:sp>
    </p:spTree>
    <p:extLst>
      <p:ext uri="{BB962C8B-B14F-4D97-AF65-F5344CB8AC3E}">
        <p14:creationId xmlns:p14="http://schemas.microsoft.com/office/powerpoint/2010/main" val="19656190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time example</a:t>
            </a:r>
            <a:r>
              <a:rPr lang="en-US" baseline="0" dirty="0"/>
              <a:t> – airbag deployment (which must be delayed so that the human body have time to get in position by momentum).</a:t>
            </a:r>
          </a:p>
          <a:p>
            <a:endParaRPr lang="en-US" baseline="0" dirty="0"/>
          </a:p>
          <a:p>
            <a:r>
              <a:rPr lang="en-US" baseline="0"/>
              <a:t>Specialized OSes (e.g., MACH). </a:t>
            </a:r>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28</a:t>
            </a:fld>
            <a:endParaRPr lang="en-US"/>
          </a:p>
        </p:txBody>
      </p:sp>
    </p:spTree>
    <p:extLst>
      <p:ext uri="{BB962C8B-B14F-4D97-AF65-F5344CB8AC3E}">
        <p14:creationId xmlns:p14="http://schemas.microsoft.com/office/powerpoint/2010/main" val="34169822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note, that different applications (scheduling units) may have different objectives of their own</a:t>
            </a:r>
            <a:r>
              <a:rPr lang="en-US" baseline="0" dirty="0"/>
              <a:t> (e.g., computing threads vs GUI interactive threads).</a:t>
            </a:r>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31</a:t>
            </a:fld>
            <a:endParaRPr lang="en-US"/>
          </a:p>
        </p:txBody>
      </p:sp>
    </p:spTree>
    <p:extLst>
      <p:ext uri="{BB962C8B-B14F-4D97-AF65-F5344CB8AC3E}">
        <p14:creationId xmlns:p14="http://schemas.microsoft.com/office/powerpoint/2010/main" val="29076311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process is removed from</a:t>
            </a:r>
            <a:r>
              <a:rPr lang="en-US" baseline="0" dirty="0"/>
              <a:t> scheduling at the end (a</a:t>
            </a:r>
            <a:r>
              <a:rPr lang="en-US" dirty="0"/>
              <a:t>ssuming each process terminates</a:t>
            </a:r>
            <a:r>
              <a:rPr lang="en-US" baseline="0" dirty="0"/>
              <a:t> since the scheduling is non-preemptive)</a:t>
            </a:r>
            <a:r>
              <a:rPr lang="en-US" dirty="0"/>
              <a:t>. If the</a:t>
            </a:r>
            <a:r>
              <a:rPr lang="en-US" baseline="0" dirty="0"/>
              <a:t> process yields (cooperatively), it simply re-enters the scheduling as a new process.</a:t>
            </a:r>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34</a:t>
            </a:fld>
            <a:endParaRPr lang="en-US"/>
          </a:p>
        </p:txBody>
      </p:sp>
    </p:spTree>
    <p:extLst>
      <p:ext uri="{BB962C8B-B14F-4D97-AF65-F5344CB8AC3E}">
        <p14:creationId xmlns:p14="http://schemas.microsoft.com/office/powerpoint/2010/main" val="12361517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a:t>
            </a:r>
            <a:r>
              <a:rPr lang="en-US" baseline="0" dirty="0"/>
              <a:t> robin was originally used as a method for signing documents (e.g., petitions) where the order of signatures should not be maintained (so that no one is first on the list…).</a:t>
            </a:r>
          </a:p>
          <a:p>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35</a:t>
            </a:fld>
            <a:endParaRPr lang="en-US"/>
          </a:p>
        </p:txBody>
      </p:sp>
    </p:spTree>
    <p:extLst>
      <p:ext uri="{BB962C8B-B14F-4D97-AF65-F5344CB8AC3E}">
        <p14:creationId xmlns:p14="http://schemas.microsoft.com/office/powerpoint/2010/main" val="7034683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https://developer.ibm.com/tutorials/l-completely-fair-scheduler/</a:t>
            </a:r>
          </a:p>
          <a:p>
            <a:endParaRPr lang="en-US" dirty="0"/>
          </a:p>
          <a:p>
            <a:r>
              <a:rPr lang="en-US" dirty="0"/>
              <a:t>The virtual runtime decays</a:t>
            </a:r>
            <a:r>
              <a:rPr lang="en-US" baseline="0" dirty="0"/>
              <a:t> over time. The rate of the decay is determined by the static priority assigned to the process.</a:t>
            </a:r>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37</a:t>
            </a:fld>
            <a:endParaRPr lang="en-US"/>
          </a:p>
        </p:txBody>
      </p:sp>
    </p:spTree>
    <p:extLst>
      <p:ext uri="{BB962C8B-B14F-4D97-AF65-F5344CB8AC3E}">
        <p14:creationId xmlns:p14="http://schemas.microsoft.com/office/powerpoint/2010/main" val="3522134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https://en.wikipedia.org/wiki/Inter-process_communication</a:t>
            </a:r>
          </a:p>
          <a:p>
            <a:r>
              <a:rPr lang="en-US" dirty="0"/>
              <a:t>https://en.wikipedia.org/wiki/Signal_(IPC)</a:t>
            </a:r>
          </a:p>
          <a:p>
            <a:endParaRPr lang="en-US" dirty="0"/>
          </a:p>
          <a:p>
            <a:r>
              <a:rPr lang="en-US" dirty="0"/>
              <a:t>Signal</a:t>
            </a:r>
          </a:p>
          <a:p>
            <a:pPr marL="171450" indent="-171450">
              <a:buFontTx/>
              <a:buChar char="-"/>
            </a:pPr>
            <a:r>
              <a:rPr lang="en-US" baseline="0" dirty="0"/>
              <a:t>Process sets signal handlers (functions that are triggered).</a:t>
            </a:r>
          </a:p>
          <a:p>
            <a:pPr marL="171450" indent="-171450">
              <a:buFontTx/>
              <a:buChar char="-"/>
            </a:pPr>
            <a:r>
              <a:rPr lang="en-US" baseline="0" dirty="0"/>
              <a:t>Kernel executes these functions (outside main thread) when signal occurs.</a:t>
            </a:r>
          </a:p>
          <a:p>
            <a:pPr marL="171450" indent="-171450">
              <a:buFontTx/>
              <a:buChar char="-"/>
            </a:pPr>
            <a:r>
              <a:rPr lang="en-US" baseline="0" dirty="0"/>
              <a:t>If signal is not handled, process is terminated. Some signals cannot be handled (e.g., SIGKILL)</a:t>
            </a:r>
          </a:p>
          <a:p>
            <a:pPr marL="171450" indent="-171450">
              <a:buFontTx/>
              <a:buChar char="-"/>
            </a:pPr>
            <a:r>
              <a:rPr lang="en-US" baseline="0" dirty="0"/>
              <a:t>Some signals may be sent as a reaction to CPU exception</a:t>
            </a:r>
          </a:p>
          <a:p>
            <a:pPr marL="0" indent="0">
              <a:buFontTx/>
              <a:buNone/>
            </a:pPr>
            <a:endParaRPr lang="en-US" baseline="0" dirty="0"/>
          </a:p>
          <a:p>
            <a:pPr marL="0" indent="0">
              <a:buFontTx/>
              <a:buNone/>
            </a:pPr>
            <a:r>
              <a:rPr lang="en-US" baseline="0" dirty="0"/>
              <a:t>Examples:</a:t>
            </a:r>
          </a:p>
          <a:p>
            <a:pPr marL="171450" indent="-171450">
              <a:buFontTx/>
              <a:buChar char="-"/>
            </a:pPr>
            <a:r>
              <a:rPr lang="en-US" dirty="0"/>
              <a:t>SIGTERM – a request to terminate</a:t>
            </a:r>
          </a:p>
          <a:p>
            <a:pPr marL="171450" indent="-171450">
              <a:buFontTx/>
              <a:buChar char="-"/>
            </a:pPr>
            <a:r>
              <a:rPr lang="en-US" baseline="0" dirty="0"/>
              <a:t>SIGKILL – unstoppable way to terminate a process</a:t>
            </a:r>
          </a:p>
          <a:p>
            <a:pPr marL="171450" indent="-171450">
              <a:buFontTx/>
              <a:buChar char="-"/>
            </a:pPr>
            <a:r>
              <a:rPr lang="en-US" dirty="0"/>
              <a:t>SIGSEGV – segmentation</a:t>
            </a:r>
            <a:r>
              <a:rPr lang="en-US" baseline="0" dirty="0"/>
              <a:t> violation (invalid memory access)</a:t>
            </a:r>
          </a:p>
          <a:p>
            <a:pPr marL="171450" indent="-171450">
              <a:buFontTx/>
              <a:buChar char="-"/>
            </a:pPr>
            <a:r>
              <a:rPr lang="en-US" dirty="0"/>
              <a:t>SIGILL –</a:t>
            </a:r>
            <a:r>
              <a:rPr lang="en-US" baseline="0" dirty="0"/>
              <a:t> sent when process attempts to execute illegal instruction</a:t>
            </a:r>
          </a:p>
          <a:p>
            <a:pPr marL="171450" indent="-171450">
              <a:buFontTx/>
              <a:buChar char="-"/>
            </a:pPr>
            <a:r>
              <a:rPr lang="en-US" dirty="0"/>
              <a:t>SIGCHLD – is</a:t>
            </a:r>
            <a:r>
              <a:rPr lang="en-US" baseline="0" dirty="0"/>
              <a:t> sent to a parent process when child process terminates (or is interrupted/resumed)</a:t>
            </a:r>
          </a:p>
          <a:p>
            <a:pPr marL="171450" indent="-171450">
              <a:buFontTx/>
              <a:buChar char="-"/>
            </a:pPr>
            <a:r>
              <a:rPr lang="en-US" baseline="0" dirty="0"/>
              <a:t>SIGINT – </a:t>
            </a:r>
            <a:r>
              <a:rPr lang="en-US" baseline="0" dirty="0" err="1"/>
              <a:t>Ctrl+C</a:t>
            </a:r>
            <a:r>
              <a:rPr lang="en-US" baseline="0" dirty="0"/>
              <a:t> (interrupt) was sent to the process</a:t>
            </a:r>
          </a:p>
          <a:p>
            <a:pPr marL="171450" indent="-171450">
              <a:buFontTx/>
              <a:buChar char="-"/>
            </a:pPr>
            <a:r>
              <a:rPr lang="en-US" baseline="0" dirty="0"/>
              <a:t>SIGUSR1, SIGUSR2 – signals that can be used for user-defined purposes</a:t>
            </a:r>
          </a:p>
        </p:txBody>
      </p:sp>
      <p:sp>
        <p:nvSpPr>
          <p:cNvPr id="4" name="Slide Number Placeholder 3"/>
          <p:cNvSpPr>
            <a:spLocks noGrp="1"/>
          </p:cNvSpPr>
          <p:nvPr>
            <p:ph type="sldNum" sz="quarter" idx="10"/>
          </p:nvPr>
        </p:nvSpPr>
        <p:spPr/>
        <p:txBody>
          <a:bodyPr/>
          <a:lstStyle/>
          <a:p>
            <a:fld id="{8C042EEA-9F9B-4B91-B52A-073E94FB90D8}" type="slidenum">
              <a:rPr lang="en-US" smtClean="0"/>
              <a:pPr/>
              <a:t>38</a:t>
            </a:fld>
            <a:endParaRPr lang="en-US"/>
          </a:p>
        </p:txBody>
      </p:sp>
    </p:spTree>
    <p:extLst>
      <p:ext uri="{BB962C8B-B14F-4D97-AF65-F5344CB8AC3E}">
        <p14:creationId xmlns:p14="http://schemas.microsoft.com/office/powerpoint/2010/main" val="6421181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 operation performs</a:t>
            </a:r>
            <a:r>
              <a:rPr lang="en-US" baseline="0" dirty="0"/>
              <a:t> translation path -&gt; system file identifier. Also performs necessary checks (e.g., that the process/user can access the file).</a:t>
            </a:r>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40</a:t>
            </a:fld>
            <a:endParaRPr lang="en-US"/>
          </a:p>
        </p:txBody>
      </p:sp>
    </p:spTree>
    <p:extLst>
      <p:ext uri="{BB962C8B-B14F-4D97-AF65-F5344CB8AC3E}">
        <p14:creationId xmlns:p14="http://schemas.microsoft.com/office/powerpoint/2010/main" val="8540777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 handle</a:t>
            </a:r>
            <a:r>
              <a:rPr lang="en-US" baseline="0" dirty="0"/>
              <a:t> must be local (private) and assigned by OS, so the process cannot guess/steal file handlers and bypass open() verifications.</a:t>
            </a:r>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41</a:t>
            </a:fld>
            <a:endParaRPr lang="en-US"/>
          </a:p>
        </p:txBody>
      </p:sp>
    </p:spTree>
    <p:extLst>
      <p:ext uri="{BB962C8B-B14F-4D97-AF65-F5344CB8AC3E}">
        <p14:creationId xmlns:p14="http://schemas.microsoft.com/office/powerpoint/2010/main" val="34005204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a:t>Note </a:t>
            </a:r>
            <a:r>
              <a:rPr lang="en-US" baseline="0" dirty="0"/>
              <a:t>that updating access time every time a file is read is quite a performance hog. There is some discussion whether it is worth it and you can mount a fs without performing this operation (check about `</a:t>
            </a:r>
            <a:r>
              <a:rPr lang="en-US" baseline="0" dirty="0" err="1"/>
              <a:t>noatime</a:t>
            </a:r>
            <a:r>
              <a:rPr lang="en-US" baseline="0" dirty="0"/>
              <a:t>` attribute in /</a:t>
            </a:r>
            <a:r>
              <a:rPr lang="en-US" baseline="0" dirty="0" err="1"/>
              <a:t>etc</a:t>
            </a:r>
            <a:r>
              <a:rPr lang="en-US" baseline="0" dirty="0"/>
              <a:t>/</a:t>
            </a:r>
            <a:r>
              <a:rPr lang="en-US" baseline="0" dirty="0" err="1"/>
              <a:t>fstab</a:t>
            </a:r>
            <a:r>
              <a:rPr lang="en-US" baseline="0" dirty="0"/>
              <a:t>).</a:t>
            </a:r>
          </a:p>
        </p:txBody>
      </p:sp>
      <p:sp>
        <p:nvSpPr>
          <p:cNvPr id="4" name="Slide Number Placeholder 3"/>
          <p:cNvSpPr>
            <a:spLocks noGrp="1"/>
          </p:cNvSpPr>
          <p:nvPr>
            <p:ph type="sldNum" sz="quarter" idx="10"/>
          </p:nvPr>
        </p:nvSpPr>
        <p:spPr/>
        <p:txBody>
          <a:bodyPr/>
          <a:lstStyle/>
          <a:p>
            <a:fld id="{8C042EEA-9F9B-4B91-B52A-073E94FB90D8}" type="slidenum">
              <a:rPr lang="en-US" smtClean="0"/>
              <a:pPr/>
              <a:t>42</a:t>
            </a:fld>
            <a:endParaRPr lang="en-US"/>
          </a:p>
        </p:txBody>
      </p:sp>
    </p:spTree>
    <p:extLst>
      <p:ext uri="{BB962C8B-B14F-4D97-AF65-F5344CB8AC3E}">
        <p14:creationId xmlns:p14="http://schemas.microsoft.com/office/powerpoint/2010/main" val="26421953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43</a:t>
            </a:fld>
            <a:endParaRPr lang="en-US"/>
          </a:p>
        </p:txBody>
      </p:sp>
    </p:spTree>
    <p:extLst>
      <p:ext uri="{BB962C8B-B14F-4D97-AF65-F5344CB8AC3E}">
        <p14:creationId xmlns:p14="http://schemas.microsoft.com/office/powerpoint/2010/main" val="6994067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awkward</a:t>
            </a:r>
            <a:r>
              <a:rPr lang="en-US" baseline="0" dirty="0"/>
              <a:t> (dual) naming.</a:t>
            </a:r>
          </a:p>
          <a:p>
            <a:r>
              <a:rPr lang="en-US" baseline="0" dirty="0"/>
              <a:t>Most attributes are in the </a:t>
            </a:r>
            <a:r>
              <a:rPr lang="en-US" baseline="0" dirty="0" err="1"/>
              <a:t>dir</a:t>
            </a:r>
            <a:r>
              <a:rPr lang="en-US" baseline="0" dirty="0"/>
              <a:t> entry.</a:t>
            </a:r>
          </a:p>
          <a:p>
            <a:r>
              <a:rPr lang="en-US" baseline="0" dirty="0"/>
              <a:t>File size is 32bit long -&gt; max file size is 4G.</a:t>
            </a:r>
          </a:p>
          <a:p>
            <a:r>
              <a:rPr lang="en-US" baseline="0" dirty="0"/>
              <a:t>First cluster is a pointer to the first block.</a:t>
            </a:r>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44</a:t>
            </a:fld>
            <a:endParaRPr lang="en-US"/>
          </a:p>
        </p:txBody>
      </p:sp>
    </p:spTree>
    <p:extLst>
      <p:ext uri="{BB962C8B-B14F-4D97-AF65-F5344CB8AC3E}">
        <p14:creationId xmlns:p14="http://schemas.microsoft.com/office/powerpoint/2010/main" val="40013249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Superblock – 1KiB (84B common prefix, rest is extension)</a:t>
            </a:r>
          </a:p>
          <a:p>
            <a:r>
              <a:rPr lang="en-US" dirty="0"/>
              <a:t>Block Group Descriptor – 32 B</a:t>
            </a:r>
          </a:p>
          <a:p>
            <a:endParaRPr lang="en-US" dirty="0"/>
          </a:p>
          <a:p>
            <a:r>
              <a:rPr lang="cs-CZ" dirty="0"/>
              <a:t>https://wiki.osdev.org/Ext2</a:t>
            </a:r>
          </a:p>
        </p:txBody>
      </p:sp>
      <p:sp>
        <p:nvSpPr>
          <p:cNvPr id="4" name="Slide Number Placeholder 3"/>
          <p:cNvSpPr>
            <a:spLocks noGrp="1"/>
          </p:cNvSpPr>
          <p:nvPr>
            <p:ph type="sldNum" sz="quarter" idx="5"/>
          </p:nvPr>
        </p:nvSpPr>
        <p:spPr/>
        <p:txBody>
          <a:bodyPr/>
          <a:lstStyle/>
          <a:p>
            <a:fld id="{8C042EEA-9F9B-4B91-B52A-073E94FB90D8}" type="slidenum">
              <a:rPr lang="en-US" smtClean="0"/>
              <a:pPr/>
              <a:t>50</a:t>
            </a:fld>
            <a:endParaRPr lang="en-US"/>
          </a:p>
        </p:txBody>
      </p:sp>
    </p:spTree>
    <p:extLst>
      <p:ext uri="{BB962C8B-B14F-4D97-AF65-F5344CB8AC3E}">
        <p14:creationId xmlns:p14="http://schemas.microsoft.com/office/powerpoint/2010/main" val="24315296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https://www.extremetech.com/extreme/210492-extremetech-explains-how-do-ssds-work</a:t>
            </a:r>
          </a:p>
        </p:txBody>
      </p:sp>
      <p:sp>
        <p:nvSpPr>
          <p:cNvPr id="4" name="Slide Number Placeholder 3"/>
          <p:cNvSpPr>
            <a:spLocks noGrp="1"/>
          </p:cNvSpPr>
          <p:nvPr>
            <p:ph type="sldNum" sz="quarter" idx="10"/>
          </p:nvPr>
        </p:nvSpPr>
        <p:spPr/>
        <p:txBody>
          <a:bodyPr/>
          <a:lstStyle/>
          <a:p>
            <a:fld id="{8C042EEA-9F9B-4B91-B52A-073E94FB90D8}" type="slidenum">
              <a:rPr lang="en-US" smtClean="0"/>
              <a:pPr/>
              <a:t>58</a:t>
            </a:fld>
            <a:endParaRPr lang="en-US"/>
          </a:p>
        </p:txBody>
      </p:sp>
    </p:spTree>
    <p:extLst>
      <p:ext uri="{BB962C8B-B14F-4D97-AF65-F5344CB8AC3E}">
        <p14:creationId xmlns:p14="http://schemas.microsoft.com/office/powerpoint/2010/main" val="38583545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several</a:t>
            </a:r>
            <a:r>
              <a:rPr lang="en-US" baseline="0" dirty="0"/>
              <a:t> drawbacks of segmentation:</a:t>
            </a:r>
          </a:p>
          <a:p>
            <a:pPr marL="171450" indent="-171450">
              <a:buFontTx/>
              <a:buChar char="-"/>
            </a:pPr>
            <a:r>
              <a:rPr lang="en-US" baseline="0" dirty="0"/>
              <a:t>Addition seems trivial, but in address translation, it could be quite costly.</a:t>
            </a:r>
          </a:p>
          <a:p>
            <a:pPr marL="171450" indent="-171450">
              <a:buFontTx/>
              <a:buChar char="-"/>
            </a:pPr>
            <a:r>
              <a:rPr lang="en-US" dirty="0"/>
              <a:t>Different segment</a:t>
            </a:r>
            <a:r>
              <a:rPr lang="en-US" baseline="0" dirty="0"/>
              <a:t> sizes may cause fragmentation and may not be grow-able (relocation is possible, but costly).</a:t>
            </a:r>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66</a:t>
            </a:fld>
            <a:endParaRPr lang="en-US"/>
          </a:p>
        </p:txBody>
      </p:sp>
    </p:spTree>
    <p:extLst>
      <p:ext uri="{BB962C8B-B14F-4D97-AF65-F5344CB8AC3E}">
        <p14:creationId xmlns:p14="http://schemas.microsoft.com/office/powerpoint/2010/main" val="11240619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Reasons for a page fault</a:t>
            </a:r>
            <a:r>
              <a:rPr lang="en-US" baseline="0" dirty="0"/>
              <a:t> examples:</a:t>
            </a:r>
            <a:endParaRPr lang="en-US" dirty="0"/>
          </a:p>
          <a:p>
            <a:pPr marL="171450" indent="-171450">
              <a:buFontTx/>
              <a:buChar char="-"/>
            </a:pPr>
            <a:r>
              <a:rPr lang="en-US" dirty="0"/>
              <a:t>The memory was allocated (in VAS)</a:t>
            </a:r>
            <a:r>
              <a:rPr lang="en-US" baseline="0" dirty="0"/>
              <a:t>, but the actual memory frames are not associated yet (lazy allocation). The OS allocates new (zeroed) frame and creates the association (program continues).</a:t>
            </a:r>
          </a:p>
          <a:p>
            <a:pPr marL="171450" indent="-171450">
              <a:buFontTx/>
              <a:buChar char="-"/>
            </a:pPr>
            <a:r>
              <a:rPr lang="en-US" baseline="0" dirty="0"/>
              <a:t>The memory was swapped (e.g., to disk or other external memory). The OS needs to find an empty frame, load the page from the swap and create the mapping (program continues).</a:t>
            </a:r>
          </a:p>
          <a:p>
            <a:pPr marL="171450" indent="-171450">
              <a:buFontTx/>
              <a:buChar char="-"/>
            </a:pPr>
            <a:r>
              <a:rPr lang="en-US" baseline="0" dirty="0"/>
              <a:t>Program is accessing wrong memory (stack overflowed, bug in pointer/array usage, …).</a:t>
            </a:r>
          </a:p>
        </p:txBody>
      </p:sp>
      <p:sp>
        <p:nvSpPr>
          <p:cNvPr id="4" name="Slide Number Placeholder 3"/>
          <p:cNvSpPr>
            <a:spLocks noGrp="1"/>
          </p:cNvSpPr>
          <p:nvPr>
            <p:ph type="sldNum" sz="quarter" idx="10"/>
          </p:nvPr>
        </p:nvSpPr>
        <p:spPr/>
        <p:txBody>
          <a:bodyPr/>
          <a:lstStyle/>
          <a:p>
            <a:fld id="{8C042EEA-9F9B-4B91-B52A-073E94FB90D8}" type="slidenum">
              <a:rPr lang="en-US" smtClean="0"/>
              <a:pPr/>
              <a:t>69</a:t>
            </a:fld>
            <a:endParaRPr lang="en-US"/>
          </a:p>
        </p:txBody>
      </p:sp>
    </p:spTree>
    <p:extLst>
      <p:ext uri="{BB962C8B-B14F-4D97-AF65-F5344CB8AC3E}">
        <p14:creationId xmlns:p14="http://schemas.microsoft.com/office/powerpoint/2010/main" val="6398454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page</a:t>
            </a:r>
            <a:r>
              <a:rPr lang="en-US" baseline="0" dirty="0"/>
              <a:t> table is usually designed to fit exactly one page</a:t>
            </a:r>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71</a:t>
            </a:fld>
            <a:endParaRPr lang="en-US"/>
          </a:p>
        </p:txBody>
      </p:sp>
    </p:spTree>
    <p:extLst>
      <p:ext uri="{BB962C8B-B14F-4D97-AF65-F5344CB8AC3E}">
        <p14:creationId xmlns:p14="http://schemas.microsoft.com/office/powerpoint/2010/main" val="11240602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a:t>
            </a:r>
            <a:r>
              <a:rPr lang="en-US" baseline="0" dirty="0"/>
              <a:t> block is 4 * 2000 = 8000B long, i.e., it can span 2 or 3 (4KiB) pages depending on the actual address of data pointer.</a:t>
            </a:r>
          </a:p>
          <a:p>
            <a:endParaRPr lang="en-US" dirty="0"/>
          </a:p>
          <a:p>
            <a:r>
              <a:rPr lang="en-US" dirty="0"/>
              <a:t>Optimisti</a:t>
            </a:r>
            <a:r>
              <a:rPr lang="en-US" baseline="0" dirty="0"/>
              <a:t>c and pessimistic scenarios are trick questions. The answers are 0 and infinity.</a:t>
            </a:r>
          </a:p>
          <a:p>
            <a:endParaRPr lang="en-US" baseline="0" dirty="0"/>
          </a:p>
          <a:p>
            <a:r>
              <a:rPr lang="en-US" baseline="0" dirty="0"/>
              <a:t>The block spans over 3 pages (worst case), so it is covered by two 2</a:t>
            </a:r>
            <a:r>
              <a:rPr lang="en-US" baseline="30000" dirty="0"/>
              <a:t>nd</a:t>
            </a:r>
            <a:r>
              <a:rPr lang="en-US" baseline="0" dirty="0"/>
              <a:t> level page tables (worst case) and the first level is always in the memory (i.e., 5 distinct faults in total).</a:t>
            </a:r>
          </a:p>
          <a:p>
            <a:endParaRPr lang="en-US" baseline="0" dirty="0"/>
          </a:p>
          <a:p>
            <a:r>
              <a:rPr lang="en-US" baseline="0" dirty="0"/>
              <a:t>If we copy the data, the number will double (we need to count source and destination pages, unless there are some assumptions about from where to where the data are being copied).</a:t>
            </a:r>
          </a:p>
          <a:p>
            <a:endParaRPr lang="en-US" baseline="0" dirty="0"/>
          </a:p>
          <a:p>
            <a:r>
              <a:rPr lang="en-US" baseline="0" dirty="0"/>
              <a:t>The code may also cause some page faults. This will definitely be at least a few instructions, but clearly the loop does not require more than 4 KiB of code (it is simple enough), so it can span 2 pages at the worst + 2 (2</a:t>
            </a:r>
            <a:r>
              <a:rPr lang="en-US" baseline="30000" dirty="0"/>
              <a:t>nd</a:t>
            </a:r>
            <a:r>
              <a:rPr lang="en-US" baseline="0" dirty="0"/>
              <a:t> level) page tables = 4 additional page faults.</a:t>
            </a:r>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72</a:t>
            </a:fld>
            <a:endParaRPr lang="en-US"/>
          </a:p>
        </p:txBody>
      </p:sp>
    </p:spTree>
    <p:extLst>
      <p:ext uri="{BB962C8B-B14F-4D97-AF65-F5344CB8AC3E}">
        <p14:creationId xmlns:p14="http://schemas.microsoft.com/office/powerpoint/2010/main" val="38982984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Isolation</a:t>
            </a:r>
            <a:r>
              <a:rPr lang="en-US" baseline="0" dirty="0"/>
              <a:t> – if one VM crashes or is hacked, other VMs are still fine (one VM cannot affect or even see other VMs)</a:t>
            </a:r>
          </a:p>
          <a:p>
            <a:r>
              <a:rPr lang="en-US" baseline="0" dirty="0"/>
              <a:t>Encapsulation – VM is stored in regular files on host system (moving, snapshotting, cloning)</a:t>
            </a:r>
          </a:p>
          <a:p>
            <a:r>
              <a:rPr lang="en-US" baseline="0" dirty="0"/>
              <a:t>Compatibility – abstract hardware allows migration among host servers (load balancing)</a:t>
            </a:r>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82</a:t>
            </a:fld>
            <a:endParaRPr lang="en-US"/>
          </a:p>
        </p:txBody>
      </p:sp>
    </p:spTree>
    <p:extLst>
      <p:ext uri="{BB962C8B-B14F-4D97-AF65-F5344CB8AC3E}">
        <p14:creationId xmlns:p14="http://schemas.microsoft.com/office/powerpoint/2010/main" val="38939310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122" name="Line 2"/>
          <p:cNvSpPr>
            <a:spLocks noChangeShapeType="1"/>
          </p:cNvSpPr>
          <p:nvPr/>
        </p:nvSpPr>
        <p:spPr bwMode="auto">
          <a:xfrm>
            <a:off x="9753600" y="1066800"/>
            <a:ext cx="0" cy="4495800"/>
          </a:xfrm>
          <a:prstGeom prst="line">
            <a:avLst/>
          </a:prstGeom>
          <a:noFill/>
          <a:ln w="9525">
            <a:solidFill>
              <a:schemeClr val="tx1"/>
            </a:solidFill>
            <a:round/>
            <a:headEnd/>
            <a:tailEnd/>
          </a:ln>
          <a:effectLst/>
        </p:spPr>
        <p:txBody>
          <a:bodyPr/>
          <a:lstStyle/>
          <a:p>
            <a:endParaRPr lang="cs-CZ"/>
          </a:p>
        </p:txBody>
      </p:sp>
      <p:sp>
        <p:nvSpPr>
          <p:cNvPr id="5123" name="Rectangle 3"/>
          <p:cNvSpPr>
            <a:spLocks noGrp="1" noChangeArrowheads="1"/>
          </p:cNvSpPr>
          <p:nvPr>
            <p:ph type="ctrTitle"/>
          </p:nvPr>
        </p:nvSpPr>
        <p:spPr>
          <a:xfrm>
            <a:off x="421217" y="466725"/>
            <a:ext cx="9042400" cy="2133600"/>
          </a:xfrm>
        </p:spPr>
        <p:txBody>
          <a:bodyPr/>
          <a:lstStyle>
            <a:lvl1pPr algn="r">
              <a:defRPr sz="4800"/>
            </a:lvl1pPr>
          </a:lstStyle>
          <a:p>
            <a:r>
              <a:rPr lang="en-US" altLang="en-US"/>
              <a:t>Click to edit Master title style</a:t>
            </a:r>
          </a:p>
        </p:txBody>
      </p:sp>
      <p:sp>
        <p:nvSpPr>
          <p:cNvPr id="5124" name="Rectangle 4"/>
          <p:cNvSpPr>
            <a:spLocks noGrp="1" noChangeArrowheads="1"/>
          </p:cNvSpPr>
          <p:nvPr>
            <p:ph type="subTitle" idx="1"/>
          </p:nvPr>
        </p:nvSpPr>
        <p:spPr>
          <a:xfrm>
            <a:off x="1132417" y="3049588"/>
            <a:ext cx="83312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5125" name="Rectangle 5"/>
          <p:cNvSpPr>
            <a:spLocks noGrp="1" noChangeArrowheads="1"/>
          </p:cNvSpPr>
          <p:nvPr>
            <p:ph type="dt" sz="half" idx="2"/>
          </p:nvPr>
        </p:nvSpPr>
        <p:spPr/>
        <p:txBody>
          <a:bodyPr/>
          <a:lstStyle>
            <a:lvl1pPr>
              <a:defRPr/>
            </a:lvl1pPr>
          </a:lstStyle>
          <a:p>
            <a:r>
              <a:rPr lang="cs-CZ" altLang="en-US"/>
              <a:t>17.4.2025</a:t>
            </a:r>
            <a:endParaRPr lang="en-US" altLang="en-US"/>
          </a:p>
        </p:txBody>
      </p:sp>
      <p:sp>
        <p:nvSpPr>
          <p:cNvPr id="5126" name="Rectangle 6"/>
          <p:cNvSpPr>
            <a:spLocks noGrp="1" noChangeArrowheads="1"/>
          </p:cNvSpPr>
          <p:nvPr>
            <p:ph type="ftr" sz="quarter" idx="3"/>
          </p:nvPr>
        </p:nvSpPr>
        <p:spPr/>
        <p:txBody>
          <a:bodyPr/>
          <a:lstStyle>
            <a:lvl1pPr>
              <a:defRPr/>
            </a:lvl1pPr>
          </a:lstStyle>
          <a:p>
            <a:endParaRPr lang="en-US" altLang="en-US"/>
          </a:p>
        </p:txBody>
      </p:sp>
      <p:sp>
        <p:nvSpPr>
          <p:cNvPr id="5127" name="Rectangle 7"/>
          <p:cNvSpPr>
            <a:spLocks noGrp="1" noChangeArrowheads="1"/>
          </p:cNvSpPr>
          <p:nvPr>
            <p:ph type="sldNum" sz="quarter" idx="4"/>
          </p:nvPr>
        </p:nvSpPr>
        <p:spPr/>
        <p:txBody>
          <a:bodyPr/>
          <a:lstStyle>
            <a:lvl1pPr>
              <a:defRPr/>
            </a:lvl1pPr>
          </a:lstStyle>
          <a:p>
            <a:fld id="{2A4750BA-B163-4F11-8356-C4353F13CE09}" type="slidenum">
              <a:rPr lang="en-US" altLang="en-US"/>
              <a:pPr/>
              <a:t>‹#›</a:t>
            </a:fld>
            <a:endParaRPr lang="en-US" altLang="en-US"/>
          </a:p>
        </p:txBody>
      </p:sp>
      <p:sp>
        <p:nvSpPr>
          <p:cNvPr id="5128" name="Line 8"/>
          <p:cNvSpPr>
            <a:spLocks noChangeShapeType="1"/>
          </p:cNvSpPr>
          <p:nvPr/>
        </p:nvSpPr>
        <p:spPr bwMode="auto">
          <a:xfrm>
            <a:off x="406400" y="2819400"/>
            <a:ext cx="10972800" cy="0"/>
          </a:xfrm>
          <a:prstGeom prst="line">
            <a:avLst/>
          </a:prstGeom>
          <a:noFill/>
          <a:ln w="6350">
            <a:solidFill>
              <a:schemeClr val="tx1"/>
            </a:solidFill>
            <a:round/>
            <a:headEnd/>
            <a:tailEnd/>
          </a:ln>
          <a:effectLst/>
        </p:spPr>
        <p:txBody>
          <a:bodyPr/>
          <a:lstStyle/>
          <a:p>
            <a:endParaRPr lang="cs-CZ"/>
          </a:p>
        </p:txBody>
      </p:sp>
      <p:pic>
        <p:nvPicPr>
          <p:cNvPr id="5129" name="Picture 9" descr="b2e2lirt[1]"/>
          <p:cNvPicPr>
            <a:picLocks noChangeAspect="1" noChangeArrowheads="1"/>
          </p:cNvPicPr>
          <p:nvPr/>
        </p:nvPicPr>
        <p:blipFill>
          <a:blip r:embed="rId2" cstate="print"/>
          <a:srcRect/>
          <a:stretch>
            <a:fillRect/>
          </a:stretch>
        </p:blipFill>
        <p:spPr bwMode="auto">
          <a:xfrm>
            <a:off x="9791700" y="3392489"/>
            <a:ext cx="2245784" cy="1406525"/>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cs-CZ"/>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4" name="Date Placeholder 3"/>
          <p:cNvSpPr>
            <a:spLocks noGrp="1"/>
          </p:cNvSpPr>
          <p:nvPr>
            <p:ph type="dt" sz="half" idx="10"/>
          </p:nvPr>
        </p:nvSpPr>
        <p:spPr/>
        <p:txBody>
          <a:bodyPr/>
          <a:lstStyle>
            <a:lvl1pPr>
              <a:defRPr/>
            </a:lvl1pPr>
          </a:lstStyle>
          <a:p>
            <a:r>
              <a:rPr lang="cs-CZ" altLang="en-US"/>
              <a:t>17.4.2025</a:t>
            </a:r>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F4A1145F-674A-4228-8958-0EA9769F5517}" type="slidenum">
              <a:rPr lang="en-US" altLang="en-US"/>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cs-CZ"/>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r>
              <a:rPr lang="cs-CZ" altLang="en-US"/>
              <a:t>17.4.2025</a:t>
            </a:r>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EFA15E1F-5AFB-40EA-923D-A2EB4D767C82}" type="slidenum">
              <a:rPr lang="en-US" altLang="en-US"/>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cs-CZ"/>
          </a:p>
        </p:txBody>
      </p:sp>
      <p:sp>
        <p:nvSpPr>
          <p:cNvPr id="3" name="Content Placeholder 2"/>
          <p:cNvSpPr>
            <a:spLocks noGrp="1"/>
          </p:cNvSpPr>
          <p:nvPr>
            <p:ph sz="half" idx="1"/>
          </p:nvPr>
        </p:nvSpPr>
        <p:spPr>
          <a:xfrm>
            <a:off x="609600" y="1719263"/>
            <a:ext cx="53848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4" name="Content Placeholder 3"/>
          <p:cNvSpPr>
            <a:spLocks noGrp="1"/>
          </p:cNvSpPr>
          <p:nvPr>
            <p:ph sz="half" idx="2"/>
          </p:nvPr>
        </p:nvSpPr>
        <p:spPr>
          <a:xfrm>
            <a:off x="6197600" y="1719263"/>
            <a:ext cx="53848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5" name="Date Placeholder 4"/>
          <p:cNvSpPr>
            <a:spLocks noGrp="1"/>
          </p:cNvSpPr>
          <p:nvPr>
            <p:ph type="dt" sz="half" idx="10"/>
          </p:nvPr>
        </p:nvSpPr>
        <p:spPr/>
        <p:txBody>
          <a:bodyPr/>
          <a:lstStyle>
            <a:lvl1pPr>
              <a:defRPr/>
            </a:lvl1pPr>
          </a:lstStyle>
          <a:p>
            <a:r>
              <a:rPr lang="cs-CZ" altLang="en-US"/>
              <a:t>17.4.2025</a:t>
            </a:r>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169EAE92-5121-41FC-8DEC-DA73929E0C34}" type="slidenum">
              <a:rPr lang="en-US" altLang="en-US"/>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cs-CZ"/>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7" name="Date Placeholder 6"/>
          <p:cNvSpPr>
            <a:spLocks noGrp="1"/>
          </p:cNvSpPr>
          <p:nvPr>
            <p:ph type="dt" sz="half" idx="10"/>
          </p:nvPr>
        </p:nvSpPr>
        <p:spPr/>
        <p:txBody>
          <a:bodyPr/>
          <a:lstStyle>
            <a:lvl1pPr>
              <a:defRPr/>
            </a:lvl1pPr>
          </a:lstStyle>
          <a:p>
            <a:r>
              <a:rPr lang="cs-CZ" altLang="en-US"/>
              <a:t>17.4.2025</a:t>
            </a:r>
            <a:endParaRPr lang="en-US" altLang="en-US"/>
          </a:p>
        </p:txBody>
      </p:sp>
      <p:sp>
        <p:nvSpPr>
          <p:cNvPr id="8" name="Footer Placeholder 7"/>
          <p:cNvSpPr>
            <a:spLocks noGrp="1"/>
          </p:cNvSpPr>
          <p:nvPr>
            <p:ph type="ftr" sz="quarter" idx="11"/>
          </p:nvPr>
        </p:nvSpPr>
        <p:spPr/>
        <p:txBody>
          <a:bodyPr/>
          <a:lstStyle>
            <a:lvl1pPr>
              <a:defRPr/>
            </a:lvl1pPr>
          </a:lstStyle>
          <a:p>
            <a:endParaRPr lang="en-US" altLang="en-US"/>
          </a:p>
        </p:txBody>
      </p:sp>
      <p:sp>
        <p:nvSpPr>
          <p:cNvPr id="9" name="Slide Number Placeholder 8"/>
          <p:cNvSpPr>
            <a:spLocks noGrp="1"/>
          </p:cNvSpPr>
          <p:nvPr>
            <p:ph type="sldNum" sz="quarter" idx="12"/>
          </p:nvPr>
        </p:nvSpPr>
        <p:spPr/>
        <p:txBody>
          <a:bodyPr/>
          <a:lstStyle>
            <a:lvl1pPr>
              <a:defRPr/>
            </a:lvl1pPr>
          </a:lstStyle>
          <a:p>
            <a:fld id="{B8EB1BA9-04F9-4DBA-8B88-0BF71DD220AD}" type="slidenum">
              <a:rPr lang="en-US" altLang="en-US"/>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cs-CZ"/>
          </a:p>
        </p:txBody>
      </p:sp>
      <p:sp>
        <p:nvSpPr>
          <p:cNvPr id="3" name="Date Placeholder 2"/>
          <p:cNvSpPr>
            <a:spLocks noGrp="1"/>
          </p:cNvSpPr>
          <p:nvPr>
            <p:ph type="dt" sz="half" idx="10"/>
          </p:nvPr>
        </p:nvSpPr>
        <p:spPr/>
        <p:txBody>
          <a:bodyPr/>
          <a:lstStyle>
            <a:lvl1pPr>
              <a:defRPr/>
            </a:lvl1pPr>
          </a:lstStyle>
          <a:p>
            <a:r>
              <a:rPr lang="cs-CZ" altLang="en-US"/>
              <a:t>17.4.2025</a:t>
            </a:r>
            <a:endParaRPr lang="en-US" altLang="en-US"/>
          </a:p>
        </p:txBody>
      </p:sp>
      <p:sp>
        <p:nvSpPr>
          <p:cNvPr id="4" name="Footer Placeholder 3"/>
          <p:cNvSpPr>
            <a:spLocks noGrp="1"/>
          </p:cNvSpPr>
          <p:nvPr>
            <p:ph type="ftr" sz="quarter" idx="11"/>
          </p:nvPr>
        </p:nvSpPr>
        <p:spPr/>
        <p:txBody>
          <a:bodyPr/>
          <a:lstStyle>
            <a:lvl1pPr>
              <a:defRPr/>
            </a:lvl1pPr>
          </a:lstStyle>
          <a:p>
            <a:endParaRPr lang="en-US" altLang="en-US"/>
          </a:p>
        </p:txBody>
      </p:sp>
      <p:sp>
        <p:nvSpPr>
          <p:cNvPr id="5" name="Slide Number Placeholder 4"/>
          <p:cNvSpPr>
            <a:spLocks noGrp="1"/>
          </p:cNvSpPr>
          <p:nvPr>
            <p:ph type="sldNum" sz="quarter" idx="12"/>
          </p:nvPr>
        </p:nvSpPr>
        <p:spPr/>
        <p:txBody>
          <a:bodyPr/>
          <a:lstStyle>
            <a:lvl1pPr>
              <a:defRPr/>
            </a:lvl1pPr>
          </a:lstStyle>
          <a:p>
            <a:fld id="{A3CB23DE-87E9-44C4-9125-F99647402680}" type="slidenum">
              <a:rPr lang="en-US" altLang="en-US"/>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r>
              <a:rPr lang="cs-CZ" altLang="en-US"/>
              <a:t>17.4.2025</a:t>
            </a:r>
            <a:endParaRPr lang="en-US" altLang="en-US"/>
          </a:p>
        </p:txBody>
      </p:sp>
      <p:sp>
        <p:nvSpPr>
          <p:cNvPr id="3" name="Footer Placeholder 2"/>
          <p:cNvSpPr>
            <a:spLocks noGrp="1"/>
          </p:cNvSpPr>
          <p:nvPr>
            <p:ph type="ftr" sz="quarter" idx="11"/>
          </p:nvPr>
        </p:nvSpPr>
        <p:spPr/>
        <p:txBody>
          <a:bodyPr/>
          <a:lstStyle>
            <a:lvl1pPr>
              <a:defRPr/>
            </a:lvl1pPr>
          </a:lstStyle>
          <a:p>
            <a:endParaRPr lang="en-US" altLang="en-US"/>
          </a:p>
        </p:txBody>
      </p:sp>
      <p:sp>
        <p:nvSpPr>
          <p:cNvPr id="4" name="Slide Number Placeholder 3"/>
          <p:cNvSpPr>
            <a:spLocks noGrp="1"/>
          </p:cNvSpPr>
          <p:nvPr>
            <p:ph type="sldNum" sz="quarter" idx="12"/>
          </p:nvPr>
        </p:nvSpPr>
        <p:spPr/>
        <p:txBody>
          <a:bodyPr/>
          <a:lstStyle>
            <a:lvl1pPr>
              <a:defRPr/>
            </a:lvl1pPr>
          </a:lstStyle>
          <a:p>
            <a:fld id="{779B49DB-207B-4B04-AB13-3224BA24FB53}" type="slidenum">
              <a:rPr lang="en-US" altLang="en-US"/>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endParaRPr lang="cs-CZ"/>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r>
              <a:rPr lang="cs-CZ" altLang="en-US"/>
              <a:t>17.4.2025</a:t>
            </a:r>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B16FF626-F1DE-4CAB-AC6F-3C9C63F3BC9B}" type="slidenum">
              <a:rPr lang="en-US" altLang="en-US"/>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endParaRPr lang="cs-CZ"/>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s-CZ"/>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r>
              <a:rPr lang="cs-CZ" altLang="en-US"/>
              <a:t>17.4.2025</a:t>
            </a:r>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2A5FCAB0-4CDF-4FD1-8C9D-AF93D5E31F18}" type="slidenum">
              <a:rPr lang="en-US" altLang="en-US"/>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cs-CZ"/>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4" name="Date Placeholder 3"/>
          <p:cNvSpPr>
            <a:spLocks noGrp="1"/>
          </p:cNvSpPr>
          <p:nvPr>
            <p:ph type="dt" sz="half" idx="10"/>
          </p:nvPr>
        </p:nvSpPr>
        <p:spPr/>
        <p:txBody>
          <a:bodyPr/>
          <a:lstStyle>
            <a:lvl1pPr>
              <a:defRPr/>
            </a:lvl1pPr>
          </a:lstStyle>
          <a:p>
            <a:r>
              <a:rPr lang="cs-CZ" altLang="en-US"/>
              <a:t>17.4.2025</a:t>
            </a:r>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944E42D6-9DD4-4165-BDB0-13B2B843F046}" type="slidenum">
              <a:rPr lang="en-US" altLang="en-US"/>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22239"/>
            <a:ext cx="2743200" cy="6008687"/>
          </a:xfrm>
        </p:spPr>
        <p:txBody>
          <a:bodyPr vert="eaVert"/>
          <a:lstStyle/>
          <a:p>
            <a:r>
              <a:rPr lang="en-US"/>
              <a:t>Click to edit Master title style</a:t>
            </a:r>
            <a:endParaRPr lang="cs-CZ"/>
          </a:p>
        </p:txBody>
      </p:sp>
      <p:sp>
        <p:nvSpPr>
          <p:cNvPr id="3" name="Vertical Text Placeholder 2"/>
          <p:cNvSpPr>
            <a:spLocks noGrp="1"/>
          </p:cNvSpPr>
          <p:nvPr>
            <p:ph type="body" orient="vert" idx="1"/>
          </p:nvPr>
        </p:nvSpPr>
        <p:spPr>
          <a:xfrm>
            <a:off x="609600" y="122239"/>
            <a:ext cx="80264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4" name="Date Placeholder 3"/>
          <p:cNvSpPr>
            <a:spLocks noGrp="1"/>
          </p:cNvSpPr>
          <p:nvPr>
            <p:ph type="dt" sz="half" idx="10"/>
          </p:nvPr>
        </p:nvSpPr>
        <p:spPr/>
        <p:txBody>
          <a:bodyPr/>
          <a:lstStyle>
            <a:lvl1pPr>
              <a:defRPr/>
            </a:lvl1pPr>
          </a:lstStyle>
          <a:p>
            <a:r>
              <a:rPr lang="cs-CZ" altLang="en-US"/>
              <a:t>17.4.2025</a:t>
            </a:r>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3B17C8BE-C614-485F-9B20-1471ABF7C6AE}" type="slidenum">
              <a:rPr lang="en-US" altLang="en-US"/>
              <a:pPr/>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p:cNvSpPr/>
          <p:nvPr/>
        </p:nvSpPr>
        <p:spPr>
          <a:xfrm>
            <a:off x="0" y="0"/>
            <a:ext cx="12192000" cy="2420888"/>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Cloud Callout 6"/>
          <p:cNvSpPr/>
          <p:nvPr/>
        </p:nvSpPr>
        <p:spPr>
          <a:xfrm>
            <a:off x="9926595" y="404664"/>
            <a:ext cx="1944216" cy="1584176"/>
          </a:xfrm>
          <a:prstGeom prst="cloudCallout">
            <a:avLst>
              <a:gd name="adj1" fmla="val -72589"/>
              <a:gd name="adj2" fmla="val 67149"/>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9" descr="b2e2lirt[1]"/>
          <p:cNvPicPr>
            <a:picLocks noChangeAspect="1" noChangeArrowheads="1"/>
          </p:cNvPicPr>
          <p:nvPr/>
        </p:nvPicPr>
        <p:blipFill>
          <a:blip r:embed="rId2" cstate="print"/>
          <a:srcRect/>
          <a:stretch>
            <a:fillRect/>
          </a:stretch>
        </p:blipFill>
        <p:spPr bwMode="auto">
          <a:xfrm>
            <a:off x="10416480" y="683778"/>
            <a:ext cx="1050425" cy="877169"/>
          </a:xfrm>
          <a:prstGeom prst="rect">
            <a:avLst/>
          </a:prstGeom>
          <a:noFill/>
        </p:spPr>
      </p:pic>
    </p:spTree>
    <p:extLst>
      <p:ext uri="{BB962C8B-B14F-4D97-AF65-F5344CB8AC3E}">
        <p14:creationId xmlns:p14="http://schemas.microsoft.com/office/powerpoint/2010/main" val="18997562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F4A1145F-674A-4228-8958-0EA9769F5517}" type="slidenum">
              <a:rPr lang="en-US" altLang="en-US" smtClean="0"/>
              <a:pPr/>
              <a:t>‹#›</a:t>
            </a:fld>
            <a:endParaRPr lang="en-US" altLang="en-US"/>
          </a:p>
        </p:txBody>
      </p:sp>
    </p:spTree>
    <p:extLst>
      <p:ext uri="{BB962C8B-B14F-4D97-AF65-F5344CB8AC3E}">
        <p14:creationId xmlns:p14="http://schemas.microsoft.com/office/powerpoint/2010/main" val="7717985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EFA15E1F-5AFB-40EA-923D-A2EB4D767C82}" type="slidenum">
              <a:rPr lang="en-US" altLang="en-US" smtClean="0"/>
              <a:pPr/>
              <a:t>‹#›</a:t>
            </a:fld>
            <a:endParaRPr lang="en-US" altLang="en-US"/>
          </a:p>
        </p:txBody>
      </p:sp>
    </p:spTree>
    <p:extLst>
      <p:ext uri="{BB962C8B-B14F-4D97-AF65-F5344CB8AC3E}">
        <p14:creationId xmlns:p14="http://schemas.microsoft.com/office/powerpoint/2010/main" val="20013987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cs-CZ" altLang="en-US"/>
              <a:t>17.4.2025</a:t>
            </a:r>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169EAE92-5121-41FC-8DEC-DA73929E0C34}" type="slidenum">
              <a:rPr lang="en-US" altLang="en-US" smtClean="0"/>
              <a:pPr/>
              <a:t>‹#›</a:t>
            </a:fld>
            <a:endParaRPr lang="en-US" altLang="en-US"/>
          </a:p>
        </p:txBody>
      </p:sp>
    </p:spTree>
    <p:extLst>
      <p:ext uri="{BB962C8B-B14F-4D97-AF65-F5344CB8AC3E}">
        <p14:creationId xmlns:p14="http://schemas.microsoft.com/office/powerpoint/2010/main" val="31134624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cs-CZ" altLang="en-US"/>
              <a:t>17.4.2025</a:t>
            </a:r>
            <a:endParaRPr lang="en-US" altLang="en-US"/>
          </a:p>
        </p:txBody>
      </p:sp>
      <p:sp>
        <p:nvSpPr>
          <p:cNvPr id="8" name="Footer Placeholder 7"/>
          <p:cNvSpPr>
            <a:spLocks noGrp="1"/>
          </p:cNvSpPr>
          <p:nvPr>
            <p:ph type="ftr" sz="quarter" idx="11"/>
          </p:nvPr>
        </p:nvSpPr>
        <p:spPr/>
        <p:txBody>
          <a:bodyPr/>
          <a:lstStyle/>
          <a:p>
            <a:endParaRPr lang="en-US" altLang="en-US"/>
          </a:p>
        </p:txBody>
      </p:sp>
      <p:sp>
        <p:nvSpPr>
          <p:cNvPr id="9" name="Slide Number Placeholder 8"/>
          <p:cNvSpPr>
            <a:spLocks noGrp="1"/>
          </p:cNvSpPr>
          <p:nvPr>
            <p:ph type="sldNum" sz="quarter" idx="12"/>
          </p:nvPr>
        </p:nvSpPr>
        <p:spPr/>
        <p:txBody>
          <a:bodyPr/>
          <a:lstStyle/>
          <a:p>
            <a:fld id="{B8EB1BA9-04F9-4DBA-8B88-0BF71DD220AD}" type="slidenum">
              <a:rPr lang="en-US" altLang="en-US" smtClean="0"/>
              <a:pPr/>
              <a:t>‹#›</a:t>
            </a:fld>
            <a:endParaRPr lang="en-US" altLang="en-US"/>
          </a:p>
        </p:txBody>
      </p:sp>
    </p:spTree>
    <p:extLst>
      <p:ext uri="{BB962C8B-B14F-4D97-AF65-F5344CB8AC3E}">
        <p14:creationId xmlns:p14="http://schemas.microsoft.com/office/powerpoint/2010/main" val="42721069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cs-CZ" altLang="en-US"/>
              <a:t>17.4.2025</a:t>
            </a:r>
            <a:endParaRPr lang="en-US" altLang="en-US"/>
          </a:p>
        </p:txBody>
      </p:sp>
      <p:sp>
        <p:nvSpPr>
          <p:cNvPr id="4" name="Footer Placeholder 3"/>
          <p:cNvSpPr>
            <a:spLocks noGrp="1"/>
          </p:cNvSpPr>
          <p:nvPr>
            <p:ph type="ftr" sz="quarter" idx="11"/>
          </p:nvPr>
        </p:nvSpPr>
        <p:spPr/>
        <p:txBody>
          <a:bodyPr/>
          <a:lstStyle/>
          <a:p>
            <a:endParaRPr lang="en-US" altLang="en-US"/>
          </a:p>
        </p:txBody>
      </p:sp>
      <p:sp>
        <p:nvSpPr>
          <p:cNvPr id="5" name="Slide Number Placeholder 4"/>
          <p:cNvSpPr>
            <a:spLocks noGrp="1"/>
          </p:cNvSpPr>
          <p:nvPr>
            <p:ph type="sldNum" sz="quarter" idx="12"/>
          </p:nvPr>
        </p:nvSpPr>
        <p:spPr/>
        <p:txBody>
          <a:bodyPr/>
          <a:lstStyle/>
          <a:p>
            <a:fld id="{A3CB23DE-87E9-44C4-9125-F99647402680}" type="slidenum">
              <a:rPr lang="en-US" altLang="en-US" smtClean="0"/>
              <a:pPr/>
              <a:t>‹#›</a:t>
            </a:fld>
            <a:endParaRPr lang="en-US" altLang="en-US"/>
          </a:p>
        </p:txBody>
      </p:sp>
    </p:spTree>
    <p:extLst>
      <p:ext uri="{BB962C8B-B14F-4D97-AF65-F5344CB8AC3E}">
        <p14:creationId xmlns:p14="http://schemas.microsoft.com/office/powerpoint/2010/main" val="15424706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cs-CZ" altLang="en-US"/>
              <a:t>17.4.2025</a:t>
            </a:r>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Slide Number Placeholder 3"/>
          <p:cNvSpPr>
            <a:spLocks noGrp="1"/>
          </p:cNvSpPr>
          <p:nvPr>
            <p:ph type="sldNum" sz="quarter" idx="12"/>
          </p:nvPr>
        </p:nvSpPr>
        <p:spPr/>
        <p:txBody>
          <a:bodyPr/>
          <a:lstStyle/>
          <a:p>
            <a:fld id="{779B49DB-207B-4B04-AB13-3224BA24FB53}" type="slidenum">
              <a:rPr lang="en-US" altLang="en-US" smtClean="0"/>
              <a:pPr/>
              <a:t>‹#›</a:t>
            </a:fld>
            <a:endParaRPr lang="en-US" altLang="en-US"/>
          </a:p>
        </p:txBody>
      </p:sp>
    </p:spTree>
    <p:extLst>
      <p:ext uri="{BB962C8B-B14F-4D97-AF65-F5344CB8AC3E}">
        <p14:creationId xmlns:p14="http://schemas.microsoft.com/office/powerpoint/2010/main" val="22860483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r>
              <a:rPr lang="cs-CZ" altLang="en-US"/>
              <a:t>17.4.2025</a:t>
            </a:r>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B16FF626-F1DE-4CAB-AC6F-3C9C63F3BC9B}" type="slidenum">
              <a:rPr lang="en-US" altLang="en-US" smtClean="0"/>
              <a:pPr/>
              <a:t>‹#›</a:t>
            </a:fld>
            <a:endParaRPr lang="en-US" altLang="en-US"/>
          </a:p>
        </p:txBody>
      </p:sp>
    </p:spTree>
    <p:extLst>
      <p:ext uri="{BB962C8B-B14F-4D97-AF65-F5344CB8AC3E}">
        <p14:creationId xmlns:p14="http://schemas.microsoft.com/office/powerpoint/2010/main" val="2726556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r>
              <a:rPr lang="cs-CZ" altLang="en-US"/>
              <a:t>17.4.2025</a:t>
            </a:r>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2A5FCAB0-4CDF-4FD1-8C9D-AF93D5E31F18}" type="slidenum">
              <a:rPr lang="en-US" altLang="en-US" smtClean="0"/>
              <a:pPr/>
              <a:t>‹#›</a:t>
            </a:fld>
            <a:endParaRPr lang="en-US" altLang="en-US"/>
          </a:p>
        </p:txBody>
      </p:sp>
    </p:spTree>
    <p:extLst>
      <p:ext uri="{BB962C8B-B14F-4D97-AF65-F5344CB8AC3E}">
        <p14:creationId xmlns:p14="http://schemas.microsoft.com/office/powerpoint/2010/main" val="4294348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944E42D6-9DD4-4165-BDB0-13B2B843F046}" type="slidenum">
              <a:rPr lang="en-US" altLang="en-US" smtClean="0"/>
              <a:pPr/>
              <a:t>‹#›</a:t>
            </a:fld>
            <a:endParaRPr lang="en-US" altLang="en-US"/>
          </a:p>
        </p:txBody>
      </p:sp>
    </p:spTree>
    <p:extLst>
      <p:ext uri="{BB962C8B-B14F-4D97-AF65-F5344CB8AC3E}">
        <p14:creationId xmlns:p14="http://schemas.microsoft.com/office/powerpoint/2010/main" val="30501349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3B17C8BE-C614-485F-9B20-1471ABF7C6AE}" type="slidenum">
              <a:rPr lang="en-US" altLang="en-US" smtClean="0"/>
              <a:pPr/>
              <a:t>‹#›</a:t>
            </a:fld>
            <a:endParaRPr lang="en-US" altLang="en-US"/>
          </a:p>
        </p:txBody>
      </p:sp>
    </p:spTree>
    <p:extLst>
      <p:ext uri="{BB962C8B-B14F-4D97-AF65-F5344CB8AC3E}">
        <p14:creationId xmlns:p14="http://schemas.microsoft.com/office/powerpoint/2010/main" val="1558387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w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wmf"/><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Line 2"/>
          <p:cNvSpPr>
            <a:spLocks noChangeShapeType="1"/>
          </p:cNvSpPr>
          <p:nvPr/>
        </p:nvSpPr>
        <p:spPr bwMode="auto">
          <a:xfrm>
            <a:off x="10617200" y="152400"/>
            <a:ext cx="0" cy="1524000"/>
          </a:xfrm>
          <a:prstGeom prst="line">
            <a:avLst/>
          </a:prstGeom>
          <a:noFill/>
          <a:ln w="9525">
            <a:solidFill>
              <a:schemeClr val="tx1"/>
            </a:solidFill>
            <a:round/>
            <a:headEnd/>
            <a:tailEnd/>
          </a:ln>
          <a:effectLst/>
        </p:spPr>
        <p:txBody>
          <a:bodyPr/>
          <a:lstStyle/>
          <a:p>
            <a:endParaRPr lang="cs-CZ"/>
          </a:p>
        </p:txBody>
      </p:sp>
      <p:sp>
        <p:nvSpPr>
          <p:cNvPr id="4099" name="Rectangle 3"/>
          <p:cNvSpPr>
            <a:spLocks noGrp="1" noChangeArrowheads="1"/>
          </p:cNvSpPr>
          <p:nvPr>
            <p:ph type="title"/>
          </p:nvPr>
        </p:nvSpPr>
        <p:spPr bwMode="auto">
          <a:xfrm>
            <a:off x="609600" y="122238"/>
            <a:ext cx="10058400" cy="12954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4100" name="Rectangle 4"/>
          <p:cNvSpPr>
            <a:spLocks noGrp="1" noChangeArrowheads="1"/>
          </p:cNvSpPr>
          <p:nvPr>
            <p:ph type="body" idx="1"/>
          </p:nvPr>
        </p:nvSpPr>
        <p:spPr bwMode="auto">
          <a:xfrm>
            <a:off x="609600" y="1719263"/>
            <a:ext cx="10972800" cy="44116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1" name="Rectangle 5"/>
          <p:cNvSpPr>
            <a:spLocks noGrp="1" noChangeArrowheads="1"/>
          </p:cNvSpPr>
          <p:nvPr>
            <p:ph type="dt" sz="half" idx="2"/>
          </p:nvPr>
        </p:nvSpPr>
        <p:spPr bwMode="auto">
          <a:xfrm>
            <a:off x="609600" y="6248400"/>
            <a:ext cx="2844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vl1pPr>
          </a:lstStyle>
          <a:p>
            <a:r>
              <a:rPr lang="cs-CZ" altLang="en-US"/>
              <a:t>17.4.2025</a:t>
            </a:r>
            <a:endParaRPr lang="en-US" altLang="en-US"/>
          </a:p>
        </p:txBody>
      </p:sp>
      <p:sp>
        <p:nvSpPr>
          <p:cNvPr id="4102" name="Rectangle 6"/>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vl1pPr>
          </a:lstStyle>
          <a:p>
            <a:endParaRPr lang="en-US" altLang="en-US"/>
          </a:p>
        </p:txBody>
      </p:sp>
      <p:sp>
        <p:nvSpPr>
          <p:cNvPr id="4103" name="Rectangle 7"/>
          <p:cNvSpPr>
            <a:spLocks noGrp="1" noChangeArrowheads="1"/>
          </p:cNvSpPr>
          <p:nvPr>
            <p:ph type="sldNum" sz="quarter" idx="4"/>
          </p:nvPr>
        </p:nvSpPr>
        <p:spPr bwMode="auto">
          <a:xfrm>
            <a:off x="8737600" y="6248400"/>
            <a:ext cx="2844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vl1pPr>
          </a:lstStyle>
          <a:p>
            <a:fld id="{AD280EE7-F64F-4308-BA6A-AA907C3209A3}" type="slidenum">
              <a:rPr lang="en-US" altLang="en-US"/>
              <a:pPr/>
              <a:t>‹#›</a:t>
            </a:fld>
            <a:endParaRPr lang="en-US" altLang="en-US"/>
          </a:p>
        </p:txBody>
      </p:sp>
      <p:sp>
        <p:nvSpPr>
          <p:cNvPr id="4104" name="Rectangle 8"/>
          <p:cNvSpPr>
            <a:spLocks noChangeArrowheads="1"/>
          </p:cNvSpPr>
          <p:nvPr/>
        </p:nvSpPr>
        <p:spPr bwMode="auto">
          <a:xfrm>
            <a:off x="0" y="2372797"/>
            <a:ext cx="184731" cy="369332"/>
          </a:xfrm>
          <a:prstGeom prst="rect">
            <a:avLst/>
          </a:prstGeom>
          <a:noFill/>
          <a:ln w="9525">
            <a:noFill/>
            <a:miter lim="800000"/>
            <a:headEnd/>
            <a:tailEnd/>
          </a:ln>
          <a:effectLst/>
        </p:spPr>
        <p:txBody>
          <a:bodyPr wrap="none" anchor="ctr">
            <a:spAutoFit/>
          </a:bodyPr>
          <a:lstStyle/>
          <a:p>
            <a:endParaRPr lang="cs-CZ"/>
          </a:p>
        </p:txBody>
      </p:sp>
      <p:pic>
        <p:nvPicPr>
          <p:cNvPr id="4105" name="Picture 9" descr="b2e2lirt[1]"/>
          <p:cNvPicPr>
            <a:picLocks noChangeAspect="1" noChangeArrowheads="1"/>
          </p:cNvPicPr>
          <p:nvPr/>
        </p:nvPicPr>
        <p:blipFill>
          <a:blip r:embed="rId13" cstate="print"/>
          <a:srcRect/>
          <a:stretch>
            <a:fillRect/>
          </a:stretch>
        </p:blipFill>
        <p:spPr bwMode="auto">
          <a:xfrm>
            <a:off x="10706101" y="115888"/>
            <a:ext cx="1485900" cy="931862"/>
          </a:xfrm>
          <a:prstGeom prst="rect">
            <a:avLst/>
          </a:prstGeom>
          <a:noFill/>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ftr="0"/>
  <p:txStyles>
    <p:titleStyle>
      <a:lvl1pPr algn="l" rtl="0" fontAlgn="base">
        <a:spcBef>
          <a:spcPct val="0"/>
        </a:spcBef>
        <a:spcAft>
          <a:spcPct val="0"/>
        </a:spcAft>
        <a:defRPr sz="3900" b="1">
          <a:solidFill>
            <a:schemeClr val="tx2"/>
          </a:solidFill>
          <a:latin typeface="+mj-lt"/>
          <a:ea typeface="+mj-ea"/>
          <a:cs typeface="+mj-cs"/>
        </a:defRPr>
      </a:lvl1pPr>
      <a:lvl2pPr algn="l" rtl="0" fontAlgn="base">
        <a:spcBef>
          <a:spcPct val="0"/>
        </a:spcBef>
        <a:spcAft>
          <a:spcPct val="0"/>
        </a:spcAft>
        <a:defRPr sz="3900" b="1">
          <a:solidFill>
            <a:schemeClr val="tx2"/>
          </a:solidFill>
          <a:latin typeface="Arial" charset="0"/>
        </a:defRPr>
      </a:lvl2pPr>
      <a:lvl3pPr algn="l" rtl="0" fontAlgn="base">
        <a:spcBef>
          <a:spcPct val="0"/>
        </a:spcBef>
        <a:spcAft>
          <a:spcPct val="0"/>
        </a:spcAft>
        <a:defRPr sz="3900" b="1">
          <a:solidFill>
            <a:schemeClr val="tx2"/>
          </a:solidFill>
          <a:latin typeface="Arial" charset="0"/>
        </a:defRPr>
      </a:lvl3pPr>
      <a:lvl4pPr algn="l" rtl="0" fontAlgn="base">
        <a:spcBef>
          <a:spcPct val="0"/>
        </a:spcBef>
        <a:spcAft>
          <a:spcPct val="0"/>
        </a:spcAft>
        <a:defRPr sz="3900" b="1">
          <a:solidFill>
            <a:schemeClr val="tx2"/>
          </a:solidFill>
          <a:latin typeface="Arial" charset="0"/>
        </a:defRPr>
      </a:lvl4pPr>
      <a:lvl5pPr algn="l" rtl="0" fontAlgn="base">
        <a:spcBef>
          <a:spcPct val="0"/>
        </a:spcBef>
        <a:spcAft>
          <a:spcPct val="0"/>
        </a:spcAft>
        <a:defRPr sz="3900" b="1">
          <a:solidFill>
            <a:schemeClr val="tx2"/>
          </a:solidFill>
          <a:latin typeface="Arial" charset="0"/>
        </a:defRPr>
      </a:lvl5pPr>
      <a:lvl6pPr marL="457200" algn="l" rtl="0" fontAlgn="base">
        <a:spcBef>
          <a:spcPct val="0"/>
        </a:spcBef>
        <a:spcAft>
          <a:spcPct val="0"/>
        </a:spcAft>
        <a:defRPr sz="3900" b="1">
          <a:solidFill>
            <a:schemeClr val="tx2"/>
          </a:solidFill>
          <a:latin typeface="Arial" charset="0"/>
        </a:defRPr>
      </a:lvl6pPr>
      <a:lvl7pPr marL="914400" algn="l" rtl="0" fontAlgn="base">
        <a:spcBef>
          <a:spcPct val="0"/>
        </a:spcBef>
        <a:spcAft>
          <a:spcPct val="0"/>
        </a:spcAft>
        <a:defRPr sz="3900" b="1">
          <a:solidFill>
            <a:schemeClr val="tx2"/>
          </a:solidFill>
          <a:latin typeface="Arial" charset="0"/>
        </a:defRPr>
      </a:lvl7pPr>
      <a:lvl8pPr marL="1371600" algn="l" rtl="0" fontAlgn="base">
        <a:spcBef>
          <a:spcPct val="0"/>
        </a:spcBef>
        <a:spcAft>
          <a:spcPct val="0"/>
        </a:spcAft>
        <a:defRPr sz="3900" b="1">
          <a:solidFill>
            <a:schemeClr val="tx2"/>
          </a:solidFill>
          <a:latin typeface="Arial" charset="0"/>
        </a:defRPr>
      </a:lvl8pPr>
      <a:lvl9pPr marL="1828800" algn="l" rtl="0" fontAlgn="base">
        <a:spcBef>
          <a:spcPct val="0"/>
        </a:spcBef>
        <a:spcAft>
          <a:spcPct val="0"/>
        </a:spcAft>
        <a:defRPr sz="3900" b="1">
          <a:solidFill>
            <a:schemeClr val="tx2"/>
          </a:solidFill>
          <a:latin typeface="Arial" charset="0"/>
        </a:defRPr>
      </a:lvl9pPr>
    </p:titleStyle>
    <p:bodyStyle>
      <a:lvl1pPr marL="342900" indent="-342900" algn="l" rtl="0" fontAlgn="base">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fontAlgn="base">
        <a:spcBef>
          <a:spcPct val="20000"/>
        </a:spcBef>
        <a:spcAft>
          <a:spcPct val="0"/>
        </a:spcAft>
        <a:buClr>
          <a:schemeClr val="accent2"/>
        </a:buClr>
        <a:buSzPct val="70000"/>
        <a:buFont typeface="Wingdings" pitchFamily="2" charset="2"/>
        <a:buChar char="l"/>
        <a:defRPr sz="2600">
          <a:solidFill>
            <a:schemeClr val="tx1"/>
          </a:solidFill>
          <a:latin typeface="+mn-lt"/>
        </a:defRPr>
      </a:lvl2pPr>
      <a:lvl3pPr marL="987425" indent="-293688" algn="l" rtl="0" fontAlgn="base">
        <a:spcBef>
          <a:spcPct val="20000"/>
        </a:spcBef>
        <a:spcAft>
          <a:spcPct val="0"/>
        </a:spcAft>
        <a:buClr>
          <a:schemeClr val="accent1"/>
        </a:buClr>
        <a:buSzPct val="70000"/>
        <a:buFont typeface="Wingdings" pitchFamily="2" charset="2"/>
        <a:buChar char="l"/>
        <a:defRPr sz="2300">
          <a:solidFill>
            <a:schemeClr val="tx1"/>
          </a:solidFill>
          <a:latin typeface="+mn-lt"/>
        </a:defRPr>
      </a:lvl3pPr>
      <a:lvl4pPr marL="1281113" indent="-292100" algn="l" rtl="0" fontAlgn="base">
        <a:spcBef>
          <a:spcPct val="20000"/>
        </a:spcBef>
        <a:spcAft>
          <a:spcPct val="0"/>
        </a:spcAft>
        <a:buClr>
          <a:schemeClr val="tx2"/>
        </a:buClr>
        <a:buSzPct val="75000"/>
        <a:buFont typeface="Wingdings" pitchFamily="2" charset="2"/>
        <a:buChar char="§"/>
        <a:defRPr sz="2000">
          <a:solidFill>
            <a:schemeClr val="tx1"/>
          </a:solidFill>
          <a:latin typeface="+mn-lt"/>
        </a:defRPr>
      </a:lvl4pPr>
      <a:lvl5pPr marL="15986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9722296"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cs-CZ" altLang="en-US"/>
              <a:t>17.4.2025</a:t>
            </a:r>
            <a:endParaRPr lang="en-US"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280EE7-F64F-4308-BA6A-AA907C3209A3}" type="slidenum">
              <a:rPr lang="en-US" altLang="en-US" smtClean="0"/>
              <a:pPr/>
              <a:t>‹#›</a:t>
            </a:fld>
            <a:endParaRPr lang="en-US" altLang="en-US"/>
          </a:p>
        </p:txBody>
      </p:sp>
      <p:pic>
        <p:nvPicPr>
          <p:cNvPr id="7" name="Picture 9" descr="b2e2lirt[1]"/>
          <p:cNvPicPr>
            <a:picLocks noChangeAspect="1" noChangeArrowheads="1"/>
          </p:cNvPicPr>
          <p:nvPr/>
        </p:nvPicPr>
        <p:blipFill>
          <a:blip r:embed="rId13" cstate="print"/>
          <a:srcRect/>
          <a:stretch>
            <a:fillRect/>
          </a:stretch>
        </p:blipFill>
        <p:spPr bwMode="auto">
          <a:xfrm>
            <a:off x="10704512" y="476672"/>
            <a:ext cx="1050425" cy="877169"/>
          </a:xfrm>
          <a:prstGeom prst="rect">
            <a:avLst/>
          </a:prstGeom>
          <a:noFill/>
        </p:spPr>
      </p:pic>
      <p:cxnSp>
        <p:nvCxnSpPr>
          <p:cNvPr id="8" name="Straight Connector 7"/>
          <p:cNvCxnSpPr/>
          <p:nvPr/>
        </p:nvCxnSpPr>
        <p:spPr>
          <a:xfrm flipH="1">
            <a:off x="838200" y="1484784"/>
            <a:ext cx="10874424" cy="0"/>
          </a:xfrm>
          <a:prstGeom prst="line">
            <a:avLst/>
          </a:prstGeom>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315718225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hyperlink" Target="https://www.ksi.mff.cuni.cz/teaching/nswi170-web/pages/examples/05-strace" TargetMode="Externa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8" Type="http://schemas.openxmlformats.org/officeDocument/2006/relationships/hyperlink" Target="https://en.wikipedia.org/wiki/Page_fault" TargetMode="External"/><Relationship Id="rId3" Type="http://schemas.openxmlformats.org/officeDocument/2006/relationships/hyperlink" Target="https://en.wikipedia.org/wiki/Division_by_zero#Computer_arithmetic" TargetMode="External"/><Relationship Id="rId7" Type="http://schemas.openxmlformats.org/officeDocument/2006/relationships/hyperlink" Target="https://en.wikipedia.org/wiki/General_protection_fault" TargetMode="Externa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hyperlink" Target="https://en.wikipedia.org/wiki/Double_fault" TargetMode="External"/><Relationship Id="rId5" Type="http://schemas.openxmlformats.org/officeDocument/2006/relationships/hyperlink" Target="https://en.wikipedia.org/wiki/Non-maskable_interrupt" TargetMode="External"/><Relationship Id="rId10" Type="http://schemas.openxmlformats.org/officeDocument/2006/relationships/hyperlink" Target="https://en.wikipedia.org/wiki/Control-flow_enforcement_technology" TargetMode="External"/><Relationship Id="rId4" Type="http://schemas.openxmlformats.org/officeDocument/2006/relationships/hyperlink" Target="https://en.wikipedia.org/wiki/Trap_flag" TargetMode="External"/><Relationship Id="rId9" Type="http://schemas.openxmlformats.org/officeDocument/2006/relationships/hyperlink" Target="https://en.wikipedia.org/wiki/SIMD"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7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en-US"/>
              <a:t>Operating Systems</a:t>
            </a:r>
          </a:p>
        </p:txBody>
      </p:sp>
      <p:sp>
        <p:nvSpPr>
          <p:cNvPr id="2051" name="Rectangle 3"/>
          <p:cNvSpPr>
            <a:spLocks noGrp="1" noChangeArrowheads="1"/>
          </p:cNvSpPr>
          <p:nvPr>
            <p:ph type="subTitle" idx="1"/>
          </p:nvPr>
        </p:nvSpPr>
        <p:spPr/>
        <p:txBody>
          <a:bodyPr>
            <a:normAutofit/>
          </a:bodyPr>
          <a:lstStyle/>
          <a:p>
            <a:r>
              <a:rPr lang="en-US"/>
              <a:t>NSWI170 Computer Systems</a:t>
            </a:r>
            <a:endParaRPr lang="cs-CZ"/>
          </a:p>
          <a:p>
            <a:endParaRPr lang="cs-CZ"/>
          </a:p>
          <a:p>
            <a:r>
              <a:rPr lang="cs-CZ"/>
              <a:t>Jakub </a:t>
            </a:r>
            <a:r>
              <a:rPr lang="cs-CZ" err="1"/>
              <a:t>Yaghob</a:t>
            </a:r>
            <a:r>
              <a:rPr lang="en-US"/>
              <a:t>, Martin </a:t>
            </a:r>
            <a:r>
              <a:rPr lang="en-US" err="1"/>
              <a:t>Kruli</a:t>
            </a:r>
            <a:r>
              <a:rPr lang="cs-CZ"/>
              <a:t>š</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err="1"/>
              <a:t>Yaghob</a:t>
            </a:r>
            <a:r>
              <a:rPr lang="en-US" sz="3200" dirty="0"/>
              <a:t> to </a:t>
            </a:r>
            <a:r>
              <a:rPr lang="en-US" sz="3200" err="1"/>
              <a:t>Kruliš</a:t>
            </a:r>
            <a:r>
              <a:rPr lang="en-US" sz="3200" dirty="0"/>
              <a:t>: No more kitten memes or you’re dead…</a:t>
            </a:r>
            <a:endParaRPr lang="en-US" sz="3200" dirty="0">
              <a:cs typeface="Calibri Light"/>
            </a:endParaRP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2</a:t>
            </a:fld>
            <a:endParaRPr lang="en-US" alt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2748" y="1609382"/>
            <a:ext cx="6819452" cy="5112093"/>
          </a:xfrm>
          <a:prstGeom prst="rect">
            <a:avLst/>
          </a:prstGeom>
        </p:spPr>
      </p:pic>
      <p:sp>
        <p:nvSpPr>
          <p:cNvPr id="7" name="TextBox 6"/>
          <p:cNvSpPr txBox="1"/>
          <p:nvPr/>
        </p:nvSpPr>
        <p:spPr>
          <a:xfrm>
            <a:off x="914445" y="1861804"/>
            <a:ext cx="1295355" cy="584775"/>
          </a:xfrm>
          <a:prstGeom prst="rect">
            <a:avLst/>
          </a:prstGeom>
          <a:noFill/>
        </p:spPr>
        <p:txBody>
          <a:bodyPr wrap="none" rtlCol="0">
            <a:spAutoFit/>
          </a:bodyPr>
          <a:lstStyle/>
          <a:p>
            <a:r>
              <a:rPr lang="en-US" sz="3200" dirty="0">
                <a:latin typeface="+mn-lt"/>
              </a:rPr>
              <a:t>Okay…</a:t>
            </a:r>
          </a:p>
        </p:txBody>
      </p:sp>
    </p:spTree>
    <p:extLst>
      <p:ext uri="{BB962C8B-B14F-4D97-AF65-F5344CB8AC3E}">
        <p14:creationId xmlns:p14="http://schemas.microsoft.com/office/powerpoint/2010/main" val="3932641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Operating system – role</a:t>
            </a:r>
            <a:endParaRPr lang="cs-CZ"/>
          </a:p>
        </p:txBody>
      </p:sp>
      <p:sp>
        <p:nvSpPr>
          <p:cNvPr id="3" name="Content Placeholder 2"/>
          <p:cNvSpPr>
            <a:spLocks noGrp="1"/>
          </p:cNvSpPr>
          <p:nvPr>
            <p:ph idx="1"/>
          </p:nvPr>
        </p:nvSpPr>
        <p:spPr>
          <a:xfrm>
            <a:off x="5879976" y="1988841"/>
            <a:ext cx="5473824" cy="4367510"/>
          </a:xfrm>
        </p:spPr>
        <p:txBody>
          <a:bodyPr>
            <a:normAutofit/>
          </a:bodyPr>
          <a:lstStyle/>
          <a:p>
            <a:r>
              <a:rPr lang="en-US" dirty="0"/>
              <a:t>Abstract machine</a:t>
            </a:r>
          </a:p>
          <a:p>
            <a:pPr lvl="1"/>
            <a:r>
              <a:rPr lang="en-US" dirty="0"/>
              <a:t>Presented by kernel API</a:t>
            </a:r>
          </a:p>
          <a:p>
            <a:pPr lvl="2"/>
            <a:r>
              <a:rPr lang="en-US" dirty="0"/>
              <a:t>System calls</a:t>
            </a:r>
          </a:p>
          <a:p>
            <a:pPr lvl="2"/>
            <a:r>
              <a:rPr lang="en-US" dirty="0"/>
              <a:t>Wrapped in C libraries</a:t>
            </a:r>
          </a:p>
          <a:p>
            <a:pPr lvl="1"/>
            <a:r>
              <a:rPr lang="en-US" dirty="0"/>
              <a:t>Hide HW complexity/diversity</a:t>
            </a:r>
          </a:p>
          <a:p>
            <a:r>
              <a:rPr lang="en-US" dirty="0"/>
              <a:t>Resource manager</a:t>
            </a:r>
          </a:p>
          <a:p>
            <a:pPr lvl="1"/>
            <a:r>
              <a:rPr lang="en-US" dirty="0"/>
              <a:t>All HW managed by OS</a:t>
            </a:r>
          </a:p>
          <a:p>
            <a:pPr lvl="1"/>
            <a:r>
              <a:rPr lang="en-US" dirty="0"/>
              <a:t>Sharing HW among applications</a:t>
            </a:r>
          </a:p>
          <a:p>
            <a:pPr lvl="2"/>
            <a:r>
              <a:rPr lang="en-US" dirty="0"/>
              <a:t>Allocation (memory)</a:t>
            </a:r>
          </a:p>
          <a:p>
            <a:pPr lvl="2"/>
            <a:r>
              <a:rPr lang="en-US" dirty="0"/>
              <a:t>Time-sharing (CPU)</a:t>
            </a:r>
          </a:p>
          <a:p>
            <a:pPr lvl="2"/>
            <a:r>
              <a:rPr lang="en-US" dirty="0"/>
              <a:t>Abstraction (disk, network)</a:t>
            </a:r>
          </a:p>
        </p:txBody>
      </p:sp>
      <p:pic>
        <p:nvPicPr>
          <p:cNvPr id="20482" name="Picture 2"/>
          <p:cNvPicPr>
            <a:picLocks noChangeAspect="1" noChangeArrowheads="1"/>
          </p:cNvPicPr>
          <p:nvPr/>
        </p:nvPicPr>
        <p:blipFill>
          <a:blip r:embed="rId2" cstate="print"/>
          <a:srcRect/>
          <a:stretch>
            <a:fillRect/>
          </a:stretch>
        </p:blipFill>
        <p:spPr bwMode="auto">
          <a:xfrm>
            <a:off x="983432" y="2060848"/>
            <a:ext cx="4442643" cy="3567007"/>
          </a:xfrm>
          <a:prstGeom prst="rect">
            <a:avLst/>
          </a:prstGeom>
          <a:noFill/>
          <a:ln w="9525">
            <a:noFill/>
            <a:miter lim="800000"/>
            <a:headEnd/>
            <a:tailEnd/>
          </a:ln>
        </p:spPr>
      </p:pic>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3</a:t>
            </a:fld>
            <a:endParaRPr lang="en-US" altLang="en-US"/>
          </a:p>
        </p:txBody>
      </p:sp>
      <p:sp>
        <p:nvSpPr>
          <p:cNvPr id="6" name="Rounded Rectangle 5"/>
          <p:cNvSpPr/>
          <p:nvPr/>
        </p:nvSpPr>
        <p:spPr>
          <a:xfrm>
            <a:off x="4009292" y="3156438"/>
            <a:ext cx="1037493" cy="121984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Shared libraries</a:t>
            </a:r>
          </a:p>
        </p:txBody>
      </p:sp>
      <p:sp>
        <p:nvSpPr>
          <p:cNvPr id="7" name="Rounded Rectangle 6"/>
          <p:cNvSpPr/>
          <p:nvPr/>
        </p:nvSpPr>
        <p:spPr>
          <a:xfrm>
            <a:off x="1376350" y="3420207"/>
            <a:ext cx="2545020" cy="424143"/>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Language Runtime</a:t>
            </a:r>
          </a:p>
        </p:txBody>
      </p:sp>
    </p:spTree>
    <p:extLst>
      <p:ext uri="{BB962C8B-B14F-4D97-AF65-F5344CB8AC3E}">
        <p14:creationId xmlns:p14="http://schemas.microsoft.com/office/powerpoint/2010/main" val="3717851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CPU modes</a:t>
            </a:r>
          </a:p>
        </p:txBody>
      </p:sp>
      <p:sp>
        <p:nvSpPr>
          <p:cNvPr id="3" name="Content Placeholder 2"/>
          <p:cNvSpPr>
            <a:spLocks noGrp="1"/>
          </p:cNvSpPr>
          <p:nvPr>
            <p:ph idx="1"/>
          </p:nvPr>
        </p:nvSpPr>
        <p:spPr/>
        <p:txBody>
          <a:bodyPr/>
          <a:lstStyle/>
          <a:p>
            <a:r>
              <a:rPr lang="en-US" dirty="0"/>
              <a:t>User mode</a:t>
            </a:r>
          </a:p>
          <a:p>
            <a:pPr lvl="1"/>
            <a:r>
              <a:rPr lang="en-US" dirty="0"/>
              <a:t>Available to all applications</a:t>
            </a:r>
          </a:p>
          <a:p>
            <a:pPr lvl="1"/>
            <a:r>
              <a:rPr lang="cs-CZ" dirty="0"/>
              <a:t>Limited</a:t>
            </a:r>
            <a:r>
              <a:rPr lang="en-US" dirty="0"/>
              <a:t> (e.g., read-only) or no access to some resources</a:t>
            </a:r>
            <a:endParaRPr lang="cs-CZ" dirty="0"/>
          </a:p>
          <a:p>
            <a:pPr lvl="2"/>
            <a:r>
              <a:rPr lang="en-US" dirty="0"/>
              <a:t>The system registers, instructions</a:t>
            </a:r>
          </a:p>
          <a:p>
            <a:r>
              <a:rPr lang="en-US" dirty="0"/>
              <a:t>Kernel (system) mode</a:t>
            </a:r>
          </a:p>
          <a:p>
            <a:pPr lvl="1"/>
            <a:r>
              <a:rPr lang="en-US" dirty="0"/>
              <a:t>More privileged (all registers and instructions are available)</a:t>
            </a:r>
          </a:p>
          <a:p>
            <a:pPr lvl="1"/>
            <a:r>
              <a:rPr lang="en-US" dirty="0"/>
              <a:t>Used by OS or by only part of OS</a:t>
            </a:r>
          </a:p>
          <a:p>
            <a:pPr lvl="1"/>
            <a:r>
              <a:rPr lang="en-US" dirty="0"/>
              <a:t>Full access to all resources</a:t>
            </a:r>
          </a:p>
          <a:p>
            <a:r>
              <a:rPr lang="en-US" dirty="0"/>
              <a:t>The transition between the modes (especially user -&gt; kernel)</a:t>
            </a:r>
          </a:p>
          <a:p>
            <a:pPr lvl="1"/>
            <a:r>
              <a:rPr lang="en-US" dirty="0" err="1"/>
              <a:t>Syscall</a:t>
            </a:r>
            <a:r>
              <a:rPr lang="en-US" dirty="0"/>
              <a:t> (user instruction), jumps to the explicit kernel entry point</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4</a:t>
            </a:fld>
            <a:endParaRPr lang="en-US" altLang="en-US"/>
          </a:p>
        </p:txBody>
      </p:sp>
    </p:spTree>
    <p:extLst>
      <p:ext uri="{BB962C8B-B14F-4D97-AF65-F5344CB8AC3E}">
        <p14:creationId xmlns:p14="http://schemas.microsoft.com/office/powerpoint/2010/main" val="1447390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Kernel mode example</a:t>
            </a:r>
          </a:p>
        </p:txBody>
      </p:sp>
      <p:sp>
        <p:nvSpPr>
          <p:cNvPr id="6" name="Content Placeholder 5"/>
          <p:cNvSpPr>
            <a:spLocks noGrp="1"/>
          </p:cNvSpPr>
          <p:nvPr>
            <p:ph sz="half" idx="1"/>
          </p:nvPr>
        </p:nvSpPr>
        <p:spPr/>
        <p:txBody>
          <a:bodyPr/>
          <a:lstStyle/>
          <a:p>
            <a:r>
              <a:rPr lang="en-US" dirty="0"/>
              <a:t>Print string to std. output</a:t>
            </a:r>
          </a:p>
          <a:p>
            <a:pPr lvl="1"/>
            <a:r>
              <a:rPr lang="en-US" dirty="0"/>
              <a:t>Note that requires kernel call</a:t>
            </a:r>
          </a:p>
          <a:p>
            <a:endParaRPr lang="en-US" dirty="0"/>
          </a:p>
          <a:p>
            <a:pPr marL="457200" lvl="1" indent="0">
              <a:buNone/>
            </a:pPr>
            <a:r>
              <a:rPr lang="en-US" b="1" dirty="0" err="1">
                <a:solidFill>
                  <a:srgbClr val="0070C0"/>
                </a:solidFill>
                <a:latin typeface="Courier New" panose="02070309020205020404" pitchFamily="49" charset="0"/>
                <a:cs typeface="Courier New" panose="02070309020205020404" pitchFamily="49" charset="0"/>
              </a:rPr>
              <a:t>int</a:t>
            </a:r>
            <a:r>
              <a:rPr lang="en-US" b="1" dirty="0">
                <a:latin typeface="Courier New" panose="02070309020205020404" pitchFamily="49" charset="0"/>
                <a:cs typeface="Courier New" panose="02070309020205020404" pitchFamily="49" charset="0"/>
              </a:rPr>
              <a:t> main() {</a:t>
            </a:r>
          </a:p>
          <a:p>
            <a:pPr marL="457200" lvl="1" indent="0">
              <a:buNone/>
            </a:pPr>
            <a:r>
              <a:rPr lang="en-US" b="1" dirty="0">
                <a:latin typeface="Courier New" panose="02070309020205020404" pitchFamily="49" charset="0"/>
                <a:cs typeface="Courier New" panose="02070309020205020404" pitchFamily="49" charset="0"/>
              </a:rPr>
              <a:t>  </a:t>
            </a:r>
            <a:r>
              <a:rPr lang="en-US" b="1" dirty="0" err="1">
                <a:solidFill>
                  <a:srgbClr val="C00000"/>
                </a:solidFill>
                <a:latin typeface="Courier New" panose="02070309020205020404" pitchFamily="49" charset="0"/>
                <a:cs typeface="Courier New" panose="02070309020205020404" pitchFamily="49" charset="0"/>
              </a:rPr>
              <a:t>printf</a:t>
            </a:r>
            <a:r>
              <a:rPr lang="en-US" b="1" dirty="0">
                <a:solidFill>
                  <a:srgbClr val="C00000"/>
                </a:solidFill>
                <a:latin typeface="Courier New" panose="02070309020205020404" pitchFamily="49" charset="0"/>
                <a:cs typeface="Courier New" panose="02070309020205020404" pitchFamily="49" charset="0"/>
              </a:rPr>
              <a:t>("Hello");</a:t>
            </a:r>
          </a:p>
          <a:p>
            <a:pPr marL="457200" lvl="1" indent="0">
              <a:buNone/>
            </a:pPr>
            <a:r>
              <a:rPr lang="en-US" b="1" dirty="0">
                <a:latin typeface="Courier New" panose="02070309020205020404" pitchFamily="49" charset="0"/>
                <a:cs typeface="Courier New" panose="02070309020205020404" pitchFamily="49" charset="0"/>
              </a:rPr>
              <a:t>  ...</a:t>
            </a:r>
          </a:p>
          <a:p>
            <a:pPr marL="457200" lvl="1" indent="0">
              <a:buNone/>
            </a:pPr>
            <a:r>
              <a:rPr lang="en-US" b="1" dirty="0">
                <a:latin typeface="Courier New" panose="02070309020205020404" pitchFamily="49" charset="0"/>
                <a:cs typeface="Courier New" panose="02070309020205020404" pitchFamily="49" charset="0"/>
              </a:rPr>
              <a:t>}</a:t>
            </a:r>
          </a:p>
        </p:txBody>
      </p:sp>
      <p:sp>
        <p:nvSpPr>
          <p:cNvPr id="7" name="Content Placeholder 6"/>
          <p:cNvSpPr>
            <a:spLocks noGrp="1"/>
          </p:cNvSpPr>
          <p:nvPr>
            <p:ph sz="half" idx="2"/>
          </p:nvPr>
        </p:nvSpPr>
        <p:spPr/>
        <p:txBody>
          <a:bodyPr>
            <a:normAutofit/>
          </a:bodyPr>
          <a:lstStyle/>
          <a:p>
            <a:pPr marL="0" indent="0">
              <a:buNone/>
            </a:pPr>
            <a:r>
              <a:rPr lang="en-US" sz="2400" b="1" dirty="0" err="1">
                <a:latin typeface="Courier New" panose="02070309020205020404" pitchFamily="49" charset="0"/>
                <a:cs typeface="Courier New" panose="02070309020205020404" pitchFamily="49" charset="0"/>
              </a:rPr>
              <a:t>movq</a:t>
            </a: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rdx</a:t>
            </a: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len</a:t>
            </a:r>
            <a:endParaRPr lang="en-US" sz="2400" b="1" dirty="0">
              <a:latin typeface="Courier New" panose="02070309020205020404" pitchFamily="49" charset="0"/>
              <a:cs typeface="Courier New" panose="02070309020205020404" pitchFamily="49" charset="0"/>
            </a:endParaRPr>
          </a:p>
          <a:p>
            <a:pPr marL="0" indent="0">
              <a:buNone/>
            </a:pPr>
            <a:r>
              <a:rPr lang="en-US" sz="2400" b="1" dirty="0" err="1">
                <a:latin typeface="Courier New" panose="02070309020205020404" pitchFamily="49" charset="0"/>
                <a:cs typeface="Courier New" panose="02070309020205020404" pitchFamily="49" charset="0"/>
              </a:rPr>
              <a:t>movq</a:t>
            </a: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rcx</a:t>
            </a:r>
            <a:r>
              <a:rPr lang="cs-CZ" sz="2400" b="1" dirty="0">
                <a:latin typeface="Courier New" panose="02070309020205020404" pitchFamily="49" charset="0"/>
                <a:cs typeface="Courier New" panose="02070309020205020404" pitchFamily="49" charset="0"/>
              </a:rPr>
              <a:t>, </a:t>
            </a:r>
            <a:r>
              <a:rPr lang="en-US" sz="2400" b="1" dirty="0">
                <a:latin typeface="Courier New" panose="02070309020205020404" pitchFamily="49" charset="0"/>
                <a:cs typeface="Courier New" panose="02070309020205020404" pitchFamily="49" charset="0"/>
              </a:rPr>
              <a:t>@@</a:t>
            </a:r>
            <a:r>
              <a:rPr lang="en-US" sz="2400" b="1" dirty="0" err="1">
                <a:latin typeface="Courier New" panose="02070309020205020404" pitchFamily="49" charset="0"/>
                <a:cs typeface="Courier New" panose="02070309020205020404" pitchFamily="49" charset="0"/>
              </a:rPr>
              <a:t>msg</a:t>
            </a:r>
            <a:endParaRPr lang="en-US" sz="2400" b="1" dirty="0">
              <a:latin typeface="Courier New" panose="02070309020205020404" pitchFamily="49" charset="0"/>
              <a:cs typeface="Courier New" panose="02070309020205020404" pitchFamily="49" charset="0"/>
            </a:endParaRPr>
          </a:p>
          <a:p>
            <a:pPr marL="0" indent="0">
              <a:buNone/>
            </a:pPr>
            <a:r>
              <a:rPr lang="en-US" sz="2400" b="1" dirty="0" err="1">
                <a:latin typeface="Courier New" panose="02070309020205020404" pitchFamily="49" charset="0"/>
                <a:cs typeface="Courier New" panose="02070309020205020404" pitchFamily="49" charset="0"/>
              </a:rPr>
              <a:t>movq</a:t>
            </a: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rbx</a:t>
            </a:r>
            <a:r>
              <a:rPr lang="en-US" sz="2400" b="1" dirty="0">
                <a:latin typeface="Courier New" panose="02070309020205020404" pitchFamily="49" charset="0"/>
                <a:cs typeface="Courier New" panose="02070309020205020404" pitchFamily="49" charset="0"/>
              </a:rPr>
              <a:t>, 1</a:t>
            </a:r>
          </a:p>
          <a:p>
            <a:pPr marL="0" indent="0">
              <a:buNone/>
            </a:pPr>
            <a:r>
              <a:rPr lang="en-US" sz="2400" b="1" dirty="0" err="1">
                <a:latin typeface="Courier New" panose="02070309020205020404" pitchFamily="49" charset="0"/>
                <a:cs typeface="Courier New" panose="02070309020205020404" pitchFamily="49" charset="0"/>
              </a:rPr>
              <a:t>movq</a:t>
            </a: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rax</a:t>
            </a:r>
            <a:r>
              <a:rPr lang="en-US" sz="2400" b="1" dirty="0">
                <a:latin typeface="Courier New" panose="02070309020205020404" pitchFamily="49" charset="0"/>
                <a:cs typeface="Courier New" panose="02070309020205020404" pitchFamily="49" charset="0"/>
              </a:rPr>
              <a:t>, 4</a:t>
            </a:r>
          </a:p>
          <a:p>
            <a:pPr marL="0" indent="0">
              <a:buNone/>
            </a:pPr>
            <a:r>
              <a:rPr lang="en-US" sz="2400" b="1" dirty="0" err="1">
                <a:solidFill>
                  <a:srgbClr val="C00000"/>
                </a:solidFill>
                <a:latin typeface="Courier New" panose="02070309020205020404" pitchFamily="49" charset="0"/>
                <a:cs typeface="Courier New" panose="02070309020205020404" pitchFamily="49" charset="0"/>
              </a:rPr>
              <a:t>syscall</a:t>
            </a:r>
            <a:endParaRPr lang="en-US" sz="2400" b="1" dirty="0">
              <a:solidFill>
                <a:srgbClr val="C00000"/>
              </a:solidFill>
              <a:latin typeface="Courier New" panose="02070309020205020404" pitchFamily="49" charset="0"/>
              <a:cs typeface="Courier New" panose="02070309020205020404" pitchFamily="49" charset="0"/>
            </a:endParaRPr>
          </a:p>
          <a:p>
            <a:pPr marL="0" indent="0">
              <a:buNone/>
            </a:pPr>
            <a:endParaRPr lang="en-US" sz="2400" b="1" dirty="0">
              <a:latin typeface="Courier New" panose="02070309020205020404" pitchFamily="49" charset="0"/>
              <a:cs typeface="Courier New" panose="02070309020205020404" pitchFamily="49" charset="0"/>
            </a:endParaRPr>
          </a:p>
          <a:p>
            <a:pPr marL="0" indent="0">
              <a:buNone/>
            </a:pPr>
            <a:r>
              <a:rPr lang="en-US" sz="2400" b="1" dirty="0">
                <a:latin typeface="Courier New" panose="02070309020205020404" pitchFamily="49" charset="0"/>
                <a:cs typeface="Courier New" panose="02070309020205020404" pitchFamily="49" charset="0"/>
              </a:rPr>
              <a:t>...</a:t>
            </a:r>
          </a:p>
          <a:p>
            <a:pPr marL="0" indent="0">
              <a:buNone/>
            </a:pPr>
            <a:endParaRPr lang="en-US" sz="2400" b="1" dirty="0">
              <a:latin typeface="Courier New" panose="02070309020205020404" pitchFamily="49" charset="0"/>
              <a:cs typeface="Courier New" panose="02070309020205020404" pitchFamily="49" charset="0"/>
            </a:endParaRPr>
          </a:p>
          <a:p>
            <a:pPr marL="0" indent="0">
              <a:buNone/>
            </a:pPr>
            <a:r>
              <a:rPr lang="en-US" sz="2400" b="1" dirty="0" err="1">
                <a:solidFill>
                  <a:srgbClr val="C00000"/>
                </a:solidFill>
                <a:latin typeface="Courier New" panose="02070309020205020404" pitchFamily="49" charset="0"/>
                <a:cs typeface="Courier New" panose="02070309020205020404" pitchFamily="49" charset="0"/>
              </a:rPr>
              <a:t>sysret</a:t>
            </a:r>
            <a:endParaRPr lang="en-US" sz="2400" b="1" dirty="0">
              <a:solidFill>
                <a:srgbClr val="C00000"/>
              </a:solidFill>
              <a:latin typeface="Courier New" panose="02070309020205020404" pitchFamily="49" charset="0"/>
              <a:cs typeface="Courier New" panose="02070309020205020404" pitchFamily="49" charset="0"/>
            </a:endParaRPr>
          </a:p>
          <a:p>
            <a:pPr marL="0" indent="0">
              <a:buNone/>
            </a:pPr>
            <a:endParaRPr lang="en-US" sz="2400" b="1" dirty="0">
              <a:latin typeface="Courier New" panose="02070309020205020404" pitchFamily="49" charset="0"/>
              <a:cs typeface="Courier New" panose="02070309020205020404" pitchFamily="49" charset="0"/>
            </a:endParaRP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5</a:t>
            </a:fld>
            <a:endParaRPr lang="en-US" altLang="en-US"/>
          </a:p>
        </p:txBody>
      </p:sp>
      <p:sp>
        <p:nvSpPr>
          <p:cNvPr id="9" name="Rounded Rectangular Callout 8"/>
          <p:cNvSpPr/>
          <p:nvPr/>
        </p:nvSpPr>
        <p:spPr>
          <a:xfrm>
            <a:off x="8294145" y="3754418"/>
            <a:ext cx="3636085" cy="1280160"/>
          </a:xfrm>
          <a:prstGeom prst="wedgeRoundRectCallout">
            <a:avLst>
              <a:gd name="adj1" fmla="val -65803"/>
              <a:gd name="adj2" fmla="val -36660"/>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cs-CZ" dirty="0" err="1"/>
              <a:t>Jumps</a:t>
            </a:r>
            <a:r>
              <a:rPr lang="cs-CZ" dirty="0"/>
              <a:t> to </a:t>
            </a:r>
            <a:r>
              <a:rPr lang="cs-CZ" dirty="0" err="1"/>
              <a:t>address</a:t>
            </a:r>
            <a:r>
              <a:rPr lang="cs-CZ" dirty="0"/>
              <a:t> </a:t>
            </a:r>
            <a:r>
              <a:rPr lang="cs-CZ" dirty="0" err="1"/>
              <a:t>stored</a:t>
            </a:r>
            <a:r>
              <a:rPr lang="cs-CZ" dirty="0"/>
              <a:t> in </a:t>
            </a:r>
            <a:r>
              <a:rPr lang="en-US" dirty="0"/>
              <a:t>IA32_LSTAR</a:t>
            </a:r>
            <a:r>
              <a:rPr lang="cs-CZ" dirty="0"/>
              <a:t> </a:t>
            </a:r>
            <a:r>
              <a:rPr lang="cs-CZ" dirty="0" err="1"/>
              <a:t>register</a:t>
            </a:r>
            <a:r>
              <a:rPr lang="cs-CZ" dirty="0"/>
              <a:t> </a:t>
            </a:r>
            <a:r>
              <a:rPr lang="cs-CZ" dirty="0" err="1"/>
              <a:t>whilst</a:t>
            </a:r>
            <a:r>
              <a:rPr lang="cs-CZ" dirty="0"/>
              <a:t> </a:t>
            </a:r>
            <a:r>
              <a:rPr lang="cs-CZ" dirty="0" err="1"/>
              <a:t>switching</a:t>
            </a:r>
            <a:r>
              <a:rPr lang="cs-CZ" dirty="0"/>
              <a:t> to ring </a:t>
            </a:r>
            <a:r>
              <a:rPr lang="en-US" dirty="0"/>
              <a:t>0 (kernel mode)</a:t>
            </a:r>
          </a:p>
        </p:txBody>
      </p:sp>
      <p:sp>
        <p:nvSpPr>
          <p:cNvPr id="10" name="Rounded Rectangular Callout 9"/>
          <p:cNvSpPr/>
          <p:nvPr/>
        </p:nvSpPr>
        <p:spPr>
          <a:xfrm>
            <a:off x="8483524" y="5486206"/>
            <a:ext cx="3257326" cy="690757"/>
          </a:xfrm>
          <a:prstGeom prst="wedgeRoundRectCallout">
            <a:avLst>
              <a:gd name="adj1" fmla="val -73729"/>
              <a:gd name="adj2" fmla="val -24201"/>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Return and switch to ring 3</a:t>
            </a:r>
          </a:p>
        </p:txBody>
      </p:sp>
      <p:sp>
        <p:nvSpPr>
          <p:cNvPr id="11" name="Rounded Rectangular Callout 10"/>
          <p:cNvSpPr/>
          <p:nvPr/>
        </p:nvSpPr>
        <p:spPr>
          <a:xfrm>
            <a:off x="10105463" y="1690688"/>
            <a:ext cx="1536552" cy="805031"/>
          </a:xfrm>
          <a:prstGeom prst="wedgeRoundRectCallout">
            <a:avLst>
              <a:gd name="adj1" fmla="val -93107"/>
              <a:gd name="adj2" fmla="val -3252"/>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x86 64bit</a:t>
            </a:r>
          </a:p>
        </p:txBody>
      </p:sp>
    </p:spTree>
    <p:extLst>
      <p:ext uri="{BB962C8B-B14F-4D97-AF65-F5344CB8AC3E}">
        <p14:creationId xmlns:p14="http://schemas.microsoft.com/office/powerpoint/2010/main" val="1140638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Strace</a:t>
            </a:r>
            <a:r>
              <a:rPr lang="en-US" dirty="0"/>
              <a:t> example</a:t>
            </a:r>
          </a:p>
        </p:txBody>
      </p:sp>
      <p:sp>
        <p:nvSpPr>
          <p:cNvPr id="3" name="Content Placeholder 2"/>
          <p:cNvSpPr>
            <a:spLocks noGrp="1"/>
          </p:cNvSpPr>
          <p:nvPr>
            <p:ph idx="1"/>
          </p:nvPr>
        </p:nvSpPr>
        <p:spPr/>
        <p:txBody>
          <a:bodyPr>
            <a:noAutofit/>
          </a:bodyPr>
          <a:lstStyle/>
          <a:p>
            <a:pPr marL="0" indent="0">
              <a:buNone/>
            </a:pPr>
            <a:r>
              <a:rPr lang="en-US" sz="1600" b="1" dirty="0">
                <a:latin typeface="Courier New" panose="02070309020205020404" pitchFamily="49" charset="0"/>
                <a:cs typeface="Courier New" panose="02070309020205020404" pitchFamily="49" charset="0"/>
              </a:rPr>
              <a:t>#include...</a:t>
            </a:r>
          </a:p>
          <a:p>
            <a:pPr marL="0" indent="0">
              <a:buNone/>
            </a:pPr>
            <a:endParaRPr lang="en-US" sz="1600" b="1" dirty="0">
              <a:latin typeface="Courier New" panose="02070309020205020404" pitchFamily="49" charset="0"/>
              <a:cs typeface="Courier New" panose="02070309020205020404" pitchFamily="49" charset="0"/>
            </a:endParaRPr>
          </a:p>
          <a:p>
            <a:pPr marL="0" indent="0">
              <a:buNone/>
            </a:pPr>
            <a:r>
              <a:rPr lang="en-US" sz="1600" b="1" dirty="0" err="1">
                <a:solidFill>
                  <a:srgbClr val="0070C0"/>
                </a:solidFill>
                <a:latin typeface="Courier New" panose="02070309020205020404" pitchFamily="49" charset="0"/>
                <a:cs typeface="Courier New" panose="02070309020205020404" pitchFamily="49" charset="0"/>
              </a:rPr>
              <a:t>int</a:t>
            </a:r>
            <a:r>
              <a:rPr lang="en-US" sz="1600" b="1" dirty="0">
                <a:latin typeface="Courier New" panose="02070309020205020404" pitchFamily="49" charset="0"/>
                <a:cs typeface="Courier New" panose="02070309020205020404" pitchFamily="49" charset="0"/>
              </a:rPr>
              <a:t> main() {</a:t>
            </a:r>
          </a:p>
          <a:p>
            <a:pPr marL="0" indent="0">
              <a:buNone/>
            </a:pP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std</a:t>
            </a:r>
            <a:r>
              <a:rPr lang="en-US" sz="1600" b="1" dirty="0">
                <a:latin typeface="Courier New" panose="02070309020205020404" pitchFamily="49" charset="0"/>
                <a:cs typeface="Courier New" panose="02070309020205020404" pitchFamily="49" charset="0"/>
              </a:rPr>
              <a:t>::</a:t>
            </a:r>
            <a:r>
              <a:rPr lang="en-US" sz="1600" b="1" dirty="0" err="1">
                <a:latin typeface="Courier New" panose="02070309020205020404" pitchFamily="49" charset="0"/>
                <a:cs typeface="Courier New" panose="02070309020205020404" pitchFamily="49" charset="0"/>
              </a:rPr>
              <a:t>ifstream</a:t>
            </a:r>
            <a:r>
              <a:rPr lang="en-US" sz="1600" b="1" dirty="0">
                <a:latin typeface="Courier New" panose="02070309020205020404" pitchFamily="49" charset="0"/>
                <a:cs typeface="Courier New" panose="02070309020205020404" pitchFamily="49" charset="0"/>
              </a:rPr>
              <a:t> f("a.txt");</a:t>
            </a:r>
          </a:p>
          <a:p>
            <a:pPr marL="0" indent="0">
              <a:buNone/>
            </a:pP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std</a:t>
            </a:r>
            <a:r>
              <a:rPr lang="en-US" sz="1600" b="1" dirty="0">
                <a:latin typeface="Courier New" panose="02070309020205020404" pitchFamily="49" charset="0"/>
                <a:cs typeface="Courier New" panose="02070309020205020404" pitchFamily="49" charset="0"/>
              </a:rPr>
              <a:t>::string </a:t>
            </a:r>
            <a:r>
              <a:rPr lang="en-US" sz="1600" b="1" dirty="0" err="1">
                <a:latin typeface="Courier New" panose="02070309020205020404" pitchFamily="49" charset="0"/>
                <a:cs typeface="Courier New" panose="02070309020205020404" pitchFamily="49" charset="0"/>
              </a:rPr>
              <a:t>str</a:t>
            </a:r>
            <a:r>
              <a:rPr lang="en-US" sz="1600" b="1" dirty="0">
                <a:latin typeface="Courier New" panose="02070309020205020404" pitchFamily="49" charset="0"/>
                <a:cs typeface="Courier New" panose="02070309020205020404" pitchFamily="49" charset="0"/>
              </a:rPr>
              <a:t>;</a:t>
            </a:r>
          </a:p>
          <a:p>
            <a:pPr marL="0" indent="0">
              <a:buNone/>
            </a:pPr>
            <a:r>
              <a:rPr lang="en-US" sz="1600" b="1" dirty="0">
                <a:latin typeface="Courier New" panose="02070309020205020404" pitchFamily="49" charset="0"/>
                <a:cs typeface="Courier New" panose="02070309020205020404" pitchFamily="49" charset="0"/>
              </a:rPr>
              <a:t>   </a:t>
            </a:r>
            <a:r>
              <a:rPr lang="en-US" sz="1600" b="1" dirty="0">
                <a:solidFill>
                  <a:srgbClr val="0070C0"/>
                </a:solidFill>
                <a:latin typeface="Courier New" panose="02070309020205020404" pitchFamily="49" charset="0"/>
                <a:cs typeface="Courier New" panose="02070309020205020404" pitchFamily="49" charset="0"/>
              </a:rPr>
              <a:t>if</a:t>
            </a:r>
            <a:r>
              <a:rPr lang="en-US" sz="1600" b="1" dirty="0">
                <a:latin typeface="Courier New" panose="02070309020205020404" pitchFamily="49" charset="0"/>
                <a:cs typeface="Courier New" panose="02070309020205020404" pitchFamily="49" charset="0"/>
              </a:rPr>
              <a:t> (f) {</a:t>
            </a:r>
          </a:p>
          <a:p>
            <a:pPr marL="0" indent="0">
              <a:buNone/>
            </a:pP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std</a:t>
            </a:r>
            <a:r>
              <a:rPr lang="en-US" sz="1600" b="1" dirty="0">
                <a:latin typeface="Courier New" panose="02070309020205020404" pitchFamily="49" charset="0"/>
                <a:cs typeface="Courier New" panose="02070309020205020404" pitchFamily="49" charset="0"/>
              </a:rPr>
              <a:t>::</a:t>
            </a:r>
            <a:r>
              <a:rPr lang="en-US" sz="1600" b="1" dirty="0" err="1">
                <a:latin typeface="Courier New" panose="02070309020205020404" pitchFamily="49" charset="0"/>
                <a:cs typeface="Courier New" panose="02070309020205020404" pitchFamily="49" charset="0"/>
              </a:rPr>
              <a:t>ostringstream</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ss</a:t>
            </a:r>
            <a:r>
              <a:rPr lang="en-US" sz="1600" b="1" dirty="0">
                <a:latin typeface="Courier New" panose="02070309020205020404" pitchFamily="49" charset="0"/>
                <a:cs typeface="Courier New" panose="02070309020205020404" pitchFamily="49" charset="0"/>
              </a:rPr>
              <a:t>;</a:t>
            </a:r>
          </a:p>
          <a:p>
            <a:pPr marL="0" indent="0">
              <a:buNone/>
            </a:pP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ss</a:t>
            </a:r>
            <a:r>
              <a:rPr lang="en-US" sz="1600" b="1" dirty="0">
                <a:latin typeface="Courier New" panose="02070309020205020404" pitchFamily="49" charset="0"/>
                <a:cs typeface="Courier New" panose="02070309020205020404" pitchFamily="49" charset="0"/>
              </a:rPr>
              <a:t> &lt;&lt; </a:t>
            </a:r>
            <a:r>
              <a:rPr lang="en-US" sz="1600" b="1" dirty="0" err="1">
                <a:latin typeface="Courier New" panose="02070309020205020404" pitchFamily="49" charset="0"/>
                <a:cs typeface="Courier New" panose="02070309020205020404" pitchFamily="49" charset="0"/>
              </a:rPr>
              <a:t>f.rdbuf</a:t>
            </a:r>
            <a:r>
              <a:rPr lang="en-US" sz="1600" b="1" dirty="0">
                <a:latin typeface="Courier New" panose="02070309020205020404" pitchFamily="49" charset="0"/>
                <a:cs typeface="Courier New" panose="02070309020205020404" pitchFamily="49" charset="0"/>
              </a:rPr>
              <a:t>();</a:t>
            </a:r>
          </a:p>
          <a:p>
            <a:pPr marL="0" indent="0">
              <a:buNone/>
            </a:pP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str</a:t>
            </a:r>
            <a:r>
              <a:rPr lang="en-US" sz="1600" b="1" dirty="0">
                <a:latin typeface="Courier New" panose="02070309020205020404" pitchFamily="49" charset="0"/>
                <a:cs typeface="Courier New" panose="02070309020205020404" pitchFamily="49" charset="0"/>
              </a:rPr>
              <a:t> = </a:t>
            </a:r>
            <a:r>
              <a:rPr lang="en-US" sz="1600" b="1" dirty="0" err="1">
                <a:latin typeface="Courier New" panose="02070309020205020404" pitchFamily="49" charset="0"/>
                <a:cs typeface="Courier New" panose="02070309020205020404" pitchFamily="49" charset="0"/>
              </a:rPr>
              <a:t>ss.str</a:t>
            </a:r>
            <a:r>
              <a:rPr lang="en-US" sz="1600" b="1" dirty="0">
                <a:latin typeface="Courier New" panose="02070309020205020404" pitchFamily="49" charset="0"/>
                <a:cs typeface="Courier New" panose="02070309020205020404" pitchFamily="49" charset="0"/>
              </a:rPr>
              <a:t>();</a:t>
            </a:r>
          </a:p>
          <a:p>
            <a:pPr marL="0" indent="0">
              <a:buNone/>
            </a:pPr>
            <a:r>
              <a:rPr lang="en-US" sz="1600" b="1" dirty="0">
                <a:latin typeface="Courier New" panose="02070309020205020404" pitchFamily="49" charset="0"/>
                <a:cs typeface="Courier New" panose="02070309020205020404" pitchFamily="49" charset="0"/>
              </a:rPr>
              <a:t>   }</a:t>
            </a:r>
          </a:p>
          <a:p>
            <a:pPr marL="0" indent="0">
              <a:buNone/>
            </a:pP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std</a:t>
            </a:r>
            <a:r>
              <a:rPr lang="en-US" sz="1600" b="1" dirty="0">
                <a:latin typeface="Courier New" panose="02070309020205020404" pitchFamily="49" charset="0"/>
                <a:cs typeface="Courier New" panose="02070309020205020404" pitchFamily="49" charset="0"/>
              </a:rPr>
              <a:t>::</a:t>
            </a:r>
            <a:r>
              <a:rPr lang="en-US" sz="1600" b="1" dirty="0" err="1">
                <a:latin typeface="Courier New" panose="02070309020205020404" pitchFamily="49" charset="0"/>
                <a:cs typeface="Courier New" panose="02070309020205020404" pitchFamily="49" charset="0"/>
              </a:rPr>
              <a:t>cout</a:t>
            </a:r>
            <a:r>
              <a:rPr lang="en-US" sz="1600" b="1" dirty="0">
                <a:latin typeface="Courier New" panose="02070309020205020404" pitchFamily="49" charset="0"/>
                <a:cs typeface="Courier New" panose="02070309020205020404" pitchFamily="49" charset="0"/>
              </a:rPr>
              <a:t> &lt;&lt; </a:t>
            </a:r>
            <a:r>
              <a:rPr lang="en-US" sz="1600" b="1" dirty="0" err="1">
                <a:latin typeface="Courier New" panose="02070309020205020404" pitchFamily="49" charset="0"/>
                <a:cs typeface="Courier New" panose="02070309020205020404" pitchFamily="49" charset="0"/>
              </a:rPr>
              <a:t>str</a:t>
            </a:r>
            <a:r>
              <a:rPr lang="en-US" sz="1600" b="1" dirty="0">
                <a:latin typeface="Courier New" panose="02070309020205020404" pitchFamily="49" charset="0"/>
                <a:cs typeface="Courier New" panose="02070309020205020404" pitchFamily="49" charset="0"/>
              </a:rPr>
              <a:t>;</a:t>
            </a:r>
          </a:p>
          <a:p>
            <a:pPr marL="0" indent="0">
              <a:buNone/>
            </a:pPr>
            <a:r>
              <a:rPr lang="en-US" sz="1600" b="1" dirty="0">
                <a:latin typeface="Courier New" panose="02070309020205020404" pitchFamily="49" charset="0"/>
                <a:cs typeface="Courier New" panose="02070309020205020404" pitchFamily="49" charset="0"/>
              </a:rPr>
              <a:t>}</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6</a:t>
            </a:fld>
            <a:endParaRPr lang="en-US" altLang="en-US"/>
          </a:p>
        </p:txBody>
      </p:sp>
      <p:sp>
        <p:nvSpPr>
          <p:cNvPr id="6" name="Rounded Rectangular Callout 5"/>
          <p:cNvSpPr/>
          <p:nvPr/>
        </p:nvSpPr>
        <p:spPr>
          <a:xfrm>
            <a:off x="3581400" y="1825625"/>
            <a:ext cx="3836186" cy="690757"/>
          </a:xfrm>
          <a:prstGeom prst="wedgeRoundRectCallout">
            <a:avLst>
              <a:gd name="adj1" fmla="val -49893"/>
              <a:gd name="adj2" fmla="val 91044"/>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Reads a text file, prints it to </a:t>
            </a:r>
            <a:r>
              <a:rPr lang="en-US" dirty="0" err="1"/>
              <a:t>stdout</a:t>
            </a:r>
            <a:endParaRPr lang="en-US" dirty="0"/>
          </a:p>
        </p:txBody>
      </p:sp>
      <p:sp>
        <p:nvSpPr>
          <p:cNvPr id="7" name="Rounded Rectangular Callout 6"/>
          <p:cNvSpPr/>
          <p:nvPr/>
        </p:nvSpPr>
        <p:spPr>
          <a:xfrm>
            <a:off x="5699348" y="2695769"/>
            <a:ext cx="3993292" cy="690757"/>
          </a:xfrm>
          <a:prstGeom prst="wedgeRoundRectCallout">
            <a:avLst>
              <a:gd name="adj1" fmla="val -31385"/>
              <a:gd name="adj2" fmla="val -92726"/>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How many </a:t>
            </a:r>
            <a:r>
              <a:rPr lang="en-US" dirty="0" err="1"/>
              <a:t>syscalls</a:t>
            </a:r>
            <a:r>
              <a:rPr lang="en-US" dirty="0"/>
              <a:t> would this trigger?</a:t>
            </a:r>
          </a:p>
        </p:txBody>
      </p:sp>
      <p:sp>
        <p:nvSpPr>
          <p:cNvPr id="9" name="TextBox 8"/>
          <p:cNvSpPr txBox="1"/>
          <p:nvPr/>
        </p:nvSpPr>
        <p:spPr>
          <a:xfrm>
            <a:off x="5764279" y="4001294"/>
            <a:ext cx="3863430" cy="1938992"/>
          </a:xfrm>
          <a:prstGeom prst="rect">
            <a:avLst/>
          </a:prstGeom>
          <a:noFill/>
        </p:spPr>
        <p:txBody>
          <a:bodyPr wrap="none" rtlCol="0">
            <a:spAutoFit/>
          </a:bodyPr>
          <a:lstStyle/>
          <a:p>
            <a:r>
              <a:rPr lang="en-US" sz="2400" dirty="0">
                <a:latin typeface="+mn-lt"/>
              </a:rPr>
              <a:t>We can analyze this by calling</a:t>
            </a:r>
            <a:br>
              <a:rPr lang="en-US" sz="2400" dirty="0">
                <a:latin typeface="+mn-lt"/>
              </a:rPr>
            </a:br>
            <a:r>
              <a:rPr lang="en-US" sz="2400" dirty="0">
                <a:latin typeface="+mn-lt"/>
              </a:rPr>
              <a:t>$&gt; </a:t>
            </a:r>
            <a:r>
              <a:rPr lang="en-US" sz="2400" b="1" dirty="0" err="1">
                <a:latin typeface="+mn-lt"/>
                <a:cs typeface="Courier New" panose="02070309020205020404" pitchFamily="49" charset="0"/>
              </a:rPr>
              <a:t>strace</a:t>
            </a:r>
            <a:r>
              <a:rPr lang="en-US" sz="2400" b="1" dirty="0">
                <a:latin typeface="+mn-lt"/>
                <a:cs typeface="Courier New" panose="02070309020205020404" pitchFamily="49" charset="0"/>
              </a:rPr>
              <a:t> ./app</a:t>
            </a:r>
            <a:br>
              <a:rPr lang="en-US" sz="2400" dirty="0">
                <a:latin typeface="+mn-lt"/>
              </a:rPr>
            </a:br>
            <a:endParaRPr lang="en-US" sz="2400" dirty="0">
              <a:latin typeface="+mn-lt"/>
            </a:endParaRPr>
          </a:p>
          <a:p>
            <a:r>
              <a:rPr lang="en-US" sz="2400" dirty="0">
                <a:latin typeface="+mn-lt"/>
              </a:rPr>
              <a:t>… let’s </a:t>
            </a:r>
            <a:r>
              <a:rPr lang="en-US" sz="2400" dirty="0">
                <a:latin typeface="+mn-lt"/>
                <a:hlinkClick r:id="rId2"/>
              </a:rPr>
              <a:t>see the results</a:t>
            </a:r>
            <a:endParaRPr lang="en-US" sz="2400" dirty="0">
              <a:latin typeface="+mn-lt"/>
            </a:endParaRPr>
          </a:p>
          <a:p>
            <a:endParaRPr lang="en-US" sz="2400" dirty="0">
              <a:latin typeface="+mn-lt"/>
            </a:endParaRPr>
          </a:p>
        </p:txBody>
      </p:sp>
    </p:spTree>
    <p:extLst>
      <p:ext uri="{BB962C8B-B14F-4D97-AF65-F5344CB8AC3E}">
        <p14:creationId xmlns:p14="http://schemas.microsoft.com/office/powerpoint/2010/main" val="1873525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Architecture – monolithic</a:t>
            </a:r>
          </a:p>
        </p:txBody>
      </p:sp>
      <p:sp>
        <p:nvSpPr>
          <p:cNvPr id="3" name="Content Placeholder 2"/>
          <p:cNvSpPr>
            <a:spLocks noGrp="1"/>
          </p:cNvSpPr>
          <p:nvPr>
            <p:ph idx="1"/>
          </p:nvPr>
        </p:nvSpPr>
        <p:spPr/>
        <p:txBody>
          <a:bodyPr>
            <a:normAutofit/>
          </a:bodyPr>
          <a:lstStyle/>
          <a:p>
            <a:r>
              <a:rPr lang="en-US"/>
              <a:t>Monolithic systems</a:t>
            </a:r>
          </a:p>
          <a:p>
            <a:pPr lvl="1"/>
            <a:r>
              <a:rPr lang="en-US"/>
              <a:t>Big mess – no structure</a:t>
            </a:r>
          </a:p>
          <a:p>
            <a:pPr lvl="1"/>
            <a:r>
              <a:rPr lang="en-US"/>
              <a:t>“Early days”</a:t>
            </a:r>
          </a:p>
          <a:p>
            <a:pPr lvl="2"/>
            <a:r>
              <a:rPr lang="en-US"/>
              <a:t>Linux</a:t>
            </a:r>
          </a:p>
          <a:p>
            <a:pPr lvl="1"/>
            <a:r>
              <a:rPr lang="en-US"/>
              <a:t>Collection of procedures</a:t>
            </a:r>
          </a:p>
          <a:p>
            <a:pPr lvl="2"/>
            <a:r>
              <a:rPr lang="en-US"/>
              <a:t>Each one can call another one</a:t>
            </a:r>
          </a:p>
          <a:p>
            <a:pPr lvl="1"/>
            <a:r>
              <a:rPr lang="en-US"/>
              <a:t>No information hiding</a:t>
            </a:r>
          </a:p>
          <a:p>
            <a:pPr lvl="2"/>
            <a:r>
              <a:rPr lang="en-US"/>
              <a:t>Potentially error prone</a:t>
            </a:r>
          </a:p>
          <a:p>
            <a:pPr lvl="1"/>
            <a:r>
              <a:rPr lang="en-US"/>
              <a:t>Efficient use of resources, efficient code</a:t>
            </a:r>
          </a:p>
          <a:p>
            <a:pPr lvl="1"/>
            <a:r>
              <a:rPr lang="en-US"/>
              <a:t>Originally no extensibility</a:t>
            </a:r>
          </a:p>
          <a:p>
            <a:pPr lvl="2"/>
            <a:r>
              <a:rPr lang="en-US"/>
              <a:t>Now able to load modules dynamically (flexible, but even more error-prone)</a:t>
            </a:r>
          </a:p>
        </p:txBody>
      </p:sp>
      <p:sp>
        <p:nvSpPr>
          <p:cNvPr id="4" name="Oval 3"/>
          <p:cNvSpPr/>
          <p:nvPr/>
        </p:nvSpPr>
        <p:spPr bwMode="auto">
          <a:xfrm>
            <a:off x="9264352" y="1988840"/>
            <a:ext cx="1800200" cy="557609"/>
          </a:xfrm>
          <a:prstGeom prst="ellipse">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a:latin typeface="+mn-lt"/>
              </a:rPr>
              <a:t>Entry point</a:t>
            </a:r>
          </a:p>
        </p:txBody>
      </p:sp>
      <p:sp>
        <p:nvSpPr>
          <p:cNvPr id="5" name="Oval 4"/>
          <p:cNvSpPr/>
          <p:nvPr/>
        </p:nvSpPr>
        <p:spPr bwMode="auto">
          <a:xfrm>
            <a:off x="8817768" y="2966168"/>
            <a:ext cx="432048" cy="432048"/>
          </a:xfrm>
          <a:prstGeom prst="ellipse">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7" name="Oval 6"/>
          <p:cNvSpPr/>
          <p:nvPr/>
        </p:nvSpPr>
        <p:spPr bwMode="auto">
          <a:xfrm>
            <a:off x="9361462" y="2966168"/>
            <a:ext cx="432048" cy="432048"/>
          </a:xfrm>
          <a:prstGeom prst="ellipse">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8" name="Oval 7"/>
          <p:cNvSpPr/>
          <p:nvPr/>
        </p:nvSpPr>
        <p:spPr bwMode="auto">
          <a:xfrm>
            <a:off x="9905156" y="2966168"/>
            <a:ext cx="432048" cy="432048"/>
          </a:xfrm>
          <a:prstGeom prst="ellipse">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9" name="Oval 8"/>
          <p:cNvSpPr/>
          <p:nvPr/>
        </p:nvSpPr>
        <p:spPr bwMode="auto">
          <a:xfrm>
            <a:off x="10448850" y="2966168"/>
            <a:ext cx="432048" cy="432048"/>
          </a:xfrm>
          <a:prstGeom prst="ellipse">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10" name="Oval 9"/>
          <p:cNvSpPr/>
          <p:nvPr/>
        </p:nvSpPr>
        <p:spPr bwMode="auto">
          <a:xfrm>
            <a:off x="10992544" y="2966168"/>
            <a:ext cx="432048" cy="432048"/>
          </a:xfrm>
          <a:prstGeom prst="ellipse">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11" name="TextBox 10"/>
          <p:cNvSpPr txBox="1"/>
          <p:nvPr/>
        </p:nvSpPr>
        <p:spPr>
          <a:xfrm>
            <a:off x="7303780" y="2966168"/>
            <a:ext cx="1674189" cy="369332"/>
          </a:xfrm>
          <a:prstGeom prst="rect">
            <a:avLst/>
          </a:prstGeom>
          <a:noFill/>
        </p:spPr>
        <p:txBody>
          <a:bodyPr wrap="square" rtlCol="0">
            <a:spAutoFit/>
          </a:bodyPr>
          <a:lstStyle/>
          <a:p>
            <a:r>
              <a:rPr lang="en-US">
                <a:latin typeface="+mn-lt"/>
              </a:rPr>
              <a:t>Service proc.</a:t>
            </a:r>
          </a:p>
        </p:txBody>
      </p:sp>
      <p:cxnSp>
        <p:nvCxnSpPr>
          <p:cNvPr id="13" name="Straight Arrow Connector 12"/>
          <p:cNvCxnSpPr>
            <a:stCxn id="4" idx="4"/>
            <a:endCxn id="5" idx="0"/>
          </p:cNvCxnSpPr>
          <p:nvPr/>
        </p:nvCxnSpPr>
        <p:spPr bwMode="auto">
          <a:xfrm flipH="1">
            <a:off x="9033792" y="2546448"/>
            <a:ext cx="1130660" cy="41972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5" name="Straight Arrow Connector 14"/>
          <p:cNvCxnSpPr>
            <a:stCxn id="4" idx="4"/>
            <a:endCxn id="7" idx="0"/>
          </p:cNvCxnSpPr>
          <p:nvPr/>
        </p:nvCxnSpPr>
        <p:spPr bwMode="auto">
          <a:xfrm flipH="1">
            <a:off x="9577486" y="2546448"/>
            <a:ext cx="586966" cy="41972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7" name="Straight Arrow Connector 16"/>
          <p:cNvCxnSpPr>
            <a:stCxn id="4" idx="4"/>
            <a:endCxn id="8" idx="0"/>
          </p:cNvCxnSpPr>
          <p:nvPr/>
        </p:nvCxnSpPr>
        <p:spPr bwMode="auto">
          <a:xfrm flipH="1">
            <a:off x="10121180" y="2546448"/>
            <a:ext cx="43272" cy="41972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8" name="Oval 17"/>
          <p:cNvSpPr/>
          <p:nvPr/>
        </p:nvSpPr>
        <p:spPr bwMode="auto">
          <a:xfrm>
            <a:off x="9158826" y="3831566"/>
            <a:ext cx="446584" cy="432048"/>
          </a:xfrm>
          <a:prstGeom prst="ellipse">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19" name="Oval 18"/>
          <p:cNvSpPr/>
          <p:nvPr/>
        </p:nvSpPr>
        <p:spPr bwMode="auto">
          <a:xfrm>
            <a:off x="9732850" y="3831566"/>
            <a:ext cx="446584" cy="432048"/>
          </a:xfrm>
          <a:prstGeom prst="ellipse">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20" name="Oval 19"/>
          <p:cNvSpPr/>
          <p:nvPr/>
        </p:nvSpPr>
        <p:spPr bwMode="auto">
          <a:xfrm>
            <a:off x="10306874" y="3831566"/>
            <a:ext cx="446584" cy="432048"/>
          </a:xfrm>
          <a:prstGeom prst="ellipse">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21" name="Oval 20"/>
          <p:cNvSpPr/>
          <p:nvPr/>
        </p:nvSpPr>
        <p:spPr bwMode="auto">
          <a:xfrm>
            <a:off x="10880898" y="3825402"/>
            <a:ext cx="446584" cy="432048"/>
          </a:xfrm>
          <a:prstGeom prst="ellipse">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22" name="TextBox 21"/>
          <p:cNvSpPr txBox="1"/>
          <p:nvPr/>
        </p:nvSpPr>
        <p:spPr>
          <a:xfrm>
            <a:off x="6888088" y="3859953"/>
            <a:ext cx="2399139" cy="369332"/>
          </a:xfrm>
          <a:prstGeom prst="rect">
            <a:avLst/>
          </a:prstGeom>
          <a:noFill/>
        </p:spPr>
        <p:txBody>
          <a:bodyPr wrap="square" rtlCol="0">
            <a:spAutoFit/>
          </a:bodyPr>
          <a:lstStyle/>
          <a:p>
            <a:r>
              <a:rPr lang="en-US">
                <a:latin typeface="+mn-lt"/>
              </a:rPr>
              <a:t>Utility (internal) proc.</a:t>
            </a:r>
          </a:p>
        </p:txBody>
      </p:sp>
      <p:cxnSp>
        <p:nvCxnSpPr>
          <p:cNvPr id="24" name="Straight Arrow Connector 23"/>
          <p:cNvCxnSpPr>
            <a:endCxn id="18" idx="0"/>
          </p:cNvCxnSpPr>
          <p:nvPr/>
        </p:nvCxnSpPr>
        <p:spPr bwMode="auto">
          <a:xfrm>
            <a:off x="9033792" y="3398216"/>
            <a:ext cx="348326" cy="43335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7" name="Straight Arrow Connector 26"/>
          <p:cNvCxnSpPr>
            <a:stCxn id="8" idx="4"/>
            <a:endCxn id="18" idx="0"/>
          </p:cNvCxnSpPr>
          <p:nvPr/>
        </p:nvCxnSpPr>
        <p:spPr bwMode="auto">
          <a:xfrm flipH="1">
            <a:off x="9382118" y="3398216"/>
            <a:ext cx="739062" cy="43335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9" name="Straight Arrow Connector 28"/>
          <p:cNvCxnSpPr>
            <a:stCxn id="9" idx="4"/>
            <a:endCxn id="18" idx="0"/>
          </p:cNvCxnSpPr>
          <p:nvPr/>
        </p:nvCxnSpPr>
        <p:spPr bwMode="auto">
          <a:xfrm flipH="1">
            <a:off x="9382118" y="3398216"/>
            <a:ext cx="1282756" cy="43335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6" name="Date Placeholder 5"/>
          <p:cNvSpPr>
            <a:spLocks noGrp="1"/>
          </p:cNvSpPr>
          <p:nvPr>
            <p:ph type="dt" sz="half" idx="10"/>
          </p:nvPr>
        </p:nvSpPr>
        <p:spPr/>
        <p:txBody>
          <a:bodyPr/>
          <a:lstStyle/>
          <a:p>
            <a:r>
              <a:rPr lang="cs-CZ" altLang="en-US"/>
              <a:t>17.4.2025</a:t>
            </a:r>
            <a:endParaRPr lang="en-US" altLang="en-US"/>
          </a:p>
        </p:txBody>
      </p:sp>
      <p:sp>
        <p:nvSpPr>
          <p:cNvPr id="12" name="Slide Number Placeholder 11"/>
          <p:cNvSpPr>
            <a:spLocks noGrp="1"/>
          </p:cNvSpPr>
          <p:nvPr>
            <p:ph type="sldNum" sz="quarter" idx="12"/>
          </p:nvPr>
        </p:nvSpPr>
        <p:spPr/>
        <p:txBody>
          <a:bodyPr/>
          <a:lstStyle/>
          <a:p>
            <a:fld id="{F4A1145F-674A-4228-8958-0EA9769F5517}" type="slidenum">
              <a:rPr lang="en-US" altLang="en-US" smtClean="0"/>
              <a:pPr/>
              <a:t>7</a:t>
            </a:fld>
            <a:endParaRPr lang="en-US" altLang="en-US"/>
          </a:p>
        </p:txBody>
      </p:sp>
      <p:cxnSp>
        <p:nvCxnSpPr>
          <p:cNvPr id="25" name="Straight Arrow Connector 24"/>
          <p:cNvCxnSpPr>
            <a:endCxn id="20" idx="0"/>
          </p:cNvCxnSpPr>
          <p:nvPr/>
        </p:nvCxnSpPr>
        <p:spPr bwMode="auto">
          <a:xfrm>
            <a:off x="9577486" y="3398216"/>
            <a:ext cx="952680" cy="43335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546207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Architecture – layered</a:t>
            </a:r>
          </a:p>
        </p:txBody>
      </p:sp>
      <p:sp>
        <p:nvSpPr>
          <p:cNvPr id="3" name="Content Placeholder 2"/>
          <p:cNvSpPr>
            <a:spLocks noGrp="1"/>
          </p:cNvSpPr>
          <p:nvPr>
            <p:ph idx="1"/>
          </p:nvPr>
        </p:nvSpPr>
        <p:spPr/>
        <p:txBody>
          <a:bodyPr/>
          <a:lstStyle/>
          <a:p>
            <a:r>
              <a:rPr lang="en-US"/>
              <a:t>Evolution of monolithic system</a:t>
            </a:r>
          </a:p>
          <a:p>
            <a:pPr lvl="1"/>
            <a:r>
              <a:rPr lang="en-US"/>
              <a:t>Organized into hierarchy of layers</a:t>
            </a:r>
          </a:p>
          <a:p>
            <a:pPr lvl="1"/>
            <a:r>
              <a:rPr lang="en-US"/>
              <a:t>Layer n+1 uses exclusively services supported by layer n</a:t>
            </a:r>
          </a:p>
          <a:p>
            <a:pPr lvl="1"/>
            <a:r>
              <a:rPr lang="en-US"/>
              <a:t>Easier to extend and evolve</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8</a:t>
            </a:fld>
            <a:endParaRPr lang="en-US" altLang="en-US"/>
          </a:p>
        </p:txBody>
      </p:sp>
      <p:grpSp>
        <p:nvGrpSpPr>
          <p:cNvPr id="12" name="Group 11"/>
          <p:cNvGrpSpPr/>
          <p:nvPr/>
        </p:nvGrpSpPr>
        <p:grpSpPr>
          <a:xfrm>
            <a:off x="1343472" y="3689697"/>
            <a:ext cx="9649072" cy="2603947"/>
            <a:chOff x="1343472" y="3689697"/>
            <a:chExt cx="9649072" cy="2603947"/>
          </a:xfrm>
        </p:grpSpPr>
        <p:sp>
          <p:nvSpPr>
            <p:cNvPr id="6" name="Oval 5"/>
            <p:cNvSpPr/>
            <p:nvPr/>
          </p:nvSpPr>
          <p:spPr>
            <a:xfrm>
              <a:off x="1343472" y="3689697"/>
              <a:ext cx="9649072" cy="2603947"/>
            </a:xfrm>
            <a:prstGeom prst="ellipse">
              <a:avLst/>
            </a:prstGeom>
          </p:spPr>
          <p:style>
            <a:lnRef idx="1">
              <a:schemeClr val="accent4"/>
            </a:lnRef>
            <a:fillRef idx="2">
              <a:schemeClr val="accent4"/>
            </a:fillRef>
            <a:effectRef idx="1">
              <a:schemeClr val="accent4"/>
            </a:effectRef>
            <a:fontRef idx="minor">
              <a:schemeClr val="dk1"/>
            </a:fontRef>
          </p:style>
          <p:txBody>
            <a:bodyPr wrap="none" lIns="6768000" rIns="0" rtlCol="0" anchor="ctr"/>
            <a:lstStyle/>
            <a:p>
              <a:r>
                <a:rPr lang="en-US"/>
                <a:t>User interface</a:t>
              </a:r>
            </a:p>
          </p:txBody>
        </p:sp>
        <p:sp>
          <p:nvSpPr>
            <p:cNvPr id="7" name="Oval 6"/>
            <p:cNvSpPr/>
            <p:nvPr/>
          </p:nvSpPr>
          <p:spPr>
            <a:xfrm>
              <a:off x="1631504" y="3833714"/>
              <a:ext cx="7664052" cy="2304256"/>
            </a:xfrm>
            <a:prstGeom prst="ellipse">
              <a:avLst/>
            </a:prstGeom>
          </p:spPr>
          <p:style>
            <a:lnRef idx="1">
              <a:schemeClr val="accent3"/>
            </a:lnRef>
            <a:fillRef idx="2">
              <a:schemeClr val="accent3"/>
            </a:fillRef>
            <a:effectRef idx="1">
              <a:schemeClr val="accent3"/>
            </a:effectRef>
            <a:fontRef idx="minor">
              <a:schemeClr val="dk1"/>
            </a:fontRef>
          </p:style>
          <p:txBody>
            <a:bodyPr wrap="none" lIns="5328000" rIns="0" rtlCol="0" anchor="ctr"/>
            <a:lstStyle/>
            <a:p>
              <a:r>
                <a:rPr lang="en-US"/>
                <a:t>File system</a:t>
              </a:r>
            </a:p>
          </p:txBody>
        </p:sp>
        <p:sp>
          <p:nvSpPr>
            <p:cNvPr id="8" name="Oval 7"/>
            <p:cNvSpPr/>
            <p:nvPr/>
          </p:nvSpPr>
          <p:spPr>
            <a:xfrm>
              <a:off x="1847528" y="3977730"/>
              <a:ext cx="6048672" cy="2016224"/>
            </a:xfrm>
            <a:prstGeom prst="ellipse">
              <a:avLst/>
            </a:prstGeom>
          </p:spPr>
          <p:style>
            <a:lnRef idx="1">
              <a:schemeClr val="accent5"/>
            </a:lnRef>
            <a:fillRef idx="2">
              <a:schemeClr val="accent5"/>
            </a:fillRef>
            <a:effectRef idx="1">
              <a:schemeClr val="accent5"/>
            </a:effectRef>
            <a:fontRef idx="minor">
              <a:schemeClr val="dk1"/>
            </a:fontRef>
          </p:style>
          <p:txBody>
            <a:bodyPr wrap="none" lIns="3744000" rIns="0" rtlCol="0" anchor="ctr"/>
            <a:lstStyle/>
            <a:p>
              <a:r>
                <a:rPr lang="en-US"/>
                <a:t>Input/output</a:t>
              </a:r>
            </a:p>
          </p:txBody>
        </p:sp>
        <p:sp>
          <p:nvSpPr>
            <p:cNvPr id="10" name="Oval 9"/>
            <p:cNvSpPr/>
            <p:nvPr/>
          </p:nvSpPr>
          <p:spPr>
            <a:xfrm>
              <a:off x="2135560" y="4121744"/>
              <a:ext cx="4248472" cy="1728193"/>
            </a:xfrm>
            <a:prstGeom prst="ellipse">
              <a:avLst/>
            </a:prstGeom>
          </p:spPr>
          <p:style>
            <a:lnRef idx="1">
              <a:schemeClr val="accent6"/>
            </a:lnRef>
            <a:fillRef idx="2">
              <a:schemeClr val="accent6"/>
            </a:fillRef>
            <a:effectRef idx="1">
              <a:schemeClr val="accent6"/>
            </a:effectRef>
            <a:fontRef idx="minor">
              <a:schemeClr val="dk1"/>
            </a:fontRef>
          </p:style>
          <p:txBody>
            <a:bodyPr wrap="none" lIns="2088000" rIns="0" rtlCol="0" anchor="ctr"/>
            <a:lstStyle/>
            <a:p>
              <a:r>
                <a:rPr lang="en-US"/>
                <a:t>Memory</a:t>
              </a:r>
              <a:br>
                <a:rPr lang="en-US"/>
              </a:br>
              <a:r>
                <a:rPr lang="en-US"/>
                <a:t>management</a:t>
              </a:r>
            </a:p>
          </p:txBody>
        </p:sp>
        <p:sp>
          <p:nvSpPr>
            <p:cNvPr id="11" name="Oval 10"/>
            <p:cNvSpPr/>
            <p:nvPr/>
          </p:nvSpPr>
          <p:spPr>
            <a:xfrm>
              <a:off x="2567608" y="4377431"/>
              <a:ext cx="2016224" cy="1224136"/>
            </a:xfrm>
            <a:prstGeom prst="ellipse">
              <a:avLst/>
            </a:prstGeom>
          </p:spPr>
          <p:style>
            <a:lnRef idx="1">
              <a:schemeClr val="accent2"/>
            </a:lnRef>
            <a:fillRef idx="2">
              <a:schemeClr val="accent2"/>
            </a:fillRef>
            <a:effectRef idx="1">
              <a:schemeClr val="accent2"/>
            </a:effectRef>
            <a:fontRef idx="minor">
              <a:schemeClr val="dk1"/>
            </a:fontRef>
          </p:style>
          <p:txBody>
            <a:bodyPr wrap="none" lIns="0" rIns="0" rtlCol="0" anchor="ctr"/>
            <a:lstStyle/>
            <a:p>
              <a:pPr algn="ctr"/>
              <a:r>
                <a:rPr lang="en-US"/>
                <a:t>Kernel</a:t>
              </a:r>
            </a:p>
          </p:txBody>
        </p:sp>
      </p:grpSp>
    </p:spTree>
    <p:extLst>
      <p:ext uri="{BB962C8B-B14F-4D97-AF65-F5344CB8AC3E}">
        <p14:creationId xmlns:p14="http://schemas.microsoft.com/office/powerpoint/2010/main" val="2232950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Architecture – microkernel</a:t>
            </a:r>
          </a:p>
        </p:txBody>
      </p:sp>
      <p:sp>
        <p:nvSpPr>
          <p:cNvPr id="3" name="Content Placeholder 2"/>
          <p:cNvSpPr>
            <a:spLocks noGrp="1"/>
          </p:cNvSpPr>
          <p:nvPr>
            <p:ph idx="1"/>
          </p:nvPr>
        </p:nvSpPr>
        <p:spPr/>
        <p:txBody>
          <a:bodyPr>
            <a:normAutofit/>
          </a:bodyPr>
          <a:lstStyle/>
          <a:p>
            <a:r>
              <a:rPr lang="en-US" dirty="0"/>
              <a:t>Microkernel architecture</a:t>
            </a:r>
          </a:p>
          <a:p>
            <a:pPr lvl="1"/>
            <a:r>
              <a:rPr lang="en-US" dirty="0"/>
              <a:t>Move as much as possible from the kernel space to the user space</a:t>
            </a:r>
          </a:p>
          <a:p>
            <a:pPr lvl="1"/>
            <a:r>
              <a:rPr lang="en-US" dirty="0"/>
              <a:t>Communication between user modules</a:t>
            </a:r>
          </a:p>
          <a:p>
            <a:pPr lvl="2"/>
            <a:r>
              <a:rPr lang="en-US" dirty="0"/>
              <a:t>Message passing (client/server)</a:t>
            </a:r>
          </a:p>
          <a:p>
            <a:pPr lvl="1"/>
            <a:r>
              <a:rPr lang="en-US" dirty="0"/>
              <a:t>Extendable, secure, reliable</a:t>
            </a:r>
          </a:p>
          <a:p>
            <a:pPr lvl="1"/>
            <a:r>
              <a:rPr lang="en-US" dirty="0"/>
              <a:t>May be quite slow</a:t>
            </a:r>
          </a:p>
          <a:p>
            <a:pPr lvl="1"/>
            <a:r>
              <a:rPr lang="en-US" dirty="0"/>
              <a:t>Idea partially adopted in modern</a:t>
            </a:r>
            <a:br>
              <a:rPr lang="en-US" dirty="0"/>
            </a:br>
            <a:r>
              <a:rPr lang="en-US" dirty="0"/>
              <a:t>systems</a:t>
            </a:r>
          </a:p>
          <a:p>
            <a:pPr lvl="2"/>
            <a:r>
              <a:rPr lang="en-US" dirty="0"/>
              <a:t>Windows kernel design</a:t>
            </a:r>
          </a:p>
          <a:p>
            <a:pPr lvl="2"/>
            <a:r>
              <a:rPr lang="en-US" dirty="0"/>
              <a:t>Linux FUSE (</a:t>
            </a:r>
            <a:r>
              <a:rPr lang="en-US" dirty="0" err="1"/>
              <a:t>Filesystem</a:t>
            </a:r>
            <a:r>
              <a:rPr lang="en-US" dirty="0"/>
              <a:t> in </a:t>
            </a:r>
            <a:r>
              <a:rPr lang="en-US" dirty="0" err="1"/>
              <a:t>Userspace</a:t>
            </a:r>
            <a:r>
              <a:rPr lang="en-US" dirty="0"/>
              <a:t>)</a:t>
            </a:r>
            <a:br>
              <a:rPr lang="en-US" dirty="0"/>
            </a:br>
            <a:r>
              <a:rPr lang="en-US" dirty="0"/>
              <a:t>interface for custom FS implementations</a:t>
            </a:r>
          </a:p>
        </p:txBody>
      </p:sp>
      <p:sp>
        <p:nvSpPr>
          <p:cNvPr id="4" name="Rectangle 3"/>
          <p:cNvSpPr/>
          <p:nvPr/>
        </p:nvSpPr>
        <p:spPr bwMode="auto">
          <a:xfrm>
            <a:off x="6600056" y="5115793"/>
            <a:ext cx="3672408" cy="432048"/>
          </a:xfrm>
          <a:prstGeom prst="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b" anchorCtr="0" compatLnSpc="1">
            <a:prstTxWarp prst="textNoShape">
              <a:avLst/>
            </a:prstTxWarp>
          </a:bodyPr>
          <a:lstStyle/>
          <a:p>
            <a:pPr algn="ctr"/>
            <a:r>
              <a:rPr lang="el-GR"/>
              <a:t>μ</a:t>
            </a:r>
            <a:r>
              <a:rPr lang="en-US"/>
              <a:t>Kernel</a:t>
            </a:r>
          </a:p>
        </p:txBody>
      </p:sp>
      <p:sp>
        <p:nvSpPr>
          <p:cNvPr id="5" name="Rectangle 4"/>
          <p:cNvSpPr/>
          <p:nvPr/>
        </p:nvSpPr>
        <p:spPr bwMode="auto">
          <a:xfrm>
            <a:off x="6600056" y="4097510"/>
            <a:ext cx="792088" cy="576064"/>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algn="ctr"/>
            <a:r>
              <a:rPr lang="en-US">
                <a:latin typeface="+mn-lt"/>
              </a:rPr>
              <a:t>Svc 1</a:t>
            </a:r>
          </a:p>
        </p:txBody>
      </p:sp>
      <p:sp>
        <p:nvSpPr>
          <p:cNvPr id="6" name="Rectangle 5"/>
          <p:cNvSpPr/>
          <p:nvPr/>
        </p:nvSpPr>
        <p:spPr bwMode="auto">
          <a:xfrm>
            <a:off x="7788188" y="4097510"/>
            <a:ext cx="792088" cy="576064"/>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algn="ctr"/>
            <a:r>
              <a:rPr lang="en-US">
                <a:latin typeface="+mn-lt"/>
              </a:rPr>
              <a:t>Svc 2</a:t>
            </a:r>
          </a:p>
        </p:txBody>
      </p:sp>
      <p:sp>
        <p:nvSpPr>
          <p:cNvPr id="8" name="Rectangle 7"/>
          <p:cNvSpPr/>
          <p:nvPr/>
        </p:nvSpPr>
        <p:spPr bwMode="auto">
          <a:xfrm>
            <a:off x="9480376" y="4097510"/>
            <a:ext cx="792088" cy="576064"/>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algn="ctr"/>
            <a:r>
              <a:rPr lang="en-US">
                <a:latin typeface="+mn-lt"/>
              </a:rPr>
              <a:t>App</a:t>
            </a:r>
          </a:p>
        </p:txBody>
      </p:sp>
      <p:sp>
        <p:nvSpPr>
          <p:cNvPr id="11" name="Up-Down Arrow 10"/>
          <p:cNvSpPr/>
          <p:nvPr/>
        </p:nvSpPr>
        <p:spPr bwMode="auto">
          <a:xfrm>
            <a:off x="6888088" y="4673575"/>
            <a:ext cx="288032" cy="442219"/>
          </a:xfrm>
          <a:prstGeom prst="upDownArrow">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none" lIns="91440" tIns="45720" rIns="91440" bIns="45720" numCol="1" rtlCol="0" anchor="t" anchorCtr="0" compatLnSpc="1">
            <a:prstTxWarp prst="textNoShape">
              <a:avLst/>
            </a:prstTxWarp>
          </a:bodyPr>
          <a:lstStyle/>
          <a:p>
            <a:endParaRPr lang="en-US"/>
          </a:p>
        </p:txBody>
      </p:sp>
      <p:sp>
        <p:nvSpPr>
          <p:cNvPr id="12" name="Up-Down Arrow 11"/>
          <p:cNvSpPr/>
          <p:nvPr/>
        </p:nvSpPr>
        <p:spPr bwMode="auto">
          <a:xfrm>
            <a:off x="8040216" y="4673573"/>
            <a:ext cx="288032" cy="442219"/>
          </a:xfrm>
          <a:prstGeom prst="upDownArrow">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none" lIns="91440" tIns="45720" rIns="91440" bIns="45720" numCol="1" rtlCol="0" anchor="t" anchorCtr="0" compatLnSpc="1">
            <a:prstTxWarp prst="textNoShape">
              <a:avLst/>
            </a:prstTxWarp>
          </a:bodyPr>
          <a:lstStyle/>
          <a:p>
            <a:endParaRPr lang="en-US"/>
          </a:p>
        </p:txBody>
      </p:sp>
      <p:sp>
        <p:nvSpPr>
          <p:cNvPr id="13" name="Up-Down Arrow 12"/>
          <p:cNvSpPr/>
          <p:nvPr/>
        </p:nvSpPr>
        <p:spPr bwMode="auto">
          <a:xfrm>
            <a:off x="9732404" y="4673574"/>
            <a:ext cx="288032" cy="442219"/>
          </a:xfrm>
          <a:prstGeom prst="upDownArrow">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none" lIns="91440" tIns="45720" rIns="91440" bIns="45720" numCol="1" rtlCol="0" anchor="t" anchorCtr="0" compatLnSpc="1">
            <a:prstTxWarp prst="textNoShape">
              <a:avLst/>
            </a:prstTxWarp>
          </a:bodyPr>
          <a:lstStyle/>
          <a:p>
            <a:endParaRPr lang="en-US"/>
          </a:p>
        </p:txBody>
      </p:sp>
      <p:sp>
        <p:nvSpPr>
          <p:cNvPr id="14" name="Curved Up Arrow 13"/>
          <p:cNvSpPr/>
          <p:nvPr/>
        </p:nvSpPr>
        <p:spPr bwMode="auto">
          <a:xfrm flipH="1">
            <a:off x="8112224" y="4776539"/>
            <a:ext cx="1872208" cy="469677"/>
          </a:xfrm>
          <a:prstGeom prst="curvedUpArrow">
            <a:avLst/>
          </a:prstGeom>
          <a:solidFill>
            <a:srgbClr val="FF33CC"/>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15" name="Curved Up Arrow 14"/>
          <p:cNvSpPr/>
          <p:nvPr/>
        </p:nvSpPr>
        <p:spPr bwMode="auto">
          <a:xfrm flipH="1">
            <a:off x="6888088" y="4776538"/>
            <a:ext cx="1368152" cy="469677"/>
          </a:xfrm>
          <a:prstGeom prst="curvedUpArrow">
            <a:avLst/>
          </a:prstGeom>
          <a:solidFill>
            <a:srgbClr val="FF33CC"/>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7" name="Date Placeholder 6"/>
          <p:cNvSpPr>
            <a:spLocks noGrp="1"/>
          </p:cNvSpPr>
          <p:nvPr>
            <p:ph type="dt" sz="half" idx="10"/>
          </p:nvPr>
        </p:nvSpPr>
        <p:spPr/>
        <p:txBody>
          <a:bodyPr/>
          <a:lstStyle/>
          <a:p>
            <a:r>
              <a:rPr lang="cs-CZ" altLang="en-US"/>
              <a:t>17.4.2025</a:t>
            </a:r>
            <a:endParaRPr lang="en-US" altLang="en-US"/>
          </a:p>
        </p:txBody>
      </p:sp>
      <p:sp>
        <p:nvSpPr>
          <p:cNvPr id="9" name="Slide Number Placeholder 8"/>
          <p:cNvSpPr>
            <a:spLocks noGrp="1"/>
          </p:cNvSpPr>
          <p:nvPr>
            <p:ph type="sldNum" sz="quarter" idx="12"/>
          </p:nvPr>
        </p:nvSpPr>
        <p:spPr/>
        <p:txBody>
          <a:bodyPr/>
          <a:lstStyle/>
          <a:p>
            <a:fld id="{F4A1145F-674A-4228-8958-0EA9769F5517}" type="slidenum">
              <a:rPr lang="en-US" altLang="en-US" smtClean="0"/>
              <a:pPr/>
              <a:t>9</a:t>
            </a:fld>
            <a:endParaRPr lang="en-US" altLang="en-US"/>
          </a:p>
        </p:txBody>
      </p:sp>
    </p:spTree>
    <p:extLst>
      <p:ext uri="{BB962C8B-B14F-4D97-AF65-F5344CB8AC3E}">
        <p14:creationId xmlns:p14="http://schemas.microsoft.com/office/powerpoint/2010/main" val="1162914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Linux kernel architecture</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95108" y="1825625"/>
            <a:ext cx="5801784" cy="4351338"/>
          </a:xfrm>
        </p:spPr>
      </p:pic>
      <p:sp>
        <p:nvSpPr>
          <p:cNvPr id="3" name="Date Placeholder 2"/>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10</a:t>
            </a:fld>
            <a:endParaRPr lang="en-US" altLang="en-US"/>
          </a:p>
        </p:txBody>
      </p:sp>
    </p:spTree>
    <p:extLst>
      <p:ext uri="{BB962C8B-B14F-4D97-AF65-F5344CB8AC3E}">
        <p14:creationId xmlns:p14="http://schemas.microsoft.com/office/powerpoint/2010/main" val="3523416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Windows kernel architecture</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935760" y="1546198"/>
            <a:ext cx="4042251" cy="5182166"/>
          </a:xfrm>
        </p:spPr>
      </p:pic>
      <p:sp>
        <p:nvSpPr>
          <p:cNvPr id="3" name="Date Placeholder 2"/>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11</a:t>
            </a:fld>
            <a:endParaRPr lang="en-US" altLang="en-US"/>
          </a:p>
        </p:txBody>
      </p:sp>
    </p:spTree>
    <p:extLst>
      <p:ext uri="{BB962C8B-B14F-4D97-AF65-F5344CB8AC3E}">
        <p14:creationId xmlns:p14="http://schemas.microsoft.com/office/powerpoint/2010/main" val="162602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Devices</a:t>
            </a:r>
          </a:p>
        </p:txBody>
      </p:sp>
      <p:sp>
        <p:nvSpPr>
          <p:cNvPr id="3" name="Content Placeholder 2"/>
          <p:cNvSpPr>
            <a:spLocks noGrp="1"/>
          </p:cNvSpPr>
          <p:nvPr>
            <p:ph idx="1"/>
          </p:nvPr>
        </p:nvSpPr>
        <p:spPr/>
        <p:txBody>
          <a:bodyPr>
            <a:normAutofit/>
          </a:bodyPr>
          <a:lstStyle/>
          <a:p>
            <a:r>
              <a:rPr lang="en-US"/>
              <a:t>Terminology</a:t>
            </a:r>
          </a:p>
          <a:p>
            <a:pPr lvl="1"/>
            <a:r>
              <a:rPr lang="en-US"/>
              <a:t>Device - “a thing made for a particular purpose”</a:t>
            </a:r>
          </a:p>
          <a:p>
            <a:pPr lvl="1"/>
            <a:r>
              <a:rPr lang="en-US"/>
              <a:t>Device controller</a:t>
            </a:r>
          </a:p>
          <a:p>
            <a:pPr lvl="2"/>
            <a:r>
              <a:rPr lang="en-US"/>
              <a:t>Handles connected devices electrically (signals “on wires”, A/D converters)</a:t>
            </a:r>
          </a:p>
          <a:p>
            <a:pPr lvl="2"/>
            <a:r>
              <a:rPr lang="en-US"/>
              <a:t>Devices connected in a topology</a:t>
            </a:r>
          </a:p>
          <a:p>
            <a:pPr lvl="1"/>
            <a:r>
              <a:rPr lang="en-US"/>
              <a:t>Device driver</a:t>
            </a:r>
          </a:p>
          <a:p>
            <a:pPr lvl="2"/>
            <a:r>
              <a:rPr lang="en-US"/>
              <a:t>SW component (piece of code), part of OS (module, dynamically loaded)</a:t>
            </a:r>
          </a:p>
          <a:p>
            <a:pPr lvl="2"/>
            <a:r>
              <a:rPr lang="en-US"/>
              <a:t>Abstract interface to the upper layer in OS</a:t>
            </a:r>
          </a:p>
          <a:p>
            <a:pPr lvl="2"/>
            <a:r>
              <a:rPr lang="en-US"/>
              <a:t>Specific for a controller or a class/group of controllers</a:t>
            </a:r>
          </a:p>
          <a:p>
            <a:pPr lvl="1"/>
            <a:r>
              <a:rPr lang="en-US"/>
              <a:t>BIOS/UEFI</a:t>
            </a:r>
          </a:p>
          <a:p>
            <a:pPr lvl="2"/>
            <a:r>
              <a:rPr lang="en-US"/>
              <a:t>Basic HW interfaces that allow to enumerate and initialize devices on boot</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12</a:t>
            </a:fld>
            <a:endParaRPr lang="en-US" altLang="en-US"/>
          </a:p>
        </p:txBody>
      </p:sp>
    </p:spTree>
    <p:extLst>
      <p:ext uri="{BB962C8B-B14F-4D97-AF65-F5344CB8AC3E}">
        <p14:creationId xmlns:p14="http://schemas.microsoft.com/office/powerpoint/2010/main" val="3171918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Devices topology</a:t>
            </a:r>
          </a:p>
        </p:txBody>
      </p:sp>
      <p:sp>
        <p:nvSpPr>
          <p:cNvPr id="4" name="Rectangle 3"/>
          <p:cNvSpPr/>
          <p:nvPr/>
        </p:nvSpPr>
        <p:spPr bwMode="auto">
          <a:xfrm>
            <a:off x="2049122" y="1971680"/>
            <a:ext cx="648072" cy="504056"/>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a:latin typeface="+mn-lt"/>
              </a:rPr>
              <a:t>DC</a:t>
            </a:r>
          </a:p>
        </p:txBody>
      </p:sp>
      <p:sp>
        <p:nvSpPr>
          <p:cNvPr id="5" name="TextBox 4"/>
          <p:cNvSpPr txBox="1"/>
          <p:nvPr/>
        </p:nvSpPr>
        <p:spPr>
          <a:xfrm>
            <a:off x="1185027" y="2106404"/>
            <a:ext cx="521297" cy="369332"/>
          </a:xfrm>
          <a:prstGeom prst="rect">
            <a:avLst/>
          </a:prstGeom>
          <a:noFill/>
        </p:spPr>
        <p:txBody>
          <a:bodyPr wrap="none" rtlCol="0">
            <a:spAutoFit/>
          </a:bodyPr>
          <a:lstStyle/>
          <a:p>
            <a:r>
              <a:rPr lang="en-US">
                <a:latin typeface="+mn-lt"/>
              </a:rPr>
              <a:t>Bus</a:t>
            </a:r>
          </a:p>
        </p:txBody>
      </p:sp>
      <p:cxnSp>
        <p:nvCxnSpPr>
          <p:cNvPr id="7" name="Straight Connector 6"/>
          <p:cNvCxnSpPr/>
          <p:nvPr/>
        </p:nvCxnSpPr>
        <p:spPr bwMode="auto">
          <a:xfrm>
            <a:off x="2697194" y="2043688"/>
            <a:ext cx="244827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8" name="Rectangle 7"/>
          <p:cNvSpPr/>
          <p:nvPr/>
        </p:nvSpPr>
        <p:spPr bwMode="auto">
          <a:xfrm>
            <a:off x="2847498" y="2223708"/>
            <a:ext cx="720080" cy="252028"/>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0" rIns="91440" bIns="0" numCol="1" rtlCol="0" anchor="t" anchorCtr="0" compatLnSpc="1">
            <a:prstTxWarp prst="textNoShape">
              <a:avLst/>
            </a:prstTxWarp>
          </a:bodyPr>
          <a:lstStyle/>
          <a:p>
            <a:pPr algn="ctr"/>
            <a:r>
              <a:rPr lang="en-US">
                <a:latin typeface="+mn-lt"/>
              </a:rPr>
              <a:t>Dev1</a:t>
            </a:r>
          </a:p>
        </p:txBody>
      </p:sp>
      <p:cxnSp>
        <p:nvCxnSpPr>
          <p:cNvPr id="10" name="Straight Connector 9"/>
          <p:cNvCxnSpPr>
            <a:stCxn id="8" idx="0"/>
          </p:cNvCxnSpPr>
          <p:nvPr/>
        </p:nvCxnSpPr>
        <p:spPr bwMode="auto">
          <a:xfrm flipV="1">
            <a:off x="3207538" y="2043688"/>
            <a:ext cx="0" cy="18002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1" name="Rectangle 10"/>
          <p:cNvSpPr/>
          <p:nvPr/>
        </p:nvSpPr>
        <p:spPr bwMode="auto">
          <a:xfrm>
            <a:off x="3688754" y="2223708"/>
            <a:ext cx="720080" cy="252028"/>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0" rIns="91440" bIns="0" numCol="1" rtlCol="0" anchor="t" anchorCtr="0" compatLnSpc="1">
            <a:prstTxWarp prst="textNoShape">
              <a:avLst/>
            </a:prstTxWarp>
          </a:bodyPr>
          <a:lstStyle/>
          <a:p>
            <a:pPr algn="ctr"/>
            <a:r>
              <a:rPr lang="en-US">
                <a:latin typeface="+mn-lt"/>
              </a:rPr>
              <a:t>Dev2</a:t>
            </a:r>
          </a:p>
        </p:txBody>
      </p:sp>
      <p:cxnSp>
        <p:nvCxnSpPr>
          <p:cNvPr id="12" name="Straight Connector 11"/>
          <p:cNvCxnSpPr>
            <a:stCxn id="11" idx="0"/>
          </p:cNvCxnSpPr>
          <p:nvPr/>
        </p:nvCxnSpPr>
        <p:spPr bwMode="auto">
          <a:xfrm flipV="1">
            <a:off x="4048794" y="2043688"/>
            <a:ext cx="0" cy="18002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4" name="Rectangle 13"/>
          <p:cNvSpPr/>
          <p:nvPr/>
        </p:nvSpPr>
        <p:spPr bwMode="auto">
          <a:xfrm>
            <a:off x="4530010" y="2223708"/>
            <a:ext cx="720080" cy="252028"/>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0" rIns="91440" bIns="0" numCol="1" rtlCol="0" anchor="t" anchorCtr="0" compatLnSpc="1">
            <a:prstTxWarp prst="textNoShape">
              <a:avLst/>
            </a:prstTxWarp>
          </a:bodyPr>
          <a:lstStyle/>
          <a:p>
            <a:pPr algn="ctr"/>
            <a:r>
              <a:rPr lang="en-US">
                <a:latin typeface="+mn-lt"/>
              </a:rPr>
              <a:t>Dev3</a:t>
            </a:r>
          </a:p>
        </p:txBody>
      </p:sp>
      <p:cxnSp>
        <p:nvCxnSpPr>
          <p:cNvPr id="15" name="Straight Connector 14"/>
          <p:cNvCxnSpPr>
            <a:stCxn id="14" idx="0"/>
          </p:cNvCxnSpPr>
          <p:nvPr/>
        </p:nvCxnSpPr>
        <p:spPr bwMode="auto">
          <a:xfrm flipV="1">
            <a:off x="4890050" y="2043688"/>
            <a:ext cx="0" cy="18002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8" name="Rectangle 17"/>
          <p:cNvSpPr/>
          <p:nvPr/>
        </p:nvSpPr>
        <p:spPr bwMode="auto">
          <a:xfrm>
            <a:off x="8333023" y="1837918"/>
            <a:ext cx="648072" cy="504056"/>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DC</a:t>
            </a:r>
          </a:p>
        </p:txBody>
      </p:sp>
      <p:sp>
        <p:nvSpPr>
          <p:cNvPr id="19" name="Rectangle 18"/>
          <p:cNvSpPr/>
          <p:nvPr/>
        </p:nvSpPr>
        <p:spPr bwMode="auto">
          <a:xfrm>
            <a:off x="7399483" y="2517132"/>
            <a:ext cx="720080" cy="252028"/>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0" rIns="91440" bIns="0" numCol="1" rtlCol="0" anchor="t" anchorCtr="0" compatLnSpc="1">
            <a:prstTxWarp prst="textNoShape">
              <a:avLst/>
            </a:prstTxWarp>
          </a:bodyPr>
          <a:lstStyle/>
          <a:p>
            <a:pPr algn="ctr"/>
            <a:r>
              <a:rPr lang="en-US">
                <a:latin typeface="+mn-lt"/>
              </a:rPr>
              <a:t>Dev1</a:t>
            </a:r>
          </a:p>
        </p:txBody>
      </p:sp>
      <p:sp>
        <p:nvSpPr>
          <p:cNvPr id="20" name="Rectangle 19"/>
          <p:cNvSpPr/>
          <p:nvPr/>
        </p:nvSpPr>
        <p:spPr bwMode="auto">
          <a:xfrm>
            <a:off x="8297019" y="3021188"/>
            <a:ext cx="720080" cy="252028"/>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0" rIns="91440" bIns="0" numCol="1" rtlCol="0" anchor="t" anchorCtr="0" compatLnSpc="1">
            <a:prstTxWarp prst="textNoShape">
              <a:avLst/>
            </a:prstTxWarp>
          </a:bodyPr>
          <a:lstStyle/>
          <a:p>
            <a:pPr algn="ctr"/>
            <a:r>
              <a:rPr lang="en-US">
                <a:latin typeface="+mn-lt"/>
              </a:rPr>
              <a:t>Dev2</a:t>
            </a:r>
          </a:p>
        </p:txBody>
      </p:sp>
      <p:sp>
        <p:nvSpPr>
          <p:cNvPr id="21" name="Rectangle 20"/>
          <p:cNvSpPr/>
          <p:nvPr/>
        </p:nvSpPr>
        <p:spPr bwMode="auto">
          <a:xfrm>
            <a:off x="9204227" y="2517132"/>
            <a:ext cx="720080" cy="252028"/>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0" rIns="91440" bIns="0" numCol="1" rtlCol="0" anchor="t" anchorCtr="0" compatLnSpc="1">
            <a:prstTxWarp prst="textNoShape">
              <a:avLst/>
            </a:prstTxWarp>
          </a:bodyPr>
          <a:lstStyle/>
          <a:p>
            <a:pPr algn="ctr"/>
            <a:r>
              <a:rPr lang="en-US">
                <a:latin typeface="+mn-lt"/>
              </a:rPr>
              <a:t>Dev3</a:t>
            </a:r>
          </a:p>
        </p:txBody>
      </p:sp>
      <p:sp>
        <p:nvSpPr>
          <p:cNvPr id="22" name="TextBox 21"/>
          <p:cNvSpPr txBox="1"/>
          <p:nvPr/>
        </p:nvSpPr>
        <p:spPr>
          <a:xfrm>
            <a:off x="6619153" y="1972642"/>
            <a:ext cx="593432" cy="369332"/>
          </a:xfrm>
          <a:prstGeom prst="rect">
            <a:avLst/>
          </a:prstGeom>
          <a:noFill/>
        </p:spPr>
        <p:txBody>
          <a:bodyPr wrap="none" rtlCol="0">
            <a:spAutoFit/>
          </a:bodyPr>
          <a:lstStyle/>
          <a:p>
            <a:r>
              <a:rPr lang="en-US">
                <a:latin typeface="+mn-lt"/>
              </a:rPr>
              <a:t>Ring</a:t>
            </a:r>
          </a:p>
        </p:txBody>
      </p:sp>
      <p:cxnSp>
        <p:nvCxnSpPr>
          <p:cNvPr id="24" name="Straight Arrow Connector 23"/>
          <p:cNvCxnSpPr>
            <a:stCxn id="18" idx="1"/>
            <a:endCxn id="19" idx="0"/>
          </p:cNvCxnSpPr>
          <p:nvPr/>
        </p:nvCxnSpPr>
        <p:spPr bwMode="auto">
          <a:xfrm flipH="1">
            <a:off x="7759523" y="2089946"/>
            <a:ext cx="573500" cy="42718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p:cNvCxnSpPr>
            <a:stCxn id="19" idx="2"/>
            <a:endCxn id="20" idx="1"/>
          </p:cNvCxnSpPr>
          <p:nvPr/>
        </p:nvCxnSpPr>
        <p:spPr bwMode="auto">
          <a:xfrm>
            <a:off x="7759523" y="2769160"/>
            <a:ext cx="537496" cy="37804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8" name="Straight Arrow Connector 27"/>
          <p:cNvCxnSpPr>
            <a:stCxn id="20" idx="3"/>
            <a:endCxn id="21" idx="2"/>
          </p:cNvCxnSpPr>
          <p:nvPr/>
        </p:nvCxnSpPr>
        <p:spPr bwMode="auto">
          <a:xfrm flipV="1">
            <a:off x="9017099" y="2769160"/>
            <a:ext cx="547168" cy="37804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p:cNvCxnSpPr>
            <a:stCxn id="21" idx="0"/>
            <a:endCxn id="18" idx="3"/>
          </p:cNvCxnSpPr>
          <p:nvPr/>
        </p:nvCxnSpPr>
        <p:spPr bwMode="auto">
          <a:xfrm flipH="1" flipV="1">
            <a:off x="8981095" y="2089946"/>
            <a:ext cx="583172" cy="42718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1" name="TextBox 30"/>
          <p:cNvSpPr txBox="1"/>
          <p:nvPr/>
        </p:nvSpPr>
        <p:spPr>
          <a:xfrm>
            <a:off x="1654818" y="4512725"/>
            <a:ext cx="555345" cy="369332"/>
          </a:xfrm>
          <a:prstGeom prst="rect">
            <a:avLst/>
          </a:prstGeom>
          <a:noFill/>
        </p:spPr>
        <p:txBody>
          <a:bodyPr wrap="none" rtlCol="0">
            <a:spAutoFit/>
          </a:bodyPr>
          <a:lstStyle/>
          <a:p>
            <a:r>
              <a:rPr lang="en-US">
                <a:latin typeface="+mn-lt"/>
              </a:rPr>
              <a:t>Star</a:t>
            </a:r>
          </a:p>
        </p:txBody>
      </p:sp>
      <p:sp>
        <p:nvSpPr>
          <p:cNvPr id="32" name="Rectangle 31"/>
          <p:cNvSpPr/>
          <p:nvPr/>
        </p:nvSpPr>
        <p:spPr bwMode="auto">
          <a:xfrm>
            <a:off x="3238993" y="4512725"/>
            <a:ext cx="648072" cy="504056"/>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DC</a:t>
            </a:r>
          </a:p>
        </p:txBody>
      </p:sp>
      <p:sp>
        <p:nvSpPr>
          <p:cNvPr id="33" name="Rectangle 32"/>
          <p:cNvSpPr/>
          <p:nvPr/>
        </p:nvSpPr>
        <p:spPr bwMode="auto">
          <a:xfrm>
            <a:off x="2446905" y="4093817"/>
            <a:ext cx="720080" cy="252028"/>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0" rIns="91440" bIns="0" numCol="1" rtlCol="0" anchor="t" anchorCtr="0" compatLnSpc="1">
            <a:prstTxWarp prst="textNoShape">
              <a:avLst/>
            </a:prstTxWarp>
          </a:bodyPr>
          <a:lstStyle/>
          <a:p>
            <a:pPr algn="ctr"/>
            <a:r>
              <a:rPr lang="en-US">
                <a:latin typeface="+mn-lt"/>
              </a:rPr>
              <a:t>Dev1</a:t>
            </a:r>
          </a:p>
        </p:txBody>
      </p:sp>
      <p:sp>
        <p:nvSpPr>
          <p:cNvPr id="34" name="Rectangle 33"/>
          <p:cNvSpPr/>
          <p:nvPr/>
        </p:nvSpPr>
        <p:spPr bwMode="auto">
          <a:xfrm>
            <a:off x="3968311" y="4093817"/>
            <a:ext cx="720080" cy="252028"/>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0" rIns="91440" bIns="0" numCol="1" rtlCol="0" anchor="t" anchorCtr="0" compatLnSpc="1">
            <a:prstTxWarp prst="textNoShape">
              <a:avLst/>
            </a:prstTxWarp>
          </a:bodyPr>
          <a:lstStyle/>
          <a:p>
            <a:pPr algn="ctr"/>
            <a:r>
              <a:rPr lang="en-US">
                <a:latin typeface="+mn-lt"/>
              </a:rPr>
              <a:t>Dev2</a:t>
            </a:r>
          </a:p>
        </p:txBody>
      </p:sp>
      <p:sp>
        <p:nvSpPr>
          <p:cNvPr id="35" name="Rectangle 34"/>
          <p:cNvSpPr/>
          <p:nvPr/>
        </p:nvSpPr>
        <p:spPr bwMode="auto">
          <a:xfrm>
            <a:off x="2446905" y="5222893"/>
            <a:ext cx="720080" cy="252028"/>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0" rIns="91440" bIns="0" numCol="1" rtlCol="0" anchor="t" anchorCtr="0" compatLnSpc="1">
            <a:prstTxWarp prst="textNoShape">
              <a:avLst/>
            </a:prstTxWarp>
          </a:bodyPr>
          <a:lstStyle/>
          <a:p>
            <a:pPr algn="ctr"/>
            <a:r>
              <a:rPr lang="en-US">
                <a:latin typeface="+mn-lt"/>
              </a:rPr>
              <a:t>Dev3</a:t>
            </a:r>
          </a:p>
        </p:txBody>
      </p:sp>
      <p:sp>
        <p:nvSpPr>
          <p:cNvPr id="36" name="Rectangle 35"/>
          <p:cNvSpPr/>
          <p:nvPr/>
        </p:nvSpPr>
        <p:spPr bwMode="auto">
          <a:xfrm>
            <a:off x="3968311" y="5222893"/>
            <a:ext cx="720080" cy="252028"/>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0" rIns="91440" bIns="0" numCol="1" rtlCol="0" anchor="t" anchorCtr="0" compatLnSpc="1">
            <a:prstTxWarp prst="textNoShape">
              <a:avLst/>
            </a:prstTxWarp>
          </a:bodyPr>
          <a:lstStyle/>
          <a:p>
            <a:pPr algn="ctr"/>
            <a:r>
              <a:rPr lang="en-US">
                <a:latin typeface="+mn-lt"/>
              </a:rPr>
              <a:t>Dev4</a:t>
            </a:r>
          </a:p>
        </p:txBody>
      </p:sp>
      <p:cxnSp>
        <p:nvCxnSpPr>
          <p:cNvPr id="38" name="Straight Connector 37"/>
          <p:cNvCxnSpPr>
            <a:stCxn id="32" idx="1"/>
            <a:endCxn id="33" idx="2"/>
          </p:cNvCxnSpPr>
          <p:nvPr/>
        </p:nvCxnSpPr>
        <p:spPr bwMode="auto">
          <a:xfrm flipH="1" flipV="1">
            <a:off x="2806945" y="4345845"/>
            <a:ext cx="432048" cy="41890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0" name="Straight Connector 39"/>
          <p:cNvCxnSpPr>
            <a:stCxn id="32" idx="2"/>
            <a:endCxn id="35" idx="0"/>
          </p:cNvCxnSpPr>
          <p:nvPr/>
        </p:nvCxnSpPr>
        <p:spPr bwMode="auto">
          <a:xfrm flipH="1">
            <a:off x="2806945" y="5016781"/>
            <a:ext cx="756084" cy="20611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2" name="Straight Connector 41"/>
          <p:cNvCxnSpPr>
            <a:stCxn id="32" idx="3"/>
            <a:endCxn id="36" idx="0"/>
          </p:cNvCxnSpPr>
          <p:nvPr/>
        </p:nvCxnSpPr>
        <p:spPr bwMode="auto">
          <a:xfrm>
            <a:off x="3887065" y="4764753"/>
            <a:ext cx="441286" cy="45814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4" name="Straight Connector 43"/>
          <p:cNvCxnSpPr>
            <a:stCxn id="32" idx="0"/>
            <a:endCxn id="34" idx="2"/>
          </p:cNvCxnSpPr>
          <p:nvPr/>
        </p:nvCxnSpPr>
        <p:spPr bwMode="auto">
          <a:xfrm flipV="1">
            <a:off x="3563029" y="4345845"/>
            <a:ext cx="765322" cy="16688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7" name="TextBox 46"/>
          <p:cNvSpPr txBox="1"/>
          <p:nvPr/>
        </p:nvSpPr>
        <p:spPr>
          <a:xfrm>
            <a:off x="6939414" y="4066444"/>
            <a:ext cx="590546" cy="369332"/>
          </a:xfrm>
          <a:prstGeom prst="rect">
            <a:avLst/>
          </a:prstGeom>
          <a:noFill/>
        </p:spPr>
        <p:txBody>
          <a:bodyPr wrap="none" rtlCol="0">
            <a:spAutoFit/>
          </a:bodyPr>
          <a:lstStyle/>
          <a:p>
            <a:r>
              <a:rPr lang="en-US">
                <a:latin typeface="+mn-lt"/>
              </a:rPr>
              <a:t>Tree</a:t>
            </a:r>
          </a:p>
        </p:txBody>
      </p:sp>
      <p:sp>
        <p:nvSpPr>
          <p:cNvPr id="48" name="Rectangle 47"/>
          <p:cNvSpPr/>
          <p:nvPr/>
        </p:nvSpPr>
        <p:spPr bwMode="auto">
          <a:xfrm>
            <a:off x="7889092" y="4260697"/>
            <a:ext cx="648072" cy="504056"/>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DC</a:t>
            </a:r>
          </a:p>
        </p:txBody>
      </p:sp>
      <p:sp>
        <p:nvSpPr>
          <p:cNvPr id="49" name="Rectangle 48"/>
          <p:cNvSpPr/>
          <p:nvPr/>
        </p:nvSpPr>
        <p:spPr bwMode="auto">
          <a:xfrm>
            <a:off x="6904655" y="5100949"/>
            <a:ext cx="720080" cy="252028"/>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0" rIns="91440" bIns="0" numCol="1" rtlCol="0" anchor="t" anchorCtr="0" compatLnSpc="1">
            <a:prstTxWarp prst="textNoShape">
              <a:avLst/>
            </a:prstTxWarp>
          </a:bodyPr>
          <a:lstStyle/>
          <a:p>
            <a:pPr algn="ctr"/>
            <a:r>
              <a:rPr lang="en-US">
                <a:latin typeface="+mn-lt"/>
              </a:rPr>
              <a:t>Dev1</a:t>
            </a:r>
          </a:p>
        </p:txBody>
      </p:sp>
      <p:sp>
        <p:nvSpPr>
          <p:cNvPr id="50" name="Rectangle 49"/>
          <p:cNvSpPr/>
          <p:nvPr/>
        </p:nvSpPr>
        <p:spPr bwMode="auto">
          <a:xfrm>
            <a:off x="7817084" y="5100949"/>
            <a:ext cx="720080" cy="252028"/>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0" rIns="91440" bIns="0" numCol="1" rtlCol="0" anchor="t" anchorCtr="0" compatLnSpc="1">
            <a:prstTxWarp prst="textNoShape">
              <a:avLst/>
            </a:prstTxWarp>
          </a:bodyPr>
          <a:lstStyle/>
          <a:p>
            <a:pPr algn="ctr"/>
            <a:r>
              <a:rPr lang="en-US">
                <a:latin typeface="+mn-lt"/>
              </a:rPr>
              <a:t>Dev2</a:t>
            </a:r>
          </a:p>
        </p:txBody>
      </p:sp>
      <p:sp>
        <p:nvSpPr>
          <p:cNvPr id="51" name="Rectangle 50"/>
          <p:cNvSpPr/>
          <p:nvPr/>
        </p:nvSpPr>
        <p:spPr bwMode="auto">
          <a:xfrm>
            <a:off x="8297018" y="5841268"/>
            <a:ext cx="720080" cy="252028"/>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0" rIns="91440" bIns="0" numCol="1" rtlCol="0" anchor="t" anchorCtr="0" compatLnSpc="1">
            <a:prstTxWarp prst="textNoShape">
              <a:avLst/>
            </a:prstTxWarp>
          </a:bodyPr>
          <a:lstStyle/>
          <a:p>
            <a:pPr algn="ctr"/>
            <a:r>
              <a:rPr lang="en-US">
                <a:latin typeface="+mn-lt"/>
              </a:rPr>
              <a:t>Dev3</a:t>
            </a:r>
          </a:p>
        </p:txBody>
      </p:sp>
      <p:sp>
        <p:nvSpPr>
          <p:cNvPr id="52" name="Rectangle 51"/>
          <p:cNvSpPr/>
          <p:nvPr/>
        </p:nvSpPr>
        <p:spPr bwMode="auto">
          <a:xfrm>
            <a:off x="9267844" y="5841268"/>
            <a:ext cx="720080" cy="252028"/>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0" rIns="91440" bIns="0" numCol="1" rtlCol="0" anchor="t" anchorCtr="0" compatLnSpc="1">
            <a:prstTxWarp prst="textNoShape">
              <a:avLst/>
            </a:prstTxWarp>
          </a:bodyPr>
          <a:lstStyle/>
          <a:p>
            <a:pPr algn="ctr"/>
            <a:r>
              <a:rPr lang="en-US">
                <a:latin typeface="+mn-lt"/>
              </a:rPr>
              <a:t>Dev4</a:t>
            </a:r>
          </a:p>
        </p:txBody>
      </p:sp>
      <p:sp>
        <p:nvSpPr>
          <p:cNvPr id="57" name="Rectangle 56"/>
          <p:cNvSpPr/>
          <p:nvPr/>
        </p:nvSpPr>
        <p:spPr bwMode="auto">
          <a:xfrm>
            <a:off x="8729513" y="5100949"/>
            <a:ext cx="720080" cy="252028"/>
          </a:xfrm>
          <a:prstGeom prst="rect">
            <a:avLst/>
          </a:prstGeom>
          <a:solidFill>
            <a:srgbClr val="92D050"/>
          </a:solidFill>
          <a:ln w="9525" cap="flat" cmpd="sng" algn="ctr">
            <a:solidFill>
              <a:schemeClr val="tx1"/>
            </a:solidFill>
            <a:prstDash val="solid"/>
            <a:round/>
            <a:headEnd type="none" w="med" len="med"/>
            <a:tailEnd type="none" w="med" len="med"/>
          </a:ln>
          <a:effectLst/>
        </p:spPr>
        <p:txBody>
          <a:bodyPr vert="horz" wrap="none" lIns="91440" tIns="0" rIns="91440" bIns="0" numCol="1" rtlCol="0" anchor="t" anchorCtr="0" compatLnSpc="1">
            <a:prstTxWarp prst="textNoShape">
              <a:avLst/>
            </a:prstTxWarp>
          </a:bodyPr>
          <a:lstStyle/>
          <a:p>
            <a:pPr algn="ctr"/>
            <a:r>
              <a:rPr lang="en-US">
                <a:latin typeface="+mn-lt"/>
              </a:rPr>
              <a:t>Hub1</a:t>
            </a:r>
          </a:p>
        </p:txBody>
      </p:sp>
      <p:cxnSp>
        <p:nvCxnSpPr>
          <p:cNvPr id="59" name="Straight Connector 58"/>
          <p:cNvCxnSpPr>
            <a:stCxn id="48" idx="2"/>
            <a:endCxn id="49" idx="0"/>
          </p:cNvCxnSpPr>
          <p:nvPr/>
        </p:nvCxnSpPr>
        <p:spPr bwMode="auto">
          <a:xfrm flipH="1">
            <a:off x="7264696" y="4764753"/>
            <a:ext cx="948433" cy="33619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1" name="Straight Connector 60"/>
          <p:cNvCxnSpPr>
            <a:stCxn id="48" idx="2"/>
            <a:endCxn id="50" idx="0"/>
          </p:cNvCxnSpPr>
          <p:nvPr/>
        </p:nvCxnSpPr>
        <p:spPr bwMode="auto">
          <a:xfrm flipH="1">
            <a:off x="8177124" y="4764753"/>
            <a:ext cx="36004" cy="33619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3" name="Straight Connector 62"/>
          <p:cNvCxnSpPr>
            <a:stCxn id="48" idx="2"/>
            <a:endCxn id="57" idx="0"/>
          </p:cNvCxnSpPr>
          <p:nvPr/>
        </p:nvCxnSpPr>
        <p:spPr bwMode="auto">
          <a:xfrm>
            <a:off x="8213129" y="4764753"/>
            <a:ext cx="876425" cy="33619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5" name="Straight Connector 64"/>
          <p:cNvCxnSpPr>
            <a:stCxn id="57" idx="2"/>
            <a:endCxn id="51" idx="0"/>
          </p:cNvCxnSpPr>
          <p:nvPr/>
        </p:nvCxnSpPr>
        <p:spPr bwMode="auto">
          <a:xfrm flipH="1">
            <a:off x="8657059" y="5352978"/>
            <a:ext cx="432495" cy="48829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7" name="Straight Connector 66"/>
          <p:cNvCxnSpPr>
            <a:stCxn id="57" idx="2"/>
            <a:endCxn id="52" idx="0"/>
          </p:cNvCxnSpPr>
          <p:nvPr/>
        </p:nvCxnSpPr>
        <p:spPr bwMode="auto">
          <a:xfrm>
            <a:off x="9089554" y="5352978"/>
            <a:ext cx="538331" cy="488291"/>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 name="Date Placeholder 2"/>
          <p:cNvSpPr>
            <a:spLocks noGrp="1"/>
          </p:cNvSpPr>
          <p:nvPr>
            <p:ph type="dt" sz="half" idx="10"/>
          </p:nvPr>
        </p:nvSpPr>
        <p:spPr/>
        <p:txBody>
          <a:bodyPr/>
          <a:lstStyle/>
          <a:p>
            <a:r>
              <a:rPr lang="cs-CZ" altLang="en-US"/>
              <a:t>17.4.2025</a:t>
            </a:r>
            <a:endParaRPr lang="en-US" altLang="en-US"/>
          </a:p>
        </p:txBody>
      </p:sp>
      <p:sp>
        <p:nvSpPr>
          <p:cNvPr id="6" name="Slide Number Placeholder 5"/>
          <p:cNvSpPr>
            <a:spLocks noGrp="1"/>
          </p:cNvSpPr>
          <p:nvPr>
            <p:ph type="sldNum" sz="quarter" idx="12"/>
          </p:nvPr>
        </p:nvSpPr>
        <p:spPr/>
        <p:txBody>
          <a:bodyPr/>
          <a:lstStyle/>
          <a:p>
            <a:fld id="{F4A1145F-674A-4228-8958-0EA9769F5517}" type="slidenum">
              <a:rPr lang="en-US" altLang="en-US" smtClean="0"/>
              <a:pPr/>
              <a:t>13</a:t>
            </a:fld>
            <a:endParaRPr lang="en-US" altLang="en-US"/>
          </a:p>
        </p:txBody>
      </p:sp>
    </p:spTree>
    <p:extLst>
      <p:ext uri="{BB962C8B-B14F-4D97-AF65-F5344CB8AC3E}">
        <p14:creationId xmlns:p14="http://schemas.microsoft.com/office/powerpoint/2010/main" val="2409376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Device communication</a:t>
            </a:r>
          </a:p>
        </p:txBody>
      </p:sp>
      <p:sp>
        <p:nvSpPr>
          <p:cNvPr id="3" name="Content Placeholder 2"/>
          <p:cNvSpPr>
            <a:spLocks noGrp="1"/>
          </p:cNvSpPr>
          <p:nvPr>
            <p:ph idx="1"/>
          </p:nvPr>
        </p:nvSpPr>
        <p:spPr/>
        <p:txBody>
          <a:bodyPr/>
          <a:lstStyle/>
          <a:p>
            <a:r>
              <a:rPr lang="en-US" dirty="0"/>
              <a:t>How CPU performs I/O operations</a:t>
            </a:r>
          </a:p>
          <a:p>
            <a:pPr lvl="1"/>
            <a:r>
              <a:rPr lang="en-US" dirty="0"/>
              <a:t>Specialized instructions</a:t>
            </a:r>
          </a:p>
          <a:p>
            <a:pPr lvl="2"/>
            <a:r>
              <a:rPr lang="en-US" b="1" dirty="0">
                <a:latin typeface="Courier New" panose="02070309020205020404" pitchFamily="49" charset="0"/>
                <a:cs typeface="Courier New" panose="02070309020205020404" pitchFamily="49" charset="0"/>
              </a:rPr>
              <a:t>in al, dx</a:t>
            </a:r>
          </a:p>
          <a:p>
            <a:pPr lvl="2"/>
            <a:r>
              <a:rPr lang="en-US" b="1" dirty="0">
                <a:latin typeface="Courier New" panose="02070309020205020404" pitchFamily="49" charset="0"/>
                <a:cs typeface="Courier New" panose="02070309020205020404" pitchFamily="49" charset="0"/>
              </a:rPr>
              <a:t>out al, dx</a:t>
            </a:r>
          </a:p>
          <a:p>
            <a:pPr lvl="1"/>
            <a:r>
              <a:rPr lang="en-US" dirty="0"/>
              <a:t>Memory-mapped devices</a:t>
            </a:r>
          </a:p>
          <a:p>
            <a:pPr lvl="2"/>
            <a:r>
              <a:rPr lang="en-US" dirty="0"/>
              <a:t>Device operating structures are mapped at fixed addresses (at boot)</a:t>
            </a:r>
          </a:p>
          <a:p>
            <a:pPr lvl="2"/>
            <a:r>
              <a:rPr lang="en-US" dirty="0"/>
              <a:t>Basic memory operations are translated by HW into I/O operations</a:t>
            </a:r>
          </a:p>
          <a:p>
            <a:pPr lvl="3"/>
            <a:r>
              <a:rPr lang="en-US" dirty="0"/>
              <a:t>Reads and writes may trigger some device functions</a:t>
            </a:r>
          </a:p>
          <a:p>
            <a:pPr lvl="3"/>
            <a:r>
              <a:rPr lang="en-US" dirty="0"/>
              <a:t>E.g., writing at a specific offset may in fact send a command to the device</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14</a:t>
            </a:fld>
            <a:endParaRPr lang="en-US" altLang="en-US"/>
          </a:p>
        </p:txBody>
      </p:sp>
      <p:sp>
        <p:nvSpPr>
          <p:cNvPr id="6" name="Rounded Rectangular Callout 5"/>
          <p:cNvSpPr/>
          <p:nvPr/>
        </p:nvSpPr>
        <p:spPr>
          <a:xfrm>
            <a:off x="5428352" y="2581642"/>
            <a:ext cx="5781116" cy="828532"/>
          </a:xfrm>
          <a:prstGeom prst="wedgeRoundRectCallout">
            <a:avLst>
              <a:gd name="adj1" fmla="val -75590"/>
              <a:gd name="adj2" fmla="val -8620"/>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Old x86 input-output instructions</a:t>
            </a:r>
            <a:br>
              <a:rPr lang="en-US" dirty="0"/>
            </a:br>
            <a:r>
              <a:rPr lang="en-US" dirty="0"/>
              <a:t>(dx holds the IO port number associated with the device)</a:t>
            </a:r>
          </a:p>
        </p:txBody>
      </p:sp>
    </p:spTree>
    <p:extLst>
      <p:ext uri="{BB962C8B-B14F-4D97-AF65-F5344CB8AC3E}">
        <p14:creationId xmlns:p14="http://schemas.microsoft.com/office/powerpoint/2010/main" val="3826243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Device handling</a:t>
            </a:r>
          </a:p>
        </p:txBody>
      </p:sp>
      <p:sp>
        <p:nvSpPr>
          <p:cNvPr id="3" name="Content Placeholder 2"/>
          <p:cNvSpPr>
            <a:spLocks noGrp="1"/>
          </p:cNvSpPr>
          <p:nvPr>
            <p:ph idx="1"/>
          </p:nvPr>
        </p:nvSpPr>
        <p:spPr>
          <a:xfrm>
            <a:off x="580913" y="1690689"/>
            <a:ext cx="7763967" cy="4511698"/>
          </a:xfrm>
        </p:spPr>
        <p:txBody>
          <a:bodyPr>
            <a:noAutofit/>
          </a:bodyPr>
          <a:lstStyle/>
          <a:p>
            <a:pPr marL="514350" indent="-514350">
              <a:buFont typeface="+mj-lt"/>
              <a:buAutoNum type="arabicPeriod"/>
            </a:pPr>
            <a:r>
              <a:rPr lang="en-US" sz="2000" dirty="0"/>
              <a:t>Application issues an I/O request</a:t>
            </a:r>
          </a:p>
          <a:p>
            <a:pPr marL="514350" indent="-514350">
              <a:buFont typeface="+mj-lt"/>
              <a:buAutoNum type="arabicPeriod"/>
            </a:pPr>
            <a:r>
              <a:rPr lang="en-US" sz="2000" dirty="0"/>
              <a:t>Language library makes a system call</a:t>
            </a:r>
          </a:p>
          <a:p>
            <a:pPr marL="514350" indent="-514350">
              <a:buFont typeface="+mj-lt"/>
              <a:buAutoNum type="arabicPeriod"/>
            </a:pPr>
            <a:r>
              <a:rPr lang="en-US" sz="2000" dirty="0"/>
              <a:t>The kernel decides, which device is involved</a:t>
            </a:r>
          </a:p>
          <a:p>
            <a:pPr marL="514350" indent="-514350">
              <a:buFont typeface="+mj-lt"/>
              <a:buAutoNum type="arabicPeriod"/>
            </a:pPr>
            <a:r>
              <a:rPr lang="en-US" sz="2000" dirty="0"/>
              <a:t>The kernel starts an I/O operation using a device driver</a:t>
            </a:r>
          </a:p>
          <a:p>
            <a:pPr marL="514350" indent="-514350">
              <a:buFont typeface="+mj-lt"/>
              <a:buAutoNum type="arabicPeriod"/>
            </a:pPr>
            <a:r>
              <a:rPr lang="en-US" sz="2000" dirty="0"/>
              <a:t>The device driver initiates an I/O operation on a device controller</a:t>
            </a:r>
          </a:p>
          <a:p>
            <a:pPr marL="514350" indent="-514350">
              <a:buFont typeface="+mj-lt"/>
              <a:buAutoNum type="arabicPeriod"/>
            </a:pPr>
            <a:r>
              <a:rPr lang="en-US" sz="2000" dirty="0"/>
              <a:t>Device does something</a:t>
            </a:r>
          </a:p>
          <a:p>
            <a:pPr marL="514350" indent="-514350">
              <a:buFont typeface="+mj-lt"/>
              <a:buAutoNum type="arabicPeriod"/>
            </a:pPr>
            <a:r>
              <a:rPr lang="en-US" sz="2000" dirty="0"/>
              <a:t>The device driver checks for the status of the device controller</a:t>
            </a:r>
          </a:p>
          <a:p>
            <a:pPr marL="514350" indent="-514350">
              <a:buFont typeface="+mj-lt"/>
              <a:buAutoNum type="arabicPeriod"/>
            </a:pPr>
            <a:r>
              <a:rPr lang="en-US" sz="2000" dirty="0"/>
              <a:t>When data are ready, transfer data from the device to the memory</a:t>
            </a:r>
          </a:p>
          <a:p>
            <a:pPr marL="514350" indent="-514350">
              <a:buFont typeface="+mj-lt"/>
              <a:buAutoNum type="arabicPeriod"/>
            </a:pPr>
            <a:r>
              <a:rPr lang="en-US" sz="2000" dirty="0"/>
              <a:t>Return to any kernel layer and make other I/O operations fulfilling the user request</a:t>
            </a:r>
          </a:p>
          <a:p>
            <a:pPr marL="514350" indent="-514350">
              <a:buFont typeface="+mj-lt"/>
              <a:buAutoNum type="arabicPeriod"/>
            </a:pPr>
            <a:r>
              <a:rPr lang="en-US" sz="2000" dirty="0"/>
              <a:t>Return to the application</a:t>
            </a:r>
          </a:p>
        </p:txBody>
      </p:sp>
      <p:sp>
        <p:nvSpPr>
          <p:cNvPr id="4" name="Rectangle 3"/>
          <p:cNvSpPr/>
          <p:nvPr/>
        </p:nvSpPr>
        <p:spPr bwMode="auto">
          <a:xfrm>
            <a:off x="8610600" y="1805034"/>
            <a:ext cx="2276872" cy="845641"/>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User I/O libraries</a:t>
            </a:r>
          </a:p>
        </p:txBody>
      </p:sp>
      <p:sp>
        <p:nvSpPr>
          <p:cNvPr id="5" name="Rectangle 4"/>
          <p:cNvSpPr/>
          <p:nvPr/>
        </p:nvSpPr>
        <p:spPr bwMode="auto">
          <a:xfrm>
            <a:off x="8610600" y="2932950"/>
            <a:ext cx="2276872" cy="648072"/>
          </a:xfrm>
          <a:prstGeom prst="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Device independent </a:t>
            </a:r>
            <a:br>
              <a:rPr lang="en-US"/>
            </a:br>
            <a:r>
              <a:rPr lang="en-US"/>
              <a:t>I/O</a:t>
            </a:r>
          </a:p>
        </p:txBody>
      </p:sp>
      <p:sp>
        <p:nvSpPr>
          <p:cNvPr id="6" name="Rectangle 5"/>
          <p:cNvSpPr/>
          <p:nvPr/>
        </p:nvSpPr>
        <p:spPr bwMode="auto">
          <a:xfrm>
            <a:off x="8610600" y="3706318"/>
            <a:ext cx="1080120" cy="648072"/>
          </a:xfrm>
          <a:prstGeom prst="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Device </a:t>
            </a:r>
            <a:br>
              <a:rPr lang="en-US"/>
            </a:br>
            <a:r>
              <a:rPr lang="en-US"/>
              <a:t>driver</a:t>
            </a:r>
          </a:p>
        </p:txBody>
      </p:sp>
      <p:sp>
        <p:nvSpPr>
          <p:cNvPr id="7" name="Rectangle 6"/>
          <p:cNvSpPr/>
          <p:nvPr/>
        </p:nvSpPr>
        <p:spPr bwMode="auto">
          <a:xfrm>
            <a:off x="9801592" y="3706318"/>
            <a:ext cx="1080120" cy="648072"/>
          </a:xfrm>
          <a:prstGeom prst="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Device </a:t>
            </a:r>
            <a:br>
              <a:rPr lang="en-US"/>
            </a:br>
            <a:r>
              <a:rPr lang="en-US"/>
              <a:t>driver</a:t>
            </a:r>
          </a:p>
        </p:txBody>
      </p:sp>
      <p:sp>
        <p:nvSpPr>
          <p:cNvPr id="8" name="Rectangle 7"/>
          <p:cNvSpPr/>
          <p:nvPr/>
        </p:nvSpPr>
        <p:spPr bwMode="auto">
          <a:xfrm>
            <a:off x="8610600" y="4618210"/>
            <a:ext cx="1080120" cy="648072"/>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Device </a:t>
            </a:r>
            <a:br>
              <a:rPr lang="en-US"/>
            </a:br>
            <a:r>
              <a:rPr lang="en-US"/>
              <a:t>controller</a:t>
            </a:r>
          </a:p>
        </p:txBody>
      </p:sp>
      <p:sp>
        <p:nvSpPr>
          <p:cNvPr id="9" name="Rectangle 8"/>
          <p:cNvSpPr/>
          <p:nvPr/>
        </p:nvSpPr>
        <p:spPr bwMode="auto">
          <a:xfrm>
            <a:off x="9801592" y="4618210"/>
            <a:ext cx="1080120" cy="648072"/>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Device </a:t>
            </a:r>
            <a:br>
              <a:rPr lang="en-US"/>
            </a:br>
            <a:r>
              <a:rPr lang="en-US"/>
              <a:t>controller</a:t>
            </a:r>
          </a:p>
        </p:txBody>
      </p:sp>
      <p:sp>
        <p:nvSpPr>
          <p:cNvPr id="10" name="Flowchart: Magnetic Disk 9"/>
          <p:cNvSpPr/>
          <p:nvPr/>
        </p:nvSpPr>
        <p:spPr bwMode="auto">
          <a:xfrm>
            <a:off x="8682608" y="5554314"/>
            <a:ext cx="936104" cy="648072"/>
          </a:xfrm>
          <a:prstGeom prst="flowChartMagneticDisk">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Device</a:t>
            </a:r>
          </a:p>
        </p:txBody>
      </p:sp>
      <p:sp>
        <p:nvSpPr>
          <p:cNvPr id="11" name="Flowchart: Magnetic Disk 10"/>
          <p:cNvSpPr/>
          <p:nvPr/>
        </p:nvSpPr>
        <p:spPr bwMode="auto">
          <a:xfrm>
            <a:off x="9873600" y="5554314"/>
            <a:ext cx="936104" cy="648072"/>
          </a:xfrm>
          <a:prstGeom prst="flowChartMagneticDisk">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Device</a:t>
            </a:r>
          </a:p>
        </p:txBody>
      </p:sp>
      <p:cxnSp>
        <p:nvCxnSpPr>
          <p:cNvPr id="13" name="Straight Connector 12"/>
          <p:cNvCxnSpPr>
            <a:stCxn id="8" idx="2"/>
            <a:endCxn id="10" idx="1"/>
          </p:cNvCxnSpPr>
          <p:nvPr/>
        </p:nvCxnSpPr>
        <p:spPr bwMode="auto">
          <a:xfrm>
            <a:off x="9150660" y="5266282"/>
            <a:ext cx="0" cy="28803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 name="Straight Connector 14"/>
          <p:cNvCxnSpPr>
            <a:stCxn id="9" idx="2"/>
            <a:endCxn id="11" idx="1"/>
          </p:cNvCxnSpPr>
          <p:nvPr/>
        </p:nvCxnSpPr>
        <p:spPr bwMode="auto">
          <a:xfrm>
            <a:off x="10341652" y="5266282"/>
            <a:ext cx="0" cy="28803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7" name="Straight Connector 16"/>
          <p:cNvCxnSpPr/>
          <p:nvPr/>
        </p:nvCxnSpPr>
        <p:spPr bwMode="auto">
          <a:xfrm>
            <a:off x="8344880" y="2813146"/>
            <a:ext cx="2808312" cy="0"/>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18" name="Straight Connector 17"/>
          <p:cNvCxnSpPr/>
          <p:nvPr/>
        </p:nvCxnSpPr>
        <p:spPr bwMode="auto">
          <a:xfrm>
            <a:off x="8394394" y="4469330"/>
            <a:ext cx="2808312" cy="0"/>
          </a:xfrm>
          <a:prstGeom prst="line">
            <a:avLst/>
          </a:prstGeom>
          <a:solidFill>
            <a:schemeClr val="accent1"/>
          </a:solidFill>
          <a:ln w="38100" cap="flat" cmpd="sng" algn="ctr">
            <a:solidFill>
              <a:srgbClr val="00B050"/>
            </a:solidFill>
            <a:prstDash val="solid"/>
            <a:round/>
            <a:headEnd type="none" w="med" len="med"/>
            <a:tailEnd type="none" w="med" len="med"/>
          </a:ln>
          <a:effectLst/>
        </p:spPr>
      </p:cxnSp>
      <p:sp>
        <p:nvSpPr>
          <p:cNvPr id="19" name="TextBox 18"/>
          <p:cNvSpPr txBox="1"/>
          <p:nvPr/>
        </p:nvSpPr>
        <p:spPr>
          <a:xfrm>
            <a:off x="10986865" y="2043187"/>
            <a:ext cx="671979" cy="369332"/>
          </a:xfrm>
          <a:prstGeom prst="rect">
            <a:avLst/>
          </a:prstGeom>
          <a:noFill/>
        </p:spPr>
        <p:txBody>
          <a:bodyPr wrap="none" rtlCol="0">
            <a:spAutoFit/>
          </a:bodyPr>
          <a:lstStyle/>
          <a:p>
            <a:r>
              <a:rPr lang="en-US"/>
              <a:t>User</a:t>
            </a:r>
          </a:p>
        </p:txBody>
      </p:sp>
      <p:sp>
        <p:nvSpPr>
          <p:cNvPr id="20" name="TextBox 19"/>
          <p:cNvSpPr txBox="1"/>
          <p:nvPr/>
        </p:nvSpPr>
        <p:spPr>
          <a:xfrm>
            <a:off x="10986865" y="3475236"/>
            <a:ext cx="851515" cy="369332"/>
          </a:xfrm>
          <a:prstGeom prst="rect">
            <a:avLst/>
          </a:prstGeom>
          <a:noFill/>
        </p:spPr>
        <p:txBody>
          <a:bodyPr wrap="none" rtlCol="0">
            <a:spAutoFit/>
          </a:bodyPr>
          <a:lstStyle/>
          <a:p>
            <a:r>
              <a:rPr lang="en-US"/>
              <a:t>Kernel</a:t>
            </a:r>
          </a:p>
        </p:txBody>
      </p:sp>
      <p:sp>
        <p:nvSpPr>
          <p:cNvPr id="21" name="TextBox 20"/>
          <p:cNvSpPr txBox="1"/>
          <p:nvPr/>
        </p:nvSpPr>
        <p:spPr>
          <a:xfrm>
            <a:off x="10986865" y="5153005"/>
            <a:ext cx="569387" cy="369332"/>
          </a:xfrm>
          <a:prstGeom prst="rect">
            <a:avLst/>
          </a:prstGeom>
          <a:noFill/>
        </p:spPr>
        <p:txBody>
          <a:bodyPr wrap="none" rtlCol="0">
            <a:spAutoFit/>
          </a:bodyPr>
          <a:lstStyle/>
          <a:p>
            <a:r>
              <a:rPr lang="en-US"/>
              <a:t>HW</a:t>
            </a:r>
          </a:p>
        </p:txBody>
      </p:sp>
      <p:cxnSp>
        <p:nvCxnSpPr>
          <p:cNvPr id="23" name="Straight Arrow Connector 22"/>
          <p:cNvCxnSpPr/>
          <p:nvPr/>
        </p:nvCxnSpPr>
        <p:spPr bwMode="auto">
          <a:xfrm>
            <a:off x="8826624" y="2453105"/>
            <a:ext cx="0" cy="576064"/>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27" name="Straight Arrow Connector 26"/>
          <p:cNvCxnSpPr/>
          <p:nvPr/>
        </p:nvCxnSpPr>
        <p:spPr bwMode="auto">
          <a:xfrm>
            <a:off x="8826624" y="5237205"/>
            <a:ext cx="0" cy="456261"/>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30" name="Straight Arrow Connector 29"/>
          <p:cNvCxnSpPr/>
          <p:nvPr/>
        </p:nvCxnSpPr>
        <p:spPr bwMode="auto">
          <a:xfrm>
            <a:off x="9114656" y="5237205"/>
            <a:ext cx="0" cy="456261"/>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31" name="Straight Arrow Connector 30"/>
          <p:cNvCxnSpPr/>
          <p:nvPr/>
        </p:nvCxnSpPr>
        <p:spPr bwMode="auto">
          <a:xfrm flipV="1">
            <a:off x="8970640" y="5237205"/>
            <a:ext cx="0" cy="456261"/>
          </a:xfrm>
          <a:prstGeom prst="straightConnector1">
            <a:avLst/>
          </a:prstGeom>
          <a:solidFill>
            <a:schemeClr val="accent1"/>
          </a:solidFill>
          <a:ln w="28575" cap="flat" cmpd="sng" algn="ctr">
            <a:solidFill>
              <a:srgbClr val="00CCFF"/>
            </a:solidFill>
            <a:prstDash val="solid"/>
            <a:round/>
            <a:headEnd type="none" w="med" len="med"/>
            <a:tailEnd type="triangle"/>
          </a:ln>
          <a:effectLst/>
        </p:spPr>
      </p:cxnSp>
      <p:cxnSp>
        <p:nvCxnSpPr>
          <p:cNvPr id="33" name="Straight Arrow Connector 32"/>
          <p:cNvCxnSpPr/>
          <p:nvPr/>
        </p:nvCxnSpPr>
        <p:spPr bwMode="auto">
          <a:xfrm flipV="1">
            <a:off x="9258672" y="5237205"/>
            <a:ext cx="0" cy="456261"/>
          </a:xfrm>
          <a:prstGeom prst="straightConnector1">
            <a:avLst/>
          </a:prstGeom>
          <a:solidFill>
            <a:schemeClr val="accent1"/>
          </a:solidFill>
          <a:ln w="28575" cap="flat" cmpd="sng" algn="ctr">
            <a:solidFill>
              <a:srgbClr val="00CCFF"/>
            </a:solidFill>
            <a:prstDash val="solid"/>
            <a:round/>
            <a:headEnd type="none" w="med" len="med"/>
            <a:tailEnd type="triangle"/>
          </a:ln>
          <a:effectLst/>
        </p:spPr>
      </p:cxnSp>
      <p:cxnSp>
        <p:nvCxnSpPr>
          <p:cNvPr id="25" name="Straight Arrow Connector 24"/>
          <p:cNvCxnSpPr/>
          <p:nvPr/>
        </p:nvCxnSpPr>
        <p:spPr bwMode="auto">
          <a:xfrm>
            <a:off x="8826624" y="3418286"/>
            <a:ext cx="0" cy="36737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28" name="Straight Arrow Connector 27"/>
          <p:cNvCxnSpPr/>
          <p:nvPr/>
        </p:nvCxnSpPr>
        <p:spPr bwMode="auto">
          <a:xfrm>
            <a:off x="9114656" y="3418286"/>
            <a:ext cx="0" cy="36737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34" name="Straight Arrow Connector 33"/>
          <p:cNvCxnSpPr/>
          <p:nvPr/>
        </p:nvCxnSpPr>
        <p:spPr bwMode="auto">
          <a:xfrm flipV="1">
            <a:off x="9258672" y="3418286"/>
            <a:ext cx="0" cy="367370"/>
          </a:xfrm>
          <a:prstGeom prst="straightConnector1">
            <a:avLst/>
          </a:prstGeom>
          <a:solidFill>
            <a:schemeClr val="accent1"/>
          </a:solidFill>
          <a:ln w="28575" cap="flat" cmpd="sng" algn="ctr">
            <a:solidFill>
              <a:srgbClr val="00CCFF"/>
            </a:solidFill>
            <a:prstDash val="solid"/>
            <a:round/>
            <a:headEnd type="none" w="med" len="med"/>
            <a:tailEnd type="triangle"/>
          </a:ln>
          <a:effectLst/>
        </p:spPr>
      </p:cxnSp>
      <p:cxnSp>
        <p:nvCxnSpPr>
          <p:cNvPr id="35" name="Straight Arrow Connector 34"/>
          <p:cNvCxnSpPr/>
          <p:nvPr/>
        </p:nvCxnSpPr>
        <p:spPr bwMode="auto">
          <a:xfrm flipV="1">
            <a:off x="8970640" y="3418286"/>
            <a:ext cx="0" cy="367370"/>
          </a:xfrm>
          <a:prstGeom prst="straightConnector1">
            <a:avLst/>
          </a:prstGeom>
          <a:solidFill>
            <a:schemeClr val="accent1"/>
          </a:solidFill>
          <a:ln w="28575" cap="flat" cmpd="sng" algn="ctr">
            <a:solidFill>
              <a:srgbClr val="00CCFF"/>
            </a:solidFill>
            <a:prstDash val="solid"/>
            <a:round/>
            <a:headEnd type="none" w="med" len="med"/>
            <a:tailEnd type="triangle"/>
          </a:ln>
          <a:effectLst/>
        </p:spPr>
      </p:cxnSp>
      <p:cxnSp>
        <p:nvCxnSpPr>
          <p:cNvPr id="26" name="Straight Arrow Connector 25"/>
          <p:cNvCxnSpPr/>
          <p:nvPr/>
        </p:nvCxnSpPr>
        <p:spPr bwMode="auto">
          <a:xfrm>
            <a:off x="8826624" y="4266906"/>
            <a:ext cx="0" cy="436402"/>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29" name="Straight Arrow Connector 28"/>
          <p:cNvCxnSpPr/>
          <p:nvPr/>
        </p:nvCxnSpPr>
        <p:spPr bwMode="auto">
          <a:xfrm>
            <a:off x="9114656" y="4266906"/>
            <a:ext cx="0" cy="436402"/>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32" name="Straight Arrow Connector 31"/>
          <p:cNvCxnSpPr/>
          <p:nvPr/>
        </p:nvCxnSpPr>
        <p:spPr bwMode="auto">
          <a:xfrm flipV="1">
            <a:off x="9258672" y="4266906"/>
            <a:ext cx="0" cy="436402"/>
          </a:xfrm>
          <a:prstGeom prst="straightConnector1">
            <a:avLst/>
          </a:prstGeom>
          <a:solidFill>
            <a:schemeClr val="accent1"/>
          </a:solidFill>
          <a:ln w="28575" cap="flat" cmpd="sng" algn="ctr">
            <a:solidFill>
              <a:srgbClr val="00CCFF"/>
            </a:solidFill>
            <a:prstDash val="solid"/>
            <a:round/>
            <a:headEnd type="none" w="med" len="med"/>
            <a:tailEnd type="triangle"/>
          </a:ln>
          <a:effectLst/>
        </p:spPr>
      </p:cxnSp>
      <p:cxnSp>
        <p:nvCxnSpPr>
          <p:cNvPr id="36" name="Straight Arrow Connector 35"/>
          <p:cNvCxnSpPr/>
          <p:nvPr/>
        </p:nvCxnSpPr>
        <p:spPr bwMode="auto">
          <a:xfrm flipV="1">
            <a:off x="8970640" y="4266906"/>
            <a:ext cx="0" cy="436402"/>
          </a:xfrm>
          <a:prstGeom prst="straightConnector1">
            <a:avLst/>
          </a:prstGeom>
          <a:solidFill>
            <a:schemeClr val="accent1"/>
          </a:solidFill>
          <a:ln w="28575" cap="flat" cmpd="sng" algn="ctr">
            <a:solidFill>
              <a:srgbClr val="00CCFF"/>
            </a:solidFill>
            <a:prstDash val="solid"/>
            <a:round/>
            <a:headEnd type="none" w="med" len="med"/>
            <a:tailEnd type="triangle"/>
          </a:ln>
          <a:effectLst/>
        </p:spPr>
      </p:cxnSp>
      <p:cxnSp>
        <p:nvCxnSpPr>
          <p:cNvPr id="37" name="Straight Arrow Connector 36"/>
          <p:cNvCxnSpPr/>
          <p:nvPr/>
        </p:nvCxnSpPr>
        <p:spPr bwMode="auto">
          <a:xfrm flipV="1">
            <a:off x="9258672" y="2453105"/>
            <a:ext cx="0" cy="576064"/>
          </a:xfrm>
          <a:prstGeom prst="straightConnector1">
            <a:avLst/>
          </a:prstGeom>
          <a:solidFill>
            <a:schemeClr val="accent1"/>
          </a:solidFill>
          <a:ln w="28575" cap="flat" cmpd="sng" algn="ctr">
            <a:solidFill>
              <a:srgbClr val="00CCFF"/>
            </a:solidFill>
            <a:prstDash val="solid"/>
            <a:round/>
            <a:headEnd type="none" w="med" len="med"/>
            <a:tailEnd type="triangle"/>
          </a:ln>
          <a:effectLst/>
        </p:spPr>
      </p:cxnSp>
      <p:sp>
        <p:nvSpPr>
          <p:cNvPr id="12" name="Date Placeholder 11"/>
          <p:cNvSpPr>
            <a:spLocks noGrp="1"/>
          </p:cNvSpPr>
          <p:nvPr>
            <p:ph type="dt" sz="half" idx="10"/>
          </p:nvPr>
        </p:nvSpPr>
        <p:spPr/>
        <p:txBody>
          <a:bodyPr/>
          <a:lstStyle/>
          <a:p>
            <a:r>
              <a:rPr lang="cs-CZ" altLang="en-US"/>
              <a:t>17.4.2025</a:t>
            </a:r>
            <a:endParaRPr lang="en-US" altLang="en-US"/>
          </a:p>
        </p:txBody>
      </p:sp>
      <p:sp>
        <p:nvSpPr>
          <p:cNvPr id="14" name="Slide Number Placeholder 13"/>
          <p:cNvSpPr>
            <a:spLocks noGrp="1"/>
          </p:cNvSpPr>
          <p:nvPr>
            <p:ph type="sldNum" sz="quarter" idx="12"/>
          </p:nvPr>
        </p:nvSpPr>
        <p:spPr/>
        <p:txBody>
          <a:bodyPr/>
          <a:lstStyle/>
          <a:p>
            <a:fld id="{F4A1145F-674A-4228-8958-0EA9769F5517}" type="slidenum">
              <a:rPr lang="en-US" altLang="en-US" smtClean="0"/>
              <a:pPr/>
              <a:t>15</a:t>
            </a:fld>
            <a:endParaRPr lang="en-US" altLang="en-US"/>
          </a:p>
        </p:txBody>
      </p:sp>
    </p:spTree>
    <p:extLst>
      <p:ext uri="{BB962C8B-B14F-4D97-AF65-F5344CB8AC3E}">
        <p14:creationId xmlns:p14="http://schemas.microsoft.com/office/powerpoint/2010/main" val="1034288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500"/>
                                        <p:tgtEl>
                                          <p:spTgt spid="3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500"/>
                                        <p:tgtEl>
                                          <p:spTgt spid="3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par>
                                <p:cTn id="43" presetID="10"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500"/>
                                        <p:tgtEl>
                                          <p:spTgt spid="30"/>
                                        </p:tgtEl>
                                      </p:cBhvr>
                                    </p:animEffect>
                                  </p:childTnLst>
                                </p:cTn>
                              </p:par>
                              <p:par>
                                <p:cTn id="46" presetID="10" presetClass="entr" presetSubtype="0" fill="hold" nodeType="with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fade">
                                      <p:cBhvr>
                                        <p:cTn id="48" dur="500"/>
                                        <p:tgtEl>
                                          <p:spTgt spid="33"/>
                                        </p:tgtEl>
                                      </p:cBhvr>
                                    </p:animEffect>
                                  </p:childTnLst>
                                </p:cTn>
                              </p:par>
                              <p:par>
                                <p:cTn id="49" presetID="10" presetClass="entr" presetSubtype="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500"/>
                                        <p:tgtEl>
                                          <p:spTgt spid="28"/>
                                        </p:tgtEl>
                                      </p:cBhvr>
                                    </p:animEffect>
                                  </p:childTnLst>
                                </p:cTn>
                              </p:par>
                              <p:par>
                                <p:cTn id="52" presetID="10" presetClass="entr" presetSubtype="0" fill="hold" nodeType="with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500"/>
                                        <p:tgtEl>
                                          <p:spTgt spid="34"/>
                                        </p:tgtEl>
                                      </p:cBhvr>
                                    </p:animEffect>
                                  </p:childTnLst>
                                </p:cTn>
                              </p:par>
                              <p:par>
                                <p:cTn id="55" presetID="10" presetClass="entr" presetSubtype="0" fill="hold"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500"/>
                                        <p:tgtEl>
                                          <p:spTgt spid="29"/>
                                        </p:tgtEl>
                                      </p:cBhvr>
                                    </p:animEffect>
                                  </p:childTnLst>
                                </p:cTn>
                              </p:par>
                              <p:par>
                                <p:cTn id="58" presetID="10" presetClass="entr" presetSubtype="0" fill="hold" nodeType="with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500"/>
                                        <p:tgtEl>
                                          <p:spTgt spid="32"/>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37"/>
                                        </p:tgtEl>
                                        <p:attrNameLst>
                                          <p:attrName>style.visibility</p:attrName>
                                        </p:attrNameLst>
                                      </p:cBhvr>
                                      <p:to>
                                        <p:strVal val="visible"/>
                                      </p:to>
                                    </p:set>
                                    <p:animEffect transition="in" filter="fade">
                                      <p:cBhvr>
                                        <p:cTn id="65"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 PIO disk handling</a:t>
            </a:r>
          </a:p>
        </p:txBody>
      </p:sp>
      <p:graphicFrame>
        <p:nvGraphicFramePr>
          <p:cNvPr id="8" name="Content Placeholder 7"/>
          <p:cNvGraphicFramePr>
            <a:graphicFrameLocks noGrp="1"/>
          </p:cNvGraphicFramePr>
          <p:nvPr>
            <p:ph sz="half" idx="1"/>
            <p:extLst>
              <p:ext uri="{D42A27DB-BD31-4B8C-83A1-F6EECF244321}">
                <p14:modId xmlns:p14="http://schemas.microsoft.com/office/powerpoint/2010/main" val="1614342849"/>
              </p:ext>
            </p:extLst>
          </p:nvPr>
        </p:nvGraphicFramePr>
        <p:xfrm>
          <a:off x="978049" y="1931900"/>
          <a:ext cx="4433047" cy="3337560"/>
        </p:xfrm>
        <a:graphic>
          <a:graphicData uri="http://schemas.openxmlformats.org/drawingml/2006/table">
            <a:tbl>
              <a:tblPr firstRow="1" bandRow="1">
                <a:tableStyleId>{5C22544A-7EE6-4342-B048-85BDC9FD1C3A}</a:tableStyleId>
              </a:tblPr>
              <a:tblGrid>
                <a:gridCol w="1248784">
                  <a:extLst>
                    <a:ext uri="{9D8B030D-6E8A-4147-A177-3AD203B41FA5}">
                      <a16:colId xmlns:a16="http://schemas.microsoft.com/office/drawing/2014/main" val="2655022956"/>
                    </a:ext>
                  </a:extLst>
                </a:gridCol>
                <a:gridCol w="3184263">
                  <a:extLst>
                    <a:ext uri="{9D8B030D-6E8A-4147-A177-3AD203B41FA5}">
                      <a16:colId xmlns:a16="http://schemas.microsoft.com/office/drawing/2014/main" val="2558429453"/>
                    </a:ext>
                  </a:extLst>
                </a:gridCol>
              </a:tblGrid>
              <a:tr h="370840">
                <a:tc>
                  <a:txBody>
                    <a:bodyPr/>
                    <a:lstStyle/>
                    <a:p>
                      <a:r>
                        <a:rPr lang="en-US" dirty="0"/>
                        <a:t>Port</a:t>
                      </a:r>
                      <a:r>
                        <a:rPr lang="en-US" baseline="0" dirty="0"/>
                        <a:t> offset</a:t>
                      </a:r>
                      <a:endParaRPr lang="en-US" dirty="0"/>
                    </a:p>
                  </a:txBody>
                  <a:tcPr/>
                </a:tc>
                <a:tc>
                  <a:txBody>
                    <a:bodyPr/>
                    <a:lstStyle/>
                    <a:p>
                      <a:r>
                        <a:rPr lang="en-US" dirty="0"/>
                        <a:t>Function</a:t>
                      </a:r>
                    </a:p>
                  </a:txBody>
                  <a:tcPr/>
                </a:tc>
                <a:extLst>
                  <a:ext uri="{0D108BD9-81ED-4DB2-BD59-A6C34878D82A}">
                    <a16:rowId xmlns:a16="http://schemas.microsoft.com/office/drawing/2014/main" val="16929437"/>
                  </a:ext>
                </a:extLst>
              </a:tr>
              <a:tr h="370840">
                <a:tc>
                  <a:txBody>
                    <a:bodyPr/>
                    <a:lstStyle/>
                    <a:p>
                      <a:r>
                        <a:rPr lang="en-US" dirty="0"/>
                        <a:t>0</a:t>
                      </a:r>
                    </a:p>
                  </a:txBody>
                  <a:tcPr/>
                </a:tc>
                <a:tc>
                  <a:txBody>
                    <a:bodyPr/>
                    <a:lstStyle/>
                    <a:p>
                      <a:r>
                        <a:rPr lang="en-US" dirty="0"/>
                        <a:t>Data register</a:t>
                      </a:r>
                    </a:p>
                  </a:txBody>
                  <a:tcPr/>
                </a:tc>
                <a:extLst>
                  <a:ext uri="{0D108BD9-81ED-4DB2-BD59-A6C34878D82A}">
                    <a16:rowId xmlns:a16="http://schemas.microsoft.com/office/drawing/2014/main" val="3502500500"/>
                  </a:ext>
                </a:extLst>
              </a:tr>
              <a:tr h="370840">
                <a:tc>
                  <a:txBody>
                    <a:bodyPr/>
                    <a:lstStyle/>
                    <a:p>
                      <a:r>
                        <a:rPr lang="en-US" dirty="0"/>
                        <a:t>1</a:t>
                      </a:r>
                    </a:p>
                  </a:txBody>
                  <a:tcPr/>
                </a:tc>
                <a:tc>
                  <a:txBody>
                    <a:bodyPr/>
                    <a:lstStyle/>
                    <a:p>
                      <a:r>
                        <a:rPr lang="en-US" dirty="0"/>
                        <a:t>Error register</a:t>
                      </a:r>
                    </a:p>
                  </a:txBody>
                  <a:tcPr/>
                </a:tc>
                <a:extLst>
                  <a:ext uri="{0D108BD9-81ED-4DB2-BD59-A6C34878D82A}">
                    <a16:rowId xmlns:a16="http://schemas.microsoft.com/office/drawing/2014/main" val="2478174101"/>
                  </a:ext>
                </a:extLst>
              </a:tr>
              <a:tr h="370840">
                <a:tc>
                  <a:txBody>
                    <a:bodyPr/>
                    <a:lstStyle/>
                    <a:p>
                      <a:r>
                        <a:rPr lang="en-US" dirty="0"/>
                        <a:t>2</a:t>
                      </a:r>
                    </a:p>
                  </a:txBody>
                  <a:tcPr/>
                </a:tc>
                <a:tc>
                  <a:txBody>
                    <a:bodyPr/>
                    <a:lstStyle/>
                    <a:p>
                      <a:r>
                        <a:rPr lang="en-US" dirty="0"/>
                        <a:t>Sector</a:t>
                      </a:r>
                      <a:r>
                        <a:rPr lang="en-US" baseline="0" dirty="0"/>
                        <a:t> count register</a:t>
                      </a:r>
                      <a:endParaRPr lang="en-US" dirty="0"/>
                    </a:p>
                  </a:txBody>
                  <a:tcPr/>
                </a:tc>
                <a:extLst>
                  <a:ext uri="{0D108BD9-81ED-4DB2-BD59-A6C34878D82A}">
                    <a16:rowId xmlns:a16="http://schemas.microsoft.com/office/drawing/2014/main" val="1371343179"/>
                  </a:ext>
                </a:extLst>
              </a:tr>
              <a:tr h="370840">
                <a:tc>
                  <a:txBody>
                    <a:bodyPr/>
                    <a:lstStyle/>
                    <a:p>
                      <a:r>
                        <a:rPr lang="en-US" dirty="0"/>
                        <a:t>3</a:t>
                      </a:r>
                    </a:p>
                  </a:txBody>
                  <a:tcPr/>
                </a:tc>
                <a:tc>
                  <a:txBody>
                    <a:bodyPr/>
                    <a:lstStyle/>
                    <a:p>
                      <a:r>
                        <a:rPr lang="en-US" dirty="0"/>
                        <a:t>Sector number register</a:t>
                      </a:r>
                    </a:p>
                  </a:txBody>
                  <a:tcPr/>
                </a:tc>
                <a:extLst>
                  <a:ext uri="{0D108BD9-81ED-4DB2-BD59-A6C34878D82A}">
                    <a16:rowId xmlns:a16="http://schemas.microsoft.com/office/drawing/2014/main" val="1503258969"/>
                  </a:ext>
                </a:extLst>
              </a:tr>
              <a:tr h="370840">
                <a:tc>
                  <a:txBody>
                    <a:bodyPr/>
                    <a:lstStyle/>
                    <a:p>
                      <a:r>
                        <a:rPr lang="en-US" dirty="0"/>
                        <a:t>4</a:t>
                      </a:r>
                    </a:p>
                  </a:txBody>
                  <a:tcPr/>
                </a:tc>
                <a:tc>
                  <a:txBody>
                    <a:bodyPr/>
                    <a:lstStyle/>
                    <a:p>
                      <a:r>
                        <a:rPr lang="en-US" dirty="0"/>
                        <a:t>Cylinder low register</a:t>
                      </a:r>
                    </a:p>
                  </a:txBody>
                  <a:tcPr/>
                </a:tc>
                <a:extLst>
                  <a:ext uri="{0D108BD9-81ED-4DB2-BD59-A6C34878D82A}">
                    <a16:rowId xmlns:a16="http://schemas.microsoft.com/office/drawing/2014/main" val="457455783"/>
                  </a:ext>
                </a:extLst>
              </a:tr>
              <a:tr h="370840">
                <a:tc>
                  <a:txBody>
                    <a:bodyPr/>
                    <a:lstStyle/>
                    <a:p>
                      <a:r>
                        <a:rPr lang="en-US" dirty="0"/>
                        <a:t>5</a:t>
                      </a:r>
                    </a:p>
                  </a:txBody>
                  <a:tcPr/>
                </a:tc>
                <a:tc>
                  <a:txBody>
                    <a:bodyPr/>
                    <a:lstStyle/>
                    <a:p>
                      <a:r>
                        <a:rPr lang="en-US" dirty="0"/>
                        <a:t>Cylinder high register</a:t>
                      </a:r>
                    </a:p>
                  </a:txBody>
                  <a:tcPr/>
                </a:tc>
                <a:extLst>
                  <a:ext uri="{0D108BD9-81ED-4DB2-BD59-A6C34878D82A}">
                    <a16:rowId xmlns:a16="http://schemas.microsoft.com/office/drawing/2014/main" val="648861806"/>
                  </a:ext>
                </a:extLst>
              </a:tr>
              <a:tr h="370840">
                <a:tc>
                  <a:txBody>
                    <a:bodyPr/>
                    <a:lstStyle/>
                    <a:p>
                      <a:r>
                        <a:rPr lang="en-US" dirty="0"/>
                        <a:t>6</a:t>
                      </a:r>
                    </a:p>
                  </a:txBody>
                  <a:tcPr/>
                </a:tc>
                <a:tc>
                  <a:txBody>
                    <a:bodyPr/>
                    <a:lstStyle/>
                    <a:p>
                      <a:r>
                        <a:rPr lang="en-US" dirty="0"/>
                        <a:t>Drive/head register</a:t>
                      </a:r>
                    </a:p>
                  </a:txBody>
                  <a:tcPr/>
                </a:tc>
                <a:extLst>
                  <a:ext uri="{0D108BD9-81ED-4DB2-BD59-A6C34878D82A}">
                    <a16:rowId xmlns:a16="http://schemas.microsoft.com/office/drawing/2014/main" val="2725189032"/>
                  </a:ext>
                </a:extLst>
              </a:tr>
              <a:tr h="370840">
                <a:tc>
                  <a:txBody>
                    <a:bodyPr/>
                    <a:lstStyle/>
                    <a:p>
                      <a:r>
                        <a:rPr lang="en-US" dirty="0"/>
                        <a:t>7</a:t>
                      </a:r>
                    </a:p>
                  </a:txBody>
                  <a:tcPr/>
                </a:tc>
                <a:tc>
                  <a:txBody>
                    <a:bodyPr/>
                    <a:lstStyle/>
                    <a:p>
                      <a:r>
                        <a:rPr lang="en-US" dirty="0"/>
                        <a:t>Status/Command register</a:t>
                      </a:r>
                    </a:p>
                  </a:txBody>
                  <a:tcPr/>
                </a:tc>
                <a:extLst>
                  <a:ext uri="{0D108BD9-81ED-4DB2-BD59-A6C34878D82A}">
                    <a16:rowId xmlns:a16="http://schemas.microsoft.com/office/drawing/2014/main" val="3038898714"/>
                  </a:ext>
                </a:extLst>
              </a:tr>
            </a:tbl>
          </a:graphicData>
        </a:graphic>
      </p:graphicFrame>
      <p:sp>
        <p:nvSpPr>
          <p:cNvPr id="7" name="Content Placeholder 6"/>
          <p:cNvSpPr>
            <a:spLocks noGrp="1"/>
          </p:cNvSpPr>
          <p:nvPr>
            <p:ph sz="half" idx="2"/>
          </p:nvPr>
        </p:nvSpPr>
        <p:spPr>
          <a:xfrm>
            <a:off x="5830645" y="1825625"/>
            <a:ext cx="5523155" cy="4351338"/>
          </a:xfrm>
        </p:spPr>
        <p:txBody>
          <a:bodyPr/>
          <a:lstStyle/>
          <a:p>
            <a:r>
              <a:rPr lang="en-US" dirty="0"/>
              <a:t>Reading sectors (simplified)</a:t>
            </a:r>
          </a:p>
          <a:p>
            <a:pPr marL="914400" lvl="1" indent="-457200">
              <a:buFont typeface="+mj-lt"/>
              <a:buAutoNum type="arabicPeriod"/>
            </a:pPr>
            <a:r>
              <a:rPr lang="en-US" dirty="0"/>
              <a:t>Check status/error</a:t>
            </a:r>
          </a:p>
          <a:p>
            <a:pPr marL="914400" lvl="1" indent="-457200">
              <a:buFont typeface="+mj-lt"/>
              <a:buAutoNum type="arabicPeriod"/>
            </a:pPr>
            <a:r>
              <a:rPr lang="en-US" dirty="0"/>
              <a:t>Set count register</a:t>
            </a:r>
          </a:p>
          <a:p>
            <a:pPr marL="914400" lvl="1" indent="-457200">
              <a:buFont typeface="+mj-lt"/>
              <a:buAutoNum type="arabicPeriod"/>
            </a:pPr>
            <a:r>
              <a:rPr lang="en-US" dirty="0"/>
              <a:t>Set address (sector and cylinder)</a:t>
            </a:r>
          </a:p>
          <a:p>
            <a:pPr marL="914400" lvl="1" indent="-457200">
              <a:buFont typeface="+mj-lt"/>
              <a:buAutoNum type="arabicPeriod"/>
            </a:pPr>
            <a:r>
              <a:rPr lang="en-US" dirty="0"/>
              <a:t>Send reading command </a:t>
            </a:r>
            <a:r>
              <a:rPr lang="en-US" b="1" dirty="0">
                <a:latin typeface="Courier New" panose="02070309020205020404" pitchFamily="49" charset="0"/>
                <a:cs typeface="Courier New" panose="02070309020205020404" pitchFamily="49" charset="0"/>
              </a:rPr>
              <a:t>0x20</a:t>
            </a:r>
          </a:p>
          <a:p>
            <a:pPr marL="914400" lvl="1" indent="-457200">
              <a:buFont typeface="+mj-lt"/>
              <a:buAutoNum type="arabicPeriod"/>
            </a:pPr>
            <a:r>
              <a:rPr lang="en-US" dirty="0"/>
              <a:t>Read the status register until the operation completes (or fails)</a:t>
            </a:r>
          </a:p>
          <a:p>
            <a:pPr marL="914400" lvl="1" indent="-457200">
              <a:buFont typeface="+mj-lt"/>
              <a:buAutoNum type="arabicPeriod"/>
            </a:pPr>
            <a:r>
              <a:rPr lang="en-US" dirty="0"/>
              <a:t>Read the data register 256 times (based on the size of the data)</a:t>
            </a:r>
          </a:p>
          <a:p>
            <a:pPr marL="914400" lvl="1" indent="-457200">
              <a:buFont typeface="+mj-lt"/>
              <a:buAutoNum type="arabicPeriod"/>
            </a:pPr>
            <a:r>
              <a:rPr lang="en-US" dirty="0"/>
              <a:t>Possibly repeat steps 5 &amp; 6</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16</a:t>
            </a:fld>
            <a:endParaRPr lang="en-US" altLang="en-US"/>
          </a:p>
        </p:txBody>
      </p:sp>
      <p:sp>
        <p:nvSpPr>
          <p:cNvPr id="9" name="Rounded Rectangular Callout 8"/>
          <p:cNvSpPr/>
          <p:nvPr/>
        </p:nvSpPr>
        <p:spPr>
          <a:xfrm>
            <a:off x="997882" y="5510672"/>
            <a:ext cx="4393380" cy="870144"/>
          </a:xfrm>
          <a:prstGeom prst="wedgeRoundRectCallout">
            <a:avLst>
              <a:gd name="adj1" fmla="val -30389"/>
              <a:gd name="adj2" fmla="val -83543"/>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Ports relative to the device base address operated by in/out instructions</a:t>
            </a:r>
          </a:p>
        </p:txBody>
      </p:sp>
    </p:spTree>
    <p:extLst>
      <p:ext uri="{BB962C8B-B14F-4D97-AF65-F5344CB8AC3E}">
        <p14:creationId xmlns:p14="http://schemas.microsoft.com/office/powerpoint/2010/main" val="17481064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Device intercommunication</a:t>
            </a:r>
          </a:p>
        </p:txBody>
      </p:sp>
      <p:sp>
        <p:nvSpPr>
          <p:cNvPr id="3" name="Content Placeholder 2"/>
          <p:cNvSpPr>
            <a:spLocks noGrp="1"/>
          </p:cNvSpPr>
          <p:nvPr>
            <p:ph idx="1"/>
          </p:nvPr>
        </p:nvSpPr>
        <p:spPr/>
        <p:txBody>
          <a:bodyPr>
            <a:normAutofit lnSpcReduction="10000"/>
          </a:bodyPr>
          <a:lstStyle/>
          <a:p>
            <a:r>
              <a:rPr lang="en-US" dirty="0"/>
              <a:t>Polling</a:t>
            </a:r>
          </a:p>
          <a:p>
            <a:pPr lvl="1"/>
            <a:r>
              <a:rPr lang="en-US" dirty="0"/>
              <a:t>CPU actively checks device status change (like in previous example)</a:t>
            </a:r>
          </a:p>
          <a:p>
            <a:r>
              <a:rPr lang="en-US" dirty="0"/>
              <a:t>Interrupt</a:t>
            </a:r>
          </a:p>
          <a:p>
            <a:pPr lvl="1"/>
            <a:r>
              <a:rPr lang="en-US" dirty="0"/>
              <a:t>The device notifies the CPU that it needs attention</a:t>
            </a:r>
          </a:p>
          <a:p>
            <a:pPr lvl="1"/>
            <a:r>
              <a:rPr lang="en-US" dirty="0"/>
              <a:t>CPU interrupts the current execution flow</a:t>
            </a:r>
          </a:p>
          <a:p>
            <a:pPr lvl="1"/>
            <a:r>
              <a:rPr lang="en-US" dirty="0"/>
              <a:t>IRQ (interrupt request) handling</a:t>
            </a:r>
          </a:p>
          <a:p>
            <a:pPr lvl="1"/>
            <a:r>
              <a:rPr lang="en-US" dirty="0"/>
              <a:t>CPU has at least one pin for requesting an interrupt</a:t>
            </a:r>
          </a:p>
          <a:p>
            <a:r>
              <a:rPr lang="en-US" dirty="0"/>
              <a:t>DMA (Direct Memory Access)</a:t>
            </a:r>
          </a:p>
          <a:p>
            <a:pPr lvl="1"/>
            <a:r>
              <a:rPr lang="en-US" dirty="0"/>
              <a:t>Transfer data to/from a device without CPU attention</a:t>
            </a:r>
          </a:p>
          <a:p>
            <a:pPr lvl="1"/>
            <a:r>
              <a:rPr lang="en-US" dirty="0"/>
              <a:t>DMA controller</a:t>
            </a:r>
          </a:p>
          <a:p>
            <a:pPr lvl="1"/>
            <a:r>
              <a:rPr lang="en-US" dirty="0"/>
              <a:t>Scatter/gather</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17</a:t>
            </a:fld>
            <a:endParaRPr lang="en-US" altLang="en-US"/>
          </a:p>
        </p:txBody>
      </p:sp>
    </p:spTree>
    <p:extLst>
      <p:ext uri="{BB962C8B-B14F-4D97-AF65-F5344CB8AC3E}">
        <p14:creationId xmlns:p14="http://schemas.microsoft.com/office/powerpoint/2010/main" val="2821306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Interrupt types</a:t>
            </a:r>
          </a:p>
        </p:txBody>
      </p:sp>
      <p:sp>
        <p:nvSpPr>
          <p:cNvPr id="3" name="Content Placeholder 2"/>
          <p:cNvSpPr>
            <a:spLocks noGrp="1"/>
          </p:cNvSpPr>
          <p:nvPr>
            <p:ph idx="1"/>
          </p:nvPr>
        </p:nvSpPr>
        <p:spPr/>
        <p:txBody>
          <a:bodyPr>
            <a:normAutofit/>
          </a:bodyPr>
          <a:lstStyle/>
          <a:p>
            <a:r>
              <a:rPr lang="en-US" dirty="0"/>
              <a:t>External</a:t>
            </a:r>
          </a:p>
          <a:p>
            <a:pPr lvl="1"/>
            <a:r>
              <a:rPr lang="en-US" dirty="0"/>
              <a:t>HW source using an IRQ pin</a:t>
            </a:r>
          </a:p>
          <a:p>
            <a:pPr lvl="1"/>
            <a:r>
              <a:rPr lang="en-US" dirty="0"/>
              <a:t>Masking (temporary disabling interrupts)</a:t>
            </a:r>
          </a:p>
          <a:p>
            <a:r>
              <a:rPr lang="en-US" dirty="0"/>
              <a:t>(Hardware) Exception</a:t>
            </a:r>
          </a:p>
          <a:p>
            <a:pPr lvl="1"/>
            <a:r>
              <a:rPr lang="en-US" dirty="0"/>
              <a:t>Unexpectedly triggered by an instruction (when an instruction is executed)</a:t>
            </a:r>
          </a:p>
          <a:p>
            <a:pPr lvl="1"/>
            <a:r>
              <a:rPr lang="en-US" dirty="0"/>
              <a:t>Trap (trigger exception after) or fault (instruction rollbacks, trigger before)</a:t>
            </a:r>
          </a:p>
          <a:p>
            <a:pPr lvl="1"/>
            <a:r>
              <a:rPr lang="en-US" dirty="0"/>
              <a:t>Predefined set by CPU architecture</a:t>
            </a:r>
          </a:p>
          <a:p>
            <a:r>
              <a:rPr lang="en-US" dirty="0"/>
              <a:t>Software</a:t>
            </a:r>
          </a:p>
          <a:p>
            <a:pPr lvl="1"/>
            <a:r>
              <a:rPr lang="en-US" dirty="0"/>
              <a:t>Special instruction (e.g., x86 has </a:t>
            </a:r>
            <a:r>
              <a:rPr lang="en-US" b="1" dirty="0" err="1">
                <a:latin typeface="Courier New" panose="02070309020205020404" pitchFamily="49" charset="0"/>
                <a:cs typeface="Courier New" panose="02070309020205020404" pitchFamily="49" charset="0"/>
              </a:rPr>
              <a:t>int</a:t>
            </a:r>
            <a:r>
              <a:rPr lang="en-US" dirty="0"/>
              <a:t>)</a:t>
            </a:r>
          </a:p>
          <a:p>
            <a:pPr lvl="1"/>
            <a:r>
              <a:rPr lang="en-US" dirty="0"/>
              <a:t>Can be used for the system call mechanism</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18</a:t>
            </a:fld>
            <a:endParaRPr lang="en-US" altLang="en-US"/>
          </a:p>
        </p:txBody>
      </p:sp>
    </p:spTree>
    <p:extLst>
      <p:ext uri="{BB962C8B-B14F-4D97-AF65-F5344CB8AC3E}">
        <p14:creationId xmlns:p14="http://schemas.microsoft.com/office/powerpoint/2010/main" val="26045337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x86 Exceptions</a:t>
            </a:r>
          </a:p>
        </p:txBody>
      </p:sp>
      <p:sp>
        <p:nvSpPr>
          <p:cNvPr id="8" name="Content Placeholder 7"/>
          <p:cNvSpPr>
            <a:spLocks noGrp="1"/>
          </p:cNvSpPr>
          <p:nvPr>
            <p:ph idx="1"/>
          </p:nvPr>
        </p:nvSpPr>
        <p:spPr/>
        <p:txBody>
          <a:bodyPr/>
          <a:lstStyle/>
          <a:p>
            <a:r>
              <a:rPr lang="en-US"/>
              <a:t>x86 Architecture</a:t>
            </a:r>
          </a:p>
          <a:p>
            <a:pPr lvl="1"/>
            <a:r>
              <a:rPr lang="en-US"/>
              <a:t>256 interrupts</a:t>
            </a:r>
          </a:p>
          <a:p>
            <a:pPr lvl="1"/>
            <a:r>
              <a:rPr lang="en-US"/>
              <a:t>First 32 reserved for</a:t>
            </a:r>
            <a:br>
              <a:rPr lang="en-US"/>
            </a:br>
            <a:r>
              <a:rPr lang="en-US"/>
              <a:t>exceptions</a:t>
            </a:r>
          </a:p>
          <a:p>
            <a:pPr lvl="1"/>
            <a:r>
              <a:rPr lang="en-US"/>
              <a:t>Remaining are IRQ or</a:t>
            </a:r>
            <a:br>
              <a:rPr lang="en-US"/>
            </a:br>
            <a:r>
              <a:rPr lang="en-US"/>
              <a:t>SW interrupts</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19</a:t>
            </a:fld>
            <a:endParaRPr lang="en-US" altLang="en-US"/>
          </a:p>
        </p:txBody>
      </p:sp>
      <p:graphicFrame>
        <p:nvGraphicFramePr>
          <p:cNvPr id="7" name="Table 6"/>
          <p:cNvGraphicFramePr>
            <a:graphicFrameLocks noGrp="1"/>
          </p:cNvGraphicFramePr>
          <p:nvPr>
            <p:extLst>
              <p:ext uri="{D42A27DB-BD31-4B8C-83A1-F6EECF244321}">
                <p14:modId xmlns:p14="http://schemas.microsoft.com/office/powerpoint/2010/main" val="452283318"/>
              </p:ext>
            </p:extLst>
          </p:nvPr>
        </p:nvGraphicFramePr>
        <p:xfrm>
          <a:off x="5591944" y="565260"/>
          <a:ext cx="4894312" cy="5973652"/>
        </p:xfrm>
        <a:graphic>
          <a:graphicData uri="http://schemas.openxmlformats.org/drawingml/2006/table">
            <a:tbl>
              <a:tblPr firstRow="1" bandRow="1">
                <a:tableStyleId>{5C22544A-7EE6-4342-B048-85BDC9FD1C3A}</a:tableStyleId>
              </a:tblPr>
              <a:tblGrid>
                <a:gridCol w="717848">
                  <a:extLst>
                    <a:ext uri="{9D8B030D-6E8A-4147-A177-3AD203B41FA5}">
                      <a16:colId xmlns:a16="http://schemas.microsoft.com/office/drawing/2014/main" val="2790453673"/>
                    </a:ext>
                  </a:extLst>
                </a:gridCol>
                <a:gridCol w="4176464">
                  <a:extLst>
                    <a:ext uri="{9D8B030D-6E8A-4147-A177-3AD203B41FA5}">
                      <a16:colId xmlns:a16="http://schemas.microsoft.com/office/drawing/2014/main" val="3409420125"/>
                    </a:ext>
                  </a:extLst>
                </a:gridCol>
              </a:tblGrid>
              <a:tr h="259724">
                <a:tc>
                  <a:txBody>
                    <a:bodyPr/>
                    <a:lstStyle/>
                    <a:p>
                      <a:r>
                        <a:rPr lang="en-US" sz="1100"/>
                        <a:t>Interrupt</a:t>
                      </a:r>
                    </a:p>
                  </a:txBody>
                  <a:tcPr/>
                </a:tc>
                <a:tc>
                  <a:txBody>
                    <a:bodyPr/>
                    <a:lstStyle/>
                    <a:p>
                      <a:r>
                        <a:rPr lang="en-US" sz="1100"/>
                        <a:t>Exception description</a:t>
                      </a:r>
                    </a:p>
                  </a:txBody>
                  <a:tcPr/>
                </a:tc>
                <a:extLst>
                  <a:ext uri="{0D108BD9-81ED-4DB2-BD59-A6C34878D82A}">
                    <a16:rowId xmlns:a16="http://schemas.microsoft.com/office/drawing/2014/main" val="2814397414"/>
                  </a:ext>
                </a:extLst>
              </a:tr>
              <a:tr h="259724">
                <a:tc>
                  <a:txBody>
                    <a:bodyPr/>
                    <a:lstStyle/>
                    <a:p>
                      <a:r>
                        <a:rPr lang="en-US" sz="1100"/>
                        <a:t>0x00 </a:t>
                      </a:r>
                    </a:p>
                  </a:txBody>
                  <a:tcPr anchor="ctr"/>
                </a:tc>
                <a:tc>
                  <a:txBody>
                    <a:bodyPr/>
                    <a:lstStyle/>
                    <a:p>
                      <a:r>
                        <a:rPr lang="en-US" sz="1100">
                          <a:hlinkClick r:id="rId3" tooltip="Division by zero"/>
                        </a:rPr>
                        <a:t>Division by zero</a:t>
                      </a:r>
                      <a:r>
                        <a:rPr lang="en-US" sz="1100"/>
                        <a:t> </a:t>
                      </a:r>
                    </a:p>
                  </a:txBody>
                  <a:tcPr anchor="ctr"/>
                </a:tc>
                <a:extLst>
                  <a:ext uri="{0D108BD9-81ED-4DB2-BD59-A6C34878D82A}">
                    <a16:rowId xmlns:a16="http://schemas.microsoft.com/office/drawing/2014/main" val="2993455833"/>
                  </a:ext>
                </a:extLst>
              </a:tr>
              <a:tr h="259724">
                <a:tc>
                  <a:txBody>
                    <a:bodyPr/>
                    <a:lstStyle/>
                    <a:p>
                      <a:r>
                        <a:rPr lang="en-US" sz="1100"/>
                        <a:t>0x01 </a:t>
                      </a:r>
                    </a:p>
                  </a:txBody>
                  <a:tcPr anchor="ctr"/>
                </a:tc>
                <a:tc>
                  <a:txBody>
                    <a:bodyPr/>
                    <a:lstStyle/>
                    <a:p>
                      <a:r>
                        <a:rPr lang="en-US" sz="1100"/>
                        <a:t>Single-step interrupt (see </a:t>
                      </a:r>
                      <a:r>
                        <a:rPr lang="en-US" sz="1100">
                          <a:hlinkClick r:id="rId4" tooltip="Trap flag"/>
                        </a:rPr>
                        <a:t>trap flag</a:t>
                      </a:r>
                      <a:r>
                        <a:rPr lang="en-US" sz="1100"/>
                        <a:t>) </a:t>
                      </a:r>
                    </a:p>
                  </a:txBody>
                  <a:tcPr anchor="ctr"/>
                </a:tc>
                <a:extLst>
                  <a:ext uri="{0D108BD9-81ED-4DB2-BD59-A6C34878D82A}">
                    <a16:rowId xmlns:a16="http://schemas.microsoft.com/office/drawing/2014/main" val="469398900"/>
                  </a:ext>
                </a:extLst>
              </a:tr>
              <a:tr h="259724">
                <a:tc>
                  <a:txBody>
                    <a:bodyPr/>
                    <a:lstStyle/>
                    <a:p>
                      <a:r>
                        <a:rPr lang="en-US" sz="1100"/>
                        <a:t>0x02 </a:t>
                      </a:r>
                    </a:p>
                  </a:txBody>
                  <a:tcPr anchor="ctr"/>
                </a:tc>
                <a:tc>
                  <a:txBody>
                    <a:bodyPr/>
                    <a:lstStyle/>
                    <a:p>
                      <a:r>
                        <a:rPr lang="en-US" sz="1100">
                          <a:hlinkClick r:id="rId5" tooltip="Non-maskable interrupt"/>
                        </a:rPr>
                        <a:t>NMI</a:t>
                      </a:r>
                      <a:r>
                        <a:rPr lang="en-US" sz="1100"/>
                        <a:t> </a:t>
                      </a:r>
                    </a:p>
                  </a:txBody>
                  <a:tcPr anchor="ctr"/>
                </a:tc>
                <a:extLst>
                  <a:ext uri="{0D108BD9-81ED-4DB2-BD59-A6C34878D82A}">
                    <a16:rowId xmlns:a16="http://schemas.microsoft.com/office/drawing/2014/main" val="275408545"/>
                  </a:ext>
                </a:extLst>
              </a:tr>
              <a:tr h="259724">
                <a:tc>
                  <a:txBody>
                    <a:bodyPr/>
                    <a:lstStyle/>
                    <a:p>
                      <a:r>
                        <a:rPr lang="en-US" sz="1100"/>
                        <a:t>0x03 </a:t>
                      </a:r>
                    </a:p>
                  </a:txBody>
                  <a:tcPr anchor="ctr"/>
                </a:tc>
                <a:tc>
                  <a:txBody>
                    <a:bodyPr/>
                    <a:lstStyle/>
                    <a:p>
                      <a:r>
                        <a:rPr lang="en-US" sz="1100"/>
                        <a:t>Breakpoint (which benefits from the shorter 0xCC encoding of INT 3) </a:t>
                      </a:r>
                    </a:p>
                  </a:txBody>
                  <a:tcPr anchor="ctr"/>
                </a:tc>
                <a:extLst>
                  <a:ext uri="{0D108BD9-81ED-4DB2-BD59-A6C34878D82A}">
                    <a16:rowId xmlns:a16="http://schemas.microsoft.com/office/drawing/2014/main" val="3022587418"/>
                  </a:ext>
                </a:extLst>
              </a:tr>
              <a:tr h="259724">
                <a:tc>
                  <a:txBody>
                    <a:bodyPr/>
                    <a:lstStyle/>
                    <a:p>
                      <a:r>
                        <a:rPr lang="en-US" sz="1100"/>
                        <a:t>0x04 </a:t>
                      </a:r>
                    </a:p>
                  </a:txBody>
                  <a:tcPr anchor="ctr"/>
                </a:tc>
                <a:tc>
                  <a:txBody>
                    <a:bodyPr/>
                    <a:lstStyle/>
                    <a:p>
                      <a:r>
                        <a:rPr lang="en-US" sz="1100" dirty="0"/>
                        <a:t>Overflow </a:t>
                      </a:r>
                    </a:p>
                  </a:txBody>
                  <a:tcPr anchor="ctr"/>
                </a:tc>
                <a:extLst>
                  <a:ext uri="{0D108BD9-81ED-4DB2-BD59-A6C34878D82A}">
                    <a16:rowId xmlns:a16="http://schemas.microsoft.com/office/drawing/2014/main" val="164711095"/>
                  </a:ext>
                </a:extLst>
              </a:tr>
              <a:tr h="259724">
                <a:tc>
                  <a:txBody>
                    <a:bodyPr/>
                    <a:lstStyle/>
                    <a:p>
                      <a:r>
                        <a:rPr lang="en-US" sz="1100"/>
                        <a:t>0x05 </a:t>
                      </a:r>
                    </a:p>
                  </a:txBody>
                  <a:tcPr anchor="ctr"/>
                </a:tc>
                <a:tc>
                  <a:txBody>
                    <a:bodyPr/>
                    <a:lstStyle/>
                    <a:p>
                      <a:r>
                        <a:rPr lang="en-US" sz="1100"/>
                        <a:t>Bound Range Exceeded </a:t>
                      </a:r>
                    </a:p>
                  </a:txBody>
                  <a:tcPr anchor="ctr"/>
                </a:tc>
                <a:extLst>
                  <a:ext uri="{0D108BD9-81ED-4DB2-BD59-A6C34878D82A}">
                    <a16:rowId xmlns:a16="http://schemas.microsoft.com/office/drawing/2014/main" val="805079018"/>
                  </a:ext>
                </a:extLst>
              </a:tr>
              <a:tr h="259724">
                <a:tc>
                  <a:txBody>
                    <a:bodyPr/>
                    <a:lstStyle/>
                    <a:p>
                      <a:r>
                        <a:rPr lang="en-US" sz="1100"/>
                        <a:t>0x06 </a:t>
                      </a:r>
                    </a:p>
                  </a:txBody>
                  <a:tcPr anchor="ctr"/>
                </a:tc>
                <a:tc>
                  <a:txBody>
                    <a:bodyPr/>
                    <a:lstStyle/>
                    <a:p>
                      <a:r>
                        <a:rPr lang="en-US" sz="1100"/>
                        <a:t>Invalid Opcode </a:t>
                      </a:r>
                    </a:p>
                  </a:txBody>
                  <a:tcPr anchor="ctr"/>
                </a:tc>
                <a:extLst>
                  <a:ext uri="{0D108BD9-81ED-4DB2-BD59-A6C34878D82A}">
                    <a16:rowId xmlns:a16="http://schemas.microsoft.com/office/drawing/2014/main" val="1907413434"/>
                  </a:ext>
                </a:extLst>
              </a:tr>
              <a:tr h="259724">
                <a:tc>
                  <a:txBody>
                    <a:bodyPr/>
                    <a:lstStyle/>
                    <a:p>
                      <a:r>
                        <a:rPr lang="en-US" sz="1100"/>
                        <a:t>0x07 </a:t>
                      </a:r>
                    </a:p>
                  </a:txBody>
                  <a:tcPr anchor="ctr"/>
                </a:tc>
                <a:tc>
                  <a:txBody>
                    <a:bodyPr/>
                    <a:lstStyle/>
                    <a:p>
                      <a:r>
                        <a:rPr lang="en-US" sz="1100"/>
                        <a:t>Coprocessor not available </a:t>
                      </a:r>
                    </a:p>
                  </a:txBody>
                  <a:tcPr anchor="ctr"/>
                </a:tc>
                <a:extLst>
                  <a:ext uri="{0D108BD9-81ED-4DB2-BD59-A6C34878D82A}">
                    <a16:rowId xmlns:a16="http://schemas.microsoft.com/office/drawing/2014/main" val="2644796253"/>
                  </a:ext>
                </a:extLst>
              </a:tr>
              <a:tr h="259724">
                <a:tc>
                  <a:txBody>
                    <a:bodyPr/>
                    <a:lstStyle/>
                    <a:p>
                      <a:r>
                        <a:rPr lang="en-US" sz="1100"/>
                        <a:t>0x08 </a:t>
                      </a:r>
                    </a:p>
                  </a:txBody>
                  <a:tcPr anchor="ctr"/>
                </a:tc>
                <a:tc>
                  <a:txBody>
                    <a:bodyPr/>
                    <a:lstStyle/>
                    <a:p>
                      <a:r>
                        <a:rPr lang="en-US" sz="1100">
                          <a:hlinkClick r:id="rId6" tooltip="Double fault"/>
                        </a:rPr>
                        <a:t>Double Fault</a:t>
                      </a:r>
                      <a:r>
                        <a:rPr lang="en-US" sz="1100"/>
                        <a:t> </a:t>
                      </a:r>
                    </a:p>
                  </a:txBody>
                  <a:tcPr anchor="ctr"/>
                </a:tc>
                <a:extLst>
                  <a:ext uri="{0D108BD9-81ED-4DB2-BD59-A6C34878D82A}">
                    <a16:rowId xmlns:a16="http://schemas.microsoft.com/office/drawing/2014/main" val="1148142877"/>
                  </a:ext>
                </a:extLst>
              </a:tr>
              <a:tr h="259724">
                <a:tc>
                  <a:txBody>
                    <a:bodyPr/>
                    <a:lstStyle/>
                    <a:p>
                      <a:r>
                        <a:rPr lang="en-US" sz="1100"/>
                        <a:t>0x09 </a:t>
                      </a:r>
                    </a:p>
                  </a:txBody>
                  <a:tcPr anchor="ctr"/>
                </a:tc>
                <a:tc>
                  <a:txBody>
                    <a:bodyPr/>
                    <a:lstStyle/>
                    <a:p>
                      <a:r>
                        <a:rPr lang="en-US" sz="1100"/>
                        <a:t>Coprocessor Segment Overrun </a:t>
                      </a:r>
                      <a:r>
                        <a:rPr lang="en-US" sz="1100" i="1"/>
                        <a:t>(386 or earlier only)</a:t>
                      </a:r>
                      <a:r>
                        <a:rPr lang="en-US" sz="1100"/>
                        <a:t> </a:t>
                      </a:r>
                    </a:p>
                  </a:txBody>
                  <a:tcPr anchor="ctr"/>
                </a:tc>
                <a:extLst>
                  <a:ext uri="{0D108BD9-81ED-4DB2-BD59-A6C34878D82A}">
                    <a16:rowId xmlns:a16="http://schemas.microsoft.com/office/drawing/2014/main" val="1026292533"/>
                  </a:ext>
                </a:extLst>
              </a:tr>
              <a:tr h="259724">
                <a:tc>
                  <a:txBody>
                    <a:bodyPr/>
                    <a:lstStyle/>
                    <a:p>
                      <a:r>
                        <a:rPr lang="en-US" sz="1100"/>
                        <a:t>0x0A </a:t>
                      </a:r>
                    </a:p>
                  </a:txBody>
                  <a:tcPr anchor="ctr"/>
                </a:tc>
                <a:tc>
                  <a:txBody>
                    <a:bodyPr/>
                    <a:lstStyle/>
                    <a:p>
                      <a:r>
                        <a:rPr lang="en-US" sz="1100"/>
                        <a:t>Invalid Task State Segment </a:t>
                      </a:r>
                    </a:p>
                  </a:txBody>
                  <a:tcPr anchor="ctr"/>
                </a:tc>
                <a:extLst>
                  <a:ext uri="{0D108BD9-81ED-4DB2-BD59-A6C34878D82A}">
                    <a16:rowId xmlns:a16="http://schemas.microsoft.com/office/drawing/2014/main" val="1280701644"/>
                  </a:ext>
                </a:extLst>
              </a:tr>
              <a:tr h="259724">
                <a:tc>
                  <a:txBody>
                    <a:bodyPr/>
                    <a:lstStyle/>
                    <a:p>
                      <a:r>
                        <a:rPr lang="en-US" sz="1100"/>
                        <a:t>0x0B </a:t>
                      </a:r>
                    </a:p>
                  </a:txBody>
                  <a:tcPr anchor="ctr"/>
                </a:tc>
                <a:tc>
                  <a:txBody>
                    <a:bodyPr/>
                    <a:lstStyle/>
                    <a:p>
                      <a:r>
                        <a:rPr lang="en-US" sz="1100"/>
                        <a:t>Segment not present </a:t>
                      </a:r>
                    </a:p>
                  </a:txBody>
                  <a:tcPr anchor="ctr"/>
                </a:tc>
                <a:extLst>
                  <a:ext uri="{0D108BD9-81ED-4DB2-BD59-A6C34878D82A}">
                    <a16:rowId xmlns:a16="http://schemas.microsoft.com/office/drawing/2014/main" val="2780288052"/>
                  </a:ext>
                </a:extLst>
              </a:tr>
              <a:tr h="259724">
                <a:tc>
                  <a:txBody>
                    <a:bodyPr/>
                    <a:lstStyle/>
                    <a:p>
                      <a:r>
                        <a:rPr lang="en-US" sz="1100"/>
                        <a:t>0x0C </a:t>
                      </a:r>
                    </a:p>
                  </a:txBody>
                  <a:tcPr anchor="ctr"/>
                </a:tc>
                <a:tc>
                  <a:txBody>
                    <a:bodyPr/>
                    <a:lstStyle/>
                    <a:p>
                      <a:r>
                        <a:rPr lang="en-US" sz="1100"/>
                        <a:t>Stack Segment Fault </a:t>
                      </a:r>
                    </a:p>
                  </a:txBody>
                  <a:tcPr anchor="ctr"/>
                </a:tc>
                <a:extLst>
                  <a:ext uri="{0D108BD9-81ED-4DB2-BD59-A6C34878D82A}">
                    <a16:rowId xmlns:a16="http://schemas.microsoft.com/office/drawing/2014/main" val="4242680918"/>
                  </a:ext>
                </a:extLst>
              </a:tr>
              <a:tr h="259724">
                <a:tc>
                  <a:txBody>
                    <a:bodyPr/>
                    <a:lstStyle/>
                    <a:p>
                      <a:r>
                        <a:rPr lang="en-US" sz="1100"/>
                        <a:t>0x0D </a:t>
                      </a:r>
                    </a:p>
                  </a:txBody>
                  <a:tcPr anchor="ctr"/>
                </a:tc>
                <a:tc>
                  <a:txBody>
                    <a:bodyPr/>
                    <a:lstStyle/>
                    <a:p>
                      <a:r>
                        <a:rPr lang="en-US" sz="1100">
                          <a:hlinkClick r:id="rId7" tooltip="General protection fault"/>
                        </a:rPr>
                        <a:t>General Protection Fault</a:t>
                      </a:r>
                      <a:r>
                        <a:rPr lang="en-US" sz="1100"/>
                        <a:t> </a:t>
                      </a:r>
                    </a:p>
                  </a:txBody>
                  <a:tcPr anchor="ctr"/>
                </a:tc>
                <a:extLst>
                  <a:ext uri="{0D108BD9-81ED-4DB2-BD59-A6C34878D82A}">
                    <a16:rowId xmlns:a16="http://schemas.microsoft.com/office/drawing/2014/main" val="899604177"/>
                  </a:ext>
                </a:extLst>
              </a:tr>
              <a:tr h="259724">
                <a:tc>
                  <a:txBody>
                    <a:bodyPr/>
                    <a:lstStyle/>
                    <a:p>
                      <a:r>
                        <a:rPr lang="en-US" sz="1100"/>
                        <a:t>0x0E </a:t>
                      </a:r>
                    </a:p>
                  </a:txBody>
                  <a:tcPr anchor="ctr"/>
                </a:tc>
                <a:tc>
                  <a:txBody>
                    <a:bodyPr/>
                    <a:lstStyle/>
                    <a:p>
                      <a:r>
                        <a:rPr lang="en-US" sz="1100">
                          <a:hlinkClick r:id="rId8" tooltip="Page fault"/>
                        </a:rPr>
                        <a:t>Page Fault</a:t>
                      </a:r>
                      <a:r>
                        <a:rPr lang="en-US" sz="1100"/>
                        <a:t> </a:t>
                      </a:r>
                    </a:p>
                  </a:txBody>
                  <a:tcPr anchor="ctr"/>
                </a:tc>
                <a:extLst>
                  <a:ext uri="{0D108BD9-81ED-4DB2-BD59-A6C34878D82A}">
                    <a16:rowId xmlns:a16="http://schemas.microsoft.com/office/drawing/2014/main" val="3996104267"/>
                  </a:ext>
                </a:extLst>
              </a:tr>
              <a:tr h="259724">
                <a:tc>
                  <a:txBody>
                    <a:bodyPr/>
                    <a:lstStyle/>
                    <a:p>
                      <a:r>
                        <a:rPr lang="en-US" sz="1100"/>
                        <a:t>0x0F </a:t>
                      </a:r>
                    </a:p>
                  </a:txBody>
                  <a:tcPr anchor="ctr"/>
                </a:tc>
                <a:tc>
                  <a:txBody>
                    <a:bodyPr/>
                    <a:lstStyle/>
                    <a:p>
                      <a:r>
                        <a:rPr lang="en-US" sz="1100" i="1"/>
                        <a:t>reserved</a:t>
                      </a:r>
                      <a:r>
                        <a:rPr lang="en-US" sz="1100"/>
                        <a:t> </a:t>
                      </a:r>
                    </a:p>
                  </a:txBody>
                  <a:tcPr anchor="ctr"/>
                </a:tc>
                <a:extLst>
                  <a:ext uri="{0D108BD9-81ED-4DB2-BD59-A6C34878D82A}">
                    <a16:rowId xmlns:a16="http://schemas.microsoft.com/office/drawing/2014/main" val="555591604"/>
                  </a:ext>
                </a:extLst>
              </a:tr>
              <a:tr h="259724">
                <a:tc>
                  <a:txBody>
                    <a:bodyPr/>
                    <a:lstStyle/>
                    <a:p>
                      <a:r>
                        <a:rPr lang="en-US" sz="1100"/>
                        <a:t>0x10 </a:t>
                      </a:r>
                    </a:p>
                  </a:txBody>
                  <a:tcPr anchor="ctr"/>
                </a:tc>
                <a:tc>
                  <a:txBody>
                    <a:bodyPr/>
                    <a:lstStyle/>
                    <a:p>
                      <a:r>
                        <a:rPr lang="en-US" sz="1100"/>
                        <a:t>x87 Floating Point Exception </a:t>
                      </a:r>
                    </a:p>
                  </a:txBody>
                  <a:tcPr anchor="ctr"/>
                </a:tc>
                <a:extLst>
                  <a:ext uri="{0D108BD9-81ED-4DB2-BD59-A6C34878D82A}">
                    <a16:rowId xmlns:a16="http://schemas.microsoft.com/office/drawing/2014/main" val="3004390695"/>
                  </a:ext>
                </a:extLst>
              </a:tr>
              <a:tr h="259724">
                <a:tc>
                  <a:txBody>
                    <a:bodyPr/>
                    <a:lstStyle/>
                    <a:p>
                      <a:r>
                        <a:rPr lang="en-US" sz="1100"/>
                        <a:t>0x11 </a:t>
                      </a:r>
                    </a:p>
                  </a:txBody>
                  <a:tcPr anchor="ctr"/>
                </a:tc>
                <a:tc>
                  <a:txBody>
                    <a:bodyPr/>
                    <a:lstStyle/>
                    <a:p>
                      <a:r>
                        <a:rPr lang="en-US" sz="1100"/>
                        <a:t>Alignment Check </a:t>
                      </a:r>
                    </a:p>
                  </a:txBody>
                  <a:tcPr anchor="ctr"/>
                </a:tc>
                <a:extLst>
                  <a:ext uri="{0D108BD9-81ED-4DB2-BD59-A6C34878D82A}">
                    <a16:rowId xmlns:a16="http://schemas.microsoft.com/office/drawing/2014/main" val="2479347020"/>
                  </a:ext>
                </a:extLst>
              </a:tr>
              <a:tr h="259724">
                <a:tc>
                  <a:txBody>
                    <a:bodyPr/>
                    <a:lstStyle/>
                    <a:p>
                      <a:r>
                        <a:rPr lang="en-US" sz="1100"/>
                        <a:t>0x12 </a:t>
                      </a:r>
                    </a:p>
                  </a:txBody>
                  <a:tcPr anchor="ctr"/>
                </a:tc>
                <a:tc>
                  <a:txBody>
                    <a:bodyPr/>
                    <a:lstStyle/>
                    <a:p>
                      <a:r>
                        <a:rPr lang="en-US" sz="1100"/>
                        <a:t>Machine Check </a:t>
                      </a:r>
                    </a:p>
                  </a:txBody>
                  <a:tcPr anchor="ctr"/>
                </a:tc>
                <a:extLst>
                  <a:ext uri="{0D108BD9-81ED-4DB2-BD59-A6C34878D82A}">
                    <a16:rowId xmlns:a16="http://schemas.microsoft.com/office/drawing/2014/main" val="496119909"/>
                  </a:ext>
                </a:extLst>
              </a:tr>
              <a:tr h="259724">
                <a:tc>
                  <a:txBody>
                    <a:bodyPr/>
                    <a:lstStyle/>
                    <a:p>
                      <a:r>
                        <a:rPr lang="en-US" sz="1100"/>
                        <a:t>0x13 </a:t>
                      </a:r>
                    </a:p>
                  </a:txBody>
                  <a:tcPr anchor="ctr"/>
                </a:tc>
                <a:tc>
                  <a:txBody>
                    <a:bodyPr/>
                    <a:lstStyle/>
                    <a:p>
                      <a:r>
                        <a:rPr lang="en-US" sz="1100">
                          <a:hlinkClick r:id="rId9" tooltip="SIMD"/>
                        </a:rPr>
                        <a:t>SIMD</a:t>
                      </a:r>
                      <a:r>
                        <a:rPr lang="en-US" sz="1100"/>
                        <a:t> Floating-Point Exception </a:t>
                      </a:r>
                    </a:p>
                  </a:txBody>
                  <a:tcPr anchor="ctr"/>
                </a:tc>
                <a:extLst>
                  <a:ext uri="{0D108BD9-81ED-4DB2-BD59-A6C34878D82A}">
                    <a16:rowId xmlns:a16="http://schemas.microsoft.com/office/drawing/2014/main" val="656110233"/>
                  </a:ext>
                </a:extLst>
              </a:tr>
              <a:tr h="259724">
                <a:tc>
                  <a:txBody>
                    <a:bodyPr/>
                    <a:lstStyle/>
                    <a:p>
                      <a:r>
                        <a:rPr lang="en-US" sz="1100"/>
                        <a:t>0x14 </a:t>
                      </a:r>
                    </a:p>
                  </a:txBody>
                  <a:tcPr anchor="ctr"/>
                </a:tc>
                <a:tc>
                  <a:txBody>
                    <a:bodyPr/>
                    <a:lstStyle/>
                    <a:p>
                      <a:r>
                        <a:rPr lang="en-US" sz="1100"/>
                        <a:t>Virtualization Exception </a:t>
                      </a:r>
                    </a:p>
                  </a:txBody>
                  <a:tcPr anchor="ctr"/>
                </a:tc>
                <a:extLst>
                  <a:ext uri="{0D108BD9-81ED-4DB2-BD59-A6C34878D82A}">
                    <a16:rowId xmlns:a16="http://schemas.microsoft.com/office/drawing/2014/main" val="3778721339"/>
                  </a:ext>
                </a:extLst>
              </a:tr>
              <a:tr h="259724">
                <a:tc>
                  <a:txBody>
                    <a:bodyPr/>
                    <a:lstStyle/>
                    <a:p>
                      <a:r>
                        <a:rPr lang="en-US" sz="1100"/>
                        <a:t>0x15 </a:t>
                      </a:r>
                    </a:p>
                  </a:txBody>
                  <a:tcPr anchor="ctr"/>
                </a:tc>
                <a:tc>
                  <a:txBody>
                    <a:bodyPr/>
                    <a:lstStyle/>
                    <a:p>
                      <a:r>
                        <a:rPr lang="en-US" sz="1100" dirty="0"/>
                        <a:t>Control Protection Exception (only available with </a:t>
                      </a:r>
                      <a:r>
                        <a:rPr lang="en-US" sz="1100" dirty="0">
                          <a:hlinkClick r:id="rId10" tooltip="Control-flow enforcement technology"/>
                        </a:rPr>
                        <a:t>CET</a:t>
                      </a:r>
                      <a:r>
                        <a:rPr lang="en-US" sz="1100" dirty="0"/>
                        <a:t>) </a:t>
                      </a:r>
                    </a:p>
                  </a:txBody>
                  <a:tcPr anchor="ctr"/>
                </a:tc>
                <a:extLst>
                  <a:ext uri="{0D108BD9-81ED-4DB2-BD59-A6C34878D82A}">
                    <a16:rowId xmlns:a16="http://schemas.microsoft.com/office/drawing/2014/main" val="84846302"/>
                  </a:ext>
                </a:extLst>
              </a:tr>
            </a:tbl>
          </a:graphicData>
        </a:graphic>
      </p:graphicFrame>
    </p:spTree>
    <p:extLst>
      <p:ext uri="{BB962C8B-B14F-4D97-AF65-F5344CB8AC3E}">
        <p14:creationId xmlns:p14="http://schemas.microsoft.com/office/powerpoint/2010/main" val="1589292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Interrupt request handling</a:t>
            </a:r>
          </a:p>
        </p:txBody>
      </p:sp>
      <p:sp>
        <p:nvSpPr>
          <p:cNvPr id="3" name="Content Placeholder 2"/>
          <p:cNvSpPr>
            <a:spLocks noGrp="1"/>
          </p:cNvSpPr>
          <p:nvPr>
            <p:ph idx="1"/>
          </p:nvPr>
        </p:nvSpPr>
        <p:spPr/>
        <p:txBody>
          <a:bodyPr>
            <a:noAutofit/>
          </a:bodyPr>
          <a:lstStyle/>
          <a:p>
            <a:r>
              <a:rPr lang="en-US" sz="2000" dirty="0"/>
              <a:t>What happens when an interrupt occurs?</a:t>
            </a:r>
          </a:p>
          <a:p>
            <a:pPr lvl="1"/>
            <a:r>
              <a:rPr lang="en-US" sz="1800" dirty="0"/>
              <a:t>CPU decides the source of the interrupt</a:t>
            </a:r>
          </a:p>
          <a:p>
            <a:pPr lvl="2"/>
            <a:r>
              <a:rPr lang="en-US" sz="1600" dirty="0"/>
              <a:t>Predefined or IRQ controller</a:t>
            </a:r>
          </a:p>
          <a:p>
            <a:pPr lvl="1"/>
            <a:r>
              <a:rPr lang="en-US" sz="1800" dirty="0"/>
              <a:t>CPU gets the address of the interrupt handler</a:t>
            </a:r>
          </a:p>
          <a:p>
            <a:pPr lvl="2"/>
            <a:r>
              <a:rPr lang="en-US" sz="1600" dirty="0"/>
              <a:t>Fixed (defined by ISA)</a:t>
            </a:r>
          </a:p>
          <a:p>
            <a:pPr lvl="2"/>
            <a:r>
              <a:rPr lang="en-US" sz="1600" dirty="0"/>
              <a:t>Interrupt table (array of pointers to handlers for individual interrupts)</a:t>
            </a:r>
          </a:p>
          <a:p>
            <a:pPr lvl="1"/>
            <a:r>
              <a:rPr lang="en-US" sz="1800" dirty="0"/>
              <a:t>The current stream of instructions is interrupted,</a:t>
            </a:r>
            <a:br>
              <a:rPr lang="en-US" sz="1800" dirty="0"/>
            </a:br>
            <a:r>
              <a:rPr lang="en-US" sz="1800" dirty="0"/>
              <a:t>the CPU begins execution of the interrupt handler’s instructions</a:t>
            </a:r>
          </a:p>
          <a:p>
            <a:pPr lvl="2"/>
            <a:r>
              <a:rPr lang="en-US" sz="1600" dirty="0"/>
              <a:t>Usually </a:t>
            </a:r>
            <a:r>
              <a:rPr lang="en-US" sz="1600" b="1" dirty="0"/>
              <a:t>between</a:t>
            </a:r>
            <a:r>
              <a:rPr lang="en-US" sz="1600" dirty="0"/>
              <a:t> instructions (current instruction must be complete or rollback)</a:t>
            </a:r>
          </a:p>
          <a:p>
            <a:pPr lvl="2"/>
            <a:r>
              <a:rPr lang="en-US" sz="1600" dirty="0"/>
              <a:t>A privilege switch usually happens since the interrupt handler is part of the kernel</a:t>
            </a:r>
          </a:p>
          <a:p>
            <a:pPr lvl="2"/>
            <a:r>
              <a:rPr lang="en-US" sz="1600" dirty="0"/>
              <a:t>Critical part of the </a:t>
            </a:r>
            <a:r>
              <a:rPr lang="en-US" sz="1600" b="1" dirty="0"/>
              <a:t>CPU state </a:t>
            </a:r>
            <a:r>
              <a:rPr lang="en-US" sz="1600" dirty="0"/>
              <a:t>(at least IP) must be </a:t>
            </a:r>
            <a:r>
              <a:rPr lang="en-US" sz="1600" b="1" dirty="0"/>
              <a:t>saved</a:t>
            </a:r>
            <a:r>
              <a:rPr lang="en-US" sz="1600" dirty="0"/>
              <a:t> (e.g., to a special register)</a:t>
            </a:r>
          </a:p>
          <a:p>
            <a:pPr lvl="1"/>
            <a:r>
              <a:rPr lang="en-US" sz="1800" dirty="0"/>
              <a:t>The interrupt handler saves (the rest of) the CPU state </a:t>
            </a:r>
          </a:p>
          <a:p>
            <a:pPr lvl="1"/>
            <a:r>
              <a:rPr lang="en-US" sz="1800" dirty="0"/>
              <a:t>The Interrupt handler does its job</a:t>
            </a:r>
            <a:r>
              <a:rPr lang="cs-CZ" sz="1800" dirty="0"/>
              <a:t> (</a:t>
            </a:r>
            <a:r>
              <a:rPr lang="en-US" sz="1800" dirty="0"/>
              <a:t>whatever is needed for that particular exception)</a:t>
            </a:r>
          </a:p>
          <a:p>
            <a:pPr lvl="1"/>
            <a:r>
              <a:rPr lang="en-US" sz="1800" dirty="0"/>
              <a:t>The interrupt handler restores the CPU state (that was stored by </a:t>
            </a:r>
            <a:r>
              <a:rPr lang="en-US" sz="1800"/>
              <a:t>the handler)</a:t>
            </a:r>
            <a:endParaRPr lang="en-US" sz="1800" dirty="0"/>
          </a:p>
          <a:p>
            <a:pPr lvl="1"/>
            <a:r>
              <a:rPr lang="en-US" sz="1800" dirty="0"/>
              <a:t>CPU restores the critical part of the state (like IP) and continues with the original instruction stream</a:t>
            </a:r>
          </a:p>
        </p:txBody>
      </p:sp>
      <p:sp>
        <p:nvSpPr>
          <p:cNvPr id="4" name="Rectangle 3"/>
          <p:cNvSpPr/>
          <p:nvPr/>
        </p:nvSpPr>
        <p:spPr bwMode="auto">
          <a:xfrm>
            <a:off x="9696400" y="3336297"/>
            <a:ext cx="1102432" cy="504056"/>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a:latin typeface="+mn-lt"/>
              </a:rPr>
              <a:t>CPU</a:t>
            </a:r>
          </a:p>
        </p:txBody>
      </p:sp>
      <p:sp>
        <p:nvSpPr>
          <p:cNvPr id="5" name="Rectangle 4"/>
          <p:cNvSpPr/>
          <p:nvPr/>
        </p:nvSpPr>
        <p:spPr bwMode="auto">
          <a:xfrm>
            <a:off x="9696400" y="2348880"/>
            <a:ext cx="1102432" cy="576064"/>
          </a:xfrm>
          <a:prstGeom prst="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latin typeface="+mn-lt"/>
              </a:rPr>
              <a:t>IRQ </a:t>
            </a:r>
            <a:br>
              <a:rPr lang="en-US">
                <a:latin typeface="+mn-lt"/>
              </a:rPr>
            </a:br>
            <a:r>
              <a:rPr lang="en-US">
                <a:latin typeface="+mn-lt"/>
              </a:rPr>
              <a:t>controller</a:t>
            </a:r>
          </a:p>
        </p:txBody>
      </p:sp>
      <p:cxnSp>
        <p:nvCxnSpPr>
          <p:cNvPr id="7" name="Straight Arrow Connector 6"/>
          <p:cNvCxnSpPr/>
          <p:nvPr/>
        </p:nvCxnSpPr>
        <p:spPr bwMode="auto">
          <a:xfrm>
            <a:off x="9818104" y="1844824"/>
            <a:ext cx="0" cy="50405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 name="Straight Arrow Connector 9"/>
          <p:cNvCxnSpPr/>
          <p:nvPr/>
        </p:nvCxnSpPr>
        <p:spPr bwMode="auto">
          <a:xfrm>
            <a:off x="9962120" y="1844824"/>
            <a:ext cx="0" cy="50405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 name="Straight Arrow Connector 10"/>
          <p:cNvCxnSpPr/>
          <p:nvPr/>
        </p:nvCxnSpPr>
        <p:spPr bwMode="auto">
          <a:xfrm>
            <a:off x="10106136" y="1844824"/>
            <a:ext cx="0" cy="50405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2" name="Straight Arrow Connector 11"/>
          <p:cNvCxnSpPr/>
          <p:nvPr/>
        </p:nvCxnSpPr>
        <p:spPr bwMode="auto">
          <a:xfrm>
            <a:off x="10250152" y="1844824"/>
            <a:ext cx="0" cy="50405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3" name="Straight Arrow Connector 12"/>
          <p:cNvCxnSpPr/>
          <p:nvPr/>
        </p:nvCxnSpPr>
        <p:spPr bwMode="auto">
          <a:xfrm>
            <a:off x="10394168" y="1844824"/>
            <a:ext cx="0" cy="50405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5" name="Straight Arrow Connector 14"/>
          <p:cNvCxnSpPr/>
          <p:nvPr/>
        </p:nvCxnSpPr>
        <p:spPr bwMode="auto">
          <a:xfrm>
            <a:off x="10682200" y="1844824"/>
            <a:ext cx="0" cy="50405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6" name="Straight Arrow Connector 15"/>
          <p:cNvCxnSpPr/>
          <p:nvPr/>
        </p:nvCxnSpPr>
        <p:spPr bwMode="auto">
          <a:xfrm>
            <a:off x="10538184" y="1844824"/>
            <a:ext cx="0" cy="50405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8" name="Straight Arrow Connector 17"/>
          <p:cNvCxnSpPr/>
          <p:nvPr/>
        </p:nvCxnSpPr>
        <p:spPr bwMode="auto">
          <a:xfrm>
            <a:off x="10538184" y="2924945"/>
            <a:ext cx="0" cy="41135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9" name="Down Arrow 18"/>
          <p:cNvSpPr/>
          <p:nvPr/>
        </p:nvSpPr>
        <p:spPr bwMode="auto">
          <a:xfrm>
            <a:off x="9962120" y="2924945"/>
            <a:ext cx="182608" cy="411353"/>
          </a:xfrm>
          <a:prstGeom prst="downArrow">
            <a:avLst/>
          </a:prstGeom>
          <a:solidFill>
            <a:schemeClr val="accent5"/>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20" name="TextBox 19"/>
          <p:cNvSpPr txBox="1"/>
          <p:nvPr/>
        </p:nvSpPr>
        <p:spPr>
          <a:xfrm>
            <a:off x="10535114" y="3004596"/>
            <a:ext cx="503664" cy="369332"/>
          </a:xfrm>
          <a:prstGeom prst="rect">
            <a:avLst/>
          </a:prstGeom>
          <a:noFill/>
        </p:spPr>
        <p:txBody>
          <a:bodyPr wrap="none" rtlCol="0">
            <a:spAutoFit/>
          </a:bodyPr>
          <a:lstStyle/>
          <a:p>
            <a:r>
              <a:rPr lang="en-US">
                <a:latin typeface="+mn-lt"/>
              </a:rPr>
              <a:t>INT</a:t>
            </a:r>
          </a:p>
        </p:txBody>
      </p:sp>
      <p:sp>
        <p:nvSpPr>
          <p:cNvPr id="21" name="TextBox 20"/>
          <p:cNvSpPr txBox="1"/>
          <p:nvPr/>
        </p:nvSpPr>
        <p:spPr>
          <a:xfrm>
            <a:off x="9352413" y="3004596"/>
            <a:ext cx="619080" cy="369332"/>
          </a:xfrm>
          <a:prstGeom prst="rect">
            <a:avLst/>
          </a:prstGeom>
          <a:noFill/>
        </p:spPr>
        <p:txBody>
          <a:bodyPr wrap="none" rtlCol="0">
            <a:spAutoFit/>
          </a:bodyPr>
          <a:lstStyle/>
          <a:p>
            <a:r>
              <a:rPr lang="en-US">
                <a:latin typeface="+mn-lt"/>
              </a:rPr>
              <a:t>#INT</a:t>
            </a:r>
          </a:p>
        </p:txBody>
      </p:sp>
      <p:sp>
        <p:nvSpPr>
          <p:cNvPr id="6" name="Date Placeholder 5"/>
          <p:cNvSpPr>
            <a:spLocks noGrp="1"/>
          </p:cNvSpPr>
          <p:nvPr>
            <p:ph type="dt" sz="half" idx="10"/>
          </p:nvPr>
        </p:nvSpPr>
        <p:spPr/>
        <p:txBody>
          <a:bodyPr/>
          <a:lstStyle/>
          <a:p>
            <a:r>
              <a:rPr lang="cs-CZ" altLang="en-US"/>
              <a:t>17.4.2025</a:t>
            </a:r>
            <a:endParaRPr lang="en-US" altLang="en-US"/>
          </a:p>
        </p:txBody>
      </p:sp>
      <p:sp>
        <p:nvSpPr>
          <p:cNvPr id="8" name="Slide Number Placeholder 7"/>
          <p:cNvSpPr>
            <a:spLocks noGrp="1"/>
          </p:cNvSpPr>
          <p:nvPr>
            <p:ph type="sldNum" sz="quarter" idx="12"/>
          </p:nvPr>
        </p:nvSpPr>
        <p:spPr/>
        <p:txBody>
          <a:bodyPr/>
          <a:lstStyle/>
          <a:p>
            <a:fld id="{F4A1145F-674A-4228-8958-0EA9769F5517}" type="slidenum">
              <a:rPr lang="en-US" altLang="en-US" smtClean="0"/>
              <a:pPr/>
              <a:t>20</a:t>
            </a:fld>
            <a:endParaRPr lang="en-US" altLang="en-US"/>
          </a:p>
        </p:txBody>
      </p:sp>
    </p:spTree>
    <p:extLst>
      <p:ext uri="{BB962C8B-B14F-4D97-AF65-F5344CB8AC3E}">
        <p14:creationId xmlns:p14="http://schemas.microsoft.com/office/powerpoint/2010/main" val="24202508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Processing</a:t>
            </a:r>
          </a:p>
        </p:txBody>
      </p:sp>
      <p:sp>
        <p:nvSpPr>
          <p:cNvPr id="3" name="Content Placeholder 2"/>
          <p:cNvSpPr>
            <a:spLocks noGrp="1"/>
          </p:cNvSpPr>
          <p:nvPr>
            <p:ph sz="half" idx="1"/>
          </p:nvPr>
        </p:nvSpPr>
        <p:spPr>
          <a:xfrm>
            <a:off x="838200" y="1825625"/>
            <a:ext cx="3898260" cy="4351338"/>
          </a:xfrm>
        </p:spPr>
        <p:txBody>
          <a:bodyPr>
            <a:noAutofit/>
          </a:bodyPr>
          <a:lstStyle/>
          <a:p>
            <a:r>
              <a:rPr lang="en-US" sz="2400" dirty="0"/>
              <a:t>Program</a:t>
            </a:r>
          </a:p>
          <a:p>
            <a:pPr lvl="1"/>
            <a:r>
              <a:rPr lang="en-US" sz="1800" dirty="0"/>
              <a:t>A passive set of instructions and data</a:t>
            </a:r>
          </a:p>
          <a:p>
            <a:pPr lvl="1"/>
            <a:r>
              <a:rPr lang="en-US" sz="1800" dirty="0"/>
              <a:t>Created by a compiler/linker</a:t>
            </a:r>
          </a:p>
          <a:p>
            <a:r>
              <a:rPr lang="en-US" sz="2400" dirty="0"/>
              <a:t>Process</a:t>
            </a:r>
          </a:p>
          <a:p>
            <a:pPr lvl="1"/>
            <a:r>
              <a:rPr lang="en-US" sz="1800" dirty="0"/>
              <a:t>An instance of a program created by the OS</a:t>
            </a:r>
          </a:p>
          <a:p>
            <a:pPr lvl="1"/>
            <a:r>
              <a:rPr lang="en-US" sz="1800" dirty="0"/>
              <a:t>Program code and data</a:t>
            </a:r>
          </a:p>
          <a:p>
            <a:pPr lvl="2"/>
            <a:r>
              <a:rPr lang="en-US" sz="1600" dirty="0"/>
              <a:t>Process address space</a:t>
            </a:r>
          </a:p>
          <a:p>
            <a:pPr lvl="1"/>
            <a:r>
              <a:rPr lang="en-US" sz="1800" dirty="0"/>
              <a:t>The program is “enlivened” by an activity</a:t>
            </a:r>
          </a:p>
          <a:p>
            <a:pPr lvl="2"/>
            <a:r>
              <a:rPr lang="en-US" sz="1600" dirty="0"/>
              <a:t> The CPU executes instructions</a:t>
            </a:r>
          </a:p>
          <a:p>
            <a:pPr lvl="1"/>
            <a:r>
              <a:rPr lang="en-US" sz="1800" dirty="0"/>
              <a:t>Owns other resources</a:t>
            </a:r>
          </a:p>
        </p:txBody>
      </p:sp>
      <p:sp>
        <p:nvSpPr>
          <p:cNvPr id="16" name="Content Placeholder 15"/>
          <p:cNvSpPr>
            <a:spLocks noGrp="1"/>
          </p:cNvSpPr>
          <p:nvPr>
            <p:ph sz="half" idx="2"/>
          </p:nvPr>
        </p:nvSpPr>
        <p:spPr>
          <a:xfrm>
            <a:off x="4871864" y="1825625"/>
            <a:ext cx="3969516" cy="4351338"/>
          </a:xfrm>
        </p:spPr>
        <p:txBody>
          <a:bodyPr>
            <a:noAutofit/>
          </a:bodyPr>
          <a:lstStyle/>
          <a:p>
            <a:r>
              <a:rPr lang="en-US" sz="2400" dirty="0"/>
              <a:t>Thread</a:t>
            </a:r>
          </a:p>
          <a:p>
            <a:pPr lvl="1"/>
            <a:r>
              <a:rPr lang="en-US" sz="2000" dirty="0"/>
              <a:t>One activity in a process</a:t>
            </a:r>
          </a:p>
          <a:p>
            <a:pPr lvl="1"/>
            <a:r>
              <a:rPr lang="en-US" sz="2000" dirty="0"/>
              <a:t>Stream of instructions executed by the CPU</a:t>
            </a:r>
          </a:p>
          <a:p>
            <a:pPr lvl="1"/>
            <a:r>
              <a:rPr lang="en-US" sz="2000" dirty="0"/>
              <a:t>Unit of kernel scheduling</a:t>
            </a:r>
          </a:p>
          <a:p>
            <a:pPr lvl="2"/>
            <a:r>
              <a:rPr lang="en-US" sz="1800" dirty="0"/>
              <a:t>I.e., Holds CPU context</a:t>
            </a:r>
          </a:p>
          <a:p>
            <a:r>
              <a:rPr lang="en-US" sz="2400" dirty="0"/>
              <a:t>Fiber</a:t>
            </a:r>
          </a:p>
          <a:p>
            <a:pPr lvl="1"/>
            <a:r>
              <a:rPr lang="en-US" sz="2000" dirty="0"/>
              <a:t>Lighter unit of scheduling</a:t>
            </a:r>
          </a:p>
          <a:p>
            <a:pPr lvl="1"/>
            <a:r>
              <a:rPr lang="en-US" sz="2000" dirty="0"/>
              <a:t>Cooperative scheduling</a:t>
            </a:r>
          </a:p>
          <a:p>
            <a:pPr lvl="2"/>
            <a:r>
              <a:rPr lang="en-US" sz="1800" dirty="0"/>
              <a:t>Running fiber explicitly yields</a:t>
            </a:r>
          </a:p>
        </p:txBody>
      </p:sp>
      <p:sp>
        <p:nvSpPr>
          <p:cNvPr id="8" name="Date Placeholder 7"/>
          <p:cNvSpPr>
            <a:spLocks noGrp="1"/>
          </p:cNvSpPr>
          <p:nvPr>
            <p:ph type="dt" sz="half" idx="10"/>
          </p:nvPr>
        </p:nvSpPr>
        <p:spPr/>
        <p:txBody>
          <a:bodyPr/>
          <a:lstStyle/>
          <a:p>
            <a:r>
              <a:rPr lang="cs-CZ" altLang="en-US"/>
              <a:t>17.4.2025</a:t>
            </a:r>
            <a:endParaRPr lang="en-US" altLang="en-US"/>
          </a:p>
        </p:txBody>
      </p:sp>
      <p:sp>
        <p:nvSpPr>
          <p:cNvPr id="15" name="Slide Number Placeholder 14"/>
          <p:cNvSpPr>
            <a:spLocks noGrp="1"/>
          </p:cNvSpPr>
          <p:nvPr>
            <p:ph type="sldNum" sz="quarter" idx="12"/>
          </p:nvPr>
        </p:nvSpPr>
        <p:spPr/>
        <p:txBody>
          <a:bodyPr/>
          <a:lstStyle/>
          <a:p>
            <a:fld id="{F4A1145F-674A-4228-8958-0EA9769F5517}" type="slidenum">
              <a:rPr lang="en-US" altLang="en-US" smtClean="0"/>
              <a:pPr/>
              <a:t>21</a:t>
            </a:fld>
            <a:endParaRPr lang="en-US" altLang="en-US"/>
          </a:p>
        </p:txBody>
      </p:sp>
      <p:sp>
        <p:nvSpPr>
          <p:cNvPr id="4" name="Rectangle 3"/>
          <p:cNvSpPr>
            <a:spLocks noChangeArrowheads="1"/>
          </p:cNvSpPr>
          <p:nvPr/>
        </p:nvSpPr>
        <p:spPr bwMode="auto">
          <a:xfrm>
            <a:off x="8976320" y="5761911"/>
            <a:ext cx="2736304" cy="428502"/>
          </a:xfrm>
          <a:prstGeom prst="rect">
            <a:avLst/>
          </a:prstGeom>
          <a:solidFill>
            <a:schemeClr val="accent1">
              <a:lumMod val="20000"/>
              <a:lumOff val="80000"/>
            </a:schemeClr>
          </a:solidFill>
          <a:ln w="9525">
            <a:solidFill>
              <a:schemeClr val="tx1"/>
            </a:solidFill>
            <a:miter lim="800000"/>
            <a:headEnd/>
            <a:tailEnd/>
          </a:ln>
        </p:spPr>
        <p:txBody>
          <a:bodyPr wrap="none" anchor="ctr"/>
          <a:lstStyle/>
          <a:p>
            <a:pPr algn="ctr"/>
            <a:r>
              <a:rPr lang="en-US" sz="2400">
                <a:latin typeface="+mn-lt"/>
              </a:rPr>
              <a:t>Heap</a:t>
            </a:r>
          </a:p>
        </p:txBody>
      </p:sp>
      <p:sp>
        <p:nvSpPr>
          <p:cNvPr id="5" name="Rectangle 4"/>
          <p:cNvSpPr>
            <a:spLocks noChangeArrowheads="1"/>
          </p:cNvSpPr>
          <p:nvPr/>
        </p:nvSpPr>
        <p:spPr bwMode="auto">
          <a:xfrm>
            <a:off x="8976320" y="1780435"/>
            <a:ext cx="2736304" cy="1854623"/>
          </a:xfrm>
          <a:prstGeom prst="rect">
            <a:avLst/>
          </a:prstGeom>
          <a:solidFill>
            <a:srgbClr val="FFC000"/>
          </a:solidFill>
          <a:ln w="9525">
            <a:solidFill>
              <a:schemeClr val="tx1"/>
            </a:solidFill>
            <a:miter lim="800000"/>
            <a:headEnd/>
            <a:tailEnd/>
          </a:ln>
        </p:spPr>
        <p:txBody>
          <a:bodyPr wrap="none" anchor="t"/>
          <a:lstStyle/>
          <a:p>
            <a:pPr algn="ctr"/>
            <a:r>
              <a:rPr lang="en-US" sz="2400">
                <a:latin typeface="+mn-lt"/>
              </a:rPr>
              <a:t>Code</a:t>
            </a:r>
            <a:endParaRPr lang="cs-CZ" sz="2400">
              <a:latin typeface="+mn-lt"/>
            </a:endParaRPr>
          </a:p>
        </p:txBody>
      </p:sp>
      <p:sp>
        <p:nvSpPr>
          <p:cNvPr id="6" name="Rectangle 5"/>
          <p:cNvSpPr>
            <a:spLocks noChangeArrowheads="1"/>
          </p:cNvSpPr>
          <p:nvPr/>
        </p:nvSpPr>
        <p:spPr bwMode="auto">
          <a:xfrm>
            <a:off x="8976320" y="3629537"/>
            <a:ext cx="2736304" cy="422028"/>
          </a:xfrm>
          <a:prstGeom prst="rect">
            <a:avLst/>
          </a:prstGeom>
          <a:solidFill>
            <a:schemeClr val="accent1">
              <a:lumMod val="60000"/>
              <a:lumOff val="40000"/>
            </a:schemeClr>
          </a:solidFill>
          <a:ln w="9525">
            <a:solidFill>
              <a:schemeClr val="tx1"/>
            </a:solidFill>
            <a:miter lim="800000"/>
            <a:headEnd/>
            <a:tailEnd/>
          </a:ln>
        </p:spPr>
        <p:txBody>
          <a:bodyPr wrap="none" anchor="ctr"/>
          <a:lstStyle/>
          <a:p>
            <a:pPr algn="ctr"/>
            <a:r>
              <a:rPr lang="en-US" sz="2400">
                <a:latin typeface="+mn-lt"/>
              </a:rPr>
              <a:t>Static data</a:t>
            </a:r>
            <a:endParaRPr lang="cs-CZ" sz="2400">
              <a:latin typeface="+mn-lt"/>
            </a:endParaRPr>
          </a:p>
        </p:txBody>
      </p:sp>
      <p:sp>
        <p:nvSpPr>
          <p:cNvPr id="7" name="Rectangle 6"/>
          <p:cNvSpPr>
            <a:spLocks noChangeArrowheads="1"/>
          </p:cNvSpPr>
          <p:nvPr/>
        </p:nvSpPr>
        <p:spPr bwMode="auto">
          <a:xfrm>
            <a:off x="8976320" y="4051566"/>
            <a:ext cx="2736304" cy="431801"/>
          </a:xfrm>
          <a:prstGeom prst="rect">
            <a:avLst/>
          </a:prstGeom>
          <a:solidFill>
            <a:schemeClr val="bg1">
              <a:lumMod val="85000"/>
            </a:schemeClr>
          </a:solidFill>
          <a:ln w="9525">
            <a:solidFill>
              <a:schemeClr val="tx1"/>
            </a:solidFill>
            <a:miter lim="800000"/>
            <a:headEnd/>
            <a:tailEnd/>
          </a:ln>
        </p:spPr>
        <p:txBody>
          <a:bodyPr wrap="none" anchor="ctr"/>
          <a:lstStyle/>
          <a:p>
            <a:pPr algn="ctr"/>
            <a:r>
              <a:rPr lang="en-US" sz="2400">
                <a:latin typeface="+mn-lt"/>
              </a:rPr>
              <a:t>Stack for thread 1</a:t>
            </a:r>
            <a:endParaRPr lang="cs-CZ" sz="2400">
              <a:latin typeface="+mn-lt"/>
            </a:endParaRPr>
          </a:p>
        </p:txBody>
      </p:sp>
      <p:sp>
        <p:nvSpPr>
          <p:cNvPr id="9" name="Line 9"/>
          <p:cNvSpPr>
            <a:spLocks noChangeShapeType="1"/>
          </p:cNvSpPr>
          <p:nvPr/>
        </p:nvSpPr>
        <p:spPr bwMode="auto">
          <a:xfrm flipV="1">
            <a:off x="10344472" y="5541238"/>
            <a:ext cx="0" cy="215900"/>
          </a:xfrm>
          <a:prstGeom prst="line">
            <a:avLst/>
          </a:prstGeom>
          <a:noFill/>
          <a:ln w="9525">
            <a:solidFill>
              <a:schemeClr val="tx1"/>
            </a:solidFill>
            <a:round/>
            <a:headEnd/>
            <a:tailEnd type="triangle" w="med" len="med"/>
          </a:ln>
        </p:spPr>
        <p:txBody>
          <a:bodyPr wrap="none"/>
          <a:lstStyle/>
          <a:p>
            <a:endParaRPr lang="cs-CZ">
              <a:latin typeface="+mn-lt"/>
            </a:endParaRPr>
          </a:p>
        </p:txBody>
      </p:sp>
      <p:sp>
        <p:nvSpPr>
          <p:cNvPr id="10" name="Line 10"/>
          <p:cNvSpPr>
            <a:spLocks noChangeShapeType="1"/>
          </p:cNvSpPr>
          <p:nvPr/>
        </p:nvSpPr>
        <p:spPr bwMode="auto">
          <a:xfrm>
            <a:off x="10344472" y="4480067"/>
            <a:ext cx="0" cy="215900"/>
          </a:xfrm>
          <a:prstGeom prst="line">
            <a:avLst/>
          </a:prstGeom>
          <a:noFill/>
          <a:ln w="9525">
            <a:solidFill>
              <a:schemeClr val="tx1"/>
            </a:solidFill>
            <a:round/>
            <a:headEnd/>
            <a:tailEnd type="triangle" w="med" len="med"/>
          </a:ln>
        </p:spPr>
        <p:txBody>
          <a:bodyPr wrap="none"/>
          <a:lstStyle/>
          <a:p>
            <a:endParaRPr lang="cs-CZ">
              <a:latin typeface="+mn-lt"/>
            </a:endParaRPr>
          </a:p>
        </p:txBody>
      </p:sp>
      <p:sp>
        <p:nvSpPr>
          <p:cNvPr id="11" name="Rectangle 10"/>
          <p:cNvSpPr>
            <a:spLocks noChangeArrowheads="1"/>
          </p:cNvSpPr>
          <p:nvPr/>
        </p:nvSpPr>
        <p:spPr bwMode="auto">
          <a:xfrm>
            <a:off x="8976784" y="4480067"/>
            <a:ext cx="2735840" cy="416768"/>
          </a:xfrm>
          <a:prstGeom prst="rect">
            <a:avLst/>
          </a:prstGeom>
          <a:noFill/>
          <a:ln w="9525">
            <a:solidFill>
              <a:schemeClr val="tx1"/>
            </a:solidFill>
            <a:miter lim="800000"/>
            <a:headEnd/>
            <a:tailEnd/>
          </a:ln>
        </p:spPr>
        <p:txBody>
          <a:bodyPr wrap="none" anchor="ctr"/>
          <a:lstStyle/>
          <a:p>
            <a:pPr algn="ctr"/>
            <a:endParaRPr lang="cs-CZ" sz="2400">
              <a:latin typeface="+mn-lt"/>
            </a:endParaRPr>
          </a:p>
        </p:txBody>
      </p:sp>
      <p:sp>
        <p:nvSpPr>
          <p:cNvPr id="12" name="Rectangle 11"/>
          <p:cNvSpPr>
            <a:spLocks noChangeArrowheads="1"/>
          </p:cNvSpPr>
          <p:nvPr/>
        </p:nvSpPr>
        <p:spPr bwMode="auto">
          <a:xfrm>
            <a:off x="8976320" y="4896836"/>
            <a:ext cx="2736304" cy="431801"/>
          </a:xfrm>
          <a:prstGeom prst="rect">
            <a:avLst/>
          </a:prstGeom>
          <a:solidFill>
            <a:schemeClr val="bg1">
              <a:lumMod val="85000"/>
            </a:schemeClr>
          </a:solidFill>
          <a:ln w="9525">
            <a:solidFill>
              <a:schemeClr val="tx1"/>
            </a:solidFill>
            <a:miter lim="800000"/>
            <a:headEnd/>
            <a:tailEnd/>
          </a:ln>
        </p:spPr>
        <p:txBody>
          <a:bodyPr wrap="none" anchor="ctr"/>
          <a:lstStyle/>
          <a:p>
            <a:pPr algn="ctr"/>
            <a:r>
              <a:rPr lang="en-US" sz="2400">
                <a:latin typeface="+mn-lt"/>
              </a:rPr>
              <a:t>Stack for thread 2</a:t>
            </a:r>
            <a:endParaRPr lang="cs-CZ" sz="2400">
              <a:latin typeface="+mn-lt"/>
            </a:endParaRPr>
          </a:p>
        </p:txBody>
      </p:sp>
      <p:sp>
        <p:nvSpPr>
          <p:cNvPr id="13" name="Line 10"/>
          <p:cNvSpPr>
            <a:spLocks noChangeShapeType="1"/>
          </p:cNvSpPr>
          <p:nvPr/>
        </p:nvSpPr>
        <p:spPr bwMode="auto">
          <a:xfrm>
            <a:off x="10344472" y="5325337"/>
            <a:ext cx="0" cy="215900"/>
          </a:xfrm>
          <a:prstGeom prst="line">
            <a:avLst/>
          </a:prstGeom>
          <a:noFill/>
          <a:ln w="9525">
            <a:solidFill>
              <a:schemeClr val="tx1"/>
            </a:solidFill>
            <a:round/>
            <a:headEnd/>
            <a:tailEnd type="triangle" w="med" len="med"/>
          </a:ln>
        </p:spPr>
        <p:txBody>
          <a:bodyPr wrap="none"/>
          <a:lstStyle/>
          <a:p>
            <a:endParaRPr lang="cs-CZ">
              <a:latin typeface="+mn-lt"/>
            </a:endParaRPr>
          </a:p>
        </p:txBody>
      </p:sp>
      <p:sp>
        <p:nvSpPr>
          <p:cNvPr id="14" name="Rectangle 13"/>
          <p:cNvSpPr>
            <a:spLocks noChangeArrowheads="1"/>
          </p:cNvSpPr>
          <p:nvPr/>
        </p:nvSpPr>
        <p:spPr bwMode="auto">
          <a:xfrm>
            <a:off x="8976784" y="5333392"/>
            <a:ext cx="2735840" cy="423747"/>
          </a:xfrm>
          <a:prstGeom prst="rect">
            <a:avLst/>
          </a:prstGeom>
          <a:noFill/>
          <a:ln w="9525">
            <a:solidFill>
              <a:schemeClr val="tx1"/>
            </a:solidFill>
            <a:miter lim="800000"/>
            <a:headEnd/>
            <a:tailEnd/>
          </a:ln>
        </p:spPr>
        <p:txBody>
          <a:bodyPr wrap="none" anchor="ctr"/>
          <a:lstStyle/>
          <a:p>
            <a:pPr algn="ctr"/>
            <a:endParaRPr lang="cs-CZ" sz="2400">
              <a:latin typeface="+mn-lt"/>
            </a:endParaRPr>
          </a:p>
        </p:txBody>
      </p:sp>
      <p:sp>
        <p:nvSpPr>
          <p:cNvPr id="31" name="Freeform 30"/>
          <p:cNvSpPr/>
          <p:nvPr/>
        </p:nvSpPr>
        <p:spPr bwMode="auto">
          <a:xfrm>
            <a:off x="9388331" y="2492086"/>
            <a:ext cx="144016" cy="761982"/>
          </a:xfrm>
          <a:custGeom>
            <a:avLst/>
            <a:gdLst>
              <a:gd name="connsiteX0" fmla="*/ 290465 w 584930"/>
              <a:gd name="connsiteY0" fmla="*/ 0 h 1375410"/>
              <a:gd name="connsiteX1" fmla="*/ 8525 w 584930"/>
              <a:gd name="connsiteY1" fmla="*/ 224790 h 1375410"/>
              <a:gd name="connsiteX2" fmla="*/ 580025 w 584930"/>
              <a:gd name="connsiteY2" fmla="*/ 411480 h 1375410"/>
              <a:gd name="connsiteX3" fmla="*/ 905 w 584930"/>
              <a:gd name="connsiteY3" fmla="*/ 601980 h 1375410"/>
              <a:gd name="connsiteX4" fmla="*/ 580025 w 584930"/>
              <a:gd name="connsiteY4" fmla="*/ 784860 h 1375410"/>
              <a:gd name="connsiteX5" fmla="*/ 905 w 584930"/>
              <a:gd name="connsiteY5" fmla="*/ 975360 h 1375410"/>
              <a:gd name="connsiteX6" fmla="*/ 576215 w 584930"/>
              <a:gd name="connsiteY6" fmla="*/ 1162050 h 1375410"/>
              <a:gd name="connsiteX7" fmla="*/ 294275 w 584930"/>
              <a:gd name="connsiteY7" fmla="*/ 1375410 h 1375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4930" h="1375410">
                <a:moveTo>
                  <a:pt x="290465" y="0"/>
                </a:moveTo>
                <a:cubicBezTo>
                  <a:pt x="125365" y="78105"/>
                  <a:pt x="-39735" y="156210"/>
                  <a:pt x="8525" y="224790"/>
                </a:cubicBezTo>
                <a:cubicBezTo>
                  <a:pt x="56785" y="293370"/>
                  <a:pt x="581295" y="348615"/>
                  <a:pt x="580025" y="411480"/>
                </a:cubicBezTo>
                <a:cubicBezTo>
                  <a:pt x="578755" y="474345"/>
                  <a:pt x="905" y="539750"/>
                  <a:pt x="905" y="601980"/>
                </a:cubicBezTo>
                <a:cubicBezTo>
                  <a:pt x="905" y="664210"/>
                  <a:pt x="580025" y="722630"/>
                  <a:pt x="580025" y="784860"/>
                </a:cubicBezTo>
                <a:cubicBezTo>
                  <a:pt x="580025" y="847090"/>
                  <a:pt x="1540" y="912495"/>
                  <a:pt x="905" y="975360"/>
                </a:cubicBezTo>
                <a:cubicBezTo>
                  <a:pt x="270" y="1038225"/>
                  <a:pt x="527320" y="1095375"/>
                  <a:pt x="576215" y="1162050"/>
                </a:cubicBezTo>
                <a:cubicBezTo>
                  <a:pt x="625110" y="1228725"/>
                  <a:pt x="459692" y="1302067"/>
                  <a:pt x="294275" y="1375410"/>
                </a:cubicBezTo>
              </a:path>
            </a:pathLst>
          </a:custGeom>
          <a:no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32" name="Freeform 31"/>
          <p:cNvSpPr/>
          <p:nvPr/>
        </p:nvSpPr>
        <p:spPr bwMode="auto">
          <a:xfrm>
            <a:off x="10776520" y="2723185"/>
            <a:ext cx="144016" cy="761982"/>
          </a:xfrm>
          <a:custGeom>
            <a:avLst/>
            <a:gdLst>
              <a:gd name="connsiteX0" fmla="*/ 290465 w 584930"/>
              <a:gd name="connsiteY0" fmla="*/ 0 h 1375410"/>
              <a:gd name="connsiteX1" fmla="*/ 8525 w 584930"/>
              <a:gd name="connsiteY1" fmla="*/ 224790 h 1375410"/>
              <a:gd name="connsiteX2" fmla="*/ 580025 w 584930"/>
              <a:gd name="connsiteY2" fmla="*/ 411480 h 1375410"/>
              <a:gd name="connsiteX3" fmla="*/ 905 w 584930"/>
              <a:gd name="connsiteY3" fmla="*/ 601980 h 1375410"/>
              <a:gd name="connsiteX4" fmla="*/ 580025 w 584930"/>
              <a:gd name="connsiteY4" fmla="*/ 784860 h 1375410"/>
              <a:gd name="connsiteX5" fmla="*/ 905 w 584930"/>
              <a:gd name="connsiteY5" fmla="*/ 975360 h 1375410"/>
              <a:gd name="connsiteX6" fmla="*/ 576215 w 584930"/>
              <a:gd name="connsiteY6" fmla="*/ 1162050 h 1375410"/>
              <a:gd name="connsiteX7" fmla="*/ 294275 w 584930"/>
              <a:gd name="connsiteY7" fmla="*/ 1375410 h 1375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4930" h="1375410">
                <a:moveTo>
                  <a:pt x="290465" y="0"/>
                </a:moveTo>
                <a:cubicBezTo>
                  <a:pt x="125365" y="78105"/>
                  <a:pt x="-39735" y="156210"/>
                  <a:pt x="8525" y="224790"/>
                </a:cubicBezTo>
                <a:cubicBezTo>
                  <a:pt x="56785" y="293370"/>
                  <a:pt x="581295" y="348615"/>
                  <a:pt x="580025" y="411480"/>
                </a:cubicBezTo>
                <a:cubicBezTo>
                  <a:pt x="578755" y="474345"/>
                  <a:pt x="905" y="539750"/>
                  <a:pt x="905" y="601980"/>
                </a:cubicBezTo>
                <a:cubicBezTo>
                  <a:pt x="905" y="664210"/>
                  <a:pt x="580025" y="722630"/>
                  <a:pt x="580025" y="784860"/>
                </a:cubicBezTo>
                <a:cubicBezTo>
                  <a:pt x="580025" y="847090"/>
                  <a:pt x="1540" y="912495"/>
                  <a:pt x="905" y="975360"/>
                </a:cubicBezTo>
                <a:cubicBezTo>
                  <a:pt x="270" y="1038225"/>
                  <a:pt x="527320" y="1095375"/>
                  <a:pt x="576215" y="1162050"/>
                </a:cubicBezTo>
                <a:cubicBezTo>
                  <a:pt x="625110" y="1228725"/>
                  <a:pt x="459692" y="1302067"/>
                  <a:pt x="294275" y="1375410"/>
                </a:cubicBezTo>
              </a:path>
            </a:pathLst>
          </a:custGeom>
          <a:no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33" name="TextBox 32"/>
          <p:cNvSpPr txBox="1"/>
          <p:nvPr/>
        </p:nvSpPr>
        <p:spPr>
          <a:xfrm>
            <a:off x="9253391" y="2150988"/>
            <a:ext cx="413896" cy="369332"/>
          </a:xfrm>
          <a:prstGeom prst="rect">
            <a:avLst/>
          </a:prstGeom>
          <a:noFill/>
        </p:spPr>
        <p:txBody>
          <a:bodyPr wrap="none" rtlCol="0">
            <a:spAutoFit/>
          </a:bodyPr>
          <a:lstStyle/>
          <a:p>
            <a:r>
              <a:rPr lang="en-US">
                <a:latin typeface="+mn-lt"/>
              </a:rPr>
              <a:t>T1</a:t>
            </a:r>
          </a:p>
        </p:txBody>
      </p:sp>
      <p:sp>
        <p:nvSpPr>
          <p:cNvPr id="34" name="TextBox 33"/>
          <p:cNvSpPr txBox="1"/>
          <p:nvPr/>
        </p:nvSpPr>
        <p:spPr>
          <a:xfrm>
            <a:off x="10621543" y="2335654"/>
            <a:ext cx="413896" cy="369332"/>
          </a:xfrm>
          <a:prstGeom prst="rect">
            <a:avLst/>
          </a:prstGeom>
          <a:noFill/>
        </p:spPr>
        <p:txBody>
          <a:bodyPr wrap="none" rtlCol="0">
            <a:spAutoFit/>
          </a:bodyPr>
          <a:lstStyle/>
          <a:p>
            <a:r>
              <a:rPr lang="en-US">
                <a:latin typeface="+mn-lt"/>
              </a:rPr>
              <a:t>T2</a:t>
            </a:r>
          </a:p>
        </p:txBody>
      </p:sp>
    </p:spTree>
    <p:extLst>
      <p:ext uri="{BB962C8B-B14F-4D97-AF65-F5344CB8AC3E}">
        <p14:creationId xmlns:p14="http://schemas.microsoft.com/office/powerpoint/2010/main" val="16316777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Process vs. Thread</a:t>
            </a:r>
          </a:p>
        </p:txBody>
      </p:sp>
      <p:sp>
        <p:nvSpPr>
          <p:cNvPr id="3" name="Content Placeholder 2"/>
          <p:cNvSpPr>
            <a:spLocks noGrp="1"/>
          </p:cNvSpPr>
          <p:nvPr>
            <p:ph sz="half" idx="1"/>
          </p:nvPr>
        </p:nvSpPr>
        <p:spPr/>
        <p:txBody>
          <a:bodyPr/>
          <a:lstStyle/>
          <a:p>
            <a:r>
              <a:rPr lang="en-US"/>
              <a:t>Process</a:t>
            </a:r>
          </a:p>
          <a:p>
            <a:pPr lvl="1"/>
            <a:r>
              <a:rPr lang="en-US"/>
              <a:t>Code (loaded in memory)</a:t>
            </a:r>
          </a:p>
          <a:p>
            <a:pPr lvl="1"/>
            <a:r>
              <a:rPr lang="en-US"/>
              <a:t>Memory space</a:t>
            </a:r>
          </a:p>
          <a:p>
            <a:pPr lvl="1"/>
            <a:r>
              <a:rPr lang="en-US"/>
              <a:t>Other system resources</a:t>
            </a:r>
          </a:p>
          <a:p>
            <a:pPr lvl="2"/>
            <a:r>
              <a:rPr lang="en-US"/>
              <a:t>File handles</a:t>
            </a:r>
          </a:p>
          <a:p>
            <a:pPr lvl="2"/>
            <a:r>
              <a:rPr lang="en-US"/>
              <a:t>Network sockets</a:t>
            </a:r>
          </a:p>
          <a:p>
            <a:pPr lvl="2"/>
            <a:r>
              <a:rPr lang="en-US"/>
              <a:t>Synchronization primitives</a:t>
            </a:r>
          </a:p>
          <a:p>
            <a:pPr lvl="2"/>
            <a:r>
              <a:rPr lang="en-US"/>
              <a:t>…</a:t>
            </a:r>
          </a:p>
        </p:txBody>
      </p:sp>
      <p:sp>
        <p:nvSpPr>
          <p:cNvPr id="4" name="Content Placeholder 3"/>
          <p:cNvSpPr>
            <a:spLocks noGrp="1"/>
          </p:cNvSpPr>
          <p:nvPr>
            <p:ph sz="half" idx="2"/>
          </p:nvPr>
        </p:nvSpPr>
        <p:spPr/>
        <p:txBody>
          <a:bodyPr/>
          <a:lstStyle/>
          <a:p>
            <a:r>
              <a:rPr lang="en-US"/>
              <a:t>Thread</a:t>
            </a:r>
          </a:p>
          <a:p>
            <a:pPr lvl="1"/>
            <a:r>
              <a:rPr lang="en-US"/>
              <a:t>Position in code (program counter)</a:t>
            </a:r>
          </a:p>
          <a:p>
            <a:pPr lvl="1"/>
            <a:r>
              <a:rPr lang="en-US"/>
              <a:t>Own stack (rest is shared)</a:t>
            </a:r>
          </a:p>
          <a:p>
            <a:pPr lvl="1"/>
            <a:r>
              <a:rPr lang="en-US"/>
              <a:t>Access to some system resources may require synchronization</a:t>
            </a:r>
          </a:p>
          <a:p>
            <a:pPr lvl="1"/>
            <a:r>
              <a:rPr lang="en-US"/>
              <a:t>CPU state</a:t>
            </a:r>
          </a:p>
          <a:p>
            <a:pPr lvl="2"/>
            <a:r>
              <a:rPr lang="en-US"/>
              <a:t>Must be saved when thread is removed from CPU core and reloaded when the thread resumes</a:t>
            </a:r>
          </a:p>
        </p:txBody>
      </p:sp>
      <p:sp>
        <p:nvSpPr>
          <p:cNvPr id="5" name="Date Placeholder 4"/>
          <p:cNvSpPr>
            <a:spLocks noGrp="1"/>
          </p:cNvSpPr>
          <p:nvPr>
            <p:ph type="dt" sz="half" idx="10"/>
          </p:nvPr>
        </p:nvSpPr>
        <p:spPr/>
        <p:txBody>
          <a:bodyPr/>
          <a:lstStyle/>
          <a:p>
            <a:r>
              <a:rPr lang="cs-CZ" altLang="en-US"/>
              <a:t>17.4.2025</a:t>
            </a:r>
            <a:endParaRPr lang="en-US" altLang="en-US"/>
          </a:p>
        </p:txBody>
      </p:sp>
      <p:sp>
        <p:nvSpPr>
          <p:cNvPr id="6" name="Slide Number Placeholder 5"/>
          <p:cNvSpPr>
            <a:spLocks noGrp="1"/>
          </p:cNvSpPr>
          <p:nvPr>
            <p:ph type="sldNum" sz="quarter" idx="12"/>
          </p:nvPr>
        </p:nvSpPr>
        <p:spPr/>
        <p:txBody>
          <a:bodyPr/>
          <a:lstStyle/>
          <a:p>
            <a:fld id="{169EAE92-5121-41FC-8DEC-DA73929E0C34}" type="slidenum">
              <a:rPr lang="en-US" altLang="en-US" smtClean="0"/>
              <a:pPr/>
              <a:t>22</a:t>
            </a:fld>
            <a:endParaRPr lang="en-US" altLang="en-US"/>
          </a:p>
        </p:txBody>
      </p:sp>
    </p:spTree>
    <p:extLst>
      <p:ext uri="{BB962C8B-B14F-4D97-AF65-F5344CB8AC3E}">
        <p14:creationId xmlns:p14="http://schemas.microsoft.com/office/powerpoint/2010/main" val="1094095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Creating a process</a:t>
            </a:r>
          </a:p>
        </p:txBody>
      </p:sp>
      <p:sp>
        <p:nvSpPr>
          <p:cNvPr id="3" name="Content Placeholder 2"/>
          <p:cNvSpPr>
            <a:spLocks noGrp="1"/>
          </p:cNvSpPr>
          <p:nvPr>
            <p:ph sz="half" idx="1"/>
          </p:nvPr>
        </p:nvSpPr>
        <p:spPr/>
        <p:txBody>
          <a:bodyPr>
            <a:noAutofit/>
          </a:bodyPr>
          <a:lstStyle/>
          <a:p>
            <a:r>
              <a:rPr lang="en-US"/>
              <a:t>Windows</a:t>
            </a:r>
          </a:p>
          <a:p>
            <a:pPr marL="0" indent="0">
              <a:spcBef>
                <a:spcPts val="300"/>
              </a:spcBef>
              <a:buNone/>
            </a:pPr>
            <a:r>
              <a:rPr lang="en-US" sz="1600" b="1">
                <a:latin typeface="Courier New" panose="02070309020205020404" pitchFamily="49" charset="0"/>
                <a:cs typeface="Courier New" panose="02070309020205020404" pitchFamily="49" charset="0"/>
              </a:rPr>
              <a:t>STARTUPINFO </a:t>
            </a:r>
            <a:r>
              <a:rPr lang="en-US" sz="1600" b="1" err="1">
                <a:latin typeface="Courier New" panose="02070309020205020404" pitchFamily="49" charset="0"/>
                <a:cs typeface="Courier New" panose="02070309020205020404" pitchFamily="49" charset="0"/>
              </a:rPr>
              <a:t>si</a:t>
            </a:r>
            <a:r>
              <a:rPr lang="en-US" sz="1600" b="1">
                <a:latin typeface="Courier New" panose="02070309020205020404" pitchFamily="49" charset="0"/>
                <a:cs typeface="Courier New" panose="02070309020205020404" pitchFamily="49" charset="0"/>
              </a:rPr>
              <a:t>;</a:t>
            </a:r>
          </a:p>
          <a:p>
            <a:pPr marL="0" indent="0">
              <a:spcBef>
                <a:spcPts val="300"/>
              </a:spcBef>
              <a:buNone/>
            </a:pPr>
            <a:r>
              <a:rPr lang="en-US" sz="1600" b="1">
                <a:latin typeface="Courier New" panose="02070309020205020404" pitchFamily="49" charset="0"/>
                <a:cs typeface="Courier New" panose="02070309020205020404" pitchFamily="49" charset="0"/>
              </a:rPr>
              <a:t>PROCESS_INFORMATION pi;</a:t>
            </a:r>
          </a:p>
          <a:p>
            <a:pPr marL="0" indent="0">
              <a:spcBef>
                <a:spcPts val="300"/>
              </a:spcBef>
              <a:buNone/>
            </a:pPr>
            <a:r>
              <a:rPr lang="en-US" sz="1600" b="1" err="1">
                <a:latin typeface="Courier New" panose="02070309020205020404" pitchFamily="49" charset="0"/>
                <a:cs typeface="Courier New" panose="02070309020205020404" pitchFamily="49" charset="0"/>
              </a:rPr>
              <a:t>ZeroMemory</a:t>
            </a:r>
            <a:r>
              <a:rPr lang="en-US" sz="1600" b="1">
                <a:latin typeface="Courier New" panose="02070309020205020404" pitchFamily="49" charset="0"/>
                <a:cs typeface="Courier New" panose="02070309020205020404" pitchFamily="49" charset="0"/>
              </a:rPr>
              <a:t>(&amp;</a:t>
            </a:r>
            <a:r>
              <a:rPr lang="en-US" sz="1600" b="1" err="1">
                <a:latin typeface="Courier New" panose="02070309020205020404" pitchFamily="49" charset="0"/>
                <a:cs typeface="Courier New" panose="02070309020205020404" pitchFamily="49" charset="0"/>
              </a:rPr>
              <a:t>si</a:t>
            </a:r>
            <a:r>
              <a:rPr lang="en-US" sz="1600" b="1">
                <a:latin typeface="Courier New" panose="02070309020205020404" pitchFamily="49" charset="0"/>
                <a:cs typeface="Courier New" panose="02070309020205020404" pitchFamily="49" charset="0"/>
              </a:rPr>
              <a:t>, </a:t>
            </a:r>
            <a:r>
              <a:rPr lang="en-US" sz="1600" b="1" err="1">
                <a:solidFill>
                  <a:srgbClr val="0070C0"/>
                </a:solidFill>
                <a:latin typeface="Courier New" panose="02070309020205020404" pitchFamily="49" charset="0"/>
                <a:cs typeface="Courier New" panose="02070309020205020404" pitchFamily="49" charset="0"/>
              </a:rPr>
              <a:t>sizeof</a:t>
            </a:r>
            <a:r>
              <a:rPr lang="en-US" sz="1600" b="1">
                <a:latin typeface="Courier New" panose="02070309020205020404" pitchFamily="49" charset="0"/>
                <a:cs typeface="Courier New" panose="02070309020205020404" pitchFamily="49" charset="0"/>
              </a:rPr>
              <a:t>(</a:t>
            </a:r>
            <a:r>
              <a:rPr lang="en-US" sz="1600" b="1" err="1">
                <a:latin typeface="Courier New" panose="02070309020205020404" pitchFamily="49" charset="0"/>
                <a:cs typeface="Courier New" panose="02070309020205020404" pitchFamily="49" charset="0"/>
              </a:rPr>
              <a:t>si</a:t>
            </a:r>
            <a:r>
              <a:rPr lang="en-US" sz="1600" b="1">
                <a:latin typeface="Courier New" panose="02070309020205020404" pitchFamily="49" charset="0"/>
                <a:cs typeface="Courier New" panose="02070309020205020404" pitchFamily="49" charset="0"/>
              </a:rPr>
              <a:t>));</a:t>
            </a:r>
          </a:p>
          <a:p>
            <a:pPr marL="0" indent="0">
              <a:spcBef>
                <a:spcPts val="300"/>
              </a:spcBef>
              <a:buNone/>
            </a:pPr>
            <a:r>
              <a:rPr lang="en-US" sz="1600" b="1" err="1">
                <a:latin typeface="Courier New" panose="02070309020205020404" pitchFamily="49" charset="0"/>
                <a:cs typeface="Courier New" panose="02070309020205020404" pitchFamily="49" charset="0"/>
              </a:rPr>
              <a:t>si.cb</a:t>
            </a:r>
            <a:r>
              <a:rPr lang="en-US" sz="1600" b="1">
                <a:latin typeface="Courier New" panose="02070309020205020404" pitchFamily="49" charset="0"/>
                <a:cs typeface="Courier New" panose="02070309020205020404" pitchFamily="49" charset="0"/>
              </a:rPr>
              <a:t> = </a:t>
            </a:r>
            <a:r>
              <a:rPr lang="en-US" sz="1600" b="1" err="1">
                <a:solidFill>
                  <a:srgbClr val="0070C0"/>
                </a:solidFill>
                <a:latin typeface="Courier New" panose="02070309020205020404" pitchFamily="49" charset="0"/>
                <a:cs typeface="Courier New" panose="02070309020205020404" pitchFamily="49" charset="0"/>
              </a:rPr>
              <a:t>sizeof</a:t>
            </a:r>
            <a:r>
              <a:rPr lang="en-US" sz="1600" b="1">
                <a:latin typeface="Courier New" panose="02070309020205020404" pitchFamily="49" charset="0"/>
                <a:cs typeface="Courier New" panose="02070309020205020404" pitchFamily="49" charset="0"/>
              </a:rPr>
              <a:t>(</a:t>
            </a:r>
            <a:r>
              <a:rPr lang="en-US" sz="1600" b="1" err="1">
                <a:latin typeface="Courier New" panose="02070309020205020404" pitchFamily="49" charset="0"/>
                <a:cs typeface="Courier New" panose="02070309020205020404" pitchFamily="49" charset="0"/>
              </a:rPr>
              <a:t>si</a:t>
            </a:r>
            <a:r>
              <a:rPr lang="en-US" sz="1600" b="1">
                <a:latin typeface="Courier New" panose="02070309020205020404" pitchFamily="49" charset="0"/>
                <a:cs typeface="Courier New" panose="02070309020205020404" pitchFamily="49" charset="0"/>
              </a:rPr>
              <a:t>);</a:t>
            </a:r>
          </a:p>
          <a:p>
            <a:pPr marL="0" indent="0">
              <a:spcBef>
                <a:spcPts val="300"/>
              </a:spcBef>
              <a:buNone/>
            </a:pPr>
            <a:r>
              <a:rPr lang="en-US" sz="1600" b="1" err="1">
                <a:latin typeface="Courier New" panose="02070309020205020404" pitchFamily="49" charset="0"/>
                <a:cs typeface="Courier New" panose="02070309020205020404" pitchFamily="49" charset="0"/>
              </a:rPr>
              <a:t>ZeroMemory</a:t>
            </a:r>
            <a:r>
              <a:rPr lang="en-US" sz="1600" b="1">
                <a:latin typeface="Courier New" panose="02070309020205020404" pitchFamily="49" charset="0"/>
                <a:cs typeface="Courier New" panose="02070309020205020404" pitchFamily="49" charset="0"/>
              </a:rPr>
              <a:t>(&amp;pi, </a:t>
            </a:r>
            <a:r>
              <a:rPr lang="en-US" sz="1600" b="1" err="1">
                <a:solidFill>
                  <a:srgbClr val="0070C0"/>
                </a:solidFill>
                <a:latin typeface="Courier New" panose="02070309020205020404" pitchFamily="49" charset="0"/>
                <a:cs typeface="Courier New" panose="02070309020205020404" pitchFamily="49" charset="0"/>
              </a:rPr>
              <a:t>sizeof</a:t>
            </a:r>
            <a:r>
              <a:rPr lang="en-US" sz="1600" b="1">
                <a:latin typeface="Courier New" panose="02070309020205020404" pitchFamily="49" charset="0"/>
                <a:cs typeface="Courier New" panose="02070309020205020404" pitchFamily="49" charset="0"/>
              </a:rPr>
              <a:t>(pi));</a:t>
            </a:r>
          </a:p>
          <a:p>
            <a:pPr marL="0" indent="0">
              <a:spcBef>
                <a:spcPts val="300"/>
              </a:spcBef>
              <a:buNone/>
            </a:pPr>
            <a:r>
              <a:rPr lang="en-US" sz="1600" b="1">
                <a:solidFill>
                  <a:schemeClr val="bg1">
                    <a:lumMod val="50000"/>
                  </a:schemeClr>
                </a:solidFill>
                <a:latin typeface="Courier New" panose="02070309020205020404" pitchFamily="49" charset="0"/>
                <a:cs typeface="Courier New" panose="02070309020205020404" pitchFamily="49" charset="0"/>
              </a:rPr>
              <a:t>// ...</a:t>
            </a:r>
          </a:p>
          <a:p>
            <a:pPr marL="0" indent="0">
              <a:spcBef>
                <a:spcPts val="300"/>
              </a:spcBef>
              <a:buNone/>
            </a:pPr>
            <a:endParaRPr lang="en-US" sz="1600" b="1">
              <a:latin typeface="Courier New" panose="02070309020205020404" pitchFamily="49" charset="0"/>
              <a:cs typeface="Courier New" panose="02070309020205020404" pitchFamily="49" charset="0"/>
            </a:endParaRPr>
          </a:p>
          <a:p>
            <a:pPr marL="0" indent="0">
              <a:spcBef>
                <a:spcPts val="300"/>
              </a:spcBef>
              <a:buNone/>
            </a:pPr>
            <a:r>
              <a:rPr lang="en-US" sz="1600" b="1">
                <a:solidFill>
                  <a:srgbClr val="0070C0"/>
                </a:solidFill>
                <a:latin typeface="Courier New" panose="02070309020205020404" pitchFamily="49" charset="0"/>
                <a:cs typeface="Courier New" panose="02070309020205020404" pitchFamily="49" charset="0"/>
              </a:rPr>
              <a:t>b</a:t>
            </a:r>
            <a:r>
              <a:rPr lang="cs-CZ" sz="1600" b="1" err="1">
                <a:solidFill>
                  <a:srgbClr val="0070C0"/>
                </a:solidFill>
                <a:latin typeface="Courier New" panose="02070309020205020404" pitchFamily="49" charset="0"/>
                <a:cs typeface="Courier New" panose="02070309020205020404" pitchFamily="49" charset="0"/>
              </a:rPr>
              <a:t>ool</a:t>
            </a:r>
            <a:r>
              <a:rPr lang="cs-CZ" sz="1600" b="1">
                <a:solidFill>
                  <a:srgbClr val="0070C0"/>
                </a:solidFill>
                <a:latin typeface="Courier New" panose="02070309020205020404" pitchFamily="49" charset="0"/>
                <a:cs typeface="Courier New" panose="02070309020205020404" pitchFamily="49" charset="0"/>
              </a:rPr>
              <a:t> </a:t>
            </a:r>
            <a:r>
              <a:rPr lang="cs-CZ" sz="1600" b="1">
                <a:latin typeface="Courier New" panose="02070309020205020404" pitchFamily="49" charset="0"/>
                <a:cs typeface="Courier New" panose="02070309020205020404" pitchFamily="49" charset="0"/>
              </a:rPr>
              <a:t>ok </a:t>
            </a:r>
            <a:r>
              <a:rPr lang="en-US" sz="1600" b="1">
                <a:latin typeface="Courier New" panose="02070309020205020404" pitchFamily="49" charset="0"/>
                <a:cs typeface="Courier New" panose="02070309020205020404" pitchFamily="49" charset="0"/>
              </a:rPr>
              <a:t>= </a:t>
            </a:r>
            <a:r>
              <a:rPr lang="en-US" sz="1600" b="1" err="1">
                <a:solidFill>
                  <a:srgbClr val="C00000"/>
                </a:solidFill>
                <a:latin typeface="Courier New" panose="02070309020205020404" pitchFamily="49" charset="0"/>
                <a:cs typeface="Courier New" panose="02070309020205020404" pitchFamily="49" charset="0"/>
              </a:rPr>
              <a:t>CreateProcess</a:t>
            </a:r>
            <a:r>
              <a:rPr lang="en-US" sz="1600" b="1">
                <a:latin typeface="Courier New" panose="02070309020205020404" pitchFamily="49" charset="0"/>
                <a:cs typeface="Courier New" panose="02070309020205020404" pitchFamily="49" charset="0"/>
              </a:rPr>
              <a:t>(NULL,</a:t>
            </a:r>
            <a:endParaRPr lang="cs-CZ" sz="1600" b="1">
              <a:latin typeface="Courier New" panose="02070309020205020404" pitchFamily="49" charset="0"/>
              <a:cs typeface="Courier New" panose="02070309020205020404" pitchFamily="49" charset="0"/>
            </a:endParaRPr>
          </a:p>
          <a:p>
            <a:pPr marL="0" indent="0">
              <a:spcBef>
                <a:spcPts val="300"/>
              </a:spcBef>
              <a:buNone/>
            </a:pPr>
            <a:r>
              <a:rPr lang="cs-CZ" sz="1600" b="1">
                <a:latin typeface="Courier New" panose="02070309020205020404" pitchFamily="49" charset="0"/>
                <a:cs typeface="Courier New" panose="02070309020205020404" pitchFamily="49" charset="0"/>
              </a:rPr>
              <a:t>  </a:t>
            </a:r>
            <a:r>
              <a:rPr lang="en-US" sz="1600" b="1" err="1">
                <a:latin typeface="Courier New" panose="02070309020205020404" pitchFamily="49" charset="0"/>
                <a:cs typeface="Courier New" panose="02070309020205020404" pitchFamily="49" charset="0"/>
              </a:rPr>
              <a:t>cmdline</a:t>
            </a:r>
            <a:r>
              <a:rPr lang="en-US" sz="1600" b="1">
                <a:latin typeface="Courier New" panose="02070309020205020404" pitchFamily="49" charset="0"/>
                <a:cs typeface="Courier New" panose="02070309020205020404" pitchFamily="49" charset="0"/>
              </a:rPr>
              <a:t>,</a:t>
            </a:r>
            <a:endParaRPr lang="cs-CZ" sz="1600" b="1">
              <a:latin typeface="Courier New" panose="02070309020205020404" pitchFamily="49" charset="0"/>
              <a:cs typeface="Courier New" panose="02070309020205020404" pitchFamily="49" charset="0"/>
            </a:endParaRPr>
          </a:p>
          <a:p>
            <a:pPr marL="0" indent="0">
              <a:spcBef>
                <a:spcPts val="300"/>
              </a:spcBef>
              <a:buNone/>
            </a:pPr>
            <a:r>
              <a:rPr lang="cs-CZ" sz="1600" b="1">
                <a:latin typeface="Courier New" panose="02070309020205020404" pitchFamily="49" charset="0"/>
                <a:cs typeface="Courier New" panose="02070309020205020404" pitchFamily="49" charset="0"/>
              </a:rPr>
              <a:t>  </a:t>
            </a:r>
            <a:r>
              <a:rPr lang="en-US" sz="1600" b="1">
                <a:latin typeface="Courier New" panose="02070309020205020404" pitchFamily="49" charset="0"/>
                <a:cs typeface="Courier New" panose="02070309020205020404" pitchFamily="49" charset="0"/>
              </a:rPr>
              <a:t>NULL, NULL, FALSE, 0, NULL, NULL,</a:t>
            </a:r>
          </a:p>
          <a:p>
            <a:pPr marL="0" indent="0">
              <a:spcBef>
                <a:spcPts val="300"/>
              </a:spcBef>
              <a:buNone/>
            </a:pPr>
            <a:r>
              <a:rPr lang="cs-CZ" sz="1600" b="1">
                <a:latin typeface="Courier New" panose="02070309020205020404" pitchFamily="49" charset="0"/>
                <a:cs typeface="Courier New" panose="02070309020205020404" pitchFamily="49" charset="0"/>
              </a:rPr>
              <a:t>  </a:t>
            </a:r>
            <a:r>
              <a:rPr lang="en-US" sz="1600" b="1">
                <a:latin typeface="Courier New" panose="02070309020205020404" pitchFamily="49" charset="0"/>
                <a:cs typeface="Courier New" panose="02070309020205020404" pitchFamily="49" charset="0"/>
              </a:rPr>
              <a:t>&amp;</a:t>
            </a:r>
            <a:r>
              <a:rPr lang="en-US" sz="1600" b="1" err="1">
                <a:latin typeface="Courier New" panose="02070309020205020404" pitchFamily="49" charset="0"/>
                <a:cs typeface="Courier New" panose="02070309020205020404" pitchFamily="49" charset="0"/>
              </a:rPr>
              <a:t>si</a:t>
            </a:r>
            <a:r>
              <a:rPr lang="en-US" sz="1600" b="1">
                <a:latin typeface="Courier New" panose="02070309020205020404" pitchFamily="49" charset="0"/>
                <a:cs typeface="Courier New" panose="02070309020205020404" pitchFamily="49" charset="0"/>
              </a:rPr>
              <a:t>,</a:t>
            </a:r>
            <a:r>
              <a:rPr lang="cs-CZ" sz="1600" b="1">
                <a:latin typeface="Courier New" panose="02070309020205020404" pitchFamily="49" charset="0"/>
                <a:cs typeface="Courier New" panose="02070309020205020404" pitchFamily="49" charset="0"/>
              </a:rPr>
              <a:t> </a:t>
            </a:r>
            <a:r>
              <a:rPr lang="en-US" sz="1600" b="1">
                <a:latin typeface="Courier New" panose="02070309020205020404" pitchFamily="49" charset="0"/>
                <a:cs typeface="Courier New" panose="02070309020205020404" pitchFamily="49" charset="0"/>
              </a:rPr>
              <a:t>&amp;pi);</a:t>
            </a:r>
          </a:p>
          <a:p>
            <a:pPr marL="0" indent="0">
              <a:spcBef>
                <a:spcPts val="300"/>
              </a:spcBef>
              <a:buNone/>
            </a:pPr>
            <a:r>
              <a:rPr lang="en-US" sz="1600" b="1">
                <a:solidFill>
                  <a:schemeClr val="bg1">
                    <a:lumMod val="50000"/>
                  </a:schemeClr>
                </a:solidFill>
                <a:latin typeface="Courier New" panose="02070309020205020404" pitchFamily="49" charset="0"/>
                <a:cs typeface="Courier New" panose="02070309020205020404" pitchFamily="49" charset="0"/>
              </a:rPr>
              <a:t>// ...</a:t>
            </a:r>
          </a:p>
          <a:p>
            <a:pPr marL="0" indent="0">
              <a:spcBef>
                <a:spcPts val="300"/>
              </a:spcBef>
              <a:buNone/>
            </a:pPr>
            <a:endParaRPr lang="en-US" sz="1600" b="1">
              <a:latin typeface="Courier New" panose="02070309020205020404" pitchFamily="49" charset="0"/>
              <a:cs typeface="Courier New" panose="02070309020205020404" pitchFamily="49" charset="0"/>
            </a:endParaRPr>
          </a:p>
          <a:p>
            <a:pPr marL="0" indent="0">
              <a:spcBef>
                <a:spcPts val="300"/>
              </a:spcBef>
              <a:buNone/>
            </a:pPr>
            <a:r>
              <a:rPr lang="en-US" sz="1600" b="1" err="1">
                <a:solidFill>
                  <a:srgbClr val="C00000"/>
                </a:solidFill>
                <a:latin typeface="Courier New" panose="02070309020205020404" pitchFamily="49" charset="0"/>
                <a:cs typeface="Courier New" panose="02070309020205020404" pitchFamily="49" charset="0"/>
              </a:rPr>
              <a:t>WaitForSingleObject</a:t>
            </a:r>
            <a:r>
              <a:rPr lang="en-US" sz="1600" b="1">
                <a:latin typeface="Courier New" panose="02070309020205020404" pitchFamily="49" charset="0"/>
                <a:cs typeface="Courier New" panose="02070309020205020404" pitchFamily="49" charset="0"/>
              </a:rPr>
              <a:t>(</a:t>
            </a:r>
            <a:br>
              <a:rPr lang="en-US" sz="1600" b="1">
                <a:latin typeface="Courier New" panose="02070309020205020404" pitchFamily="49" charset="0"/>
                <a:cs typeface="Courier New" panose="02070309020205020404" pitchFamily="49" charset="0"/>
              </a:rPr>
            </a:br>
            <a:r>
              <a:rPr lang="en-US" sz="1600" b="1">
                <a:latin typeface="Courier New" panose="02070309020205020404" pitchFamily="49" charset="0"/>
                <a:cs typeface="Courier New" panose="02070309020205020404" pitchFamily="49" charset="0"/>
              </a:rPr>
              <a:t>  </a:t>
            </a:r>
            <a:r>
              <a:rPr lang="en-US" sz="1600" b="1" err="1">
                <a:latin typeface="Courier New" panose="02070309020205020404" pitchFamily="49" charset="0"/>
                <a:cs typeface="Courier New" panose="02070309020205020404" pitchFamily="49" charset="0"/>
              </a:rPr>
              <a:t>pi.hProcess</a:t>
            </a:r>
            <a:r>
              <a:rPr lang="en-US" sz="1600" b="1">
                <a:latin typeface="Courier New" panose="02070309020205020404" pitchFamily="49" charset="0"/>
                <a:cs typeface="Courier New" panose="02070309020205020404" pitchFamily="49" charset="0"/>
              </a:rPr>
              <a:t>, INFINITE);</a:t>
            </a:r>
          </a:p>
        </p:txBody>
      </p:sp>
      <p:sp>
        <p:nvSpPr>
          <p:cNvPr id="6" name="Content Placeholder 5"/>
          <p:cNvSpPr>
            <a:spLocks noGrp="1"/>
          </p:cNvSpPr>
          <p:nvPr>
            <p:ph sz="half" idx="2"/>
          </p:nvPr>
        </p:nvSpPr>
        <p:spPr/>
        <p:txBody>
          <a:bodyPr>
            <a:noAutofit/>
          </a:bodyPr>
          <a:lstStyle/>
          <a:p>
            <a:r>
              <a:rPr lang="en-US"/>
              <a:t>Linux</a:t>
            </a:r>
          </a:p>
          <a:p>
            <a:pPr marL="0" indent="0">
              <a:spcBef>
                <a:spcPts val="300"/>
              </a:spcBef>
              <a:buNone/>
            </a:pPr>
            <a:r>
              <a:rPr lang="en-US" sz="1600" b="1" err="1">
                <a:latin typeface="Courier New" panose="02070309020205020404" pitchFamily="49" charset="0"/>
                <a:cs typeface="Courier New" panose="02070309020205020404" pitchFamily="49" charset="0"/>
              </a:rPr>
              <a:t>pid_t</a:t>
            </a:r>
            <a:r>
              <a:rPr lang="en-US" sz="1600" b="1">
                <a:latin typeface="Courier New" panose="02070309020205020404" pitchFamily="49" charset="0"/>
                <a:cs typeface="Courier New" panose="02070309020205020404" pitchFamily="49" charset="0"/>
              </a:rPr>
              <a:t> p = </a:t>
            </a:r>
            <a:r>
              <a:rPr lang="en-US" sz="1600" b="1">
                <a:solidFill>
                  <a:srgbClr val="C00000"/>
                </a:solidFill>
                <a:latin typeface="Courier New" panose="02070309020205020404" pitchFamily="49" charset="0"/>
                <a:cs typeface="Courier New" panose="02070309020205020404" pitchFamily="49" charset="0"/>
              </a:rPr>
              <a:t>fork</a:t>
            </a:r>
            <a:r>
              <a:rPr lang="en-US" sz="1600" b="1">
                <a:latin typeface="Courier New" panose="02070309020205020404" pitchFamily="49" charset="0"/>
                <a:cs typeface="Courier New" panose="02070309020205020404" pitchFamily="49" charset="0"/>
              </a:rPr>
              <a:t>();</a:t>
            </a:r>
          </a:p>
          <a:p>
            <a:pPr marL="0" indent="0">
              <a:spcBef>
                <a:spcPts val="300"/>
              </a:spcBef>
              <a:buNone/>
            </a:pPr>
            <a:r>
              <a:rPr lang="en-US" sz="1600" b="1">
                <a:solidFill>
                  <a:srgbClr val="0070C0"/>
                </a:solidFill>
                <a:latin typeface="Courier New" panose="02070309020205020404" pitchFamily="49" charset="0"/>
                <a:cs typeface="Courier New" panose="02070309020205020404" pitchFamily="49" charset="0"/>
              </a:rPr>
              <a:t>if</a:t>
            </a:r>
            <a:r>
              <a:rPr lang="en-US" sz="1600" b="1">
                <a:latin typeface="Courier New" panose="02070309020205020404" pitchFamily="49" charset="0"/>
                <a:cs typeface="Courier New" panose="02070309020205020404" pitchFamily="49" charset="0"/>
              </a:rPr>
              <a:t> (p == -1) {</a:t>
            </a:r>
          </a:p>
          <a:p>
            <a:pPr marL="0" indent="0">
              <a:spcBef>
                <a:spcPts val="300"/>
              </a:spcBef>
              <a:buNone/>
            </a:pPr>
            <a:r>
              <a:rPr lang="en-US" sz="1600" b="1">
                <a:latin typeface="Courier New" panose="02070309020205020404" pitchFamily="49" charset="0"/>
                <a:cs typeface="Courier New" panose="02070309020205020404" pitchFamily="49" charset="0"/>
              </a:rPr>
              <a:t>  </a:t>
            </a:r>
            <a:r>
              <a:rPr lang="en-US" sz="1600" b="1">
                <a:solidFill>
                  <a:schemeClr val="bg1">
                    <a:lumMod val="50000"/>
                  </a:schemeClr>
                </a:solidFill>
                <a:latin typeface="Courier New" panose="02070309020205020404" pitchFamily="49" charset="0"/>
                <a:cs typeface="Courier New" panose="02070309020205020404" pitchFamily="49" charset="0"/>
              </a:rPr>
              <a:t>// handle error</a:t>
            </a:r>
            <a:endParaRPr lang="en-US" sz="1600" b="1">
              <a:latin typeface="Courier New" panose="02070309020205020404" pitchFamily="49" charset="0"/>
              <a:cs typeface="Courier New" panose="02070309020205020404" pitchFamily="49" charset="0"/>
            </a:endParaRPr>
          </a:p>
          <a:p>
            <a:pPr marL="0" indent="0">
              <a:spcBef>
                <a:spcPts val="300"/>
              </a:spcBef>
              <a:buNone/>
            </a:pPr>
            <a:r>
              <a:rPr lang="en-US" sz="1600" b="1">
                <a:latin typeface="Courier New" panose="02070309020205020404" pitchFamily="49" charset="0"/>
                <a:cs typeface="Courier New" panose="02070309020205020404" pitchFamily="49" charset="0"/>
              </a:rPr>
              <a:t>} </a:t>
            </a:r>
            <a:r>
              <a:rPr lang="en-US" sz="1600" b="1">
                <a:solidFill>
                  <a:srgbClr val="0070C0"/>
                </a:solidFill>
                <a:latin typeface="Courier New" panose="02070309020205020404" pitchFamily="49" charset="0"/>
                <a:cs typeface="Courier New" panose="02070309020205020404" pitchFamily="49" charset="0"/>
              </a:rPr>
              <a:t>else</a:t>
            </a:r>
            <a:r>
              <a:rPr lang="en-US" sz="1600" b="1">
                <a:latin typeface="Courier New" panose="02070309020205020404" pitchFamily="49" charset="0"/>
                <a:cs typeface="Courier New" panose="02070309020205020404" pitchFamily="49" charset="0"/>
              </a:rPr>
              <a:t> </a:t>
            </a:r>
            <a:r>
              <a:rPr lang="en-US" sz="1600" b="1">
                <a:solidFill>
                  <a:srgbClr val="0070C0"/>
                </a:solidFill>
                <a:latin typeface="Courier New" panose="02070309020205020404" pitchFamily="49" charset="0"/>
                <a:cs typeface="Courier New" panose="02070309020205020404" pitchFamily="49" charset="0"/>
              </a:rPr>
              <a:t>if</a:t>
            </a:r>
            <a:r>
              <a:rPr lang="en-US" sz="1600" b="1">
                <a:latin typeface="Courier New" panose="02070309020205020404" pitchFamily="49" charset="0"/>
                <a:cs typeface="Courier New" panose="02070309020205020404" pitchFamily="49" charset="0"/>
              </a:rPr>
              <a:t> (p == 0) {</a:t>
            </a:r>
          </a:p>
          <a:p>
            <a:pPr marL="0" indent="0">
              <a:spcBef>
                <a:spcPts val="300"/>
              </a:spcBef>
              <a:buNone/>
            </a:pPr>
            <a:endParaRPr lang="en-US" sz="1600" b="1">
              <a:solidFill>
                <a:schemeClr val="bg1">
                  <a:lumMod val="50000"/>
                </a:schemeClr>
              </a:solidFill>
              <a:latin typeface="Courier New" panose="02070309020205020404" pitchFamily="49" charset="0"/>
              <a:cs typeface="Courier New" panose="02070309020205020404" pitchFamily="49" charset="0"/>
            </a:endParaRPr>
          </a:p>
          <a:p>
            <a:pPr marL="0" indent="0">
              <a:spcBef>
                <a:spcPts val="300"/>
              </a:spcBef>
              <a:buNone/>
            </a:pPr>
            <a:r>
              <a:rPr lang="en-US" sz="1600" b="1">
                <a:solidFill>
                  <a:schemeClr val="bg1">
                    <a:lumMod val="50000"/>
                  </a:schemeClr>
                </a:solidFill>
                <a:latin typeface="Courier New" panose="02070309020205020404" pitchFamily="49" charset="0"/>
                <a:cs typeface="Courier New" panose="02070309020205020404" pitchFamily="49" charset="0"/>
              </a:rPr>
              <a:t>  // new process</a:t>
            </a:r>
          </a:p>
          <a:p>
            <a:pPr marL="0" indent="0">
              <a:spcBef>
                <a:spcPts val="300"/>
              </a:spcBef>
              <a:buNone/>
            </a:pPr>
            <a:r>
              <a:rPr lang="en-US" sz="1600" b="1">
                <a:latin typeface="Courier New" panose="02070309020205020404" pitchFamily="49" charset="0"/>
                <a:cs typeface="Courier New" panose="02070309020205020404" pitchFamily="49" charset="0"/>
              </a:rPr>
              <a:t>  </a:t>
            </a:r>
            <a:r>
              <a:rPr lang="en-US" sz="1600" b="1" err="1">
                <a:solidFill>
                  <a:srgbClr val="C00000"/>
                </a:solidFill>
                <a:latin typeface="Courier New" panose="02070309020205020404" pitchFamily="49" charset="0"/>
                <a:cs typeface="Courier New" panose="02070309020205020404" pitchFamily="49" charset="0"/>
              </a:rPr>
              <a:t>execv</a:t>
            </a:r>
            <a:r>
              <a:rPr lang="en-US" sz="1600" b="1">
                <a:latin typeface="Courier New" panose="02070309020205020404" pitchFamily="49" charset="0"/>
                <a:cs typeface="Courier New" panose="02070309020205020404" pitchFamily="49" charset="0"/>
              </a:rPr>
              <a:t>(</a:t>
            </a:r>
            <a:r>
              <a:rPr lang="en-US" sz="1600" b="1" err="1">
                <a:latin typeface="Courier New" panose="02070309020205020404" pitchFamily="49" charset="0"/>
                <a:cs typeface="Courier New" panose="02070309020205020404" pitchFamily="49" charset="0"/>
              </a:rPr>
              <a:t>pathToExecutable</a:t>
            </a:r>
            <a:r>
              <a:rPr lang="en-US" sz="1600" b="1">
                <a:latin typeface="Courier New" panose="02070309020205020404" pitchFamily="49" charset="0"/>
                <a:cs typeface="Courier New" panose="02070309020205020404" pitchFamily="49" charset="0"/>
              </a:rPr>
              <a:t>, </a:t>
            </a:r>
            <a:r>
              <a:rPr lang="en-US" sz="1600" b="1" err="1">
                <a:latin typeface="Courier New" panose="02070309020205020404" pitchFamily="49" charset="0"/>
                <a:cs typeface="Courier New" panose="02070309020205020404" pitchFamily="49" charset="0"/>
              </a:rPr>
              <a:t>args</a:t>
            </a:r>
            <a:r>
              <a:rPr lang="en-US" sz="1600" b="1">
                <a:latin typeface="Courier New" panose="02070309020205020404" pitchFamily="49" charset="0"/>
                <a:cs typeface="Courier New" panose="02070309020205020404" pitchFamily="49" charset="0"/>
              </a:rPr>
              <a:t>);</a:t>
            </a:r>
          </a:p>
          <a:p>
            <a:pPr marL="0" indent="0">
              <a:spcBef>
                <a:spcPts val="300"/>
              </a:spcBef>
              <a:buNone/>
            </a:pPr>
            <a:endParaRPr lang="en-US" sz="1600" b="1">
              <a:latin typeface="Courier New" panose="02070309020205020404" pitchFamily="49" charset="0"/>
              <a:cs typeface="Courier New" panose="02070309020205020404" pitchFamily="49" charset="0"/>
            </a:endParaRPr>
          </a:p>
          <a:p>
            <a:pPr marL="0" indent="0">
              <a:spcBef>
                <a:spcPts val="300"/>
              </a:spcBef>
              <a:buNone/>
            </a:pPr>
            <a:r>
              <a:rPr lang="en-US" sz="1600" b="1">
                <a:latin typeface="Courier New" panose="02070309020205020404" pitchFamily="49" charset="0"/>
                <a:cs typeface="Courier New" panose="02070309020205020404" pitchFamily="49" charset="0"/>
              </a:rPr>
              <a:t>} </a:t>
            </a:r>
            <a:r>
              <a:rPr lang="en-US" sz="1600" b="1">
                <a:solidFill>
                  <a:srgbClr val="0070C0"/>
                </a:solidFill>
                <a:latin typeface="Courier New" panose="02070309020205020404" pitchFamily="49" charset="0"/>
                <a:cs typeface="Courier New" panose="02070309020205020404" pitchFamily="49" charset="0"/>
              </a:rPr>
              <a:t>else</a:t>
            </a:r>
            <a:r>
              <a:rPr lang="en-US" sz="1600" b="1">
                <a:latin typeface="Courier New" panose="02070309020205020404" pitchFamily="49" charset="0"/>
                <a:cs typeface="Courier New" panose="02070309020205020404" pitchFamily="49" charset="0"/>
              </a:rPr>
              <a:t> {</a:t>
            </a:r>
          </a:p>
          <a:p>
            <a:pPr marL="0" indent="0">
              <a:spcBef>
                <a:spcPts val="300"/>
              </a:spcBef>
              <a:buNone/>
            </a:pPr>
            <a:endParaRPr lang="en-US" sz="1600" b="1">
              <a:solidFill>
                <a:schemeClr val="bg1">
                  <a:lumMod val="50000"/>
                </a:schemeClr>
              </a:solidFill>
              <a:latin typeface="Courier New" panose="02070309020205020404" pitchFamily="49" charset="0"/>
              <a:cs typeface="Courier New" panose="02070309020205020404" pitchFamily="49" charset="0"/>
            </a:endParaRPr>
          </a:p>
          <a:p>
            <a:pPr marL="0" indent="0">
              <a:spcBef>
                <a:spcPts val="300"/>
              </a:spcBef>
              <a:buNone/>
            </a:pPr>
            <a:r>
              <a:rPr lang="en-US" sz="1600" b="1">
                <a:solidFill>
                  <a:schemeClr val="bg1">
                    <a:lumMod val="50000"/>
                  </a:schemeClr>
                </a:solidFill>
                <a:latin typeface="Courier New" panose="02070309020205020404" pitchFamily="49" charset="0"/>
                <a:cs typeface="Courier New" panose="02070309020205020404" pitchFamily="49" charset="0"/>
              </a:rPr>
              <a:t>  // original process</a:t>
            </a:r>
          </a:p>
          <a:p>
            <a:pPr marL="0" indent="0">
              <a:spcBef>
                <a:spcPts val="300"/>
              </a:spcBef>
              <a:buNone/>
            </a:pPr>
            <a:r>
              <a:rPr lang="en-US" sz="1600" b="1">
                <a:latin typeface="Courier New" panose="02070309020205020404" pitchFamily="49" charset="0"/>
                <a:cs typeface="Courier New" panose="02070309020205020404" pitchFamily="49" charset="0"/>
              </a:rPr>
              <a:t>  </a:t>
            </a:r>
            <a:r>
              <a:rPr lang="en-US" sz="1600" b="1" err="1">
                <a:solidFill>
                  <a:srgbClr val="0070C0"/>
                </a:solidFill>
                <a:latin typeface="Courier New" panose="02070309020205020404" pitchFamily="49" charset="0"/>
                <a:cs typeface="Courier New" panose="02070309020205020404" pitchFamily="49" charset="0"/>
              </a:rPr>
              <a:t>int</a:t>
            </a:r>
            <a:r>
              <a:rPr lang="en-US" sz="1600" b="1">
                <a:latin typeface="Courier New" panose="02070309020205020404" pitchFamily="49" charset="0"/>
                <a:cs typeface="Courier New" panose="02070309020205020404" pitchFamily="49" charset="0"/>
              </a:rPr>
              <a:t> status;</a:t>
            </a:r>
          </a:p>
          <a:p>
            <a:pPr marL="0" indent="0">
              <a:spcBef>
                <a:spcPts val="300"/>
              </a:spcBef>
              <a:buNone/>
            </a:pPr>
            <a:r>
              <a:rPr lang="en-US" sz="1600" b="1">
                <a:latin typeface="Courier New" panose="02070309020205020404" pitchFamily="49" charset="0"/>
                <a:cs typeface="Courier New" panose="02070309020205020404" pitchFamily="49" charset="0"/>
              </a:rPr>
              <a:t>  </a:t>
            </a:r>
            <a:r>
              <a:rPr lang="en-US" sz="1600" b="1" err="1">
                <a:solidFill>
                  <a:srgbClr val="C00000"/>
                </a:solidFill>
                <a:latin typeface="Courier New" panose="02070309020205020404" pitchFamily="49" charset="0"/>
                <a:cs typeface="Courier New" panose="02070309020205020404" pitchFamily="49" charset="0"/>
              </a:rPr>
              <a:t>waitpid</a:t>
            </a:r>
            <a:r>
              <a:rPr lang="en-US" sz="1600" b="1">
                <a:latin typeface="Courier New" panose="02070309020205020404" pitchFamily="49" charset="0"/>
                <a:cs typeface="Courier New" panose="02070309020205020404" pitchFamily="49" charset="0"/>
              </a:rPr>
              <a:t>(p, &amp;status, 0);</a:t>
            </a:r>
          </a:p>
          <a:p>
            <a:pPr marL="0" indent="0">
              <a:spcBef>
                <a:spcPts val="300"/>
              </a:spcBef>
              <a:buNone/>
            </a:pPr>
            <a:endParaRPr lang="en-US" sz="1600" b="1">
              <a:latin typeface="Courier New" panose="02070309020205020404" pitchFamily="49" charset="0"/>
              <a:cs typeface="Courier New" panose="02070309020205020404" pitchFamily="49" charset="0"/>
            </a:endParaRPr>
          </a:p>
          <a:p>
            <a:pPr marL="0" indent="0">
              <a:spcBef>
                <a:spcPts val="300"/>
              </a:spcBef>
              <a:buNone/>
            </a:pPr>
            <a:r>
              <a:rPr lang="en-US" sz="1600" b="1">
                <a:latin typeface="Courier New" panose="02070309020205020404" pitchFamily="49" charset="0"/>
                <a:cs typeface="Courier New" panose="02070309020205020404" pitchFamily="49" charset="0"/>
              </a:rPr>
              <a:t>}</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23</a:t>
            </a:fld>
            <a:endParaRPr lang="en-US" altLang="en-US"/>
          </a:p>
        </p:txBody>
      </p:sp>
    </p:spTree>
    <p:extLst>
      <p:ext uri="{BB962C8B-B14F-4D97-AF65-F5344CB8AC3E}">
        <p14:creationId xmlns:p14="http://schemas.microsoft.com/office/powerpoint/2010/main" val="7133932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Parent-child process relation</a:t>
            </a:r>
          </a:p>
        </p:txBody>
      </p:sp>
      <p:sp>
        <p:nvSpPr>
          <p:cNvPr id="3" name="Content Placeholder 2"/>
          <p:cNvSpPr>
            <a:spLocks noGrp="1"/>
          </p:cNvSpPr>
          <p:nvPr>
            <p:ph sz="half" idx="1"/>
          </p:nvPr>
        </p:nvSpPr>
        <p:spPr/>
        <p:txBody>
          <a:bodyPr>
            <a:normAutofit/>
          </a:bodyPr>
          <a:lstStyle/>
          <a:p>
            <a:r>
              <a:rPr lang="en-US" dirty="0"/>
              <a:t>Linux</a:t>
            </a:r>
          </a:p>
          <a:p>
            <a:pPr lvl="1"/>
            <a:r>
              <a:rPr lang="en-US" dirty="0"/>
              <a:t>A child holds its parent’s IDs (</a:t>
            </a:r>
            <a:r>
              <a:rPr lang="en-US" dirty="0" err="1"/>
              <a:t>ppid</a:t>
            </a:r>
            <a:r>
              <a:rPr lang="en-US" dirty="0"/>
              <a:t>)</a:t>
            </a:r>
          </a:p>
          <a:p>
            <a:pPr lvl="1"/>
            <a:r>
              <a:rPr lang="en-US" dirty="0"/>
              <a:t>A child notifies the parent by SIGCHILD signal when terminated</a:t>
            </a:r>
          </a:p>
          <a:p>
            <a:pPr lvl="1"/>
            <a:r>
              <a:rPr lang="en-US" dirty="0"/>
              <a:t>A terminated process becomes a zombie until asked for an exit code</a:t>
            </a:r>
          </a:p>
          <a:p>
            <a:pPr lvl="1"/>
            <a:r>
              <a:rPr lang="en-US" dirty="0"/>
              <a:t>Killing a process does not kill its children</a:t>
            </a:r>
          </a:p>
          <a:p>
            <a:pPr lvl="2"/>
            <a:r>
              <a:rPr lang="en-US" dirty="0"/>
              <a:t>Children are orphaned and re-adopted by the </a:t>
            </a:r>
            <a:r>
              <a:rPr lang="en-US" dirty="0" err="1"/>
              <a:t>init</a:t>
            </a:r>
            <a:r>
              <a:rPr lang="en-US" dirty="0"/>
              <a:t> process (</a:t>
            </a:r>
            <a:r>
              <a:rPr lang="en-US" dirty="0" err="1"/>
              <a:t>pid</a:t>
            </a:r>
            <a:r>
              <a:rPr lang="en-US" dirty="0"/>
              <a:t> 1)</a:t>
            </a:r>
          </a:p>
          <a:p>
            <a:pPr lvl="2"/>
            <a:r>
              <a:rPr lang="en-US" dirty="0"/>
              <a:t>Killing </a:t>
            </a:r>
            <a:r>
              <a:rPr lang="cs-CZ" dirty="0" err="1"/>
              <a:t>an</a:t>
            </a:r>
            <a:r>
              <a:rPr lang="cs-CZ" dirty="0"/>
              <a:t> </a:t>
            </a:r>
            <a:r>
              <a:rPr lang="cs-CZ" dirty="0" err="1"/>
              <a:t>entire</a:t>
            </a:r>
            <a:r>
              <a:rPr lang="cs-CZ" dirty="0"/>
              <a:t> </a:t>
            </a:r>
            <a:r>
              <a:rPr lang="en-US" dirty="0"/>
              <a:t>process </a:t>
            </a:r>
            <a:r>
              <a:rPr lang="cs-CZ" dirty="0" err="1"/>
              <a:t>tree</a:t>
            </a:r>
            <a:r>
              <a:rPr lang="cs-CZ" dirty="0"/>
              <a:t> </a:t>
            </a:r>
            <a:r>
              <a:rPr lang="en-US" dirty="0"/>
              <a:t>needs special effort</a:t>
            </a:r>
          </a:p>
          <a:p>
            <a:endParaRPr lang="en-US" dirty="0"/>
          </a:p>
        </p:txBody>
      </p:sp>
      <p:sp>
        <p:nvSpPr>
          <p:cNvPr id="4" name="Content Placeholder 3"/>
          <p:cNvSpPr>
            <a:spLocks noGrp="1"/>
          </p:cNvSpPr>
          <p:nvPr>
            <p:ph sz="half" idx="2"/>
          </p:nvPr>
        </p:nvSpPr>
        <p:spPr/>
        <p:txBody>
          <a:bodyPr>
            <a:normAutofit/>
          </a:bodyPr>
          <a:lstStyle/>
          <a:p>
            <a:r>
              <a:rPr lang="en-US" dirty="0"/>
              <a:t>Windows</a:t>
            </a:r>
          </a:p>
          <a:p>
            <a:pPr lvl="1"/>
            <a:r>
              <a:rPr lang="en-US" dirty="0"/>
              <a:t>Slightly more complicated</a:t>
            </a:r>
            <a:br>
              <a:rPr lang="en-US" dirty="0"/>
            </a:br>
            <a:r>
              <a:rPr lang="en-US" dirty="0"/>
              <a:t>(the win32 process entry does not record </a:t>
            </a:r>
            <a:r>
              <a:rPr lang="en-US" dirty="0" err="1"/>
              <a:t>ppid</a:t>
            </a:r>
            <a:r>
              <a:rPr lang="en-US" dirty="0"/>
              <a:t>, but it is available in </a:t>
            </a:r>
            <a:r>
              <a:rPr lang="en-US" dirty="0" err="1"/>
              <a:t>NTQuerySystemInformation</a:t>
            </a:r>
            <a:r>
              <a:rPr lang="en-US" dirty="0"/>
              <a:t>)</a:t>
            </a:r>
          </a:p>
          <a:p>
            <a:pPr lvl="1"/>
            <a:r>
              <a:rPr lang="en-US" dirty="0"/>
              <a:t>No special relationship between child and parent</a:t>
            </a:r>
          </a:p>
          <a:p>
            <a:pPr lvl="1"/>
            <a:r>
              <a:rPr lang="en-US" dirty="0"/>
              <a:t>Process manager can kill the whole sub-tree (but it is not a feature of the OS)</a:t>
            </a:r>
          </a:p>
        </p:txBody>
      </p:sp>
      <p:sp>
        <p:nvSpPr>
          <p:cNvPr id="5" name="Date Placeholder 4"/>
          <p:cNvSpPr>
            <a:spLocks noGrp="1"/>
          </p:cNvSpPr>
          <p:nvPr>
            <p:ph type="dt" sz="half" idx="10"/>
          </p:nvPr>
        </p:nvSpPr>
        <p:spPr/>
        <p:txBody>
          <a:bodyPr/>
          <a:lstStyle/>
          <a:p>
            <a:r>
              <a:rPr lang="cs-CZ" altLang="en-US"/>
              <a:t>17.4.2025</a:t>
            </a:r>
            <a:endParaRPr lang="en-US" altLang="en-US" dirty="0"/>
          </a:p>
        </p:txBody>
      </p:sp>
      <p:sp>
        <p:nvSpPr>
          <p:cNvPr id="6" name="Slide Number Placeholder 5"/>
          <p:cNvSpPr>
            <a:spLocks noGrp="1"/>
          </p:cNvSpPr>
          <p:nvPr>
            <p:ph type="sldNum" sz="quarter" idx="12"/>
          </p:nvPr>
        </p:nvSpPr>
        <p:spPr/>
        <p:txBody>
          <a:bodyPr/>
          <a:lstStyle/>
          <a:p>
            <a:fld id="{169EAE92-5121-41FC-8DEC-DA73929E0C34}" type="slidenum">
              <a:rPr lang="en-US" altLang="en-US" smtClean="0"/>
              <a:pPr/>
              <a:t>24</a:t>
            </a:fld>
            <a:endParaRPr lang="en-US" altLang="en-US"/>
          </a:p>
        </p:txBody>
      </p:sp>
    </p:spTree>
    <p:extLst>
      <p:ext uri="{BB962C8B-B14F-4D97-AF65-F5344CB8AC3E}">
        <p14:creationId xmlns:p14="http://schemas.microsoft.com/office/powerpoint/2010/main" val="13795801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Creating a thread</a:t>
            </a:r>
          </a:p>
        </p:txBody>
      </p:sp>
      <p:sp>
        <p:nvSpPr>
          <p:cNvPr id="3" name="Content Placeholder 2"/>
          <p:cNvSpPr>
            <a:spLocks noGrp="1"/>
          </p:cNvSpPr>
          <p:nvPr>
            <p:ph idx="1"/>
          </p:nvPr>
        </p:nvSpPr>
        <p:spPr/>
        <p:txBody>
          <a:bodyPr>
            <a:normAutofit/>
          </a:bodyPr>
          <a:lstStyle/>
          <a:p>
            <a:r>
              <a:rPr lang="en-US"/>
              <a:t>C++ example (but C#/Java are similar)</a:t>
            </a:r>
            <a:endParaRPr lang="en-US" sz="300"/>
          </a:p>
          <a:p>
            <a:pPr marL="457200" lvl="1" indent="0">
              <a:buNone/>
            </a:pPr>
            <a:endParaRPr lang="en-US" sz="1800" b="1">
              <a:solidFill>
                <a:srgbClr val="0070C0"/>
              </a:solidFill>
              <a:latin typeface="Courier New" panose="02070309020205020404" pitchFamily="49" charset="0"/>
              <a:cs typeface="Courier New" panose="02070309020205020404" pitchFamily="49" charset="0"/>
            </a:endParaRPr>
          </a:p>
          <a:p>
            <a:pPr marL="457200" lvl="1" indent="0">
              <a:buNone/>
            </a:pPr>
            <a:r>
              <a:rPr lang="en-US" sz="1800" b="1">
                <a:solidFill>
                  <a:srgbClr val="0070C0"/>
                </a:solidFill>
                <a:latin typeface="Courier New" panose="02070309020205020404" pitchFamily="49" charset="0"/>
                <a:cs typeface="Courier New" panose="02070309020205020404" pitchFamily="49" charset="0"/>
              </a:rPr>
              <a:t>void</a:t>
            </a:r>
            <a:r>
              <a:rPr lang="en-US" sz="1800" b="1">
                <a:latin typeface="Courier New" panose="02070309020205020404" pitchFamily="49" charset="0"/>
                <a:cs typeface="Courier New" panose="02070309020205020404" pitchFamily="49" charset="0"/>
              </a:rPr>
              <a:t> </a:t>
            </a:r>
            <a:r>
              <a:rPr lang="en-US" sz="1800" b="1" err="1">
                <a:latin typeface="Courier New" panose="02070309020205020404" pitchFamily="49" charset="0"/>
                <a:cs typeface="Courier New" panose="02070309020205020404" pitchFamily="49" charset="0"/>
              </a:rPr>
              <a:t>thread_code</a:t>
            </a:r>
            <a:r>
              <a:rPr lang="en-US" sz="1800" b="1">
                <a:latin typeface="Courier New" panose="02070309020205020404" pitchFamily="49" charset="0"/>
                <a:cs typeface="Courier New" panose="02070309020205020404" pitchFamily="49" charset="0"/>
              </a:rPr>
              <a:t>(</a:t>
            </a:r>
            <a:r>
              <a:rPr lang="en-US" sz="1800" b="1">
                <a:solidFill>
                  <a:schemeClr val="bg1">
                    <a:lumMod val="50000"/>
                  </a:schemeClr>
                </a:solidFill>
                <a:latin typeface="Courier New" panose="02070309020205020404" pitchFamily="49" charset="0"/>
                <a:cs typeface="Courier New" panose="02070309020205020404" pitchFamily="49" charset="0"/>
              </a:rPr>
              <a:t>/* </a:t>
            </a:r>
            <a:r>
              <a:rPr lang="en-US" sz="1800" b="1" err="1">
                <a:solidFill>
                  <a:schemeClr val="bg1">
                    <a:lumMod val="50000"/>
                  </a:schemeClr>
                </a:solidFill>
                <a:latin typeface="Courier New" panose="02070309020205020404" pitchFamily="49" charset="0"/>
                <a:cs typeface="Courier New" panose="02070309020205020404" pitchFamily="49" charset="0"/>
              </a:rPr>
              <a:t>params</a:t>
            </a:r>
            <a:r>
              <a:rPr lang="en-US" sz="1800" b="1">
                <a:solidFill>
                  <a:schemeClr val="bg1">
                    <a:lumMod val="50000"/>
                  </a:schemeClr>
                </a:solidFill>
                <a:latin typeface="Courier New" panose="02070309020205020404" pitchFamily="49" charset="0"/>
                <a:cs typeface="Courier New" panose="02070309020205020404" pitchFamily="49" charset="0"/>
              </a:rPr>
              <a:t> */</a:t>
            </a:r>
            <a:r>
              <a:rPr lang="en-US" sz="1800" b="1">
                <a:latin typeface="Courier New" panose="02070309020205020404" pitchFamily="49" charset="0"/>
                <a:cs typeface="Courier New" panose="02070309020205020404" pitchFamily="49" charset="0"/>
              </a:rPr>
              <a:t>) {</a:t>
            </a:r>
          </a:p>
          <a:p>
            <a:pPr marL="457200" lvl="1" indent="0">
              <a:buNone/>
            </a:pPr>
            <a:r>
              <a:rPr lang="en-US" sz="1800" b="1">
                <a:latin typeface="Courier New" panose="02070309020205020404" pitchFamily="49" charset="0"/>
                <a:cs typeface="Courier New" panose="02070309020205020404" pitchFamily="49" charset="0"/>
              </a:rPr>
              <a:t>  </a:t>
            </a:r>
            <a:r>
              <a:rPr lang="en-US" sz="1800" b="1">
                <a:solidFill>
                  <a:schemeClr val="bg1">
                    <a:lumMod val="50000"/>
                  </a:schemeClr>
                </a:solidFill>
                <a:latin typeface="Courier New" panose="02070309020205020404" pitchFamily="49" charset="0"/>
                <a:cs typeface="Courier New" panose="02070309020205020404" pitchFamily="49" charset="0"/>
              </a:rPr>
              <a:t>// ...</a:t>
            </a:r>
          </a:p>
          <a:p>
            <a:pPr marL="457200" lvl="1" indent="0">
              <a:buNone/>
            </a:pPr>
            <a:r>
              <a:rPr lang="en-US" sz="1800" b="1">
                <a:latin typeface="Courier New" panose="02070309020205020404" pitchFamily="49" charset="0"/>
                <a:cs typeface="Courier New" panose="02070309020205020404" pitchFamily="49" charset="0"/>
              </a:rPr>
              <a:t>}</a:t>
            </a:r>
          </a:p>
          <a:p>
            <a:pPr marL="457200" lvl="1" indent="0">
              <a:buNone/>
            </a:pPr>
            <a:endParaRPr lang="en-US" sz="1800" b="1">
              <a:latin typeface="Courier New" panose="02070309020205020404" pitchFamily="49" charset="0"/>
              <a:cs typeface="Courier New" panose="02070309020205020404" pitchFamily="49" charset="0"/>
            </a:endParaRPr>
          </a:p>
          <a:p>
            <a:pPr marL="457200" lvl="1" indent="0">
              <a:buNone/>
            </a:pPr>
            <a:r>
              <a:rPr lang="en-US" sz="1800" b="1" err="1">
                <a:solidFill>
                  <a:srgbClr val="0070C0"/>
                </a:solidFill>
                <a:latin typeface="Courier New" panose="02070309020205020404" pitchFamily="49" charset="0"/>
                <a:cs typeface="Courier New" panose="02070309020205020404" pitchFamily="49" charset="0"/>
              </a:rPr>
              <a:t>int</a:t>
            </a:r>
            <a:r>
              <a:rPr lang="en-US" sz="1800" b="1">
                <a:latin typeface="Courier New" panose="02070309020205020404" pitchFamily="49" charset="0"/>
                <a:cs typeface="Courier New" panose="02070309020205020404" pitchFamily="49" charset="0"/>
              </a:rPr>
              <a:t> main() {</a:t>
            </a:r>
          </a:p>
          <a:p>
            <a:pPr marL="457200" lvl="1" indent="0">
              <a:buNone/>
            </a:pPr>
            <a:r>
              <a:rPr lang="en-US" sz="1800" b="1">
                <a:latin typeface="Courier New" panose="02070309020205020404" pitchFamily="49" charset="0"/>
                <a:cs typeface="Courier New" panose="02070309020205020404" pitchFamily="49" charset="0"/>
              </a:rPr>
              <a:t>  </a:t>
            </a:r>
            <a:r>
              <a:rPr lang="en-US" sz="1800" b="1">
                <a:solidFill>
                  <a:schemeClr val="bg1">
                    <a:lumMod val="50000"/>
                  </a:schemeClr>
                </a:solidFill>
                <a:latin typeface="Courier New" panose="02070309020205020404" pitchFamily="49" charset="0"/>
                <a:cs typeface="Courier New" panose="02070309020205020404" pitchFamily="49" charset="0"/>
              </a:rPr>
              <a:t>// ...</a:t>
            </a:r>
          </a:p>
          <a:p>
            <a:pPr marL="457200" lvl="1" indent="0">
              <a:buNone/>
            </a:pPr>
            <a:r>
              <a:rPr lang="en-US" sz="1800" b="1">
                <a:latin typeface="Courier New" panose="02070309020205020404" pitchFamily="49" charset="0"/>
                <a:cs typeface="Courier New" panose="02070309020205020404" pitchFamily="49" charset="0"/>
              </a:rPr>
              <a:t>  </a:t>
            </a:r>
            <a:r>
              <a:rPr lang="en-US" sz="1800" b="1" err="1">
                <a:latin typeface="Courier New" panose="02070309020205020404" pitchFamily="49" charset="0"/>
                <a:cs typeface="Courier New" panose="02070309020205020404" pitchFamily="49" charset="0"/>
              </a:rPr>
              <a:t>std</a:t>
            </a:r>
            <a:r>
              <a:rPr lang="en-US" sz="1800" b="1">
                <a:latin typeface="Courier New" panose="02070309020205020404" pitchFamily="49" charset="0"/>
                <a:cs typeface="Courier New" panose="02070309020205020404" pitchFamily="49" charset="0"/>
              </a:rPr>
              <a:t>::</a:t>
            </a:r>
            <a:r>
              <a:rPr lang="en-US" sz="1800" b="1">
                <a:solidFill>
                  <a:srgbClr val="C00000"/>
                </a:solidFill>
                <a:latin typeface="Courier New" panose="02070309020205020404" pitchFamily="49" charset="0"/>
                <a:cs typeface="Courier New" panose="02070309020205020404" pitchFamily="49" charset="0"/>
              </a:rPr>
              <a:t>thread</a:t>
            </a:r>
            <a:r>
              <a:rPr lang="en-US" sz="1800" b="1">
                <a:latin typeface="Courier New" panose="02070309020205020404" pitchFamily="49" charset="0"/>
                <a:cs typeface="Courier New" panose="02070309020205020404" pitchFamily="49" charset="0"/>
              </a:rPr>
              <a:t> t(</a:t>
            </a:r>
            <a:r>
              <a:rPr lang="en-US" sz="1800" b="1" err="1">
                <a:latin typeface="Courier New" panose="02070309020205020404" pitchFamily="49" charset="0"/>
                <a:cs typeface="Courier New" panose="02070309020205020404" pitchFamily="49" charset="0"/>
              </a:rPr>
              <a:t>thread_code</a:t>
            </a:r>
            <a:r>
              <a:rPr lang="en-US" sz="1800" b="1">
                <a:latin typeface="Courier New" panose="02070309020205020404" pitchFamily="49" charset="0"/>
                <a:cs typeface="Courier New" panose="02070309020205020404" pitchFamily="49" charset="0"/>
              </a:rPr>
              <a:t>, </a:t>
            </a:r>
            <a:r>
              <a:rPr lang="en-US" sz="1800" b="1">
                <a:solidFill>
                  <a:schemeClr val="bg1">
                    <a:lumMod val="50000"/>
                  </a:schemeClr>
                </a:solidFill>
                <a:latin typeface="Courier New" panose="02070309020205020404" pitchFamily="49" charset="0"/>
                <a:cs typeface="Courier New" panose="02070309020205020404" pitchFamily="49" charset="0"/>
              </a:rPr>
              <a:t>/* </a:t>
            </a:r>
            <a:r>
              <a:rPr lang="en-US" sz="1800" b="1" err="1">
                <a:solidFill>
                  <a:schemeClr val="bg1">
                    <a:lumMod val="50000"/>
                  </a:schemeClr>
                </a:solidFill>
                <a:latin typeface="Courier New" panose="02070309020205020404" pitchFamily="49" charset="0"/>
                <a:cs typeface="Courier New" panose="02070309020205020404" pitchFamily="49" charset="0"/>
              </a:rPr>
              <a:t>params</a:t>
            </a:r>
            <a:r>
              <a:rPr lang="en-US" sz="1800" b="1">
                <a:solidFill>
                  <a:schemeClr val="bg1">
                    <a:lumMod val="50000"/>
                  </a:schemeClr>
                </a:solidFill>
                <a:latin typeface="Courier New" panose="02070309020205020404" pitchFamily="49" charset="0"/>
                <a:cs typeface="Courier New" panose="02070309020205020404" pitchFamily="49" charset="0"/>
              </a:rPr>
              <a:t> */</a:t>
            </a:r>
            <a:r>
              <a:rPr lang="en-US" sz="1800" b="1">
                <a:latin typeface="Courier New" panose="02070309020205020404" pitchFamily="49" charset="0"/>
                <a:cs typeface="Courier New" panose="02070309020205020404" pitchFamily="49" charset="0"/>
              </a:rPr>
              <a:t>);</a:t>
            </a:r>
          </a:p>
          <a:p>
            <a:pPr marL="457200" lvl="1" indent="0">
              <a:buNone/>
            </a:pPr>
            <a:r>
              <a:rPr lang="en-US" sz="1800" b="1">
                <a:latin typeface="Courier New" panose="02070309020205020404" pitchFamily="49" charset="0"/>
                <a:cs typeface="Courier New" panose="02070309020205020404" pitchFamily="49" charset="0"/>
              </a:rPr>
              <a:t>  </a:t>
            </a:r>
            <a:r>
              <a:rPr lang="en-US" sz="1800" b="1">
                <a:solidFill>
                  <a:schemeClr val="bg1">
                    <a:lumMod val="50000"/>
                  </a:schemeClr>
                </a:solidFill>
                <a:latin typeface="Courier New" panose="02070309020205020404" pitchFamily="49" charset="0"/>
                <a:cs typeface="Courier New" panose="02070309020205020404" pitchFamily="49" charset="0"/>
              </a:rPr>
              <a:t>// here main thread and t run concurrently</a:t>
            </a:r>
            <a:endParaRPr lang="en-US" sz="1800" b="1">
              <a:latin typeface="Courier New" panose="02070309020205020404" pitchFamily="49" charset="0"/>
              <a:cs typeface="Courier New" panose="02070309020205020404" pitchFamily="49" charset="0"/>
            </a:endParaRPr>
          </a:p>
          <a:p>
            <a:pPr marL="457200" lvl="1" indent="0">
              <a:buNone/>
            </a:pPr>
            <a:r>
              <a:rPr lang="en-US" sz="1800" b="1">
                <a:latin typeface="Courier New" panose="02070309020205020404" pitchFamily="49" charset="0"/>
                <a:cs typeface="Courier New" panose="02070309020205020404" pitchFamily="49" charset="0"/>
              </a:rPr>
              <a:t>  </a:t>
            </a:r>
            <a:r>
              <a:rPr lang="en-US" sz="1800" b="1" err="1">
                <a:latin typeface="Courier New" panose="02070309020205020404" pitchFamily="49" charset="0"/>
                <a:cs typeface="Courier New" panose="02070309020205020404" pitchFamily="49" charset="0"/>
              </a:rPr>
              <a:t>t.</a:t>
            </a:r>
            <a:r>
              <a:rPr lang="en-US" sz="1800" b="1" err="1">
                <a:solidFill>
                  <a:srgbClr val="C00000"/>
                </a:solidFill>
                <a:latin typeface="Courier New" panose="02070309020205020404" pitchFamily="49" charset="0"/>
                <a:cs typeface="Courier New" panose="02070309020205020404" pitchFamily="49" charset="0"/>
              </a:rPr>
              <a:t>join</a:t>
            </a:r>
            <a:r>
              <a:rPr lang="en-US" sz="1800" b="1">
                <a:latin typeface="Courier New" panose="02070309020205020404" pitchFamily="49" charset="0"/>
                <a:cs typeface="Courier New" panose="02070309020205020404" pitchFamily="49" charset="0"/>
              </a:rPr>
              <a:t>();</a:t>
            </a:r>
          </a:p>
          <a:p>
            <a:pPr marL="457200" lvl="1" indent="0">
              <a:buNone/>
            </a:pPr>
            <a:r>
              <a:rPr lang="en-US" sz="1800" b="1">
                <a:latin typeface="Courier New" panose="02070309020205020404" pitchFamily="49" charset="0"/>
                <a:cs typeface="Courier New" panose="02070309020205020404" pitchFamily="49" charset="0"/>
              </a:rPr>
              <a:t>  </a:t>
            </a:r>
            <a:r>
              <a:rPr lang="en-US" sz="1800" b="1">
                <a:solidFill>
                  <a:schemeClr val="bg1">
                    <a:lumMod val="50000"/>
                  </a:schemeClr>
                </a:solidFill>
                <a:latin typeface="Courier New" panose="02070309020205020404" pitchFamily="49" charset="0"/>
                <a:cs typeface="Courier New" panose="02070309020205020404" pitchFamily="49" charset="0"/>
              </a:rPr>
              <a:t>// ...</a:t>
            </a:r>
          </a:p>
          <a:p>
            <a:pPr marL="457200" lvl="1" indent="0">
              <a:buNone/>
            </a:pPr>
            <a:r>
              <a:rPr lang="en-US" sz="1800" b="1">
                <a:latin typeface="Courier New" panose="02070309020205020404" pitchFamily="49" charset="0"/>
                <a:cs typeface="Courier New" panose="02070309020205020404" pitchFamily="49" charset="0"/>
              </a:rPr>
              <a:t>}</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25</a:t>
            </a:fld>
            <a:endParaRPr lang="en-US" altLang="en-US"/>
          </a:p>
        </p:txBody>
      </p:sp>
      <p:sp>
        <p:nvSpPr>
          <p:cNvPr id="6" name="Rounded Rectangular Callout 5"/>
          <p:cNvSpPr/>
          <p:nvPr/>
        </p:nvSpPr>
        <p:spPr>
          <a:xfrm>
            <a:off x="3359696" y="3573016"/>
            <a:ext cx="5184576" cy="612648"/>
          </a:xfrm>
          <a:prstGeom prst="wedgeRoundRectCallout">
            <a:avLst>
              <a:gd name="adj1" fmla="val -49694"/>
              <a:gd name="adj2" fmla="val 94160"/>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t>This will translate in some low-level system calls</a:t>
            </a:r>
          </a:p>
        </p:txBody>
      </p:sp>
    </p:spTree>
    <p:extLst>
      <p:ext uri="{BB962C8B-B14F-4D97-AF65-F5344CB8AC3E}">
        <p14:creationId xmlns:p14="http://schemas.microsoft.com/office/powerpoint/2010/main" val="13966037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Processing</a:t>
            </a:r>
          </a:p>
        </p:txBody>
      </p:sp>
      <p:sp>
        <p:nvSpPr>
          <p:cNvPr id="3" name="Content Placeholder 2"/>
          <p:cNvSpPr>
            <a:spLocks noGrp="1"/>
          </p:cNvSpPr>
          <p:nvPr>
            <p:ph idx="1"/>
          </p:nvPr>
        </p:nvSpPr>
        <p:spPr/>
        <p:txBody>
          <a:bodyPr>
            <a:normAutofit/>
          </a:bodyPr>
          <a:lstStyle/>
          <a:p>
            <a:r>
              <a:rPr lang="en-US"/>
              <a:t>Scheduler</a:t>
            </a:r>
          </a:p>
          <a:p>
            <a:pPr lvl="1"/>
            <a:r>
              <a:rPr lang="en-US"/>
              <a:t>Part of OS</a:t>
            </a:r>
          </a:p>
          <a:p>
            <a:pPr lvl="1"/>
            <a:r>
              <a:rPr lang="en-US"/>
              <a:t>Uses scheduling algorithms to assign computing resources to scheduling units (CPU cores)</a:t>
            </a:r>
          </a:p>
          <a:p>
            <a:r>
              <a:rPr lang="en-US"/>
              <a:t>Multitasking</a:t>
            </a:r>
          </a:p>
          <a:p>
            <a:pPr lvl="1"/>
            <a:r>
              <a:rPr lang="en-US"/>
              <a:t>Concurrent executions of multiple processes</a:t>
            </a:r>
          </a:p>
          <a:p>
            <a:r>
              <a:rPr lang="en-US"/>
              <a:t>Multiprocessing</a:t>
            </a:r>
          </a:p>
          <a:p>
            <a:pPr lvl="1"/>
            <a:r>
              <a:rPr lang="en-US"/>
              <a:t>Multiple CPUs (cores) in one system</a:t>
            </a:r>
          </a:p>
          <a:p>
            <a:pPr lvl="1"/>
            <a:r>
              <a:rPr lang="en-US"/>
              <a:t>More challenging for the scheduler</a:t>
            </a:r>
          </a:p>
          <a:p>
            <a:pPr lvl="1"/>
            <a:r>
              <a:rPr lang="en-US"/>
              <a:t>Affinity</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26</a:t>
            </a:fld>
            <a:endParaRPr lang="en-US" altLang="en-US"/>
          </a:p>
        </p:txBody>
      </p:sp>
    </p:spTree>
    <p:extLst>
      <p:ext uri="{BB962C8B-B14F-4D97-AF65-F5344CB8AC3E}">
        <p14:creationId xmlns:p14="http://schemas.microsoft.com/office/powerpoint/2010/main" val="2926591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Processing</a:t>
            </a:r>
          </a:p>
        </p:txBody>
      </p:sp>
      <p:sp>
        <p:nvSpPr>
          <p:cNvPr id="3" name="Content Placeholder 2"/>
          <p:cNvSpPr>
            <a:spLocks noGrp="1"/>
          </p:cNvSpPr>
          <p:nvPr>
            <p:ph idx="1"/>
          </p:nvPr>
        </p:nvSpPr>
        <p:spPr/>
        <p:txBody>
          <a:bodyPr>
            <a:normAutofit/>
          </a:bodyPr>
          <a:lstStyle/>
          <a:p>
            <a:r>
              <a:rPr lang="en-US" dirty="0"/>
              <a:t>Context</a:t>
            </a:r>
          </a:p>
          <a:p>
            <a:pPr lvl="1"/>
            <a:r>
              <a:rPr lang="en-US" dirty="0"/>
              <a:t>CPU (and possibly other) state of a scheduling unit</a:t>
            </a:r>
          </a:p>
          <a:p>
            <a:pPr lvl="2"/>
            <a:r>
              <a:rPr lang="en-US" dirty="0"/>
              <a:t>Registers (including PC, specialized vector registers)</a:t>
            </a:r>
          </a:p>
          <a:p>
            <a:pPr lvl="2"/>
            <a:r>
              <a:rPr lang="en-US" dirty="0"/>
              <a:t>Additional units (x87 coprocessor)</a:t>
            </a:r>
          </a:p>
          <a:p>
            <a:pPr lvl="2"/>
            <a:r>
              <a:rPr lang="en-US" dirty="0"/>
              <a:t>Virtual memory and address-space-related context</a:t>
            </a:r>
          </a:p>
          <a:p>
            <a:pPr lvl="3"/>
            <a:r>
              <a:rPr lang="en-US" dirty="0"/>
              <a:t>Page tables, TLB (will be covered later)</a:t>
            </a:r>
          </a:p>
          <a:p>
            <a:pPr lvl="3"/>
            <a:r>
              <a:rPr lang="en-US" dirty="0"/>
              <a:t>Memory caches are transparent (not part of the context, but may affect performance)</a:t>
            </a:r>
          </a:p>
          <a:p>
            <a:r>
              <a:rPr lang="en-US" dirty="0"/>
              <a:t>Context switch</a:t>
            </a:r>
          </a:p>
          <a:p>
            <a:pPr lvl="1"/>
            <a:r>
              <a:rPr lang="en-US" dirty="0"/>
              <a:t>Process of storing the context of a scheduling unit (when suspended)</a:t>
            </a:r>
            <a:br>
              <a:rPr lang="en-US" dirty="0"/>
            </a:br>
            <a:r>
              <a:rPr lang="en-US" dirty="0"/>
              <a:t>and restoring the context of another scheduling unit (</a:t>
            </a:r>
            <a:r>
              <a:rPr lang="en-US"/>
              <a:t>when resumed)</a:t>
            </a:r>
            <a:endParaRPr lang="en-US" dirty="0"/>
          </a:p>
          <a:p>
            <a:pPr lvl="1"/>
            <a:r>
              <a:rPr lang="en-US" dirty="0"/>
              <a:t>Quite costly (hundreds-thousands of instructions)</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27</a:t>
            </a:fld>
            <a:endParaRPr lang="en-US" altLang="en-US"/>
          </a:p>
        </p:txBody>
      </p:sp>
    </p:spTree>
    <p:extLst>
      <p:ext uri="{BB962C8B-B14F-4D97-AF65-F5344CB8AC3E}">
        <p14:creationId xmlns:p14="http://schemas.microsoft.com/office/powerpoint/2010/main" val="4176813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Real-time scheduling</a:t>
            </a:r>
          </a:p>
        </p:txBody>
      </p:sp>
      <p:sp>
        <p:nvSpPr>
          <p:cNvPr id="3" name="Content Placeholder 2"/>
          <p:cNvSpPr>
            <a:spLocks noGrp="1"/>
          </p:cNvSpPr>
          <p:nvPr>
            <p:ph idx="1"/>
          </p:nvPr>
        </p:nvSpPr>
        <p:spPr/>
        <p:txBody>
          <a:bodyPr>
            <a:normAutofit/>
          </a:bodyPr>
          <a:lstStyle/>
          <a:p>
            <a:r>
              <a:rPr lang="en-US" dirty="0"/>
              <a:t>Real-time scheduling</a:t>
            </a:r>
          </a:p>
          <a:p>
            <a:pPr lvl="1"/>
            <a:r>
              <a:rPr lang="en-US" dirty="0"/>
              <a:t>RT process has a start time (release time) and a stop time (deadline)</a:t>
            </a:r>
          </a:p>
          <a:p>
            <a:pPr lvl="1"/>
            <a:r>
              <a:rPr lang="en-US" dirty="0"/>
              <a:t>Release time – the time at which the process must start after some event occurred</a:t>
            </a:r>
          </a:p>
          <a:p>
            <a:pPr lvl="1"/>
            <a:r>
              <a:rPr lang="en-US" dirty="0"/>
              <a:t>Deadline – the time by which the task must complete</a:t>
            </a:r>
          </a:p>
          <a:p>
            <a:pPr lvl="2"/>
            <a:r>
              <a:rPr lang="en-US" dirty="0"/>
              <a:t>Hard – no value to continuing computation after the deadline</a:t>
            </a:r>
          </a:p>
          <a:p>
            <a:pPr lvl="2"/>
            <a:r>
              <a:rPr lang="en-US" dirty="0"/>
              <a:t>Soft – the value of late result diminishes with time after the deadline</a:t>
            </a:r>
          </a:p>
        </p:txBody>
      </p:sp>
      <p:sp>
        <p:nvSpPr>
          <p:cNvPr id="7" name="Date Placeholder 6"/>
          <p:cNvSpPr>
            <a:spLocks noGrp="1"/>
          </p:cNvSpPr>
          <p:nvPr>
            <p:ph type="dt" sz="half" idx="10"/>
          </p:nvPr>
        </p:nvSpPr>
        <p:spPr/>
        <p:txBody>
          <a:bodyPr/>
          <a:lstStyle/>
          <a:p>
            <a:r>
              <a:rPr lang="cs-CZ" altLang="en-US"/>
              <a:t>17.4.2025</a:t>
            </a:r>
            <a:endParaRPr lang="en-US" altLang="en-US"/>
          </a:p>
        </p:txBody>
      </p:sp>
      <p:sp>
        <p:nvSpPr>
          <p:cNvPr id="8" name="Slide Number Placeholder 7"/>
          <p:cNvSpPr>
            <a:spLocks noGrp="1"/>
          </p:cNvSpPr>
          <p:nvPr>
            <p:ph type="sldNum" sz="quarter" idx="12"/>
          </p:nvPr>
        </p:nvSpPr>
        <p:spPr/>
        <p:txBody>
          <a:bodyPr/>
          <a:lstStyle/>
          <a:p>
            <a:fld id="{F4A1145F-674A-4228-8958-0EA9769F5517}" type="slidenum">
              <a:rPr lang="en-US" altLang="en-US" smtClean="0"/>
              <a:pPr/>
              <a:t>28</a:t>
            </a:fld>
            <a:endParaRPr lang="en-US" altLang="en-US"/>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77539" y="4748096"/>
            <a:ext cx="1594609" cy="1594609"/>
          </a:xfrm>
          <a:prstGeom prst="rect">
            <a:avLst/>
          </a:prstGeom>
        </p:spPr>
      </p:pic>
      <p:pic>
        <p:nvPicPr>
          <p:cNvPr id="5" name="Picture 4" descr="Accident Car Collision · Free vector graphic on Pixabay"/>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88904" y="5006703"/>
            <a:ext cx="2843808" cy="1421904"/>
          </a:xfrm>
          <a:prstGeom prst="rect">
            <a:avLst/>
          </a:prstGeom>
        </p:spPr>
      </p:pic>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12966" y="4917079"/>
            <a:ext cx="1560579" cy="1560579"/>
          </a:xfrm>
          <a:prstGeom prst="rect">
            <a:avLst/>
          </a:prstGeom>
        </p:spPr>
      </p:pic>
    </p:spTree>
    <p:extLst>
      <p:ext uri="{BB962C8B-B14F-4D97-AF65-F5344CB8AC3E}">
        <p14:creationId xmlns:p14="http://schemas.microsoft.com/office/powerpoint/2010/main" val="37089196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Unit of scheduling state</a:t>
            </a:r>
          </a:p>
        </p:txBody>
      </p:sp>
      <p:sp>
        <p:nvSpPr>
          <p:cNvPr id="9" name="Content Placeholder 8"/>
          <p:cNvSpPr>
            <a:spLocks noGrp="1"/>
          </p:cNvSpPr>
          <p:nvPr>
            <p:ph idx="1"/>
          </p:nvPr>
        </p:nvSpPr>
        <p:spPr>
          <a:xfrm>
            <a:off x="838200" y="1825624"/>
            <a:ext cx="10515600" cy="4530725"/>
          </a:xfrm>
        </p:spPr>
        <p:txBody>
          <a:bodyPr>
            <a:noAutofit/>
          </a:bodyPr>
          <a:lstStyle/>
          <a:p>
            <a:r>
              <a:rPr lang="en-US" dirty="0"/>
              <a:t>Created</a:t>
            </a:r>
          </a:p>
          <a:p>
            <a:pPr lvl="1"/>
            <a:r>
              <a:rPr lang="en-US" dirty="0"/>
              <a:t>Awaits admission</a:t>
            </a:r>
          </a:p>
          <a:p>
            <a:r>
              <a:rPr lang="en-US" dirty="0"/>
              <a:t>Terminated</a:t>
            </a:r>
          </a:p>
          <a:p>
            <a:pPr lvl="1"/>
            <a:r>
              <a:rPr lang="en-US" dirty="0"/>
              <a:t>Until the parent process reads the result</a:t>
            </a:r>
          </a:p>
          <a:p>
            <a:r>
              <a:rPr lang="en-US" dirty="0"/>
              <a:t>Ready</a:t>
            </a:r>
          </a:p>
          <a:p>
            <a:pPr lvl="1"/>
            <a:r>
              <a:rPr lang="en-US" dirty="0"/>
              <a:t>Wait for scheduling</a:t>
            </a:r>
          </a:p>
          <a:p>
            <a:r>
              <a:rPr lang="en-US" dirty="0"/>
              <a:t>Running</a:t>
            </a:r>
          </a:p>
          <a:p>
            <a:pPr lvl="1"/>
            <a:r>
              <a:rPr lang="en-US" dirty="0"/>
              <a:t>CPU assigned</a:t>
            </a:r>
          </a:p>
          <a:p>
            <a:r>
              <a:rPr lang="en-US" dirty="0"/>
              <a:t>Blocked</a:t>
            </a:r>
          </a:p>
          <a:p>
            <a:pPr lvl="1"/>
            <a:r>
              <a:rPr lang="en-US" dirty="0"/>
              <a:t>Wait for resources</a:t>
            </a:r>
          </a:p>
        </p:txBody>
      </p:sp>
      <p:sp>
        <p:nvSpPr>
          <p:cNvPr id="3" name="Date Placeholder 2"/>
          <p:cNvSpPr>
            <a:spLocks noGrp="1"/>
          </p:cNvSpPr>
          <p:nvPr>
            <p:ph type="dt" sz="half" idx="10"/>
          </p:nvPr>
        </p:nvSpPr>
        <p:spPr/>
        <p:txBody>
          <a:bodyPr/>
          <a:lstStyle/>
          <a:p>
            <a:r>
              <a:rPr lang="cs-CZ" altLang="en-US"/>
              <a:t>17.4.2025</a:t>
            </a:r>
            <a:endParaRPr lang="en-US" altLang="en-US"/>
          </a:p>
        </p:txBody>
      </p:sp>
      <p:sp>
        <p:nvSpPr>
          <p:cNvPr id="10" name="Slide Number Placeholder 9"/>
          <p:cNvSpPr>
            <a:spLocks noGrp="1"/>
          </p:cNvSpPr>
          <p:nvPr>
            <p:ph type="sldNum" sz="quarter" idx="12"/>
          </p:nvPr>
        </p:nvSpPr>
        <p:spPr/>
        <p:txBody>
          <a:bodyPr/>
          <a:lstStyle/>
          <a:p>
            <a:fld id="{F4A1145F-674A-4228-8958-0EA9769F5517}" type="slidenum">
              <a:rPr lang="en-US" altLang="en-US" smtClean="0"/>
              <a:pPr/>
              <a:t>29</a:t>
            </a:fld>
            <a:endParaRPr lang="en-US" altLang="en-US"/>
          </a:p>
        </p:txBody>
      </p:sp>
      <p:sp>
        <p:nvSpPr>
          <p:cNvPr id="4" name="Oval 3"/>
          <p:cNvSpPr/>
          <p:nvPr/>
        </p:nvSpPr>
        <p:spPr bwMode="auto">
          <a:xfrm>
            <a:off x="6944300" y="2398061"/>
            <a:ext cx="1512168" cy="792088"/>
          </a:xfrm>
          <a:prstGeom prst="ellipse">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Created</a:t>
            </a:r>
          </a:p>
        </p:txBody>
      </p:sp>
      <p:sp>
        <p:nvSpPr>
          <p:cNvPr id="5" name="Oval 4"/>
          <p:cNvSpPr/>
          <p:nvPr/>
        </p:nvSpPr>
        <p:spPr bwMode="auto">
          <a:xfrm>
            <a:off x="9968636" y="4772891"/>
            <a:ext cx="1512168" cy="792088"/>
          </a:xfrm>
          <a:prstGeom prst="ellipse">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Blocked</a:t>
            </a:r>
          </a:p>
        </p:txBody>
      </p:sp>
      <p:sp>
        <p:nvSpPr>
          <p:cNvPr id="6" name="Oval 5"/>
          <p:cNvSpPr/>
          <p:nvPr/>
        </p:nvSpPr>
        <p:spPr bwMode="auto">
          <a:xfrm>
            <a:off x="6944300" y="4772891"/>
            <a:ext cx="1512168" cy="792088"/>
          </a:xfrm>
          <a:prstGeom prst="ellipse">
            <a:avLst/>
          </a:prstGeom>
          <a:solidFill>
            <a:schemeClr val="accent4">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Ready</a:t>
            </a:r>
          </a:p>
        </p:txBody>
      </p:sp>
      <p:sp>
        <p:nvSpPr>
          <p:cNvPr id="7" name="Oval 6"/>
          <p:cNvSpPr/>
          <p:nvPr/>
        </p:nvSpPr>
        <p:spPr bwMode="auto">
          <a:xfrm>
            <a:off x="8456468" y="3585476"/>
            <a:ext cx="1512168" cy="792088"/>
          </a:xfrm>
          <a:prstGeom prst="ellipse">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Running</a:t>
            </a:r>
          </a:p>
        </p:txBody>
      </p:sp>
      <p:sp>
        <p:nvSpPr>
          <p:cNvPr id="8" name="Oval 7"/>
          <p:cNvSpPr/>
          <p:nvPr/>
        </p:nvSpPr>
        <p:spPr bwMode="auto">
          <a:xfrm>
            <a:off x="9968636" y="2398061"/>
            <a:ext cx="1512168" cy="792088"/>
          </a:xfrm>
          <a:prstGeom prst="ellipse">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Terminated</a:t>
            </a:r>
            <a:br>
              <a:rPr lang="en-US"/>
            </a:br>
            <a:r>
              <a:rPr lang="en-US"/>
              <a:t>(zombie)</a:t>
            </a:r>
          </a:p>
        </p:txBody>
      </p:sp>
      <p:cxnSp>
        <p:nvCxnSpPr>
          <p:cNvPr id="11" name="Straight Arrow Connector 10"/>
          <p:cNvCxnSpPr>
            <a:stCxn id="4" idx="4"/>
            <a:endCxn id="6" idx="0"/>
          </p:cNvCxnSpPr>
          <p:nvPr/>
        </p:nvCxnSpPr>
        <p:spPr bwMode="auto">
          <a:xfrm>
            <a:off x="7700384" y="3190149"/>
            <a:ext cx="0" cy="1582742"/>
          </a:xfrm>
          <a:prstGeom prst="straightConnector1">
            <a:avLst/>
          </a:prstGeom>
          <a:solidFill>
            <a:schemeClr val="accent1"/>
          </a:solidFill>
          <a:ln w="12700" cap="flat" cmpd="sng" algn="ctr">
            <a:solidFill>
              <a:schemeClr val="tx1"/>
            </a:solidFill>
            <a:prstDash val="solid"/>
            <a:round/>
            <a:headEnd type="none" w="lg" len="lg"/>
            <a:tailEnd type="triangle" w="lg" len="lg"/>
          </a:ln>
          <a:effectLst/>
        </p:spPr>
      </p:cxnSp>
      <p:cxnSp>
        <p:nvCxnSpPr>
          <p:cNvPr id="13" name="Straight Arrow Connector 12"/>
          <p:cNvCxnSpPr>
            <a:stCxn id="6" idx="7"/>
            <a:endCxn id="7" idx="3"/>
          </p:cNvCxnSpPr>
          <p:nvPr/>
        </p:nvCxnSpPr>
        <p:spPr bwMode="auto">
          <a:xfrm flipV="1">
            <a:off x="8235016" y="4261566"/>
            <a:ext cx="442904" cy="627325"/>
          </a:xfrm>
          <a:prstGeom prst="straightConnector1">
            <a:avLst/>
          </a:prstGeom>
          <a:solidFill>
            <a:schemeClr val="accent1"/>
          </a:solidFill>
          <a:ln w="12700" cap="flat" cmpd="sng" algn="ctr">
            <a:solidFill>
              <a:schemeClr val="tx1"/>
            </a:solidFill>
            <a:prstDash val="solid"/>
            <a:round/>
            <a:headEnd type="triangle" w="lg" len="lg"/>
            <a:tailEnd type="triangle" w="lg" len="lg"/>
          </a:ln>
          <a:effectLst/>
        </p:spPr>
      </p:cxnSp>
      <p:cxnSp>
        <p:nvCxnSpPr>
          <p:cNvPr id="15" name="Straight Arrow Connector 14"/>
          <p:cNvCxnSpPr>
            <a:stCxn id="7" idx="7"/>
            <a:endCxn id="8" idx="3"/>
          </p:cNvCxnSpPr>
          <p:nvPr/>
        </p:nvCxnSpPr>
        <p:spPr bwMode="auto">
          <a:xfrm flipV="1">
            <a:off x="9747184" y="3074151"/>
            <a:ext cx="442904" cy="627325"/>
          </a:xfrm>
          <a:prstGeom prst="straightConnector1">
            <a:avLst/>
          </a:prstGeom>
          <a:solidFill>
            <a:schemeClr val="accent1"/>
          </a:solidFill>
          <a:ln w="12700" cap="flat" cmpd="sng" algn="ctr">
            <a:solidFill>
              <a:schemeClr val="tx1"/>
            </a:solidFill>
            <a:prstDash val="solid"/>
            <a:round/>
            <a:headEnd type="none" w="lg" len="lg"/>
            <a:tailEnd type="triangle" w="lg" len="lg"/>
          </a:ln>
          <a:effectLst/>
        </p:spPr>
      </p:cxnSp>
      <p:cxnSp>
        <p:nvCxnSpPr>
          <p:cNvPr id="17" name="Straight Arrow Connector 16"/>
          <p:cNvCxnSpPr>
            <a:stCxn id="7" idx="5"/>
            <a:endCxn id="5" idx="1"/>
          </p:cNvCxnSpPr>
          <p:nvPr/>
        </p:nvCxnSpPr>
        <p:spPr bwMode="auto">
          <a:xfrm>
            <a:off x="9747184" y="4261566"/>
            <a:ext cx="442904" cy="627325"/>
          </a:xfrm>
          <a:prstGeom prst="straightConnector1">
            <a:avLst/>
          </a:prstGeom>
          <a:solidFill>
            <a:schemeClr val="accent1"/>
          </a:solidFill>
          <a:ln w="12700" cap="flat" cmpd="sng" algn="ctr">
            <a:solidFill>
              <a:schemeClr val="tx1"/>
            </a:solidFill>
            <a:prstDash val="solid"/>
            <a:round/>
            <a:headEnd type="none" w="lg" len="lg"/>
            <a:tailEnd type="triangle" w="lg" len="lg"/>
          </a:ln>
          <a:effectLst/>
        </p:spPr>
      </p:cxnSp>
      <p:cxnSp>
        <p:nvCxnSpPr>
          <p:cNvPr id="19" name="Straight Arrow Connector 18"/>
          <p:cNvCxnSpPr>
            <a:stCxn id="5" idx="2"/>
            <a:endCxn id="6" idx="6"/>
          </p:cNvCxnSpPr>
          <p:nvPr/>
        </p:nvCxnSpPr>
        <p:spPr bwMode="auto">
          <a:xfrm flipH="1">
            <a:off x="8456468" y="5168935"/>
            <a:ext cx="1512168" cy="0"/>
          </a:xfrm>
          <a:prstGeom prst="straightConnector1">
            <a:avLst/>
          </a:prstGeom>
          <a:solidFill>
            <a:schemeClr val="accent1"/>
          </a:solidFill>
          <a:ln w="12700" cap="flat" cmpd="sng" algn="ctr">
            <a:solidFill>
              <a:schemeClr val="tx1"/>
            </a:solidFill>
            <a:prstDash val="solid"/>
            <a:round/>
            <a:headEnd type="none" w="lg" len="lg"/>
            <a:tailEnd type="triangle" w="lg" len="lg"/>
          </a:ln>
          <a:effectLst/>
        </p:spPr>
      </p:cxnSp>
    </p:spTree>
    <p:extLst>
      <p:ext uri="{BB962C8B-B14F-4D97-AF65-F5344CB8AC3E}">
        <p14:creationId xmlns:p14="http://schemas.microsoft.com/office/powerpoint/2010/main" val="27826212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Multitasking</a:t>
            </a:r>
          </a:p>
        </p:txBody>
      </p:sp>
      <p:sp>
        <p:nvSpPr>
          <p:cNvPr id="3" name="Content Placeholder 2"/>
          <p:cNvSpPr>
            <a:spLocks noGrp="1"/>
          </p:cNvSpPr>
          <p:nvPr>
            <p:ph sz="half" idx="1"/>
          </p:nvPr>
        </p:nvSpPr>
        <p:spPr/>
        <p:txBody>
          <a:bodyPr>
            <a:noAutofit/>
          </a:bodyPr>
          <a:lstStyle/>
          <a:p>
            <a:r>
              <a:rPr lang="en-US" dirty="0"/>
              <a:t>Cooperative</a:t>
            </a:r>
          </a:p>
          <a:p>
            <a:pPr lvl="1"/>
            <a:r>
              <a:rPr lang="en-US" dirty="0"/>
              <a:t>Unit of scheduling must explicitly and voluntarily yield control</a:t>
            </a:r>
          </a:p>
          <a:p>
            <a:pPr lvl="1"/>
            <a:r>
              <a:rPr lang="en-US" dirty="0"/>
              <a:t>All processes must cooperate</a:t>
            </a:r>
          </a:p>
          <a:p>
            <a:pPr lvl="2"/>
            <a:r>
              <a:rPr lang="en-US" dirty="0"/>
              <a:t>Special systems</a:t>
            </a:r>
          </a:p>
          <a:p>
            <a:pPr lvl="1"/>
            <a:r>
              <a:rPr lang="en-US" dirty="0"/>
              <a:t>Scheduling in OS reduced on starting the process and making context switch after the yield</a:t>
            </a:r>
          </a:p>
          <a:p>
            <a:pPr lvl="2"/>
            <a:r>
              <a:rPr lang="en-US" dirty="0"/>
              <a:t>OS does not initiate a context switch</a:t>
            </a:r>
          </a:p>
        </p:txBody>
      </p:sp>
      <p:sp>
        <p:nvSpPr>
          <p:cNvPr id="6" name="Content Placeholder 5"/>
          <p:cNvSpPr>
            <a:spLocks noGrp="1"/>
          </p:cNvSpPr>
          <p:nvPr>
            <p:ph sz="half" idx="2"/>
          </p:nvPr>
        </p:nvSpPr>
        <p:spPr>
          <a:xfrm>
            <a:off x="6172200" y="1825625"/>
            <a:ext cx="5181600" cy="4411688"/>
          </a:xfrm>
        </p:spPr>
        <p:txBody>
          <a:bodyPr>
            <a:normAutofit lnSpcReduction="10000"/>
          </a:bodyPr>
          <a:lstStyle/>
          <a:p>
            <a:r>
              <a:rPr lang="en-US" dirty="0"/>
              <a:t>Preemptive</a:t>
            </a:r>
          </a:p>
          <a:p>
            <a:pPr lvl="1"/>
            <a:r>
              <a:rPr lang="en-US" dirty="0"/>
              <a:t>Each running unit of scheduling has an assigned </a:t>
            </a:r>
            <a:r>
              <a:rPr lang="en-US" b="1" dirty="0"/>
              <a:t>time slice</a:t>
            </a:r>
          </a:p>
          <a:p>
            <a:pPr lvl="1"/>
            <a:r>
              <a:rPr lang="en-US" dirty="0"/>
              <a:t>OS needs some external source of </a:t>
            </a:r>
            <a:r>
              <a:rPr lang="en-US" b="1" dirty="0"/>
              <a:t>interrupt</a:t>
            </a:r>
            <a:r>
              <a:rPr lang="en-US" dirty="0"/>
              <a:t> (HW timer)</a:t>
            </a:r>
          </a:p>
          <a:p>
            <a:pPr lvl="1"/>
            <a:r>
              <a:rPr lang="en-US" dirty="0"/>
              <a:t>If the unit of scheduling blocks or is terminated before the time slice ends, nothing of interest happens</a:t>
            </a:r>
          </a:p>
          <a:p>
            <a:pPr lvl="1"/>
            <a:r>
              <a:rPr lang="en-US" dirty="0"/>
              <a:t>If the unit of scheduling consumes the whole time slice</a:t>
            </a:r>
          </a:p>
          <a:p>
            <a:pPr lvl="2"/>
            <a:r>
              <a:rPr lang="en-US" dirty="0"/>
              <a:t>interrupted by the external source</a:t>
            </a:r>
          </a:p>
          <a:p>
            <a:pPr lvl="2"/>
            <a:r>
              <a:rPr lang="en-US" dirty="0"/>
              <a:t>changed to READY state</a:t>
            </a:r>
          </a:p>
          <a:p>
            <a:pPr lvl="2"/>
            <a:r>
              <a:rPr lang="en-US" dirty="0"/>
              <a:t>OS will make a context switch</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30</a:t>
            </a:fld>
            <a:endParaRPr lang="en-US" altLang="en-US"/>
          </a:p>
        </p:txBody>
      </p:sp>
    </p:spTree>
    <p:extLst>
      <p:ext uri="{BB962C8B-B14F-4D97-AF65-F5344CB8AC3E}">
        <p14:creationId xmlns:p14="http://schemas.microsoft.com/office/powerpoint/2010/main" val="5181444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Scheduling</a:t>
            </a:r>
          </a:p>
        </p:txBody>
      </p:sp>
      <p:sp>
        <p:nvSpPr>
          <p:cNvPr id="3" name="Content Placeholder 2"/>
          <p:cNvSpPr>
            <a:spLocks noGrp="1"/>
          </p:cNvSpPr>
          <p:nvPr>
            <p:ph idx="1"/>
          </p:nvPr>
        </p:nvSpPr>
        <p:spPr/>
        <p:txBody>
          <a:bodyPr>
            <a:normAutofit/>
          </a:bodyPr>
          <a:lstStyle/>
          <a:p>
            <a:r>
              <a:rPr lang="en-US" dirty="0"/>
              <a:t>Objectives</a:t>
            </a:r>
          </a:p>
          <a:p>
            <a:pPr lvl="1"/>
            <a:r>
              <a:rPr lang="en-US" dirty="0"/>
              <a:t>Maximize/optimize CPU utilization (based on the workload)</a:t>
            </a:r>
          </a:p>
          <a:p>
            <a:pPr lvl="1"/>
            <a:r>
              <a:rPr lang="en-US" dirty="0"/>
              <a:t>Fair allocation of CPU</a:t>
            </a:r>
          </a:p>
          <a:p>
            <a:pPr lvl="1"/>
            <a:r>
              <a:rPr lang="en-US" dirty="0"/>
              <a:t>Maximize throughput</a:t>
            </a:r>
          </a:p>
          <a:p>
            <a:pPr lvl="2"/>
            <a:r>
              <a:rPr lang="en-US" dirty="0"/>
              <a:t>Number of processes that complete their execution per time unit</a:t>
            </a:r>
          </a:p>
          <a:p>
            <a:pPr lvl="1"/>
            <a:r>
              <a:rPr lang="en-US" dirty="0"/>
              <a:t>Minimize turnaround time</a:t>
            </a:r>
          </a:p>
          <a:p>
            <a:pPr lvl="2"/>
            <a:r>
              <a:rPr lang="en-US" dirty="0"/>
              <a:t>The amount of time taken by a process to finish</a:t>
            </a:r>
          </a:p>
          <a:p>
            <a:pPr lvl="1"/>
            <a:r>
              <a:rPr lang="en-US" dirty="0"/>
              <a:t>Minimize waiting time</a:t>
            </a:r>
          </a:p>
          <a:p>
            <a:pPr lvl="2"/>
            <a:r>
              <a:rPr lang="en-US" dirty="0"/>
              <a:t>Time a process waits in the READY state</a:t>
            </a:r>
          </a:p>
          <a:p>
            <a:pPr lvl="1"/>
            <a:r>
              <a:rPr lang="en-US" dirty="0"/>
              <a:t>Minimize response time</a:t>
            </a:r>
          </a:p>
          <a:p>
            <a:pPr lvl="2"/>
            <a:r>
              <a:rPr lang="en-US" dirty="0"/>
              <a:t>Time to respond in interactive applications</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31</a:t>
            </a:fld>
            <a:endParaRPr lang="en-US" altLang="en-US"/>
          </a:p>
        </p:txBody>
      </p:sp>
    </p:spTree>
    <p:extLst>
      <p:ext uri="{BB962C8B-B14F-4D97-AF65-F5344CB8AC3E}">
        <p14:creationId xmlns:p14="http://schemas.microsoft.com/office/powerpoint/2010/main" val="6801488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Scheduling – priority</a:t>
            </a:r>
          </a:p>
        </p:txBody>
      </p:sp>
      <p:sp>
        <p:nvSpPr>
          <p:cNvPr id="3" name="Content Placeholder 2"/>
          <p:cNvSpPr>
            <a:spLocks noGrp="1"/>
          </p:cNvSpPr>
          <p:nvPr>
            <p:ph idx="1"/>
          </p:nvPr>
        </p:nvSpPr>
        <p:spPr>
          <a:xfrm>
            <a:off x="838200" y="1825625"/>
            <a:ext cx="10591800" cy="4351338"/>
          </a:xfrm>
        </p:spPr>
        <p:txBody>
          <a:bodyPr>
            <a:normAutofit lnSpcReduction="10000"/>
          </a:bodyPr>
          <a:lstStyle/>
          <a:p>
            <a:r>
              <a:rPr lang="en-US" dirty="0"/>
              <a:t>Priority</a:t>
            </a:r>
          </a:p>
          <a:p>
            <a:pPr lvl="1"/>
            <a:r>
              <a:rPr lang="cs-CZ" dirty="0"/>
              <a:t>A</a:t>
            </a:r>
            <a:r>
              <a:rPr lang="en-US" dirty="0"/>
              <a:t> number expressing the importance of the process</a:t>
            </a:r>
            <a:endParaRPr lang="cs-CZ" dirty="0"/>
          </a:p>
          <a:p>
            <a:pPr lvl="1"/>
            <a:r>
              <a:rPr lang="en-US" dirty="0"/>
              <a:t>Units of scheduling with greater priority should be scheduled before (or more often than) units of scheduling with lower priority</a:t>
            </a:r>
          </a:p>
          <a:p>
            <a:pPr lvl="1"/>
            <a:r>
              <a:rPr lang="en-US" dirty="0"/>
              <a:t>The priority of the process is the sum of a static priority and a dynamic priority</a:t>
            </a:r>
          </a:p>
          <a:p>
            <a:pPr lvl="2"/>
            <a:r>
              <a:rPr lang="en-US" dirty="0"/>
              <a:t>Static priority</a:t>
            </a:r>
          </a:p>
          <a:p>
            <a:pPr lvl="3"/>
            <a:r>
              <a:rPr lang="en-US" dirty="0"/>
              <a:t>Assigned at the start of the process</a:t>
            </a:r>
          </a:p>
          <a:p>
            <a:pPr lvl="4"/>
            <a:r>
              <a:rPr lang="en-US" dirty="0"/>
              <a:t>Users’ hierarchy or importance</a:t>
            </a:r>
          </a:p>
          <a:p>
            <a:pPr lvl="2"/>
            <a:r>
              <a:rPr lang="en-US" dirty="0"/>
              <a:t>Dynamic priority</a:t>
            </a:r>
          </a:p>
          <a:p>
            <a:pPr lvl="3"/>
            <a:r>
              <a:rPr lang="en-US" dirty="0"/>
              <a:t>Adding fairness to the scheduling</a:t>
            </a:r>
          </a:p>
          <a:p>
            <a:pPr lvl="3"/>
            <a:r>
              <a:rPr lang="en-US" dirty="0"/>
              <a:t>Once in a while, the dynamic priority is increased for all READY units of scheduling</a:t>
            </a:r>
          </a:p>
          <a:p>
            <a:pPr lvl="3"/>
            <a:r>
              <a:rPr lang="en-US" dirty="0"/>
              <a:t>The dynamic priority is initialized to 0 and is reset to 0 after the unit of scheduling is scheduled for execution</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32</a:t>
            </a:fld>
            <a:endParaRPr lang="en-US" altLang="en-US"/>
          </a:p>
        </p:txBody>
      </p:sp>
    </p:spTree>
    <p:extLst>
      <p:ext uri="{BB962C8B-B14F-4D97-AF65-F5344CB8AC3E}">
        <p14:creationId xmlns:p14="http://schemas.microsoft.com/office/powerpoint/2010/main" val="19192686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D8D4CF6-C709-4B9D-91ED-F303A5CC703F}"/>
              </a:ext>
            </a:extLst>
          </p:cNvPr>
          <p:cNvSpPr>
            <a:spLocks noGrp="1"/>
          </p:cNvSpPr>
          <p:nvPr>
            <p:ph type="title"/>
          </p:nvPr>
        </p:nvSpPr>
        <p:spPr/>
        <p:txBody>
          <a:bodyPr/>
          <a:lstStyle/>
          <a:p>
            <a:r>
              <a:rPr lang="en-US" dirty="0"/>
              <a:t>Scheduling</a:t>
            </a:r>
            <a:endParaRPr lang="cs-CZ" dirty="0"/>
          </a:p>
        </p:txBody>
      </p:sp>
      <p:sp>
        <p:nvSpPr>
          <p:cNvPr id="5" name="Date Placeholder 4">
            <a:extLst>
              <a:ext uri="{FF2B5EF4-FFF2-40B4-BE49-F238E27FC236}">
                <a16:creationId xmlns:a16="http://schemas.microsoft.com/office/drawing/2014/main" id="{BB1EA38F-6C68-DF13-8483-E6AC5192DA8D}"/>
              </a:ext>
            </a:extLst>
          </p:cNvPr>
          <p:cNvSpPr>
            <a:spLocks noGrp="1"/>
          </p:cNvSpPr>
          <p:nvPr>
            <p:ph type="dt" sz="half" idx="10"/>
          </p:nvPr>
        </p:nvSpPr>
        <p:spPr/>
        <p:txBody>
          <a:bodyPr/>
          <a:lstStyle/>
          <a:p>
            <a:r>
              <a:rPr lang="cs-CZ" altLang="en-US"/>
              <a:t>17.4.2025</a:t>
            </a:r>
            <a:endParaRPr lang="en-US" altLang="en-US"/>
          </a:p>
        </p:txBody>
      </p:sp>
      <p:sp>
        <p:nvSpPr>
          <p:cNvPr id="6" name="Slide Number Placeholder 5">
            <a:extLst>
              <a:ext uri="{FF2B5EF4-FFF2-40B4-BE49-F238E27FC236}">
                <a16:creationId xmlns:a16="http://schemas.microsoft.com/office/drawing/2014/main" id="{15F47B6F-F57E-1B8F-B73B-997EA9172D99}"/>
              </a:ext>
            </a:extLst>
          </p:cNvPr>
          <p:cNvSpPr>
            <a:spLocks noGrp="1"/>
          </p:cNvSpPr>
          <p:nvPr>
            <p:ph type="sldNum" sz="quarter" idx="12"/>
          </p:nvPr>
        </p:nvSpPr>
        <p:spPr/>
        <p:txBody>
          <a:bodyPr/>
          <a:lstStyle/>
          <a:p>
            <a:fld id="{169EAE92-5121-41FC-8DEC-DA73929E0C34}" type="slidenum">
              <a:rPr lang="en-US" altLang="en-US" smtClean="0"/>
              <a:pPr/>
              <a:t>33</a:t>
            </a:fld>
            <a:endParaRPr lang="en-US" altLang="en-US"/>
          </a:p>
        </p:txBody>
      </p:sp>
      <p:pic>
        <p:nvPicPr>
          <p:cNvPr id="14" name="Picture 13">
            <a:extLst>
              <a:ext uri="{FF2B5EF4-FFF2-40B4-BE49-F238E27FC236}">
                <a16:creationId xmlns:a16="http://schemas.microsoft.com/office/drawing/2014/main" id="{997DFCBB-BB65-3ADF-2D24-DD8AE291A917}"/>
              </a:ext>
            </a:extLst>
          </p:cNvPr>
          <p:cNvPicPr>
            <a:picLocks noChangeAspect="1"/>
          </p:cNvPicPr>
          <p:nvPr/>
        </p:nvPicPr>
        <p:blipFill>
          <a:blip r:embed="rId2"/>
          <a:stretch>
            <a:fillRect/>
          </a:stretch>
        </p:blipFill>
        <p:spPr>
          <a:xfrm>
            <a:off x="4264572" y="165182"/>
            <a:ext cx="5873683" cy="6373730"/>
          </a:xfrm>
          <a:prstGeom prst="rect">
            <a:avLst/>
          </a:prstGeom>
        </p:spPr>
      </p:pic>
    </p:spTree>
    <p:extLst>
      <p:ext uri="{BB962C8B-B14F-4D97-AF65-F5344CB8AC3E}">
        <p14:creationId xmlns:p14="http://schemas.microsoft.com/office/powerpoint/2010/main" val="16802873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Scheduling algorithms – non-preemptive</a:t>
            </a:r>
          </a:p>
        </p:txBody>
      </p:sp>
      <p:sp>
        <p:nvSpPr>
          <p:cNvPr id="3" name="Content Placeholder 2"/>
          <p:cNvSpPr>
            <a:spLocks noGrp="1"/>
          </p:cNvSpPr>
          <p:nvPr>
            <p:ph idx="1"/>
          </p:nvPr>
        </p:nvSpPr>
        <p:spPr>
          <a:xfrm>
            <a:off x="838199" y="1825625"/>
            <a:ext cx="10650967" cy="4351338"/>
          </a:xfrm>
        </p:spPr>
        <p:txBody>
          <a:bodyPr/>
          <a:lstStyle/>
          <a:p>
            <a:r>
              <a:rPr lang="en-US" dirty="0"/>
              <a:t>First Come, First Serve (FCFS)</a:t>
            </a:r>
          </a:p>
          <a:p>
            <a:pPr lvl="1"/>
            <a:r>
              <a:rPr lang="en-US" dirty="0"/>
              <a:t>Single FIFO queue</a:t>
            </a:r>
          </a:p>
          <a:p>
            <a:pPr lvl="1"/>
            <a:r>
              <a:rPr lang="en-US" dirty="0"/>
              <a:t>New processes enter the queue at the tail</a:t>
            </a:r>
          </a:p>
          <a:p>
            <a:pPr lvl="1"/>
            <a:r>
              <a:rPr lang="en-US" dirty="0"/>
              <a:t>The head process is running on the CPU</a:t>
            </a:r>
          </a:p>
          <a:p>
            <a:pPr lvl="1"/>
            <a:r>
              <a:rPr lang="en-US" dirty="0"/>
              <a:t>Afterward, it is removed from the queue</a:t>
            </a:r>
          </a:p>
          <a:p>
            <a:r>
              <a:rPr lang="en-US" dirty="0"/>
              <a:t>Shortest Job First</a:t>
            </a:r>
          </a:p>
          <a:p>
            <a:pPr lvl="1"/>
            <a:r>
              <a:rPr lang="en-US" dirty="0"/>
              <a:t>Maximizes throughput</a:t>
            </a:r>
          </a:p>
          <a:p>
            <a:pPr lvl="1"/>
            <a:r>
              <a:rPr lang="en-US" dirty="0"/>
              <a:t>Expected job execution time must be known in advance</a:t>
            </a:r>
          </a:p>
          <a:p>
            <a:r>
              <a:rPr lang="en-US" dirty="0"/>
              <a:t>Longest Job First</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34</a:t>
            </a:fld>
            <a:endParaRPr lang="en-US" altLang="en-US"/>
          </a:p>
        </p:txBody>
      </p:sp>
    </p:spTree>
    <p:extLst>
      <p:ext uri="{BB962C8B-B14F-4D97-AF65-F5344CB8AC3E}">
        <p14:creationId xmlns:p14="http://schemas.microsoft.com/office/powerpoint/2010/main" val="38629513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Scheduling algorithms – preemptive</a:t>
            </a:r>
          </a:p>
        </p:txBody>
      </p:sp>
      <p:sp>
        <p:nvSpPr>
          <p:cNvPr id="3" name="Content Placeholder 2"/>
          <p:cNvSpPr>
            <a:spLocks noGrp="1"/>
          </p:cNvSpPr>
          <p:nvPr>
            <p:ph idx="1"/>
          </p:nvPr>
        </p:nvSpPr>
        <p:spPr/>
        <p:txBody>
          <a:bodyPr/>
          <a:lstStyle/>
          <a:p>
            <a:r>
              <a:rPr lang="en-US" dirty="0"/>
              <a:t>Round Robin</a:t>
            </a:r>
          </a:p>
          <a:p>
            <a:pPr lvl="1"/>
            <a:r>
              <a:rPr lang="en-US" dirty="0"/>
              <a:t>Like FCFS (but preemptive)</a:t>
            </a:r>
          </a:p>
          <a:p>
            <a:pPr lvl="1"/>
            <a:r>
              <a:rPr lang="en-US" dirty="0"/>
              <a:t>Single queue</a:t>
            </a:r>
          </a:p>
          <a:p>
            <a:pPr lvl="1"/>
            <a:r>
              <a:rPr lang="en-US" dirty="0"/>
              <a:t>Each unit of scheduling has an assigned time slice</a:t>
            </a:r>
          </a:p>
          <a:p>
            <a:pPr lvl="1"/>
            <a:r>
              <a:rPr lang="en-US" dirty="0"/>
              <a:t>If the unit of scheduling consumes the whole time slice or is blocked, it will be assigned to the tail of the queue</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11" name="Slide Number Placeholder 10"/>
          <p:cNvSpPr>
            <a:spLocks noGrp="1"/>
          </p:cNvSpPr>
          <p:nvPr>
            <p:ph type="sldNum" sz="quarter" idx="12"/>
          </p:nvPr>
        </p:nvSpPr>
        <p:spPr/>
        <p:txBody>
          <a:bodyPr/>
          <a:lstStyle/>
          <a:p>
            <a:fld id="{F4A1145F-674A-4228-8958-0EA9769F5517}" type="slidenum">
              <a:rPr lang="en-US" altLang="en-US" smtClean="0"/>
              <a:pPr/>
              <a:t>35</a:t>
            </a:fld>
            <a:endParaRPr lang="en-US" altLang="en-US"/>
          </a:p>
        </p:txBody>
      </p:sp>
      <p:cxnSp>
        <p:nvCxnSpPr>
          <p:cNvPr id="5" name="Straight Connector 4"/>
          <p:cNvCxnSpPr/>
          <p:nvPr/>
        </p:nvCxnSpPr>
        <p:spPr bwMode="auto">
          <a:xfrm>
            <a:off x="3143672" y="5085184"/>
            <a:ext cx="374441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 name="Straight Connector 5"/>
          <p:cNvCxnSpPr/>
          <p:nvPr/>
        </p:nvCxnSpPr>
        <p:spPr bwMode="auto">
          <a:xfrm>
            <a:off x="3143672" y="5589240"/>
            <a:ext cx="374441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 name="Rectangle 6"/>
          <p:cNvSpPr/>
          <p:nvPr/>
        </p:nvSpPr>
        <p:spPr bwMode="auto">
          <a:xfrm>
            <a:off x="3287688" y="5157191"/>
            <a:ext cx="576064" cy="360042"/>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latin typeface="+mn-lt"/>
              </a:rPr>
              <a:t>US</a:t>
            </a:r>
          </a:p>
        </p:txBody>
      </p:sp>
      <p:sp>
        <p:nvSpPr>
          <p:cNvPr id="8" name="Rectangle 7"/>
          <p:cNvSpPr/>
          <p:nvPr/>
        </p:nvSpPr>
        <p:spPr bwMode="auto">
          <a:xfrm>
            <a:off x="3935760" y="5157191"/>
            <a:ext cx="576064" cy="360042"/>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latin typeface="+mn-lt"/>
              </a:rPr>
              <a:t>US</a:t>
            </a:r>
          </a:p>
        </p:txBody>
      </p:sp>
      <p:sp>
        <p:nvSpPr>
          <p:cNvPr id="9" name="Rectangle 8"/>
          <p:cNvSpPr/>
          <p:nvPr/>
        </p:nvSpPr>
        <p:spPr bwMode="auto">
          <a:xfrm>
            <a:off x="6240016" y="5157191"/>
            <a:ext cx="576064" cy="360042"/>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latin typeface="+mn-lt"/>
              </a:rPr>
              <a:t>US</a:t>
            </a:r>
          </a:p>
        </p:txBody>
      </p:sp>
      <p:sp>
        <p:nvSpPr>
          <p:cNvPr id="10" name="Rectangle 9"/>
          <p:cNvSpPr/>
          <p:nvPr/>
        </p:nvSpPr>
        <p:spPr bwMode="auto">
          <a:xfrm>
            <a:off x="5578856" y="5157191"/>
            <a:ext cx="576064" cy="360042"/>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latin typeface="+mn-lt"/>
              </a:rPr>
              <a:t>US</a:t>
            </a:r>
          </a:p>
        </p:txBody>
      </p:sp>
      <p:cxnSp>
        <p:nvCxnSpPr>
          <p:cNvPr id="12" name="Straight Connector 11"/>
          <p:cNvCxnSpPr/>
          <p:nvPr/>
        </p:nvCxnSpPr>
        <p:spPr bwMode="auto">
          <a:xfrm>
            <a:off x="4655840" y="5337212"/>
            <a:ext cx="792088" cy="0"/>
          </a:xfrm>
          <a:prstGeom prst="line">
            <a:avLst/>
          </a:prstGeom>
          <a:solidFill>
            <a:schemeClr val="accent1"/>
          </a:solidFill>
          <a:ln w="9525" cap="flat" cmpd="sng" algn="ctr">
            <a:solidFill>
              <a:schemeClr val="tx1"/>
            </a:solidFill>
            <a:prstDash val="lgDash"/>
            <a:round/>
            <a:headEnd type="none" w="med" len="med"/>
            <a:tailEnd type="none" w="med" len="med"/>
          </a:ln>
          <a:effectLst/>
        </p:spPr>
      </p:cxnSp>
      <p:sp>
        <p:nvSpPr>
          <p:cNvPr id="13" name="Rectangle 12"/>
          <p:cNvSpPr/>
          <p:nvPr/>
        </p:nvSpPr>
        <p:spPr bwMode="auto">
          <a:xfrm>
            <a:off x="7608168" y="4977172"/>
            <a:ext cx="936104" cy="720080"/>
          </a:xfrm>
          <a:prstGeom prst="rect">
            <a:avLst/>
          </a:prstGeom>
          <a:solidFill>
            <a:schemeClr val="accent4">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CPU</a:t>
            </a:r>
          </a:p>
        </p:txBody>
      </p:sp>
      <p:cxnSp>
        <p:nvCxnSpPr>
          <p:cNvPr id="15" name="Straight Arrow Connector 14"/>
          <p:cNvCxnSpPr>
            <a:stCxn id="9" idx="3"/>
            <a:endCxn id="13" idx="1"/>
          </p:cNvCxnSpPr>
          <p:nvPr/>
        </p:nvCxnSpPr>
        <p:spPr bwMode="auto">
          <a:xfrm>
            <a:off x="6816080" y="5337212"/>
            <a:ext cx="79208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8" name="Elbow Connector 17"/>
          <p:cNvCxnSpPr>
            <a:endCxn id="7" idx="1"/>
          </p:cNvCxnSpPr>
          <p:nvPr/>
        </p:nvCxnSpPr>
        <p:spPr bwMode="auto">
          <a:xfrm rot="10800000" flipV="1">
            <a:off x="3287688" y="5330862"/>
            <a:ext cx="4032448" cy="6350"/>
          </a:xfrm>
          <a:prstGeom prst="bentConnector5">
            <a:avLst>
              <a:gd name="adj1" fmla="val 161"/>
              <a:gd name="adj2" fmla="val 6534976"/>
              <a:gd name="adj3" fmla="val 105669"/>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41473745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Scheduling algorithms – preemptive</a:t>
            </a:r>
          </a:p>
        </p:txBody>
      </p:sp>
      <p:sp>
        <p:nvSpPr>
          <p:cNvPr id="3" name="Content Placeholder 2"/>
          <p:cNvSpPr>
            <a:spLocks noGrp="1"/>
          </p:cNvSpPr>
          <p:nvPr>
            <p:ph idx="1"/>
          </p:nvPr>
        </p:nvSpPr>
        <p:spPr>
          <a:xfrm>
            <a:off x="838200" y="1825625"/>
            <a:ext cx="5548496" cy="4351338"/>
          </a:xfrm>
        </p:spPr>
        <p:txBody>
          <a:bodyPr>
            <a:normAutofit/>
          </a:bodyPr>
          <a:lstStyle/>
          <a:p>
            <a:r>
              <a:rPr lang="en-US" dirty="0"/>
              <a:t>Multilevel feedback-queue</a:t>
            </a:r>
          </a:p>
          <a:p>
            <a:pPr lvl="1"/>
            <a:r>
              <a:rPr lang="en-US" dirty="0"/>
              <a:t>Multiple queues</a:t>
            </a:r>
          </a:p>
          <a:p>
            <a:pPr lvl="2"/>
            <a:r>
              <a:rPr lang="en-US" dirty="0"/>
              <a:t>Time-slice defined by queue (increasing)</a:t>
            </a:r>
          </a:p>
          <a:p>
            <a:pPr lvl="1"/>
            <a:r>
              <a:rPr lang="en-US" dirty="0"/>
              <a:t>If the unit of scheduling consumes the whole time slice, it will be assigned to the lower queue</a:t>
            </a:r>
          </a:p>
          <a:p>
            <a:pPr lvl="1"/>
            <a:r>
              <a:rPr lang="en-US" dirty="0"/>
              <a:t>If the unit of scheduling blocks before consuming the whole time slice, it will be assigned to the higher queue</a:t>
            </a:r>
          </a:p>
          <a:p>
            <a:pPr lvl="1"/>
            <a:r>
              <a:rPr lang="en-US" dirty="0"/>
              <a:t>Schedule head unit of scheduling from the highest non-empty queue</a:t>
            </a:r>
          </a:p>
        </p:txBody>
      </p:sp>
      <p:sp>
        <p:nvSpPr>
          <p:cNvPr id="13" name="Date Placeholder 12"/>
          <p:cNvSpPr>
            <a:spLocks noGrp="1"/>
          </p:cNvSpPr>
          <p:nvPr>
            <p:ph type="dt" sz="half" idx="10"/>
          </p:nvPr>
        </p:nvSpPr>
        <p:spPr/>
        <p:txBody>
          <a:bodyPr/>
          <a:lstStyle/>
          <a:p>
            <a:r>
              <a:rPr lang="cs-CZ" altLang="en-US"/>
              <a:t>17.4.2025</a:t>
            </a:r>
            <a:endParaRPr lang="en-US" altLang="en-US"/>
          </a:p>
        </p:txBody>
      </p:sp>
      <p:sp>
        <p:nvSpPr>
          <p:cNvPr id="21" name="Slide Number Placeholder 20"/>
          <p:cNvSpPr>
            <a:spLocks noGrp="1"/>
          </p:cNvSpPr>
          <p:nvPr>
            <p:ph type="sldNum" sz="quarter" idx="12"/>
          </p:nvPr>
        </p:nvSpPr>
        <p:spPr/>
        <p:txBody>
          <a:bodyPr/>
          <a:lstStyle/>
          <a:p>
            <a:fld id="{F4A1145F-674A-4228-8958-0EA9769F5517}" type="slidenum">
              <a:rPr lang="en-US" altLang="en-US" smtClean="0"/>
              <a:pPr/>
              <a:t>36</a:t>
            </a:fld>
            <a:endParaRPr lang="en-US" altLang="en-US"/>
          </a:p>
        </p:txBody>
      </p:sp>
      <p:cxnSp>
        <p:nvCxnSpPr>
          <p:cNvPr id="4" name="Straight Connector 3"/>
          <p:cNvCxnSpPr/>
          <p:nvPr/>
        </p:nvCxnSpPr>
        <p:spPr bwMode="auto">
          <a:xfrm>
            <a:off x="6602721" y="2923682"/>
            <a:ext cx="374441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 name="Straight Connector 4"/>
          <p:cNvCxnSpPr/>
          <p:nvPr/>
        </p:nvCxnSpPr>
        <p:spPr bwMode="auto">
          <a:xfrm>
            <a:off x="6602721" y="3427738"/>
            <a:ext cx="374441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6" name="Rectangle 5"/>
          <p:cNvSpPr/>
          <p:nvPr/>
        </p:nvSpPr>
        <p:spPr bwMode="auto">
          <a:xfrm>
            <a:off x="6746737" y="2995689"/>
            <a:ext cx="576064" cy="360042"/>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t>US</a:t>
            </a:r>
          </a:p>
        </p:txBody>
      </p:sp>
      <p:sp>
        <p:nvSpPr>
          <p:cNvPr id="7" name="Rectangle 6"/>
          <p:cNvSpPr/>
          <p:nvPr/>
        </p:nvSpPr>
        <p:spPr bwMode="auto">
          <a:xfrm>
            <a:off x="7394809" y="2995689"/>
            <a:ext cx="576064" cy="360042"/>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t>US</a:t>
            </a:r>
          </a:p>
        </p:txBody>
      </p:sp>
      <p:sp>
        <p:nvSpPr>
          <p:cNvPr id="8" name="Rectangle 7"/>
          <p:cNvSpPr/>
          <p:nvPr/>
        </p:nvSpPr>
        <p:spPr bwMode="auto">
          <a:xfrm>
            <a:off x="9699065" y="2995689"/>
            <a:ext cx="576064" cy="360042"/>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t>US</a:t>
            </a:r>
          </a:p>
        </p:txBody>
      </p:sp>
      <p:sp>
        <p:nvSpPr>
          <p:cNvPr id="9" name="Rectangle 8"/>
          <p:cNvSpPr/>
          <p:nvPr/>
        </p:nvSpPr>
        <p:spPr bwMode="auto">
          <a:xfrm>
            <a:off x="9037905" y="2995689"/>
            <a:ext cx="576064" cy="360042"/>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t>US</a:t>
            </a:r>
          </a:p>
        </p:txBody>
      </p:sp>
      <p:cxnSp>
        <p:nvCxnSpPr>
          <p:cNvPr id="10" name="Straight Connector 9"/>
          <p:cNvCxnSpPr/>
          <p:nvPr/>
        </p:nvCxnSpPr>
        <p:spPr bwMode="auto">
          <a:xfrm>
            <a:off x="8114889" y="3175710"/>
            <a:ext cx="792088" cy="0"/>
          </a:xfrm>
          <a:prstGeom prst="line">
            <a:avLst/>
          </a:prstGeom>
          <a:solidFill>
            <a:schemeClr val="accent1"/>
          </a:solidFill>
          <a:ln w="9525" cap="flat" cmpd="sng" algn="ctr">
            <a:solidFill>
              <a:schemeClr val="tx1"/>
            </a:solidFill>
            <a:prstDash val="lgDash"/>
            <a:round/>
            <a:headEnd type="none" w="med" len="med"/>
            <a:tailEnd type="none" w="med" len="med"/>
          </a:ln>
          <a:effectLst/>
        </p:spPr>
      </p:cxnSp>
      <p:sp>
        <p:nvSpPr>
          <p:cNvPr id="11" name="Rectangle 10"/>
          <p:cNvSpPr/>
          <p:nvPr/>
        </p:nvSpPr>
        <p:spPr bwMode="auto">
          <a:xfrm>
            <a:off x="10891086" y="3650556"/>
            <a:ext cx="936104" cy="720080"/>
          </a:xfrm>
          <a:prstGeom prst="rect">
            <a:avLst/>
          </a:prstGeom>
          <a:solidFill>
            <a:schemeClr val="accent4">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CPU</a:t>
            </a:r>
          </a:p>
        </p:txBody>
      </p:sp>
      <p:cxnSp>
        <p:nvCxnSpPr>
          <p:cNvPr id="12" name="Straight Arrow Connector 11"/>
          <p:cNvCxnSpPr>
            <a:stCxn id="8" idx="3"/>
            <a:endCxn id="11" idx="1"/>
          </p:cNvCxnSpPr>
          <p:nvPr/>
        </p:nvCxnSpPr>
        <p:spPr bwMode="auto">
          <a:xfrm>
            <a:off x="10275129" y="3175710"/>
            <a:ext cx="615957" cy="834886"/>
          </a:xfrm>
          <a:prstGeom prst="straightConnector1">
            <a:avLst/>
          </a:prstGeom>
          <a:solidFill>
            <a:schemeClr val="accent1"/>
          </a:solidFill>
          <a:ln w="9525" cap="flat" cmpd="sng" algn="ctr">
            <a:solidFill>
              <a:srgbClr val="00B0F0"/>
            </a:solidFill>
            <a:prstDash val="solid"/>
            <a:round/>
            <a:headEnd type="none" w="med" len="med"/>
            <a:tailEnd type="triangle"/>
          </a:ln>
          <a:effectLst/>
        </p:spPr>
      </p:cxnSp>
      <p:cxnSp>
        <p:nvCxnSpPr>
          <p:cNvPr id="14" name="Straight Connector 13"/>
          <p:cNvCxnSpPr/>
          <p:nvPr/>
        </p:nvCxnSpPr>
        <p:spPr bwMode="auto">
          <a:xfrm>
            <a:off x="6602721" y="3836054"/>
            <a:ext cx="374441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 name="Straight Connector 14"/>
          <p:cNvCxnSpPr/>
          <p:nvPr/>
        </p:nvCxnSpPr>
        <p:spPr bwMode="auto">
          <a:xfrm>
            <a:off x="6602721" y="4340110"/>
            <a:ext cx="374441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6" name="Rectangle 15"/>
          <p:cNvSpPr/>
          <p:nvPr/>
        </p:nvSpPr>
        <p:spPr bwMode="auto">
          <a:xfrm>
            <a:off x="6746737" y="3908061"/>
            <a:ext cx="576064" cy="360042"/>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t>US</a:t>
            </a:r>
          </a:p>
        </p:txBody>
      </p:sp>
      <p:sp>
        <p:nvSpPr>
          <p:cNvPr id="17" name="Rectangle 16"/>
          <p:cNvSpPr/>
          <p:nvPr/>
        </p:nvSpPr>
        <p:spPr bwMode="auto">
          <a:xfrm>
            <a:off x="7394809" y="3908061"/>
            <a:ext cx="576064" cy="360042"/>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t>US</a:t>
            </a:r>
          </a:p>
        </p:txBody>
      </p:sp>
      <p:sp>
        <p:nvSpPr>
          <p:cNvPr id="18" name="Rectangle 17"/>
          <p:cNvSpPr/>
          <p:nvPr/>
        </p:nvSpPr>
        <p:spPr bwMode="auto">
          <a:xfrm>
            <a:off x="9699065" y="3908061"/>
            <a:ext cx="576064" cy="360042"/>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t>US</a:t>
            </a:r>
          </a:p>
        </p:txBody>
      </p:sp>
      <p:sp>
        <p:nvSpPr>
          <p:cNvPr id="19" name="Rectangle 18"/>
          <p:cNvSpPr/>
          <p:nvPr/>
        </p:nvSpPr>
        <p:spPr bwMode="auto">
          <a:xfrm>
            <a:off x="9037905" y="3908061"/>
            <a:ext cx="576064" cy="360042"/>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t>US</a:t>
            </a:r>
          </a:p>
        </p:txBody>
      </p:sp>
      <p:cxnSp>
        <p:nvCxnSpPr>
          <p:cNvPr id="20" name="Straight Connector 19"/>
          <p:cNvCxnSpPr/>
          <p:nvPr/>
        </p:nvCxnSpPr>
        <p:spPr bwMode="auto">
          <a:xfrm>
            <a:off x="8114889" y="4088082"/>
            <a:ext cx="792088" cy="0"/>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34" name="Straight Connector 33"/>
          <p:cNvCxnSpPr/>
          <p:nvPr/>
        </p:nvCxnSpPr>
        <p:spPr bwMode="auto">
          <a:xfrm>
            <a:off x="6602721" y="4670068"/>
            <a:ext cx="374441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5" name="Straight Connector 34"/>
          <p:cNvCxnSpPr/>
          <p:nvPr/>
        </p:nvCxnSpPr>
        <p:spPr bwMode="auto">
          <a:xfrm>
            <a:off x="6602721" y="5174124"/>
            <a:ext cx="374441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6" name="Rectangle 35"/>
          <p:cNvSpPr/>
          <p:nvPr/>
        </p:nvSpPr>
        <p:spPr bwMode="auto">
          <a:xfrm>
            <a:off x="6746737" y="4742075"/>
            <a:ext cx="576064" cy="360042"/>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t>US</a:t>
            </a:r>
          </a:p>
        </p:txBody>
      </p:sp>
      <p:sp>
        <p:nvSpPr>
          <p:cNvPr id="37" name="Rectangle 36"/>
          <p:cNvSpPr/>
          <p:nvPr/>
        </p:nvSpPr>
        <p:spPr bwMode="auto">
          <a:xfrm>
            <a:off x="7394809" y="4742075"/>
            <a:ext cx="576064" cy="360042"/>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t>US</a:t>
            </a:r>
          </a:p>
        </p:txBody>
      </p:sp>
      <p:sp>
        <p:nvSpPr>
          <p:cNvPr id="38" name="Rectangle 37"/>
          <p:cNvSpPr/>
          <p:nvPr/>
        </p:nvSpPr>
        <p:spPr bwMode="auto">
          <a:xfrm>
            <a:off x="9699065" y="4742075"/>
            <a:ext cx="576064" cy="360042"/>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t>US</a:t>
            </a:r>
          </a:p>
        </p:txBody>
      </p:sp>
      <p:sp>
        <p:nvSpPr>
          <p:cNvPr id="39" name="Rectangle 38"/>
          <p:cNvSpPr/>
          <p:nvPr/>
        </p:nvSpPr>
        <p:spPr bwMode="auto">
          <a:xfrm>
            <a:off x="9037905" y="4742075"/>
            <a:ext cx="576064" cy="360042"/>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t>US</a:t>
            </a:r>
          </a:p>
        </p:txBody>
      </p:sp>
      <p:cxnSp>
        <p:nvCxnSpPr>
          <p:cNvPr id="40" name="Straight Connector 39"/>
          <p:cNvCxnSpPr/>
          <p:nvPr/>
        </p:nvCxnSpPr>
        <p:spPr bwMode="auto">
          <a:xfrm>
            <a:off x="8114889" y="4922096"/>
            <a:ext cx="792088" cy="0"/>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43" name="Elbow Connector 42"/>
          <p:cNvCxnSpPr>
            <a:endCxn id="36" idx="1"/>
          </p:cNvCxnSpPr>
          <p:nvPr/>
        </p:nvCxnSpPr>
        <p:spPr bwMode="auto">
          <a:xfrm rot="10800000" flipV="1">
            <a:off x="6746739" y="4918921"/>
            <a:ext cx="3744415" cy="3175"/>
          </a:xfrm>
          <a:prstGeom prst="bentConnector5">
            <a:avLst>
              <a:gd name="adj1" fmla="val -21"/>
              <a:gd name="adj2" fmla="val 12969953"/>
              <a:gd name="adj3" fmla="val 106105"/>
            </a:avLst>
          </a:prstGeom>
          <a:solidFill>
            <a:schemeClr val="accent1"/>
          </a:solidFill>
          <a:ln w="9525" cap="flat" cmpd="sng" algn="ctr">
            <a:solidFill>
              <a:srgbClr val="FF0000"/>
            </a:solidFill>
            <a:prstDash val="solid"/>
            <a:round/>
            <a:headEnd type="none" w="med" len="med"/>
            <a:tailEnd type="triangle"/>
          </a:ln>
          <a:effectLst/>
        </p:spPr>
      </p:cxnSp>
      <p:cxnSp>
        <p:nvCxnSpPr>
          <p:cNvPr id="50" name="Straight Connector 49"/>
          <p:cNvCxnSpPr/>
          <p:nvPr/>
        </p:nvCxnSpPr>
        <p:spPr bwMode="auto">
          <a:xfrm>
            <a:off x="10491153" y="3175710"/>
            <a:ext cx="0" cy="300304"/>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52" name="Straight Connector 51"/>
          <p:cNvCxnSpPr/>
          <p:nvPr/>
        </p:nvCxnSpPr>
        <p:spPr bwMode="auto">
          <a:xfrm flipH="1">
            <a:off x="6530714" y="3479190"/>
            <a:ext cx="3960439" cy="216022"/>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57" name="Straight Connector 56"/>
          <p:cNvCxnSpPr/>
          <p:nvPr/>
        </p:nvCxnSpPr>
        <p:spPr bwMode="auto">
          <a:xfrm>
            <a:off x="6530713" y="3695213"/>
            <a:ext cx="0" cy="399221"/>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60" name="Straight Arrow Connector 59"/>
          <p:cNvCxnSpPr>
            <a:endCxn id="16" idx="1"/>
          </p:cNvCxnSpPr>
          <p:nvPr/>
        </p:nvCxnSpPr>
        <p:spPr bwMode="auto">
          <a:xfrm flipV="1">
            <a:off x="6530713" y="4088083"/>
            <a:ext cx="216024" cy="6351"/>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cxnSp>
        <p:nvCxnSpPr>
          <p:cNvPr id="64" name="Straight Connector 63"/>
          <p:cNvCxnSpPr>
            <a:stCxn id="18" idx="3"/>
          </p:cNvCxnSpPr>
          <p:nvPr/>
        </p:nvCxnSpPr>
        <p:spPr bwMode="auto">
          <a:xfrm>
            <a:off x="10275130" y="4088082"/>
            <a:ext cx="21602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5" name="Straight Connector 64"/>
          <p:cNvCxnSpPr/>
          <p:nvPr/>
        </p:nvCxnSpPr>
        <p:spPr bwMode="auto">
          <a:xfrm>
            <a:off x="10491152" y="3695212"/>
            <a:ext cx="0" cy="399221"/>
          </a:xfrm>
          <a:prstGeom prst="line">
            <a:avLst/>
          </a:prstGeom>
          <a:solidFill>
            <a:schemeClr val="accent1"/>
          </a:solidFill>
          <a:ln w="9525" cap="flat" cmpd="sng" algn="ctr">
            <a:solidFill>
              <a:srgbClr val="33CC33"/>
            </a:solidFill>
            <a:prstDash val="solid"/>
            <a:round/>
            <a:headEnd type="none" w="med" len="med"/>
            <a:tailEnd type="none" w="med" len="med"/>
          </a:ln>
          <a:effectLst/>
        </p:spPr>
      </p:cxnSp>
      <p:cxnSp>
        <p:nvCxnSpPr>
          <p:cNvPr id="67" name="Straight Connector 66"/>
          <p:cNvCxnSpPr/>
          <p:nvPr/>
        </p:nvCxnSpPr>
        <p:spPr bwMode="auto">
          <a:xfrm flipH="1" flipV="1">
            <a:off x="6530713" y="3535754"/>
            <a:ext cx="3960440" cy="159459"/>
          </a:xfrm>
          <a:prstGeom prst="line">
            <a:avLst/>
          </a:prstGeom>
          <a:solidFill>
            <a:schemeClr val="accent1"/>
          </a:solidFill>
          <a:ln w="9525" cap="flat" cmpd="sng" algn="ctr">
            <a:solidFill>
              <a:srgbClr val="33CC33"/>
            </a:solidFill>
            <a:prstDash val="solid"/>
            <a:round/>
            <a:headEnd type="none" w="med" len="med"/>
            <a:tailEnd type="none" w="med" len="med"/>
          </a:ln>
          <a:effectLst/>
        </p:spPr>
      </p:cxnSp>
      <p:cxnSp>
        <p:nvCxnSpPr>
          <p:cNvPr id="69" name="Straight Arrow Connector 68"/>
          <p:cNvCxnSpPr/>
          <p:nvPr/>
        </p:nvCxnSpPr>
        <p:spPr bwMode="auto">
          <a:xfrm flipV="1">
            <a:off x="6530713" y="3175710"/>
            <a:ext cx="0" cy="360040"/>
          </a:xfrm>
          <a:prstGeom prst="straightConnector1">
            <a:avLst/>
          </a:prstGeom>
          <a:solidFill>
            <a:schemeClr val="accent1"/>
          </a:solidFill>
          <a:ln w="9525" cap="flat" cmpd="sng" algn="ctr">
            <a:solidFill>
              <a:srgbClr val="33CC33"/>
            </a:solidFill>
            <a:prstDash val="solid"/>
            <a:round/>
            <a:headEnd type="none" w="med" len="med"/>
            <a:tailEnd type="triangle"/>
          </a:ln>
          <a:effectLst/>
        </p:spPr>
      </p:cxnSp>
      <p:cxnSp>
        <p:nvCxnSpPr>
          <p:cNvPr id="72" name="Straight Arrow Connector 71"/>
          <p:cNvCxnSpPr>
            <a:stCxn id="18" idx="3"/>
            <a:endCxn id="11" idx="1"/>
          </p:cNvCxnSpPr>
          <p:nvPr/>
        </p:nvCxnSpPr>
        <p:spPr bwMode="auto">
          <a:xfrm flipV="1">
            <a:off x="10275129" y="4010596"/>
            <a:ext cx="615957" cy="77486"/>
          </a:xfrm>
          <a:prstGeom prst="straightConnector1">
            <a:avLst/>
          </a:prstGeom>
          <a:solidFill>
            <a:schemeClr val="accent1"/>
          </a:solidFill>
          <a:ln w="9525" cap="flat" cmpd="sng" algn="ctr">
            <a:solidFill>
              <a:srgbClr val="00B0F0"/>
            </a:solidFill>
            <a:prstDash val="solid"/>
            <a:round/>
            <a:headEnd type="none" w="med" len="med"/>
            <a:tailEnd type="triangle"/>
          </a:ln>
          <a:effectLst/>
        </p:spPr>
      </p:cxnSp>
      <p:cxnSp>
        <p:nvCxnSpPr>
          <p:cNvPr id="75" name="Straight Arrow Connector 74"/>
          <p:cNvCxnSpPr>
            <a:stCxn id="38" idx="3"/>
            <a:endCxn id="11" idx="1"/>
          </p:cNvCxnSpPr>
          <p:nvPr/>
        </p:nvCxnSpPr>
        <p:spPr bwMode="auto">
          <a:xfrm flipV="1">
            <a:off x="10275129" y="4010596"/>
            <a:ext cx="615957" cy="911500"/>
          </a:xfrm>
          <a:prstGeom prst="straightConnector1">
            <a:avLst/>
          </a:prstGeom>
          <a:solidFill>
            <a:schemeClr val="accent1"/>
          </a:solidFill>
          <a:ln w="9525" cap="flat" cmpd="sng" algn="ctr">
            <a:solidFill>
              <a:srgbClr val="00B0F0"/>
            </a:solidFill>
            <a:prstDash val="solid"/>
            <a:round/>
            <a:headEnd type="none" w="med" len="med"/>
            <a:tailEnd type="triangle"/>
          </a:ln>
          <a:effectLst/>
        </p:spPr>
      </p:cxnSp>
      <p:cxnSp>
        <p:nvCxnSpPr>
          <p:cNvPr id="76" name="Straight Connector 75"/>
          <p:cNvCxnSpPr/>
          <p:nvPr/>
        </p:nvCxnSpPr>
        <p:spPr bwMode="auto">
          <a:xfrm>
            <a:off x="10491152" y="4094432"/>
            <a:ext cx="0" cy="300304"/>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77" name="Straight Connector 76"/>
          <p:cNvCxnSpPr/>
          <p:nvPr/>
        </p:nvCxnSpPr>
        <p:spPr bwMode="auto">
          <a:xfrm flipH="1">
            <a:off x="6530712" y="4389995"/>
            <a:ext cx="3960440" cy="231799"/>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80" name="Straight Connector 79"/>
          <p:cNvCxnSpPr/>
          <p:nvPr/>
        </p:nvCxnSpPr>
        <p:spPr bwMode="auto">
          <a:xfrm>
            <a:off x="10275130" y="4922096"/>
            <a:ext cx="216023" cy="0"/>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81" name="Straight Connector 80"/>
          <p:cNvCxnSpPr/>
          <p:nvPr/>
        </p:nvCxnSpPr>
        <p:spPr bwMode="auto">
          <a:xfrm>
            <a:off x="10491152" y="4617008"/>
            <a:ext cx="0" cy="305089"/>
          </a:xfrm>
          <a:prstGeom prst="line">
            <a:avLst/>
          </a:prstGeom>
          <a:solidFill>
            <a:schemeClr val="accent1"/>
          </a:solidFill>
          <a:ln w="9525" cap="flat" cmpd="sng" algn="ctr">
            <a:solidFill>
              <a:srgbClr val="33CC33"/>
            </a:solidFill>
            <a:prstDash val="solid"/>
            <a:round/>
            <a:headEnd type="none" w="med" len="med"/>
            <a:tailEnd type="none" w="med" len="med"/>
          </a:ln>
          <a:effectLst/>
        </p:spPr>
      </p:cxnSp>
      <p:cxnSp>
        <p:nvCxnSpPr>
          <p:cNvPr id="82" name="Straight Connector 81"/>
          <p:cNvCxnSpPr/>
          <p:nvPr/>
        </p:nvCxnSpPr>
        <p:spPr bwMode="auto">
          <a:xfrm flipH="1" flipV="1">
            <a:off x="6530713" y="4457550"/>
            <a:ext cx="3960440" cy="159459"/>
          </a:xfrm>
          <a:prstGeom prst="line">
            <a:avLst/>
          </a:prstGeom>
          <a:solidFill>
            <a:schemeClr val="accent1"/>
          </a:solidFill>
          <a:ln w="9525" cap="flat" cmpd="sng" algn="ctr">
            <a:solidFill>
              <a:srgbClr val="33CC33"/>
            </a:solidFill>
            <a:prstDash val="solid"/>
            <a:round/>
            <a:headEnd type="none" w="med" len="med"/>
            <a:tailEnd type="none" w="med" len="med"/>
          </a:ln>
          <a:effectLst/>
        </p:spPr>
      </p:cxnSp>
      <p:cxnSp>
        <p:nvCxnSpPr>
          <p:cNvPr id="83" name="Straight Arrow Connector 82"/>
          <p:cNvCxnSpPr/>
          <p:nvPr/>
        </p:nvCxnSpPr>
        <p:spPr bwMode="auto">
          <a:xfrm flipV="1">
            <a:off x="6530713" y="4097506"/>
            <a:ext cx="0" cy="360040"/>
          </a:xfrm>
          <a:prstGeom prst="straightConnector1">
            <a:avLst/>
          </a:prstGeom>
          <a:solidFill>
            <a:schemeClr val="accent1"/>
          </a:solidFill>
          <a:ln w="9525" cap="flat" cmpd="sng" algn="ctr">
            <a:solidFill>
              <a:srgbClr val="33CC33"/>
            </a:solidFill>
            <a:prstDash val="solid"/>
            <a:round/>
            <a:headEnd type="none" w="med" len="med"/>
            <a:tailEnd type="triangle"/>
          </a:ln>
          <a:effectLst/>
        </p:spPr>
      </p:cxnSp>
      <p:cxnSp>
        <p:nvCxnSpPr>
          <p:cNvPr id="87" name="Straight Arrow Connector 86"/>
          <p:cNvCxnSpPr/>
          <p:nvPr/>
        </p:nvCxnSpPr>
        <p:spPr bwMode="auto">
          <a:xfrm>
            <a:off x="6530713" y="4626134"/>
            <a:ext cx="0" cy="298739"/>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cxnSp>
        <p:nvCxnSpPr>
          <p:cNvPr id="103" name="Elbow Connector 102"/>
          <p:cNvCxnSpPr>
            <a:endCxn id="6" idx="1"/>
          </p:cNvCxnSpPr>
          <p:nvPr/>
        </p:nvCxnSpPr>
        <p:spPr bwMode="auto">
          <a:xfrm rot="10800000">
            <a:off x="6746739" y="3175710"/>
            <a:ext cx="3744415" cy="12700"/>
          </a:xfrm>
          <a:prstGeom prst="bentConnector5">
            <a:avLst>
              <a:gd name="adj1" fmla="val 47"/>
              <a:gd name="adj2" fmla="val 2657488"/>
              <a:gd name="adj3" fmla="val 106105"/>
            </a:avLst>
          </a:prstGeom>
          <a:solidFill>
            <a:schemeClr val="accent1"/>
          </a:solidFill>
          <a:ln w="9525" cap="flat" cmpd="sng" algn="ctr">
            <a:solidFill>
              <a:srgbClr val="33CC33"/>
            </a:solidFill>
            <a:prstDash val="solid"/>
            <a:round/>
            <a:headEnd type="none" w="med" len="med"/>
            <a:tailEnd type="triangle"/>
          </a:ln>
          <a:effectLst/>
        </p:spPr>
      </p:cxnSp>
    </p:spTree>
    <p:extLst>
      <p:ext uri="{BB962C8B-B14F-4D97-AF65-F5344CB8AC3E}">
        <p14:creationId xmlns:p14="http://schemas.microsoft.com/office/powerpoint/2010/main" val="2206212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Scheduling algorithms - preemptive</a:t>
            </a:r>
          </a:p>
        </p:txBody>
      </p:sp>
      <p:sp>
        <p:nvSpPr>
          <p:cNvPr id="3" name="Content Placeholder 2"/>
          <p:cNvSpPr>
            <a:spLocks noGrp="1"/>
          </p:cNvSpPr>
          <p:nvPr>
            <p:ph sz="half" idx="1"/>
          </p:nvPr>
        </p:nvSpPr>
        <p:spPr/>
        <p:txBody>
          <a:bodyPr>
            <a:noAutofit/>
          </a:bodyPr>
          <a:lstStyle/>
          <a:p>
            <a:r>
              <a:rPr lang="en-US" dirty="0"/>
              <a:t>Completely fair scheduler (CFS)</a:t>
            </a:r>
          </a:p>
          <a:p>
            <a:pPr lvl="1"/>
            <a:r>
              <a:rPr lang="en-US" dirty="0"/>
              <a:t>Implemented in Linux kernel</a:t>
            </a:r>
          </a:p>
          <a:p>
            <a:pPr lvl="2"/>
            <a:r>
              <a:rPr lang="en-US" dirty="0"/>
              <a:t>Currently the default scheduler</a:t>
            </a:r>
          </a:p>
          <a:p>
            <a:pPr lvl="1"/>
            <a:r>
              <a:rPr lang="en-US" dirty="0"/>
              <a:t>SUs are stored in a red-black tree</a:t>
            </a:r>
          </a:p>
          <a:p>
            <a:pPr lvl="2"/>
            <a:r>
              <a:rPr lang="en-US" dirty="0"/>
              <a:t>Indexed by their total execution time (called </a:t>
            </a:r>
            <a:r>
              <a:rPr lang="en-US" i="1" dirty="0"/>
              <a:t>virtual runtime</a:t>
            </a:r>
            <a:r>
              <a:rPr lang="en-US" dirty="0"/>
              <a:t>)</a:t>
            </a:r>
          </a:p>
          <a:p>
            <a:pPr lvl="2"/>
            <a:r>
              <a:rPr lang="en-US" dirty="0"/>
              <a:t>One tree per CPU core</a:t>
            </a:r>
          </a:p>
          <a:p>
            <a:pPr lvl="1"/>
            <a:r>
              <a:rPr lang="en-US" i="1" dirty="0"/>
              <a:t>Maximum execution time</a:t>
            </a:r>
          </a:p>
          <a:p>
            <a:pPr lvl="2"/>
            <a:r>
              <a:rPr lang="en-US" dirty="0"/>
              <a:t>A time slice calculated for each unit</a:t>
            </a:r>
          </a:p>
          <a:p>
            <a:pPr lvl="2"/>
            <a:r>
              <a:rPr lang="en-US" dirty="0"/>
              <a:t>Total waiting time divided by the current number of processes</a:t>
            </a:r>
          </a:p>
          <a:p>
            <a:pPr lvl="3"/>
            <a:r>
              <a:rPr lang="en-US" dirty="0"/>
              <a:t>The longer it waits, the greater </a:t>
            </a:r>
          </a:p>
        </p:txBody>
      </p:sp>
      <p:sp>
        <p:nvSpPr>
          <p:cNvPr id="6" name="Content Placeholder 5"/>
          <p:cNvSpPr>
            <a:spLocks noGrp="1"/>
          </p:cNvSpPr>
          <p:nvPr>
            <p:ph sz="half" idx="2"/>
          </p:nvPr>
        </p:nvSpPr>
        <p:spPr>
          <a:xfrm>
            <a:off x="5735960" y="2276872"/>
            <a:ext cx="5617840" cy="3900090"/>
          </a:xfrm>
        </p:spPr>
        <p:txBody>
          <a:bodyPr vert="horz" lIns="91440" tIns="45720" rIns="91440" bIns="45720" rtlCol="0" anchor="t">
            <a:normAutofit/>
          </a:bodyPr>
          <a:lstStyle/>
          <a:p>
            <a:pPr lvl="1"/>
            <a:r>
              <a:rPr lang="en-US" dirty="0"/>
              <a:t>Scheduling algorithm</a:t>
            </a:r>
          </a:p>
          <a:p>
            <a:pPr lvl="2"/>
            <a:r>
              <a:rPr lang="en-US" dirty="0"/>
              <a:t>The leftmost node in the RB tree is selected (lowest virtual runtime)</a:t>
            </a:r>
          </a:p>
          <a:p>
            <a:pPr lvl="2"/>
            <a:r>
              <a:rPr lang="en-US" dirty="0"/>
              <a:t>If the process completes its execution, it is removed from the schedule</a:t>
            </a:r>
          </a:p>
          <a:p>
            <a:pPr lvl="2"/>
            <a:r>
              <a:rPr lang="en-US" dirty="0"/>
              <a:t>If the process reaches its </a:t>
            </a:r>
            <a:r>
              <a:rPr lang="en-US" i="1" dirty="0"/>
              <a:t>maximum execution time</a:t>
            </a:r>
            <a:r>
              <a:rPr lang="en-US" dirty="0"/>
              <a:t> or is somehow stopped or interrupted, it is reinserted into the tree with a new time key</a:t>
            </a:r>
          </a:p>
          <a:p>
            <a:pPr lvl="3"/>
            <a:r>
              <a:rPr lang="en-US" dirty="0"/>
              <a:t>Actual time spent on the CPU is added to the virtual runtime</a:t>
            </a:r>
          </a:p>
          <a:p>
            <a:pPr lvl="1"/>
            <a:r>
              <a:rPr lang="en-US" dirty="0"/>
              <a:t>Virtual runtime decays over time</a:t>
            </a:r>
            <a:endParaRPr lang="en-US" dirty="0">
              <a:ea typeface="Calibri"/>
              <a:cs typeface="Calibri"/>
            </a:endParaRPr>
          </a:p>
          <a:p>
            <a:endParaRPr lang="en-US" dirty="0"/>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37</a:t>
            </a:fld>
            <a:endParaRPr lang="en-US" altLang="en-US"/>
          </a:p>
        </p:txBody>
      </p:sp>
    </p:spTree>
    <p:extLst>
      <p:ext uri="{BB962C8B-B14F-4D97-AF65-F5344CB8AC3E}">
        <p14:creationId xmlns:p14="http://schemas.microsoft.com/office/powerpoint/2010/main" val="12397752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Inter-Process Communication</a:t>
            </a:r>
          </a:p>
        </p:txBody>
      </p:sp>
      <p:sp>
        <p:nvSpPr>
          <p:cNvPr id="8" name="Content Placeholder 7"/>
          <p:cNvSpPr>
            <a:spLocks noGrp="1"/>
          </p:cNvSpPr>
          <p:nvPr>
            <p:ph idx="1"/>
          </p:nvPr>
        </p:nvSpPr>
        <p:spPr/>
        <p:txBody>
          <a:bodyPr/>
          <a:lstStyle/>
          <a:p>
            <a:r>
              <a:rPr lang="en-US" dirty="0"/>
              <a:t>Cooperating processes</a:t>
            </a:r>
          </a:p>
          <a:p>
            <a:pPr lvl="1"/>
            <a:r>
              <a:rPr lang="en-US" dirty="0"/>
              <a:t>OS isolates resources of each process (memory, device handlers, …)</a:t>
            </a:r>
          </a:p>
          <a:p>
            <a:pPr lvl="1"/>
            <a:r>
              <a:rPr lang="en-US" dirty="0"/>
              <a:t>IPC presents a secure way for data exchange</a:t>
            </a:r>
          </a:p>
          <a:p>
            <a:pPr lvl="2"/>
            <a:r>
              <a:rPr lang="en-US" dirty="0"/>
              <a:t>OS-specific APIs</a:t>
            </a:r>
          </a:p>
          <a:p>
            <a:r>
              <a:rPr lang="en-US" dirty="0"/>
              <a:t>Typical IPC methods supported by most systems</a:t>
            </a:r>
          </a:p>
          <a:p>
            <a:pPr lvl="1"/>
            <a:r>
              <a:rPr lang="en-US" dirty="0"/>
              <a:t>Pipes</a:t>
            </a:r>
          </a:p>
          <a:p>
            <a:pPr lvl="2"/>
            <a:r>
              <a:rPr lang="en-US" dirty="0"/>
              <a:t>Or other types of sockets (e.g., TCP over loopback)</a:t>
            </a:r>
          </a:p>
          <a:p>
            <a:pPr lvl="1"/>
            <a:r>
              <a:rPr lang="en-US" dirty="0"/>
              <a:t>Shared memory</a:t>
            </a:r>
          </a:p>
          <a:p>
            <a:pPr lvl="2"/>
            <a:r>
              <a:rPr lang="en-US" dirty="0"/>
              <a:t>Or shared external memory (files)</a:t>
            </a:r>
          </a:p>
          <a:p>
            <a:pPr lvl="1"/>
            <a:r>
              <a:rPr lang="en-US" dirty="0"/>
              <a:t>Signals</a:t>
            </a:r>
          </a:p>
          <a:p>
            <a:pPr lvl="2"/>
            <a:r>
              <a:rPr lang="en-US" dirty="0"/>
              <a:t>Also used for kernel -&gt; process communication (e.g., when CPU exception occurs)</a:t>
            </a:r>
          </a:p>
        </p:txBody>
      </p:sp>
      <p:sp>
        <p:nvSpPr>
          <p:cNvPr id="5" name="Date Placeholder 4"/>
          <p:cNvSpPr>
            <a:spLocks noGrp="1"/>
          </p:cNvSpPr>
          <p:nvPr>
            <p:ph type="dt" sz="half" idx="10"/>
          </p:nvPr>
        </p:nvSpPr>
        <p:spPr/>
        <p:txBody>
          <a:bodyPr/>
          <a:lstStyle/>
          <a:p>
            <a:r>
              <a:rPr lang="cs-CZ" altLang="en-US"/>
              <a:t>17.4.2025</a:t>
            </a:r>
            <a:endParaRPr lang="en-US" altLang="en-US"/>
          </a:p>
        </p:txBody>
      </p:sp>
      <p:sp>
        <p:nvSpPr>
          <p:cNvPr id="6" name="Slide Number Placeholder 5"/>
          <p:cNvSpPr>
            <a:spLocks noGrp="1"/>
          </p:cNvSpPr>
          <p:nvPr>
            <p:ph type="sldNum" sz="quarter" idx="12"/>
          </p:nvPr>
        </p:nvSpPr>
        <p:spPr/>
        <p:txBody>
          <a:bodyPr/>
          <a:lstStyle/>
          <a:p>
            <a:fld id="{169EAE92-5121-41FC-8DEC-DA73929E0C34}" type="slidenum">
              <a:rPr lang="en-US" altLang="en-US" smtClean="0"/>
              <a:pPr/>
              <a:t>38</a:t>
            </a:fld>
            <a:endParaRPr lang="en-US" altLang="en-US"/>
          </a:p>
        </p:txBody>
      </p:sp>
    </p:spTree>
    <p:extLst>
      <p:ext uri="{BB962C8B-B14F-4D97-AF65-F5344CB8AC3E}">
        <p14:creationId xmlns:p14="http://schemas.microsoft.com/office/powerpoint/2010/main" val="19043586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File</a:t>
            </a:r>
          </a:p>
        </p:txBody>
      </p:sp>
      <p:sp>
        <p:nvSpPr>
          <p:cNvPr id="3" name="Content Placeholder 2"/>
          <p:cNvSpPr>
            <a:spLocks noGrp="1"/>
          </p:cNvSpPr>
          <p:nvPr>
            <p:ph idx="1"/>
          </p:nvPr>
        </p:nvSpPr>
        <p:spPr/>
        <p:txBody>
          <a:bodyPr vert="horz" lIns="91440" tIns="45720" rIns="91440" bIns="45720" rtlCol="0" anchor="t">
            <a:normAutofit/>
          </a:bodyPr>
          <a:lstStyle/>
          <a:p>
            <a:r>
              <a:rPr lang="en-US" dirty="0"/>
              <a:t>File</a:t>
            </a:r>
          </a:p>
          <a:p>
            <a:pPr lvl="1"/>
            <a:r>
              <a:rPr lang="en-US" dirty="0"/>
              <a:t>Data organization unit</a:t>
            </a:r>
            <a:endParaRPr lang="en-US" dirty="0">
              <a:cs typeface="Calibri"/>
            </a:endParaRPr>
          </a:p>
          <a:p>
            <a:pPr lvl="1"/>
            <a:r>
              <a:rPr lang="en-US" dirty="0"/>
              <a:t>Collection of related information</a:t>
            </a:r>
            <a:endParaRPr lang="en-US" dirty="0">
              <a:cs typeface="Calibri"/>
            </a:endParaRPr>
          </a:p>
          <a:p>
            <a:pPr lvl="2"/>
            <a:r>
              <a:rPr lang="en-US" dirty="0"/>
              <a:t>Abstract stream of data (bytes)</a:t>
            </a:r>
            <a:endParaRPr lang="en-US" dirty="0">
              <a:cs typeface="Calibri"/>
            </a:endParaRPr>
          </a:p>
          <a:p>
            <a:pPr lvl="3"/>
            <a:r>
              <a:rPr lang="en-US" dirty="0"/>
              <a:t>Kernel does not understand file formats</a:t>
            </a:r>
            <a:endParaRPr lang="en-US" dirty="0">
              <a:cs typeface="Calibri"/>
            </a:endParaRPr>
          </a:p>
          <a:p>
            <a:pPr lvl="2"/>
            <a:r>
              <a:rPr lang="en-US" dirty="0"/>
              <a:t>Typically stored on secondary storage, but there are other possibilities</a:t>
            </a:r>
            <a:endParaRPr lang="en-US" dirty="0">
              <a:cs typeface="Calibri"/>
            </a:endParaRPr>
          </a:p>
          <a:p>
            <a:pPr lvl="1"/>
            <a:r>
              <a:rPr lang="en-US" dirty="0"/>
              <a:t>File identification</a:t>
            </a:r>
            <a:endParaRPr lang="en-US" dirty="0">
              <a:cs typeface="Calibri"/>
            </a:endParaRPr>
          </a:p>
          <a:p>
            <a:pPr lvl="2"/>
            <a:r>
              <a:rPr lang="en-US" dirty="0"/>
              <a:t>System uses numeric identifiers</a:t>
            </a:r>
            <a:endParaRPr lang="en-US" dirty="0">
              <a:cs typeface="Calibri"/>
            </a:endParaRPr>
          </a:p>
          <a:p>
            <a:pPr lvl="2"/>
            <a:r>
              <a:rPr lang="en-US" dirty="0"/>
              <a:t>File name and path – a named reference to the file identifier in organized tree structure</a:t>
            </a:r>
            <a:endParaRPr lang="en-US" dirty="0">
              <a:cs typeface="Calibri"/>
            </a:endParaRPr>
          </a:p>
          <a:p>
            <a:pPr lvl="3"/>
            <a:r>
              <a:rPr lang="en-US" dirty="0"/>
              <a:t>So that humans can find the files</a:t>
            </a:r>
            <a:endParaRPr lang="en-US" dirty="0">
              <a:cs typeface="Calibri"/>
            </a:endParaRPr>
          </a:p>
          <a:p>
            <a:pPr lvl="3"/>
            <a:r>
              <a:rPr lang="en-US" dirty="0"/>
              <a:t>Some parts of the file name may have special meaning (leading dot, extension)</a:t>
            </a:r>
            <a:endParaRPr lang="en-US" dirty="0">
              <a:cs typeface="Calibri"/>
            </a:endParaRP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39</a:t>
            </a:fld>
            <a:endParaRPr lang="en-US" altLang="en-US"/>
          </a:p>
        </p:txBody>
      </p:sp>
    </p:spTree>
    <p:extLst>
      <p:ext uri="{BB962C8B-B14F-4D97-AF65-F5344CB8AC3E}">
        <p14:creationId xmlns:p14="http://schemas.microsoft.com/office/powerpoint/2010/main" val="16264798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File operations</a:t>
            </a:r>
          </a:p>
        </p:txBody>
      </p:sp>
      <p:sp>
        <p:nvSpPr>
          <p:cNvPr id="6" name="Content Placeholder 5"/>
          <p:cNvSpPr>
            <a:spLocks noGrp="1"/>
          </p:cNvSpPr>
          <p:nvPr>
            <p:ph sz="half" idx="1"/>
          </p:nvPr>
        </p:nvSpPr>
        <p:spPr/>
        <p:txBody>
          <a:bodyPr/>
          <a:lstStyle/>
          <a:p>
            <a:r>
              <a:rPr lang="en-US"/>
              <a:t>Std. lib in C</a:t>
            </a:r>
          </a:p>
          <a:p>
            <a:pPr marL="0" indent="0">
              <a:buNone/>
            </a:pPr>
            <a:endParaRPr lang="en-US" sz="1800" b="1">
              <a:solidFill>
                <a:schemeClr val="bg1">
                  <a:lumMod val="50000"/>
                </a:schemeClr>
              </a:solidFill>
              <a:latin typeface="Courier New" panose="02070309020205020404" pitchFamily="49" charset="0"/>
              <a:cs typeface="Courier New" panose="02070309020205020404" pitchFamily="49" charset="0"/>
            </a:endParaRPr>
          </a:p>
          <a:p>
            <a:pPr marL="0" indent="0">
              <a:buNone/>
            </a:pPr>
            <a:r>
              <a:rPr lang="en-US" sz="1800" b="1">
                <a:solidFill>
                  <a:schemeClr val="bg1">
                    <a:lumMod val="50000"/>
                  </a:schemeClr>
                </a:solidFill>
                <a:latin typeface="Courier New" panose="02070309020205020404" pitchFamily="49" charset="0"/>
                <a:cs typeface="Courier New" panose="02070309020205020404" pitchFamily="49" charset="0"/>
              </a:rPr>
              <a:t>#include &lt;</a:t>
            </a:r>
            <a:r>
              <a:rPr lang="en-US" sz="1800" b="1" err="1">
                <a:solidFill>
                  <a:schemeClr val="bg1">
                    <a:lumMod val="50000"/>
                  </a:schemeClr>
                </a:solidFill>
                <a:latin typeface="Courier New" panose="02070309020205020404" pitchFamily="49" charset="0"/>
                <a:cs typeface="Courier New" panose="02070309020205020404" pitchFamily="49" charset="0"/>
              </a:rPr>
              <a:t>stdio.h</a:t>
            </a:r>
            <a:r>
              <a:rPr lang="en-US" sz="1800" b="1">
                <a:solidFill>
                  <a:schemeClr val="bg1">
                    <a:lumMod val="50000"/>
                  </a:schemeClr>
                </a:solidFill>
                <a:latin typeface="Courier New" panose="02070309020205020404" pitchFamily="49" charset="0"/>
                <a:cs typeface="Courier New" panose="02070309020205020404" pitchFamily="49" charset="0"/>
              </a:rPr>
              <a:t>&gt;</a:t>
            </a:r>
          </a:p>
          <a:p>
            <a:pPr marL="0" indent="0">
              <a:buNone/>
            </a:pPr>
            <a:endParaRPr lang="en-US" sz="1800" b="1">
              <a:latin typeface="Courier New" panose="02070309020205020404" pitchFamily="49" charset="0"/>
              <a:cs typeface="Courier New" panose="02070309020205020404" pitchFamily="49" charset="0"/>
            </a:endParaRPr>
          </a:p>
          <a:p>
            <a:pPr marL="0" indent="0">
              <a:buNone/>
            </a:pPr>
            <a:r>
              <a:rPr lang="en-US" sz="1800" b="1">
                <a:latin typeface="Courier New" panose="02070309020205020404" pitchFamily="49" charset="0"/>
                <a:cs typeface="Courier New" panose="02070309020205020404" pitchFamily="49" charset="0"/>
              </a:rPr>
              <a:t>FILE *</a:t>
            </a:r>
            <a:r>
              <a:rPr lang="en-US" sz="1800" b="1" err="1">
                <a:latin typeface="Courier New" panose="02070309020205020404" pitchFamily="49" charset="0"/>
                <a:cs typeface="Courier New" panose="02070309020205020404" pitchFamily="49" charset="0"/>
              </a:rPr>
              <a:t>fp</a:t>
            </a:r>
            <a:r>
              <a:rPr lang="en-US" sz="1800" b="1">
                <a:latin typeface="Courier New" panose="02070309020205020404" pitchFamily="49" charset="0"/>
                <a:cs typeface="Courier New" panose="02070309020205020404" pitchFamily="49" charset="0"/>
              </a:rPr>
              <a:t> = </a:t>
            </a:r>
            <a:r>
              <a:rPr lang="en-US" sz="1800" b="1" err="1">
                <a:latin typeface="Courier New" panose="02070309020205020404" pitchFamily="49" charset="0"/>
                <a:cs typeface="Courier New" panose="02070309020205020404" pitchFamily="49" charset="0"/>
              </a:rPr>
              <a:t>fopen</a:t>
            </a:r>
            <a:r>
              <a:rPr lang="en-US" sz="1800" b="1">
                <a:latin typeface="Courier New" panose="02070309020205020404" pitchFamily="49" charset="0"/>
                <a:cs typeface="Courier New" panose="02070309020205020404" pitchFamily="49" charset="0"/>
              </a:rPr>
              <a:t>("</a:t>
            </a:r>
            <a:r>
              <a:rPr lang="cs-CZ" sz="1800" b="1">
                <a:latin typeface="Courier New" panose="02070309020205020404" pitchFamily="49" charset="0"/>
                <a:cs typeface="Courier New" panose="02070309020205020404" pitchFamily="49" charset="0"/>
              </a:rPr>
              <a:t>file.txt</a:t>
            </a:r>
            <a:r>
              <a:rPr lang="en-US" sz="1800" b="1">
                <a:latin typeface="Courier New" panose="02070309020205020404" pitchFamily="49" charset="0"/>
                <a:cs typeface="Courier New" panose="02070309020205020404" pitchFamily="49" charset="0"/>
              </a:rPr>
              <a:t>", "r");</a:t>
            </a:r>
          </a:p>
          <a:p>
            <a:pPr marL="0" indent="0">
              <a:buNone/>
            </a:pPr>
            <a:r>
              <a:rPr lang="en-US" sz="1800" b="1">
                <a:solidFill>
                  <a:srgbClr val="0070C0"/>
                </a:solidFill>
                <a:latin typeface="Courier New" panose="02070309020205020404" pitchFamily="49" charset="0"/>
                <a:cs typeface="Courier New" panose="02070309020205020404" pitchFamily="49" charset="0"/>
              </a:rPr>
              <a:t>if</a:t>
            </a:r>
            <a:r>
              <a:rPr lang="en-US" sz="1800" b="1">
                <a:latin typeface="Courier New" panose="02070309020205020404" pitchFamily="49" charset="0"/>
                <a:cs typeface="Courier New" panose="02070309020205020404" pitchFamily="49" charset="0"/>
              </a:rPr>
              <a:t> (!</a:t>
            </a:r>
            <a:r>
              <a:rPr lang="en-US" sz="1800" b="1" err="1">
                <a:latin typeface="Courier New" panose="02070309020205020404" pitchFamily="49" charset="0"/>
                <a:cs typeface="Courier New" panose="02070309020205020404" pitchFamily="49" charset="0"/>
              </a:rPr>
              <a:t>fp</a:t>
            </a:r>
            <a:r>
              <a:rPr lang="en-US" sz="1800" b="1">
                <a:latin typeface="Courier New" panose="02070309020205020404" pitchFamily="49" charset="0"/>
                <a:cs typeface="Courier New" panose="02070309020205020404" pitchFamily="49" charset="0"/>
              </a:rPr>
              <a:t>) { </a:t>
            </a:r>
            <a:r>
              <a:rPr lang="en-US" sz="1800" b="1">
                <a:solidFill>
                  <a:schemeClr val="bg1">
                    <a:lumMod val="50000"/>
                  </a:schemeClr>
                </a:solidFill>
                <a:latin typeface="Courier New" panose="02070309020205020404" pitchFamily="49" charset="0"/>
                <a:cs typeface="Courier New" panose="02070309020205020404" pitchFamily="49" charset="0"/>
              </a:rPr>
              <a:t>/* error */ </a:t>
            </a:r>
            <a:r>
              <a:rPr lang="en-US" sz="1800" b="1">
                <a:latin typeface="Courier New" panose="02070309020205020404" pitchFamily="49" charset="0"/>
                <a:cs typeface="Courier New" panose="02070309020205020404" pitchFamily="49" charset="0"/>
              </a:rPr>
              <a:t>}</a:t>
            </a:r>
          </a:p>
          <a:p>
            <a:pPr marL="0" indent="0">
              <a:buNone/>
            </a:pPr>
            <a:endParaRPr lang="en-US" sz="1800" b="1">
              <a:latin typeface="Courier New" panose="02070309020205020404" pitchFamily="49" charset="0"/>
              <a:cs typeface="Courier New" panose="02070309020205020404" pitchFamily="49" charset="0"/>
            </a:endParaRPr>
          </a:p>
          <a:p>
            <a:pPr marL="0" indent="0">
              <a:buNone/>
            </a:pPr>
            <a:r>
              <a:rPr lang="en-US" sz="1800" b="1" err="1">
                <a:latin typeface="Courier New" panose="02070309020205020404" pitchFamily="49" charset="0"/>
                <a:cs typeface="Courier New" panose="02070309020205020404" pitchFamily="49" charset="0"/>
              </a:rPr>
              <a:t>fseek</a:t>
            </a:r>
            <a:r>
              <a:rPr lang="en-US" sz="1800" b="1">
                <a:latin typeface="Courier New" panose="02070309020205020404" pitchFamily="49" charset="0"/>
                <a:cs typeface="Courier New" panose="02070309020205020404" pitchFamily="49" charset="0"/>
              </a:rPr>
              <a:t>(</a:t>
            </a:r>
            <a:r>
              <a:rPr lang="en-US" sz="1800" b="1" err="1">
                <a:latin typeface="Courier New" panose="02070309020205020404" pitchFamily="49" charset="0"/>
                <a:cs typeface="Courier New" panose="02070309020205020404" pitchFamily="49" charset="0"/>
              </a:rPr>
              <a:t>fp</a:t>
            </a:r>
            <a:r>
              <a:rPr lang="en-US" sz="1800" b="1">
                <a:latin typeface="Courier New" panose="02070309020205020404" pitchFamily="49" charset="0"/>
                <a:cs typeface="Courier New" panose="02070309020205020404" pitchFamily="49" charset="0"/>
              </a:rPr>
              <a:t>, 42, SEEK_SET);</a:t>
            </a:r>
          </a:p>
          <a:p>
            <a:pPr marL="0" indent="0">
              <a:buNone/>
            </a:pPr>
            <a:r>
              <a:rPr lang="en-US" sz="1800" b="1" err="1">
                <a:latin typeface="Courier New" panose="02070309020205020404" pitchFamily="49" charset="0"/>
                <a:cs typeface="Courier New" panose="02070309020205020404" pitchFamily="49" charset="0"/>
              </a:rPr>
              <a:t>fgets</a:t>
            </a:r>
            <a:r>
              <a:rPr lang="en-US" sz="1800" b="1">
                <a:latin typeface="Courier New" panose="02070309020205020404" pitchFamily="49" charset="0"/>
                <a:cs typeface="Courier New" panose="02070309020205020404" pitchFamily="49" charset="0"/>
              </a:rPr>
              <a:t>(</a:t>
            </a:r>
            <a:r>
              <a:rPr lang="en-US" sz="1800" b="1" err="1">
                <a:latin typeface="Courier New" panose="02070309020205020404" pitchFamily="49" charset="0"/>
                <a:cs typeface="Courier New" panose="02070309020205020404" pitchFamily="49" charset="0"/>
              </a:rPr>
              <a:t>buf</a:t>
            </a:r>
            <a:r>
              <a:rPr lang="en-US" sz="1800" b="1">
                <a:latin typeface="Courier New" panose="02070309020205020404" pitchFamily="49" charset="0"/>
                <a:cs typeface="Courier New" panose="02070309020205020404" pitchFamily="49" charset="0"/>
              </a:rPr>
              <a:t>, 16, </a:t>
            </a:r>
            <a:r>
              <a:rPr lang="en-US" sz="1800" b="1" err="1">
                <a:latin typeface="Courier New" panose="02070309020205020404" pitchFamily="49" charset="0"/>
                <a:cs typeface="Courier New" panose="02070309020205020404" pitchFamily="49" charset="0"/>
              </a:rPr>
              <a:t>fp</a:t>
            </a:r>
            <a:r>
              <a:rPr lang="en-US" sz="1800" b="1">
                <a:latin typeface="Courier New" panose="02070309020205020404" pitchFamily="49" charset="0"/>
                <a:cs typeface="Courier New" panose="02070309020205020404" pitchFamily="49" charset="0"/>
              </a:rPr>
              <a:t>);</a:t>
            </a:r>
          </a:p>
          <a:p>
            <a:pPr marL="0" indent="0">
              <a:buNone/>
            </a:pPr>
            <a:endParaRPr lang="en-US" sz="1800" b="1">
              <a:latin typeface="Courier New" panose="02070309020205020404" pitchFamily="49" charset="0"/>
              <a:cs typeface="Courier New" panose="02070309020205020404" pitchFamily="49" charset="0"/>
            </a:endParaRPr>
          </a:p>
          <a:p>
            <a:pPr marL="0" indent="0">
              <a:buNone/>
            </a:pPr>
            <a:r>
              <a:rPr lang="en-US" sz="1800" b="1" err="1">
                <a:latin typeface="Courier New" panose="02070309020205020404" pitchFamily="49" charset="0"/>
                <a:cs typeface="Courier New" panose="02070309020205020404" pitchFamily="49" charset="0"/>
              </a:rPr>
              <a:t>fclose</a:t>
            </a:r>
            <a:r>
              <a:rPr lang="en-US" sz="1800" b="1">
                <a:latin typeface="Courier New" panose="02070309020205020404" pitchFamily="49" charset="0"/>
                <a:cs typeface="Courier New" panose="02070309020205020404" pitchFamily="49" charset="0"/>
              </a:rPr>
              <a:t>(</a:t>
            </a:r>
            <a:r>
              <a:rPr lang="en-US" sz="1800" b="1" err="1">
                <a:latin typeface="Courier New" panose="02070309020205020404" pitchFamily="49" charset="0"/>
                <a:cs typeface="Courier New" panose="02070309020205020404" pitchFamily="49" charset="0"/>
              </a:rPr>
              <a:t>fp</a:t>
            </a:r>
            <a:r>
              <a:rPr lang="en-US" sz="1800" b="1">
                <a:latin typeface="Courier New" panose="02070309020205020404" pitchFamily="49" charset="0"/>
                <a:cs typeface="Courier New" panose="02070309020205020404" pitchFamily="49" charset="0"/>
              </a:rPr>
              <a:t>);</a:t>
            </a:r>
          </a:p>
        </p:txBody>
      </p:sp>
      <p:sp>
        <p:nvSpPr>
          <p:cNvPr id="7" name="Content Placeholder 6"/>
          <p:cNvSpPr>
            <a:spLocks noGrp="1"/>
          </p:cNvSpPr>
          <p:nvPr>
            <p:ph sz="half" idx="2"/>
          </p:nvPr>
        </p:nvSpPr>
        <p:spPr/>
        <p:txBody>
          <a:bodyPr/>
          <a:lstStyle/>
          <a:p>
            <a:r>
              <a:rPr lang="en-US"/>
              <a:t>POSIX</a:t>
            </a:r>
          </a:p>
          <a:p>
            <a:pPr marL="0" indent="0">
              <a:buNone/>
            </a:pPr>
            <a:endParaRPr lang="en-US" sz="1800" b="1">
              <a:solidFill>
                <a:schemeClr val="bg1">
                  <a:lumMod val="50000"/>
                </a:schemeClr>
              </a:solidFill>
              <a:latin typeface="Courier New" panose="02070309020205020404" pitchFamily="49" charset="0"/>
              <a:cs typeface="Courier New" panose="02070309020205020404" pitchFamily="49" charset="0"/>
            </a:endParaRPr>
          </a:p>
          <a:p>
            <a:pPr marL="0" indent="0">
              <a:buNone/>
            </a:pPr>
            <a:r>
              <a:rPr lang="en-US" sz="1800" b="1">
                <a:solidFill>
                  <a:schemeClr val="bg1">
                    <a:lumMod val="50000"/>
                  </a:schemeClr>
                </a:solidFill>
                <a:latin typeface="Courier New" panose="02070309020205020404" pitchFamily="49" charset="0"/>
                <a:cs typeface="Courier New" panose="02070309020205020404" pitchFamily="49" charset="0"/>
              </a:rPr>
              <a:t>#include &lt;</a:t>
            </a:r>
            <a:r>
              <a:rPr lang="en-US" sz="1800" b="1" err="1">
                <a:solidFill>
                  <a:schemeClr val="bg1">
                    <a:lumMod val="50000"/>
                  </a:schemeClr>
                </a:solidFill>
                <a:latin typeface="Courier New" panose="02070309020205020404" pitchFamily="49" charset="0"/>
                <a:cs typeface="Courier New" panose="02070309020205020404" pitchFamily="49" charset="0"/>
              </a:rPr>
              <a:t>unistd.h</a:t>
            </a:r>
            <a:r>
              <a:rPr lang="en-US" sz="1800" b="1">
                <a:solidFill>
                  <a:schemeClr val="bg1">
                    <a:lumMod val="50000"/>
                  </a:schemeClr>
                </a:solidFill>
                <a:latin typeface="Courier New" panose="02070309020205020404" pitchFamily="49" charset="0"/>
                <a:cs typeface="Courier New" panose="02070309020205020404" pitchFamily="49" charset="0"/>
              </a:rPr>
              <a:t>&gt;</a:t>
            </a:r>
          </a:p>
          <a:p>
            <a:pPr marL="0" indent="0">
              <a:buNone/>
            </a:pPr>
            <a:endParaRPr lang="en-US" sz="1800" b="1">
              <a:latin typeface="Courier New" panose="02070309020205020404" pitchFamily="49" charset="0"/>
              <a:cs typeface="Courier New" panose="02070309020205020404" pitchFamily="49" charset="0"/>
            </a:endParaRPr>
          </a:p>
          <a:p>
            <a:pPr marL="0" indent="0">
              <a:buNone/>
            </a:pPr>
            <a:r>
              <a:rPr lang="en-US" sz="1800" b="1" err="1">
                <a:solidFill>
                  <a:srgbClr val="0070C0"/>
                </a:solidFill>
                <a:latin typeface="Courier New" panose="02070309020205020404" pitchFamily="49" charset="0"/>
                <a:cs typeface="Courier New" panose="02070309020205020404" pitchFamily="49" charset="0"/>
              </a:rPr>
              <a:t>int</a:t>
            </a:r>
            <a:r>
              <a:rPr lang="en-US" sz="1800" b="1">
                <a:latin typeface="Courier New" panose="02070309020205020404" pitchFamily="49" charset="0"/>
                <a:cs typeface="Courier New" panose="02070309020205020404" pitchFamily="49" charset="0"/>
              </a:rPr>
              <a:t> </a:t>
            </a:r>
            <a:r>
              <a:rPr lang="en-US" sz="1800" b="1" err="1">
                <a:latin typeface="Courier New" panose="02070309020205020404" pitchFamily="49" charset="0"/>
                <a:cs typeface="Courier New" panose="02070309020205020404" pitchFamily="49" charset="0"/>
              </a:rPr>
              <a:t>fd</a:t>
            </a:r>
            <a:r>
              <a:rPr lang="en-US" sz="1800" b="1">
                <a:latin typeface="Courier New" panose="02070309020205020404" pitchFamily="49" charset="0"/>
                <a:cs typeface="Courier New" panose="02070309020205020404" pitchFamily="49" charset="0"/>
              </a:rPr>
              <a:t> = open("</a:t>
            </a:r>
            <a:r>
              <a:rPr lang="cs-CZ" sz="1800" b="1">
                <a:latin typeface="Courier New" panose="02070309020205020404" pitchFamily="49" charset="0"/>
                <a:cs typeface="Courier New" panose="02070309020205020404" pitchFamily="49" charset="0"/>
              </a:rPr>
              <a:t>file.txt</a:t>
            </a:r>
            <a:r>
              <a:rPr lang="en-US" sz="1800" b="1">
                <a:latin typeface="Courier New" panose="02070309020205020404" pitchFamily="49" charset="0"/>
                <a:cs typeface="Courier New" panose="02070309020205020404" pitchFamily="49" charset="0"/>
              </a:rPr>
              <a:t>", O_RDONLY);</a:t>
            </a:r>
          </a:p>
          <a:p>
            <a:pPr marL="0" indent="0">
              <a:buNone/>
            </a:pPr>
            <a:r>
              <a:rPr lang="en-US" sz="1800" b="1">
                <a:solidFill>
                  <a:srgbClr val="0070C0"/>
                </a:solidFill>
                <a:latin typeface="Courier New" panose="02070309020205020404" pitchFamily="49" charset="0"/>
                <a:cs typeface="Courier New" panose="02070309020205020404" pitchFamily="49" charset="0"/>
              </a:rPr>
              <a:t>if</a:t>
            </a:r>
            <a:r>
              <a:rPr lang="en-US" sz="1800" b="1">
                <a:latin typeface="Courier New" panose="02070309020205020404" pitchFamily="49" charset="0"/>
                <a:cs typeface="Courier New" panose="02070309020205020404" pitchFamily="49" charset="0"/>
              </a:rPr>
              <a:t> (</a:t>
            </a:r>
            <a:r>
              <a:rPr lang="en-US" sz="1800" b="1" err="1">
                <a:latin typeface="Courier New" panose="02070309020205020404" pitchFamily="49" charset="0"/>
                <a:cs typeface="Courier New" panose="02070309020205020404" pitchFamily="49" charset="0"/>
              </a:rPr>
              <a:t>fd</a:t>
            </a:r>
            <a:r>
              <a:rPr lang="en-US" sz="1800" b="1">
                <a:latin typeface="Courier New" panose="02070309020205020404" pitchFamily="49" charset="0"/>
                <a:cs typeface="Courier New" panose="02070309020205020404" pitchFamily="49" charset="0"/>
              </a:rPr>
              <a:t> == -1) { </a:t>
            </a:r>
            <a:r>
              <a:rPr lang="en-US" sz="1800" b="1">
                <a:solidFill>
                  <a:schemeClr val="bg1">
                    <a:lumMod val="50000"/>
                  </a:schemeClr>
                </a:solidFill>
                <a:latin typeface="Courier New" panose="02070309020205020404" pitchFamily="49" charset="0"/>
                <a:cs typeface="Courier New" panose="02070309020205020404" pitchFamily="49" charset="0"/>
              </a:rPr>
              <a:t>/* error */ </a:t>
            </a:r>
            <a:r>
              <a:rPr lang="en-US" sz="1800" b="1">
                <a:latin typeface="Courier New" panose="02070309020205020404" pitchFamily="49" charset="0"/>
                <a:cs typeface="Courier New" panose="02070309020205020404" pitchFamily="49" charset="0"/>
              </a:rPr>
              <a:t>}</a:t>
            </a:r>
          </a:p>
          <a:p>
            <a:pPr marL="0" indent="0">
              <a:buNone/>
            </a:pPr>
            <a:endParaRPr lang="en-US" sz="1800" b="1">
              <a:latin typeface="Courier New" panose="02070309020205020404" pitchFamily="49" charset="0"/>
              <a:cs typeface="Courier New" panose="02070309020205020404" pitchFamily="49" charset="0"/>
            </a:endParaRPr>
          </a:p>
          <a:p>
            <a:pPr marL="0" indent="0">
              <a:buNone/>
            </a:pPr>
            <a:r>
              <a:rPr lang="en-US" sz="1800" b="1" err="1">
                <a:latin typeface="Courier New" panose="02070309020205020404" pitchFamily="49" charset="0"/>
                <a:cs typeface="Courier New" panose="02070309020205020404" pitchFamily="49" charset="0"/>
              </a:rPr>
              <a:t>lseek</a:t>
            </a:r>
            <a:r>
              <a:rPr lang="en-US" sz="1800" b="1">
                <a:latin typeface="Courier New" panose="02070309020205020404" pitchFamily="49" charset="0"/>
                <a:cs typeface="Courier New" panose="02070309020205020404" pitchFamily="49" charset="0"/>
              </a:rPr>
              <a:t>(</a:t>
            </a:r>
            <a:r>
              <a:rPr lang="en-US" sz="1800" b="1" err="1">
                <a:latin typeface="Courier New" panose="02070309020205020404" pitchFamily="49" charset="0"/>
                <a:cs typeface="Courier New" panose="02070309020205020404" pitchFamily="49" charset="0"/>
              </a:rPr>
              <a:t>fd</a:t>
            </a:r>
            <a:r>
              <a:rPr lang="en-US" sz="1800" b="1">
                <a:latin typeface="Courier New" panose="02070309020205020404" pitchFamily="49" charset="0"/>
                <a:cs typeface="Courier New" panose="02070309020205020404" pitchFamily="49" charset="0"/>
              </a:rPr>
              <a:t>, 42, SEEK_SET);</a:t>
            </a:r>
          </a:p>
          <a:p>
            <a:pPr marL="0" indent="0">
              <a:buNone/>
            </a:pPr>
            <a:r>
              <a:rPr lang="en-US" sz="1800" b="1">
                <a:latin typeface="Courier New" panose="02070309020205020404" pitchFamily="49" charset="0"/>
                <a:cs typeface="Courier New" panose="02070309020205020404" pitchFamily="49" charset="0"/>
              </a:rPr>
              <a:t>read(</a:t>
            </a:r>
            <a:r>
              <a:rPr lang="en-US" sz="1800" b="1" err="1">
                <a:latin typeface="Courier New" panose="02070309020205020404" pitchFamily="49" charset="0"/>
                <a:cs typeface="Courier New" panose="02070309020205020404" pitchFamily="49" charset="0"/>
              </a:rPr>
              <a:t>fd</a:t>
            </a:r>
            <a:r>
              <a:rPr lang="en-US" sz="1800" b="1">
                <a:latin typeface="Courier New" panose="02070309020205020404" pitchFamily="49" charset="0"/>
                <a:cs typeface="Courier New" panose="02070309020205020404" pitchFamily="49" charset="0"/>
              </a:rPr>
              <a:t>, </a:t>
            </a:r>
            <a:r>
              <a:rPr lang="en-US" sz="1800" b="1" err="1">
                <a:latin typeface="Courier New" panose="02070309020205020404" pitchFamily="49" charset="0"/>
                <a:cs typeface="Courier New" panose="02070309020205020404" pitchFamily="49" charset="0"/>
              </a:rPr>
              <a:t>buf</a:t>
            </a:r>
            <a:r>
              <a:rPr lang="en-US" sz="1800" b="1">
                <a:latin typeface="Courier New" panose="02070309020205020404" pitchFamily="49" charset="0"/>
                <a:cs typeface="Courier New" panose="02070309020205020404" pitchFamily="49" charset="0"/>
              </a:rPr>
              <a:t>, 16);</a:t>
            </a:r>
          </a:p>
          <a:p>
            <a:pPr marL="0" indent="0">
              <a:buNone/>
            </a:pPr>
            <a:endParaRPr lang="en-US" sz="1800" b="1">
              <a:latin typeface="Courier New" panose="02070309020205020404" pitchFamily="49" charset="0"/>
              <a:cs typeface="Courier New" panose="02070309020205020404" pitchFamily="49" charset="0"/>
            </a:endParaRPr>
          </a:p>
          <a:p>
            <a:pPr marL="0" indent="0">
              <a:buNone/>
            </a:pPr>
            <a:r>
              <a:rPr lang="en-US" sz="1800" b="1">
                <a:latin typeface="Courier New" panose="02070309020205020404" pitchFamily="49" charset="0"/>
                <a:cs typeface="Courier New" panose="02070309020205020404" pitchFamily="49" charset="0"/>
              </a:rPr>
              <a:t>close(</a:t>
            </a:r>
            <a:r>
              <a:rPr lang="en-US" sz="1800" b="1" err="1">
                <a:latin typeface="Courier New" panose="02070309020205020404" pitchFamily="49" charset="0"/>
                <a:cs typeface="Courier New" panose="02070309020205020404" pitchFamily="49" charset="0"/>
              </a:rPr>
              <a:t>fd</a:t>
            </a:r>
            <a:r>
              <a:rPr lang="en-US" sz="1800" b="1">
                <a:latin typeface="Courier New" panose="02070309020205020404" pitchFamily="49" charset="0"/>
                <a:cs typeface="Courier New" panose="02070309020205020404" pitchFamily="49" charset="0"/>
              </a:rPr>
              <a:t>);</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40</a:t>
            </a:fld>
            <a:endParaRPr lang="en-US" altLang="en-US"/>
          </a:p>
        </p:txBody>
      </p:sp>
    </p:spTree>
    <p:extLst>
      <p:ext uri="{BB962C8B-B14F-4D97-AF65-F5344CB8AC3E}">
        <p14:creationId xmlns:p14="http://schemas.microsoft.com/office/powerpoint/2010/main" val="9835684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File operations</a:t>
            </a:r>
          </a:p>
        </p:txBody>
      </p:sp>
      <p:sp>
        <p:nvSpPr>
          <p:cNvPr id="8" name="Content Placeholder 7"/>
          <p:cNvSpPr>
            <a:spLocks noGrp="1"/>
          </p:cNvSpPr>
          <p:nvPr>
            <p:ph idx="1"/>
          </p:nvPr>
        </p:nvSpPr>
        <p:spPr>
          <a:xfrm>
            <a:off x="838200" y="1825624"/>
            <a:ext cx="10515600" cy="4530725"/>
          </a:xfrm>
        </p:spPr>
        <p:txBody>
          <a:bodyPr vert="horz" lIns="91440" tIns="45720" rIns="91440" bIns="45720" rtlCol="0" anchor="t">
            <a:noAutofit/>
          </a:bodyPr>
          <a:lstStyle/>
          <a:p>
            <a:r>
              <a:rPr lang="en-US" dirty="0"/>
              <a:t>Additional operations</a:t>
            </a:r>
          </a:p>
          <a:p>
            <a:pPr lvl="1"/>
            <a:r>
              <a:rPr lang="en-US" dirty="0"/>
              <a:t>Create, truncate, delete, flush, change attributes</a:t>
            </a:r>
          </a:p>
          <a:p>
            <a:r>
              <a:rPr lang="en-US" dirty="0"/>
              <a:t>File handle</a:t>
            </a:r>
            <a:endParaRPr lang="en-US" dirty="0">
              <a:cs typeface="Calibri"/>
            </a:endParaRPr>
          </a:p>
          <a:p>
            <a:pPr lvl="1"/>
            <a:r>
              <a:rPr lang="en-US" dirty="0"/>
              <a:t>Process-specific sequentially assigned, kernel holds translation table</a:t>
            </a:r>
            <a:endParaRPr lang="en-US" dirty="0">
              <a:cs typeface="Calibri"/>
            </a:endParaRPr>
          </a:p>
          <a:p>
            <a:r>
              <a:rPr lang="en-US" dirty="0"/>
              <a:t>Buffering</a:t>
            </a:r>
            <a:endParaRPr lang="en-US" dirty="0">
              <a:cs typeface="Calibri"/>
            </a:endParaRPr>
          </a:p>
          <a:p>
            <a:pPr lvl="1"/>
            <a:r>
              <a:rPr lang="en-US" dirty="0"/>
              <a:t>To increase performance, multiple levels (system, language runtime)</a:t>
            </a:r>
            <a:endParaRPr lang="en-US" dirty="0">
              <a:cs typeface="Calibri"/>
            </a:endParaRPr>
          </a:p>
          <a:p>
            <a:pPr lvl="1"/>
            <a:r>
              <a:rPr lang="en-US" dirty="0"/>
              <a:t>Sequential vs random access</a:t>
            </a:r>
            <a:endParaRPr lang="en-US" dirty="0">
              <a:cs typeface="Calibri"/>
            </a:endParaRPr>
          </a:p>
          <a:p>
            <a:r>
              <a:rPr lang="en-US" dirty="0"/>
              <a:t>Alternatives</a:t>
            </a:r>
            <a:endParaRPr lang="en-US" dirty="0">
              <a:cs typeface="Calibri"/>
            </a:endParaRPr>
          </a:p>
          <a:p>
            <a:pPr lvl="1"/>
            <a:r>
              <a:rPr lang="en-US" dirty="0"/>
              <a:t>Memory mapping (will become more clear after memory management)</a:t>
            </a:r>
            <a:endParaRPr lang="en-US" dirty="0">
              <a:cs typeface="Calibri"/>
            </a:endParaRPr>
          </a:p>
          <a:p>
            <a:pPr lvl="1"/>
            <a:r>
              <a:rPr lang="en-US" dirty="0"/>
              <a:t>Async file I/O</a:t>
            </a:r>
            <a:endParaRPr lang="en-US" dirty="0">
              <a:cs typeface="Calibri"/>
            </a:endParaRPr>
          </a:p>
        </p:txBody>
      </p:sp>
      <p:sp>
        <p:nvSpPr>
          <p:cNvPr id="5" name="Date Placeholder 4"/>
          <p:cNvSpPr>
            <a:spLocks noGrp="1"/>
          </p:cNvSpPr>
          <p:nvPr>
            <p:ph type="dt" sz="half" idx="10"/>
          </p:nvPr>
        </p:nvSpPr>
        <p:spPr/>
        <p:txBody>
          <a:bodyPr/>
          <a:lstStyle/>
          <a:p>
            <a:r>
              <a:rPr lang="cs-CZ" altLang="en-US"/>
              <a:t>17.4.2025</a:t>
            </a:r>
            <a:endParaRPr lang="en-US" altLang="en-US"/>
          </a:p>
        </p:txBody>
      </p:sp>
      <p:sp>
        <p:nvSpPr>
          <p:cNvPr id="6" name="Slide Number Placeholder 5"/>
          <p:cNvSpPr>
            <a:spLocks noGrp="1"/>
          </p:cNvSpPr>
          <p:nvPr>
            <p:ph type="sldNum" sz="quarter" idx="12"/>
          </p:nvPr>
        </p:nvSpPr>
        <p:spPr/>
        <p:txBody>
          <a:bodyPr/>
          <a:lstStyle/>
          <a:p>
            <a:fld id="{169EAE92-5121-41FC-8DEC-DA73929E0C34}" type="slidenum">
              <a:rPr lang="en-US" altLang="en-US" smtClean="0"/>
              <a:pPr/>
              <a:t>41</a:t>
            </a:fld>
            <a:endParaRPr lang="en-US" altLang="en-US"/>
          </a:p>
        </p:txBody>
      </p:sp>
      <p:sp>
        <p:nvSpPr>
          <p:cNvPr id="9" name="Rounded Rectangular Callout 8"/>
          <p:cNvSpPr/>
          <p:nvPr/>
        </p:nvSpPr>
        <p:spPr>
          <a:xfrm>
            <a:off x="7740198" y="2033442"/>
            <a:ext cx="3816424" cy="1080120"/>
          </a:xfrm>
          <a:prstGeom prst="wedgeRoundRectCallout">
            <a:avLst>
              <a:gd name="adj1" fmla="val -113135"/>
              <a:gd name="adj2" fmla="val 56878"/>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It is no coincidence that </a:t>
            </a:r>
            <a:r>
              <a:rPr lang="en-US" b="1" dirty="0" err="1">
                <a:latin typeface="Courier New" panose="02070309020205020404" pitchFamily="49" charset="0"/>
                <a:cs typeface="Courier New" panose="02070309020205020404" pitchFamily="49" charset="0"/>
              </a:rPr>
              <a:t>stdin</a:t>
            </a:r>
            <a:r>
              <a:rPr lang="en-US" dirty="0"/>
              <a:t>, </a:t>
            </a:r>
            <a:r>
              <a:rPr lang="en-US" b="1" dirty="0" err="1">
                <a:latin typeface="Courier New" panose="02070309020205020404" pitchFamily="49" charset="0"/>
                <a:cs typeface="Courier New" panose="02070309020205020404" pitchFamily="49" charset="0"/>
              </a:rPr>
              <a:t>stdout</a:t>
            </a:r>
            <a:r>
              <a:rPr lang="en-US" dirty="0"/>
              <a:t>, and </a:t>
            </a:r>
            <a:r>
              <a:rPr lang="en-US" b="1" dirty="0" err="1">
                <a:latin typeface="Courier New" panose="02070309020205020404" pitchFamily="49" charset="0"/>
                <a:cs typeface="Courier New" panose="02070309020205020404" pitchFamily="49" charset="0"/>
              </a:rPr>
              <a:t>stderr</a:t>
            </a:r>
            <a:r>
              <a:rPr lang="en-US" dirty="0"/>
              <a:t> file descriptors have handles 0, 1, and 2.</a:t>
            </a:r>
          </a:p>
        </p:txBody>
      </p:sp>
    </p:spTree>
    <p:extLst>
      <p:ext uri="{BB962C8B-B14F-4D97-AF65-F5344CB8AC3E}">
        <p14:creationId xmlns:p14="http://schemas.microsoft.com/office/powerpoint/2010/main" val="40743038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File attributes</a:t>
            </a:r>
          </a:p>
        </p:txBody>
      </p:sp>
      <p:sp>
        <p:nvSpPr>
          <p:cNvPr id="7" name="Content Placeholder 6"/>
          <p:cNvSpPr>
            <a:spLocks noGrp="1"/>
          </p:cNvSpPr>
          <p:nvPr>
            <p:ph idx="1"/>
          </p:nvPr>
        </p:nvSpPr>
        <p:spPr/>
        <p:txBody>
          <a:bodyPr>
            <a:noAutofit/>
          </a:bodyPr>
          <a:lstStyle/>
          <a:p>
            <a:pPr marL="0" indent="0">
              <a:buNone/>
            </a:pPr>
            <a:r>
              <a:rPr lang="en-US" sz="1800" b="1" dirty="0">
                <a:solidFill>
                  <a:schemeClr val="accent6">
                    <a:lumMod val="75000"/>
                  </a:schemeClr>
                </a:solidFill>
                <a:latin typeface="Courier New" panose="02070309020205020404" pitchFamily="49" charset="0"/>
                <a:cs typeface="Courier New" panose="02070309020205020404" pitchFamily="49" charset="0"/>
              </a:rPr>
              <a:t>$&gt; stat ./smart.py</a:t>
            </a:r>
          </a:p>
          <a:p>
            <a:pPr marL="0" indent="0">
              <a:buNone/>
            </a:pPr>
            <a:r>
              <a:rPr lang="en-US" sz="1800" b="1" dirty="0">
                <a:latin typeface="Courier New" panose="02070309020205020404" pitchFamily="49" charset="0"/>
                <a:cs typeface="Courier New" panose="02070309020205020404" pitchFamily="49" charset="0"/>
              </a:rPr>
              <a:t>  File: ./smart.py</a:t>
            </a:r>
          </a:p>
          <a:p>
            <a:pPr marL="0" indent="0">
              <a:buNone/>
            </a:pPr>
            <a:r>
              <a:rPr lang="en-US" sz="1800" b="1" dirty="0">
                <a:latin typeface="Courier New" panose="02070309020205020404" pitchFamily="49" charset="0"/>
                <a:cs typeface="Courier New" panose="02070309020205020404" pitchFamily="49" charset="0"/>
              </a:rPr>
              <a:t>  Size: 11534           Blocks: 24         IO Block: 4096   regular file</a:t>
            </a:r>
          </a:p>
          <a:p>
            <a:pPr marL="0" indent="0">
              <a:buNone/>
            </a:pPr>
            <a:r>
              <a:rPr lang="en-US" sz="1800" b="1" dirty="0">
                <a:latin typeface="Courier New" panose="02070309020205020404" pitchFamily="49" charset="0"/>
                <a:cs typeface="Courier New" panose="02070309020205020404" pitchFamily="49" charset="0"/>
              </a:rPr>
              <a:t>Device: fd05h/64773d    </a:t>
            </a:r>
            <a:r>
              <a:rPr lang="en-US" sz="1800" b="1" dirty="0" err="1">
                <a:latin typeface="Courier New" panose="02070309020205020404" pitchFamily="49" charset="0"/>
                <a:cs typeface="Courier New" panose="02070309020205020404" pitchFamily="49" charset="0"/>
              </a:rPr>
              <a:t>Inode</a:t>
            </a:r>
            <a:r>
              <a:rPr lang="en-US" sz="1800" b="1" dirty="0">
                <a:latin typeface="Courier New" panose="02070309020205020404" pitchFamily="49" charset="0"/>
                <a:cs typeface="Courier New" panose="02070309020205020404" pitchFamily="49" charset="0"/>
              </a:rPr>
              <a:t>: 120575467360  Links: 1</a:t>
            </a:r>
          </a:p>
          <a:p>
            <a:pPr marL="0" indent="0">
              <a:buNone/>
            </a:pPr>
            <a:r>
              <a:rPr lang="en-US" sz="1800" b="1" dirty="0">
                <a:latin typeface="Courier New" panose="02070309020205020404" pitchFamily="49" charset="0"/>
                <a:cs typeface="Courier New" panose="02070309020205020404" pitchFamily="49" charset="0"/>
              </a:rPr>
              <a:t>Access: (0664/-</a:t>
            </a:r>
            <a:r>
              <a:rPr lang="en-US" sz="1800" b="1" dirty="0" err="1">
                <a:latin typeface="Courier New" panose="02070309020205020404" pitchFamily="49" charset="0"/>
                <a:cs typeface="Courier New" panose="02070309020205020404" pitchFamily="49" charset="0"/>
              </a:rPr>
              <a:t>rw</a:t>
            </a:r>
            <a:r>
              <a:rPr lang="en-US" sz="1800" b="1" dirty="0">
                <a:latin typeface="Courier New" panose="02070309020205020404" pitchFamily="49" charset="0"/>
                <a:cs typeface="Courier New" panose="02070309020205020404" pitchFamily="49" charset="0"/>
              </a:rPr>
              <a:t>-</a:t>
            </a:r>
            <a:r>
              <a:rPr lang="en-US" sz="1800" b="1" dirty="0" err="1">
                <a:latin typeface="Courier New" panose="02070309020205020404" pitchFamily="49" charset="0"/>
                <a:cs typeface="Courier New" panose="02070309020205020404" pitchFamily="49" charset="0"/>
              </a:rPr>
              <a:t>rw</a:t>
            </a:r>
            <a:r>
              <a:rPr lang="en-US" sz="1800" b="1" dirty="0">
                <a:latin typeface="Courier New" panose="02070309020205020404" pitchFamily="49" charset="0"/>
                <a:cs typeface="Courier New" panose="02070309020205020404" pitchFamily="49" charset="0"/>
              </a:rPr>
              <a:t>-r--)  </a:t>
            </a:r>
            <a:r>
              <a:rPr lang="en-US" sz="1800" b="1" dirty="0" err="1">
                <a:latin typeface="Courier New" panose="02070309020205020404" pitchFamily="49" charset="0"/>
                <a:cs typeface="Courier New" panose="02070309020205020404" pitchFamily="49" charset="0"/>
              </a:rPr>
              <a:t>Uid</a:t>
            </a:r>
            <a:r>
              <a:rPr lang="en-US" sz="1800" b="1" dirty="0">
                <a:latin typeface="Courier New" panose="02070309020205020404" pitchFamily="49" charset="0"/>
                <a:cs typeface="Courier New" panose="02070309020205020404" pitchFamily="49" charset="0"/>
              </a:rPr>
              <a:t>: (29345/krulm3am)   </a:t>
            </a:r>
            <a:r>
              <a:rPr lang="en-US" sz="1800" b="1" dirty="0" err="1">
                <a:latin typeface="Courier New" panose="02070309020205020404" pitchFamily="49" charset="0"/>
                <a:cs typeface="Courier New" panose="02070309020205020404" pitchFamily="49" charset="0"/>
              </a:rPr>
              <a:t>Gid</a:t>
            </a:r>
            <a:r>
              <a:rPr lang="en-US" sz="1800" b="1" dirty="0">
                <a:latin typeface="Courier New" panose="02070309020205020404" pitchFamily="49" charset="0"/>
                <a:cs typeface="Courier New" panose="02070309020205020404" pitchFamily="49" charset="0"/>
              </a:rPr>
              <a:t>: (29345/krulm3am)</a:t>
            </a:r>
          </a:p>
          <a:p>
            <a:pPr marL="0" indent="0">
              <a:buNone/>
            </a:pPr>
            <a:r>
              <a:rPr lang="en-US" sz="1800" b="1" dirty="0">
                <a:latin typeface="Courier New" panose="02070309020205020404" pitchFamily="49" charset="0"/>
                <a:cs typeface="Courier New" panose="02070309020205020404" pitchFamily="49" charset="0"/>
              </a:rPr>
              <a:t>Access: 2021-05-17 18:25:06.734717566 +0200</a:t>
            </a:r>
          </a:p>
          <a:p>
            <a:pPr marL="0" indent="0">
              <a:buNone/>
            </a:pPr>
            <a:r>
              <a:rPr lang="en-US" sz="1800" b="1" dirty="0">
                <a:latin typeface="Courier New" panose="02070309020205020404" pitchFamily="49" charset="0"/>
                <a:cs typeface="Courier New" panose="02070309020205020404" pitchFamily="49" charset="0"/>
              </a:rPr>
              <a:t>Modify: 2021-05-16 15:58:16.000000000 +0200</a:t>
            </a:r>
          </a:p>
          <a:p>
            <a:pPr marL="0" indent="0">
              <a:buNone/>
            </a:pPr>
            <a:r>
              <a:rPr lang="en-US" sz="1800" b="1" dirty="0">
                <a:latin typeface="Courier New" panose="02070309020205020404" pitchFamily="49" charset="0"/>
                <a:cs typeface="Courier New" panose="02070309020205020404" pitchFamily="49" charset="0"/>
              </a:rPr>
              <a:t>Change: 2021-08-04 16:11:32.853190394 +0200</a:t>
            </a:r>
          </a:p>
          <a:p>
            <a:pPr marL="0" indent="0">
              <a:buNone/>
            </a:pPr>
            <a:r>
              <a:rPr lang="en-US" sz="1800" b="1" dirty="0">
                <a:latin typeface="Courier New" panose="02070309020205020404" pitchFamily="49" charset="0"/>
                <a:cs typeface="Courier New" panose="02070309020205020404" pitchFamily="49" charset="0"/>
              </a:rPr>
              <a:t> Birth: -</a:t>
            </a:r>
          </a:p>
          <a:p>
            <a:pPr marL="0" indent="0">
              <a:buNone/>
            </a:pPr>
            <a:endParaRPr lang="en-US" sz="1800" b="1" dirty="0">
              <a:latin typeface="Courier New" panose="02070309020205020404" pitchFamily="49" charset="0"/>
              <a:cs typeface="Courier New" panose="02070309020205020404" pitchFamily="49" charset="0"/>
            </a:endParaRPr>
          </a:p>
        </p:txBody>
      </p:sp>
      <p:sp>
        <p:nvSpPr>
          <p:cNvPr id="5" name="Date Placeholder 4"/>
          <p:cNvSpPr>
            <a:spLocks noGrp="1"/>
          </p:cNvSpPr>
          <p:nvPr>
            <p:ph type="dt" sz="half" idx="10"/>
          </p:nvPr>
        </p:nvSpPr>
        <p:spPr/>
        <p:txBody>
          <a:bodyPr/>
          <a:lstStyle/>
          <a:p>
            <a:r>
              <a:rPr lang="cs-CZ" altLang="en-US"/>
              <a:t>17.4.2025</a:t>
            </a:r>
            <a:endParaRPr lang="en-US" altLang="en-US"/>
          </a:p>
        </p:txBody>
      </p:sp>
      <p:sp>
        <p:nvSpPr>
          <p:cNvPr id="6" name="Slide Number Placeholder 5"/>
          <p:cNvSpPr>
            <a:spLocks noGrp="1"/>
          </p:cNvSpPr>
          <p:nvPr>
            <p:ph type="sldNum" sz="quarter" idx="12"/>
          </p:nvPr>
        </p:nvSpPr>
        <p:spPr/>
        <p:txBody>
          <a:bodyPr/>
          <a:lstStyle/>
          <a:p>
            <a:fld id="{169EAE92-5121-41FC-8DEC-DA73929E0C34}" type="slidenum">
              <a:rPr lang="en-US" altLang="en-US" smtClean="0"/>
              <a:pPr/>
              <a:t>42</a:t>
            </a:fld>
            <a:endParaRPr lang="en-US" altLang="en-US"/>
          </a:p>
        </p:txBody>
      </p:sp>
      <p:sp>
        <p:nvSpPr>
          <p:cNvPr id="8" name="Rounded Rectangular Callout 7"/>
          <p:cNvSpPr/>
          <p:nvPr/>
        </p:nvSpPr>
        <p:spPr>
          <a:xfrm>
            <a:off x="7537376" y="3651794"/>
            <a:ext cx="3816424" cy="699000"/>
          </a:xfrm>
          <a:prstGeom prst="wedgeRoundRectCallout">
            <a:avLst>
              <a:gd name="adj1" fmla="val -67471"/>
              <a:gd name="adj2" fmla="val 30715"/>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When the file content was modified</a:t>
            </a:r>
          </a:p>
        </p:txBody>
      </p:sp>
      <p:sp>
        <p:nvSpPr>
          <p:cNvPr id="9" name="Rounded Rectangular Callout 8"/>
          <p:cNvSpPr/>
          <p:nvPr/>
        </p:nvSpPr>
        <p:spPr>
          <a:xfrm>
            <a:off x="7537376" y="4612749"/>
            <a:ext cx="3816424" cy="852136"/>
          </a:xfrm>
          <a:prstGeom prst="wedgeRoundRectCallout">
            <a:avLst>
              <a:gd name="adj1" fmla="val -66907"/>
              <a:gd name="adj2" fmla="val -52954"/>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When the file attributes (</a:t>
            </a:r>
            <a:r>
              <a:rPr lang="en-US" dirty="0" err="1"/>
              <a:t>inode</a:t>
            </a:r>
            <a:r>
              <a:rPr lang="en-US" dirty="0"/>
              <a:t>) were last changed</a:t>
            </a:r>
          </a:p>
        </p:txBody>
      </p:sp>
    </p:spTree>
    <p:extLst>
      <p:ext uri="{BB962C8B-B14F-4D97-AF65-F5344CB8AC3E}">
        <p14:creationId xmlns:p14="http://schemas.microsoft.com/office/powerpoint/2010/main" val="2223632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File directory</a:t>
            </a:r>
          </a:p>
        </p:txBody>
      </p:sp>
      <p:sp>
        <p:nvSpPr>
          <p:cNvPr id="3" name="Content Placeholder 2"/>
          <p:cNvSpPr>
            <a:spLocks noGrp="1"/>
          </p:cNvSpPr>
          <p:nvPr>
            <p:ph idx="1"/>
          </p:nvPr>
        </p:nvSpPr>
        <p:spPr/>
        <p:txBody>
          <a:bodyPr>
            <a:normAutofit fontScale="92500" lnSpcReduction="10000"/>
          </a:bodyPr>
          <a:lstStyle/>
          <a:p>
            <a:r>
              <a:rPr lang="en-US" dirty="0"/>
              <a:t>Directory</a:t>
            </a:r>
          </a:p>
          <a:p>
            <a:pPr lvl="1"/>
            <a:r>
              <a:rPr lang="en-US" dirty="0"/>
              <a:t>Collection (list) of file </a:t>
            </a:r>
            <a:r>
              <a:rPr lang="en-US" b="1" dirty="0"/>
              <a:t>entries</a:t>
            </a:r>
          </a:p>
          <a:p>
            <a:pPr lvl="2"/>
            <a:r>
              <a:rPr lang="en-US" dirty="0"/>
              <a:t>Efficiency – a file can be located more quickly</a:t>
            </a:r>
          </a:p>
          <a:p>
            <a:pPr lvl="2"/>
            <a:r>
              <a:rPr lang="en-US" dirty="0"/>
              <a:t>Naming – better navigation for users</a:t>
            </a:r>
          </a:p>
          <a:p>
            <a:pPr lvl="2"/>
            <a:r>
              <a:rPr lang="en-US" dirty="0"/>
              <a:t>Grouping – a logical grouping of files</a:t>
            </a:r>
          </a:p>
          <a:p>
            <a:pPr lvl="1"/>
            <a:r>
              <a:rPr lang="en-US" dirty="0"/>
              <a:t>Usually represented as a file of a special type</a:t>
            </a:r>
          </a:p>
          <a:p>
            <a:pPr lvl="1"/>
            <a:r>
              <a:rPr lang="en-US" dirty="0"/>
              <a:t>May store (some of) the file attributes (depends on fs design – e.g., FAT vs. EXT)</a:t>
            </a:r>
          </a:p>
          <a:p>
            <a:pPr lvl="1"/>
            <a:r>
              <a:rPr lang="en-US" dirty="0"/>
              <a:t>Hierarchy or structure</a:t>
            </a:r>
          </a:p>
          <a:p>
            <a:pPr lvl="2"/>
            <a:r>
              <a:rPr lang="en-US" dirty="0"/>
              <a:t>Root</a:t>
            </a:r>
          </a:p>
          <a:p>
            <a:pPr lvl="1"/>
            <a:r>
              <a:rPr lang="en-US" dirty="0"/>
              <a:t>Operations</a:t>
            </a:r>
          </a:p>
          <a:p>
            <a:pPr lvl="2"/>
            <a:r>
              <a:rPr lang="en-US" dirty="0"/>
              <a:t>Create/delete/rename file/subdirectory</a:t>
            </a:r>
          </a:p>
          <a:p>
            <a:pPr lvl="2"/>
            <a:r>
              <a:rPr lang="en-US" dirty="0"/>
              <a:t>Search for a name</a:t>
            </a:r>
          </a:p>
          <a:p>
            <a:pPr lvl="2"/>
            <a:r>
              <a:rPr lang="en-US" dirty="0"/>
              <a:t>List members</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43</a:t>
            </a:fld>
            <a:endParaRPr lang="en-US" altLang="en-US"/>
          </a:p>
        </p:txBody>
      </p:sp>
      <p:sp>
        <p:nvSpPr>
          <p:cNvPr id="6" name="Rounded Rectangular Callout 5"/>
          <p:cNvSpPr/>
          <p:nvPr/>
        </p:nvSpPr>
        <p:spPr>
          <a:xfrm>
            <a:off x="6960096" y="4581128"/>
            <a:ext cx="4320480" cy="1080120"/>
          </a:xfrm>
          <a:prstGeom prst="wedgeRoundRectCallout">
            <a:avLst>
              <a:gd name="adj1" fmla="val -70173"/>
              <a:gd name="adj2" fmla="val -1272"/>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Moving file on the same file system</a:t>
            </a:r>
            <a:br>
              <a:rPr lang="en-US" dirty="0"/>
            </a:br>
            <a:r>
              <a:rPr lang="en-US" dirty="0"/>
              <a:t>=</a:t>
            </a:r>
            <a:br>
              <a:rPr lang="en-US" dirty="0"/>
            </a:br>
            <a:r>
              <a:rPr lang="en-US" dirty="0"/>
              <a:t>moving only file entry between directories</a:t>
            </a:r>
          </a:p>
        </p:txBody>
      </p:sp>
    </p:spTree>
    <p:extLst>
      <p:ext uri="{BB962C8B-B14F-4D97-AF65-F5344CB8AC3E}">
        <p14:creationId xmlns:p14="http://schemas.microsoft.com/office/powerpoint/2010/main" val="31087198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File directory example</a:t>
            </a:r>
          </a:p>
        </p:txBody>
      </p:sp>
      <p:sp>
        <p:nvSpPr>
          <p:cNvPr id="3" name="Content Placeholder 2"/>
          <p:cNvSpPr>
            <a:spLocks noGrp="1"/>
          </p:cNvSpPr>
          <p:nvPr>
            <p:ph idx="1"/>
          </p:nvPr>
        </p:nvSpPr>
        <p:spPr/>
        <p:txBody>
          <a:bodyPr/>
          <a:lstStyle/>
          <a:p>
            <a:r>
              <a:rPr lang="en-US"/>
              <a:t>FAT directory entry</a:t>
            </a:r>
          </a:p>
          <a:p>
            <a:pPr lvl="1"/>
            <a:r>
              <a:rPr lang="en-US"/>
              <a:t>File name “The quick brown fox”</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44</a:t>
            </a:fld>
            <a:endParaRPr lang="en-US" alt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3294" y="2752880"/>
            <a:ext cx="6973353" cy="3359888"/>
          </a:xfrm>
          <a:prstGeom prst="rect">
            <a:avLst/>
          </a:prstGeom>
        </p:spPr>
      </p:pic>
      <p:sp>
        <p:nvSpPr>
          <p:cNvPr id="8" name="TextBox 7"/>
          <p:cNvSpPr txBox="1"/>
          <p:nvPr/>
        </p:nvSpPr>
        <p:spPr>
          <a:xfrm>
            <a:off x="2279576" y="6112768"/>
            <a:ext cx="7019870" cy="307777"/>
          </a:xfrm>
          <a:prstGeom prst="rect">
            <a:avLst/>
          </a:prstGeom>
          <a:noFill/>
        </p:spPr>
        <p:txBody>
          <a:bodyPr wrap="none" rtlCol="0">
            <a:spAutoFit/>
          </a:bodyPr>
          <a:lstStyle/>
          <a:p>
            <a:r>
              <a:rPr lang="en-US" sz="1400" dirty="0">
                <a:solidFill>
                  <a:srgbClr val="0070C0"/>
                </a:solidFill>
              </a:rPr>
              <a:t>https://social.technet.microsoft.com/wiki/contents/articles/6771.the-fat-file-system.aspx</a:t>
            </a:r>
          </a:p>
        </p:txBody>
      </p:sp>
      <p:sp>
        <p:nvSpPr>
          <p:cNvPr id="9" name="Rounded Rectangular Callout 8"/>
          <p:cNvSpPr/>
          <p:nvPr/>
        </p:nvSpPr>
        <p:spPr>
          <a:xfrm>
            <a:off x="8161657" y="4608464"/>
            <a:ext cx="3865392" cy="1436835"/>
          </a:xfrm>
          <a:prstGeom prst="wedgeRoundRectCallout">
            <a:avLst>
              <a:gd name="adj1" fmla="val -54976"/>
              <a:gd name="adj2" fmla="val -28080"/>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FAT dir. entry also holds file attributes (however, other FS may store them elsewhere – e.g., EXT </a:t>
            </a:r>
            <a:r>
              <a:rPr lang="en-US" dirty="0" err="1"/>
              <a:t>inode</a:t>
            </a:r>
            <a:r>
              <a:rPr lang="en-US" dirty="0"/>
              <a:t>)</a:t>
            </a:r>
          </a:p>
        </p:txBody>
      </p:sp>
    </p:spTree>
    <p:extLst>
      <p:ext uri="{BB962C8B-B14F-4D97-AF65-F5344CB8AC3E}">
        <p14:creationId xmlns:p14="http://schemas.microsoft.com/office/powerpoint/2010/main" val="27490684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File storage</a:t>
            </a:r>
          </a:p>
        </p:txBody>
      </p:sp>
      <p:sp>
        <p:nvSpPr>
          <p:cNvPr id="7" name="Content Placeholder 6"/>
          <p:cNvSpPr>
            <a:spLocks noGrp="1"/>
          </p:cNvSpPr>
          <p:nvPr>
            <p:ph idx="1"/>
          </p:nvPr>
        </p:nvSpPr>
        <p:spPr/>
        <p:txBody>
          <a:bodyPr/>
          <a:lstStyle/>
          <a:p>
            <a:r>
              <a:rPr lang="en-US" dirty="0"/>
              <a:t>Traditional storage</a:t>
            </a:r>
          </a:p>
          <a:p>
            <a:pPr lvl="1"/>
            <a:r>
              <a:rPr lang="en-US" dirty="0"/>
              <a:t>File system in secondary or external storage (persisted)</a:t>
            </a:r>
          </a:p>
          <a:p>
            <a:pPr lvl="1"/>
            <a:r>
              <a:rPr lang="en-US" dirty="0"/>
              <a:t>File system in RAM (e.g., for temporary files)</a:t>
            </a:r>
          </a:p>
          <a:p>
            <a:r>
              <a:rPr lang="en-US" dirty="0"/>
              <a:t>Network storage</a:t>
            </a:r>
          </a:p>
          <a:p>
            <a:pPr lvl="1"/>
            <a:r>
              <a:rPr lang="en-US" dirty="0"/>
              <a:t>Protocols for performing FS operations remotely over network</a:t>
            </a:r>
          </a:p>
          <a:p>
            <a:r>
              <a:rPr lang="en-US" dirty="0"/>
              <a:t>Virtual (system) files</a:t>
            </a:r>
          </a:p>
          <a:p>
            <a:pPr lvl="1"/>
            <a:r>
              <a:rPr lang="en-US" dirty="0"/>
              <a:t>Using file abstraction to provide additional (system) features</a:t>
            </a:r>
          </a:p>
          <a:p>
            <a:pPr marL="914400" lvl="2" indent="0">
              <a:buNone/>
            </a:pPr>
            <a:r>
              <a:rPr lang="en-US" b="1" dirty="0">
                <a:latin typeface="Courier New" panose="02070309020205020404" pitchFamily="49" charset="0"/>
                <a:cs typeface="Courier New" panose="02070309020205020404" pitchFamily="49" charset="0"/>
              </a:rPr>
              <a:t>/dev/null</a:t>
            </a:r>
          </a:p>
          <a:p>
            <a:pPr marL="914400" lvl="2" indent="0">
              <a:buNone/>
            </a:pPr>
            <a:r>
              <a:rPr lang="en-US" b="1" dirty="0">
                <a:latin typeface="Courier New" panose="02070309020205020404" pitchFamily="49" charset="0"/>
                <a:cs typeface="Courier New" panose="02070309020205020404" pitchFamily="49" charset="0"/>
              </a:rPr>
              <a:t>/dev/</a:t>
            </a:r>
            <a:r>
              <a:rPr lang="en-US" b="1" dirty="0" err="1">
                <a:latin typeface="Courier New" panose="02070309020205020404" pitchFamily="49" charset="0"/>
                <a:cs typeface="Courier New" panose="02070309020205020404" pitchFamily="49" charset="0"/>
              </a:rPr>
              <a:t>urandom</a:t>
            </a:r>
            <a:endParaRPr lang="en-US" b="1" dirty="0">
              <a:latin typeface="Courier New" panose="02070309020205020404" pitchFamily="49" charset="0"/>
              <a:cs typeface="Courier New" panose="02070309020205020404" pitchFamily="49" charset="0"/>
            </a:endParaRPr>
          </a:p>
          <a:p>
            <a:pPr marL="914400" lvl="2" indent="0">
              <a:buNone/>
            </a:pP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proc</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cpuinfo</a:t>
            </a:r>
            <a:endParaRPr lang="en-US" b="1" dirty="0">
              <a:latin typeface="Courier New" panose="02070309020205020404" pitchFamily="49" charset="0"/>
              <a:cs typeface="Courier New" panose="02070309020205020404" pitchFamily="49" charset="0"/>
            </a:endParaRPr>
          </a:p>
        </p:txBody>
      </p:sp>
      <p:sp>
        <p:nvSpPr>
          <p:cNvPr id="5" name="Date Placeholder 4"/>
          <p:cNvSpPr>
            <a:spLocks noGrp="1"/>
          </p:cNvSpPr>
          <p:nvPr>
            <p:ph type="dt" sz="half" idx="10"/>
          </p:nvPr>
        </p:nvSpPr>
        <p:spPr/>
        <p:txBody>
          <a:bodyPr/>
          <a:lstStyle/>
          <a:p>
            <a:r>
              <a:rPr lang="cs-CZ" altLang="en-US"/>
              <a:t>17.4.2025</a:t>
            </a:r>
            <a:endParaRPr lang="en-US" altLang="en-US"/>
          </a:p>
        </p:txBody>
      </p:sp>
      <p:sp>
        <p:nvSpPr>
          <p:cNvPr id="6" name="Slide Number Placeholder 5"/>
          <p:cNvSpPr>
            <a:spLocks noGrp="1"/>
          </p:cNvSpPr>
          <p:nvPr>
            <p:ph type="sldNum" sz="quarter" idx="12"/>
          </p:nvPr>
        </p:nvSpPr>
        <p:spPr/>
        <p:txBody>
          <a:bodyPr/>
          <a:lstStyle/>
          <a:p>
            <a:fld id="{169EAE92-5121-41FC-8DEC-DA73929E0C34}" type="slidenum">
              <a:rPr lang="en-US" altLang="en-US" smtClean="0"/>
              <a:pPr/>
              <a:t>45</a:t>
            </a:fld>
            <a:endParaRPr lang="en-US" altLang="en-US"/>
          </a:p>
        </p:txBody>
      </p:sp>
      <p:sp>
        <p:nvSpPr>
          <p:cNvPr id="8" name="Rounded Rectangular Callout 7"/>
          <p:cNvSpPr/>
          <p:nvPr/>
        </p:nvSpPr>
        <p:spPr>
          <a:xfrm>
            <a:off x="5131295" y="5518021"/>
            <a:ext cx="4604375" cy="658942"/>
          </a:xfrm>
          <a:prstGeom prst="wedgeRoundRectCallout">
            <a:avLst>
              <a:gd name="adj1" fmla="val -72509"/>
              <a:gd name="adj2" fmla="val -17598"/>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You can try it yourselves (e.g., read </a:t>
            </a:r>
            <a:r>
              <a:rPr lang="en-US" dirty="0" err="1"/>
              <a:t>cpuinfo</a:t>
            </a:r>
            <a:r>
              <a:rPr lang="en-US" dirty="0"/>
              <a:t>)</a:t>
            </a:r>
          </a:p>
        </p:txBody>
      </p:sp>
    </p:spTree>
    <p:extLst>
      <p:ext uri="{BB962C8B-B14F-4D97-AF65-F5344CB8AC3E}">
        <p14:creationId xmlns:p14="http://schemas.microsoft.com/office/powerpoint/2010/main" val="5716077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File links</a:t>
            </a:r>
          </a:p>
        </p:txBody>
      </p:sp>
      <p:sp>
        <p:nvSpPr>
          <p:cNvPr id="3" name="Content Placeholder 2"/>
          <p:cNvSpPr>
            <a:spLocks noGrp="1"/>
          </p:cNvSpPr>
          <p:nvPr>
            <p:ph idx="1"/>
          </p:nvPr>
        </p:nvSpPr>
        <p:spPr/>
        <p:txBody>
          <a:bodyPr/>
          <a:lstStyle/>
          <a:p>
            <a:r>
              <a:rPr lang="en-US" dirty="0"/>
              <a:t>Links (hard links)</a:t>
            </a:r>
          </a:p>
          <a:p>
            <a:pPr lvl="1"/>
            <a:r>
              <a:rPr lang="en-US" dirty="0"/>
              <a:t>Multiple directory entries refer to the same physical file (same file ID)</a:t>
            </a:r>
          </a:p>
          <a:p>
            <a:pPr lvl="1"/>
            <a:r>
              <a:rPr lang="en-US" dirty="0"/>
              <a:t>Most operations are transparent (no special handling required)</a:t>
            </a:r>
          </a:p>
          <a:p>
            <a:pPr lvl="1"/>
            <a:r>
              <a:rPr lang="en-US" dirty="0"/>
              <a:t>Saves space (in some situations), creates additional problems</a:t>
            </a:r>
          </a:p>
          <a:p>
            <a:pPr lvl="2"/>
            <a:r>
              <a:rPr lang="en-US" dirty="0"/>
              <a:t>E.g., file deletion should not always remove the file data (reference counting)</a:t>
            </a:r>
          </a:p>
          <a:p>
            <a:r>
              <a:rPr lang="en-US" dirty="0" err="1"/>
              <a:t>Symlinks</a:t>
            </a:r>
            <a:r>
              <a:rPr lang="en-US" dirty="0"/>
              <a:t> (soft links)</a:t>
            </a:r>
          </a:p>
          <a:p>
            <a:pPr lvl="1"/>
            <a:r>
              <a:rPr lang="en-US" dirty="0"/>
              <a:t>Special files where text content holds a path to another file</a:t>
            </a:r>
          </a:p>
          <a:p>
            <a:pPr lvl="2"/>
            <a:r>
              <a:rPr lang="en-US" dirty="0"/>
              <a:t>Does not refer to file IDs</a:t>
            </a:r>
          </a:p>
          <a:p>
            <a:pPr lvl="1"/>
            <a:r>
              <a:rPr lang="en-US" dirty="0"/>
              <a:t>Requires special handling in path processing (“follow </a:t>
            </a:r>
            <a:r>
              <a:rPr lang="en-US" dirty="0" err="1"/>
              <a:t>symlinks</a:t>
            </a:r>
            <a:r>
              <a:rPr lang="en-US" dirty="0"/>
              <a:t>”)</a:t>
            </a:r>
          </a:p>
          <a:p>
            <a:pPr lvl="2"/>
            <a:r>
              <a:rPr lang="en-US" dirty="0"/>
              <a:t>Often hidden in basic system tools or programming runtime libraries</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46</a:t>
            </a:fld>
            <a:endParaRPr lang="en-US" altLang="en-US"/>
          </a:p>
        </p:txBody>
      </p:sp>
    </p:spTree>
    <p:extLst>
      <p:ext uri="{BB962C8B-B14F-4D97-AF65-F5344CB8AC3E}">
        <p14:creationId xmlns:p14="http://schemas.microsoft.com/office/powerpoint/2010/main" val="10020311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File system</a:t>
            </a:r>
          </a:p>
        </p:txBody>
      </p:sp>
      <p:sp>
        <p:nvSpPr>
          <p:cNvPr id="3" name="Content Placeholder 2"/>
          <p:cNvSpPr>
            <a:spLocks noGrp="1"/>
          </p:cNvSpPr>
          <p:nvPr>
            <p:ph sz="half" idx="1"/>
          </p:nvPr>
        </p:nvSpPr>
        <p:spPr/>
        <p:txBody>
          <a:bodyPr>
            <a:noAutofit/>
          </a:bodyPr>
          <a:lstStyle/>
          <a:p>
            <a:r>
              <a:rPr lang="en-US"/>
              <a:t>File system</a:t>
            </a:r>
          </a:p>
          <a:p>
            <a:pPr lvl="1"/>
            <a:r>
              <a:rPr lang="en-US"/>
              <a:t>How and where data are stored</a:t>
            </a:r>
          </a:p>
          <a:p>
            <a:pPr lvl="2"/>
            <a:r>
              <a:rPr lang="en-US"/>
              <a:t>Formats, protocols</a:t>
            </a:r>
          </a:p>
          <a:p>
            <a:pPr lvl="1"/>
            <a:r>
              <a:rPr lang="en-US"/>
              <a:t>Implementation of an abstraction for files and directories</a:t>
            </a:r>
          </a:p>
          <a:p>
            <a:pPr lvl="1"/>
            <a:r>
              <a:rPr lang="en-US"/>
              <a:t>Responsibility</a:t>
            </a:r>
          </a:p>
          <a:p>
            <a:pPr lvl="2"/>
            <a:r>
              <a:rPr lang="en-US"/>
              <a:t>Name translation (directory format)</a:t>
            </a:r>
          </a:p>
          <a:p>
            <a:pPr lvl="2"/>
            <a:r>
              <a:rPr lang="en-US"/>
              <a:t>Data blocks management</a:t>
            </a:r>
          </a:p>
          <a:p>
            <a:pPr lvl="3"/>
            <a:r>
              <a:rPr lang="en-US"/>
              <a:t>Allocated vs. free blocks</a:t>
            </a:r>
          </a:p>
          <a:p>
            <a:pPr lvl="3"/>
            <a:r>
              <a:rPr lang="en-US"/>
              <a:t>Bitmap, linked list, B-tree, …</a:t>
            </a:r>
          </a:p>
          <a:p>
            <a:pPr lvl="2"/>
            <a:r>
              <a:rPr lang="en-US"/>
              <a:t>File data management</a:t>
            </a:r>
          </a:p>
          <a:p>
            <a:pPr lvl="3"/>
            <a:r>
              <a:rPr lang="en-US"/>
              <a:t>Sequence of data blocks</a:t>
            </a:r>
          </a:p>
        </p:txBody>
      </p:sp>
      <p:sp>
        <p:nvSpPr>
          <p:cNvPr id="6" name="Content Placeholder 5"/>
          <p:cNvSpPr>
            <a:spLocks noGrp="1"/>
          </p:cNvSpPr>
          <p:nvPr>
            <p:ph sz="half" idx="2"/>
          </p:nvPr>
        </p:nvSpPr>
        <p:spPr/>
        <p:txBody>
          <a:bodyPr/>
          <a:lstStyle/>
          <a:p>
            <a:endParaRPr lang="en-US"/>
          </a:p>
          <a:p>
            <a:pPr lvl="1"/>
            <a:r>
              <a:rPr lang="en-US"/>
              <a:t>Local file system</a:t>
            </a:r>
          </a:p>
          <a:p>
            <a:pPr lvl="2"/>
            <a:r>
              <a:rPr lang="en-US"/>
              <a:t>Stored on HDD, SSD, removable media</a:t>
            </a:r>
          </a:p>
          <a:p>
            <a:pPr lvl="2"/>
            <a:r>
              <a:rPr lang="en-US"/>
              <a:t>FAT, NTFS, ext234, XFS, …</a:t>
            </a:r>
          </a:p>
          <a:p>
            <a:pPr lvl="1"/>
            <a:r>
              <a:rPr lang="en-US"/>
              <a:t>Network file system</a:t>
            </a:r>
          </a:p>
          <a:p>
            <a:pPr lvl="2"/>
            <a:r>
              <a:rPr lang="en-US"/>
              <a:t>Protocol for accessing files and directories over the network</a:t>
            </a:r>
          </a:p>
          <a:p>
            <a:pPr lvl="2"/>
            <a:r>
              <a:rPr lang="en-US"/>
              <a:t>NFS, CIFS/SMB, …</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47</a:t>
            </a:fld>
            <a:endParaRPr lang="en-US" altLang="en-US"/>
          </a:p>
        </p:txBody>
      </p:sp>
    </p:spTree>
    <p:extLst>
      <p:ext uri="{BB962C8B-B14F-4D97-AF65-F5344CB8AC3E}">
        <p14:creationId xmlns:p14="http://schemas.microsoft.com/office/powerpoint/2010/main" val="37440298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FAT</a:t>
            </a:r>
          </a:p>
        </p:txBody>
      </p:sp>
      <p:sp>
        <p:nvSpPr>
          <p:cNvPr id="3" name="Content Placeholder 2"/>
          <p:cNvSpPr>
            <a:spLocks noGrp="1"/>
          </p:cNvSpPr>
          <p:nvPr>
            <p:ph idx="1"/>
          </p:nvPr>
        </p:nvSpPr>
        <p:spPr>
          <a:xfrm>
            <a:off x="838200" y="1825625"/>
            <a:ext cx="10515600" cy="2494951"/>
          </a:xfrm>
        </p:spPr>
        <p:txBody>
          <a:bodyPr>
            <a:normAutofit lnSpcReduction="10000"/>
          </a:bodyPr>
          <a:lstStyle/>
          <a:p>
            <a:r>
              <a:rPr lang="en-US"/>
              <a:t>File Allocation Table (FAT)</a:t>
            </a:r>
          </a:p>
          <a:p>
            <a:pPr lvl="1"/>
            <a:r>
              <a:rPr lang="en-US"/>
              <a:t>Simple, old, MS-DOS, many variants used today</a:t>
            </a:r>
          </a:p>
          <a:p>
            <a:pPr lvl="1"/>
            <a:r>
              <a:rPr lang="en-US"/>
              <a:t>One structure (FAT) for managing free blocks and file data location</a:t>
            </a:r>
          </a:p>
          <a:p>
            <a:pPr lvl="1"/>
            <a:r>
              <a:rPr lang="en-US"/>
              <a:t>Directory</a:t>
            </a:r>
          </a:p>
          <a:p>
            <a:pPr lvl="2"/>
            <a:r>
              <a:rPr lang="en-US"/>
              <a:t>Sequence of entries with fixed size and attributes</a:t>
            </a:r>
          </a:p>
          <a:p>
            <a:pPr lvl="3"/>
            <a:r>
              <a:rPr lang="en-US"/>
              <a:t>Starting cluster, </a:t>
            </a:r>
            <a:r>
              <a:rPr lang="en-US" err="1"/>
              <a:t>name+ext</a:t>
            </a:r>
            <a:r>
              <a:rPr lang="en-US"/>
              <a:t>, size, timestamps, attributes</a:t>
            </a:r>
          </a:p>
          <a:p>
            <a:pPr lvl="2"/>
            <a:r>
              <a:rPr lang="en-US"/>
              <a:t>Root in fixed position</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9" name="Slide Number Placeholder 8"/>
          <p:cNvSpPr>
            <a:spLocks noGrp="1"/>
          </p:cNvSpPr>
          <p:nvPr>
            <p:ph type="sldNum" sz="quarter" idx="12"/>
          </p:nvPr>
        </p:nvSpPr>
        <p:spPr/>
        <p:txBody>
          <a:bodyPr/>
          <a:lstStyle/>
          <a:p>
            <a:fld id="{F4A1145F-674A-4228-8958-0EA9769F5517}" type="slidenum">
              <a:rPr lang="en-US" altLang="en-US" smtClean="0"/>
              <a:pPr/>
              <a:t>48</a:t>
            </a:fld>
            <a:endParaRPr lang="en-US" altLang="en-US"/>
          </a:p>
        </p:txBody>
      </p:sp>
      <p:cxnSp>
        <p:nvCxnSpPr>
          <p:cNvPr id="5" name="Straight Connector 4"/>
          <p:cNvCxnSpPr/>
          <p:nvPr/>
        </p:nvCxnSpPr>
        <p:spPr bwMode="auto">
          <a:xfrm>
            <a:off x="2406630" y="4676691"/>
            <a:ext cx="0" cy="171890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 name="Straight Connector 5"/>
          <p:cNvCxnSpPr/>
          <p:nvPr/>
        </p:nvCxnSpPr>
        <p:spPr bwMode="auto">
          <a:xfrm>
            <a:off x="3342734" y="4676691"/>
            <a:ext cx="0" cy="171890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 name="Rectangle 6"/>
          <p:cNvSpPr/>
          <p:nvPr/>
        </p:nvSpPr>
        <p:spPr bwMode="auto">
          <a:xfrm>
            <a:off x="2406630" y="4883423"/>
            <a:ext cx="936104" cy="432048"/>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8" name="TextBox 7"/>
          <p:cNvSpPr txBox="1"/>
          <p:nvPr/>
        </p:nvSpPr>
        <p:spPr>
          <a:xfrm>
            <a:off x="2320684" y="4307359"/>
            <a:ext cx="1052596" cy="369332"/>
          </a:xfrm>
          <a:prstGeom prst="rect">
            <a:avLst/>
          </a:prstGeom>
          <a:noFill/>
        </p:spPr>
        <p:txBody>
          <a:bodyPr wrap="none" rtlCol="0">
            <a:spAutoFit/>
          </a:bodyPr>
          <a:lstStyle/>
          <a:p>
            <a:r>
              <a:rPr lang="en-US">
                <a:latin typeface="+mn-lt"/>
              </a:rPr>
              <a:t>Directory</a:t>
            </a:r>
          </a:p>
        </p:txBody>
      </p:sp>
      <p:sp>
        <p:nvSpPr>
          <p:cNvPr id="11" name="Rectangle 10"/>
          <p:cNvSpPr/>
          <p:nvPr/>
        </p:nvSpPr>
        <p:spPr bwMode="auto">
          <a:xfrm>
            <a:off x="2406629" y="4882178"/>
            <a:ext cx="576064" cy="218895"/>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r>
              <a:rPr lang="en-US" sz="1400">
                <a:latin typeface="+mn-lt"/>
              </a:rPr>
              <a:t>a.txt</a:t>
            </a:r>
          </a:p>
        </p:txBody>
      </p:sp>
      <p:sp>
        <p:nvSpPr>
          <p:cNvPr id="12" name="Rectangle 11"/>
          <p:cNvSpPr/>
          <p:nvPr/>
        </p:nvSpPr>
        <p:spPr bwMode="auto">
          <a:xfrm>
            <a:off x="3054703" y="5117740"/>
            <a:ext cx="288032" cy="198022"/>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sz="1400">
                <a:latin typeface="+mn-lt"/>
              </a:rPr>
              <a:t>13</a:t>
            </a:r>
          </a:p>
        </p:txBody>
      </p:sp>
      <p:sp>
        <p:nvSpPr>
          <p:cNvPr id="13" name="Rectangle 12"/>
          <p:cNvSpPr/>
          <p:nvPr/>
        </p:nvSpPr>
        <p:spPr bwMode="auto">
          <a:xfrm>
            <a:off x="2406630" y="5306179"/>
            <a:ext cx="936104" cy="432048"/>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14" name="Rectangle 13"/>
          <p:cNvSpPr/>
          <p:nvPr/>
        </p:nvSpPr>
        <p:spPr bwMode="auto">
          <a:xfrm>
            <a:off x="2406629" y="5307954"/>
            <a:ext cx="576064" cy="218895"/>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r>
              <a:rPr lang="en-US" sz="1400">
                <a:latin typeface="+mn-lt"/>
              </a:rPr>
              <a:t>b.txt</a:t>
            </a:r>
          </a:p>
        </p:txBody>
      </p:sp>
      <p:sp>
        <p:nvSpPr>
          <p:cNvPr id="15" name="Rectangle 14"/>
          <p:cNvSpPr/>
          <p:nvPr/>
        </p:nvSpPr>
        <p:spPr bwMode="auto">
          <a:xfrm>
            <a:off x="3054703" y="5540496"/>
            <a:ext cx="288032" cy="198022"/>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sz="1400">
                <a:latin typeface="+mn-lt"/>
              </a:rPr>
              <a:t>3</a:t>
            </a:r>
          </a:p>
        </p:txBody>
      </p:sp>
      <p:sp>
        <p:nvSpPr>
          <p:cNvPr id="18" name="Rectangle 17"/>
          <p:cNvSpPr/>
          <p:nvPr/>
        </p:nvSpPr>
        <p:spPr bwMode="auto">
          <a:xfrm>
            <a:off x="5070926" y="4778810"/>
            <a:ext cx="288032" cy="19802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sz="1400">
                <a:latin typeface="+mn-lt"/>
              </a:rPr>
              <a:t>0</a:t>
            </a:r>
          </a:p>
        </p:txBody>
      </p:sp>
      <p:sp>
        <p:nvSpPr>
          <p:cNvPr id="19" name="TextBox 18"/>
          <p:cNvSpPr txBox="1"/>
          <p:nvPr/>
        </p:nvSpPr>
        <p:spPr>
          <a:xfrm>
            <a:off x="4858909" y="4770099"/>
            <a:ext cx="91372" cy="215444"/>
          </a:xfrm>
          <a:prstGeom prst="rect">
            <a:avLst/>
          </a:prstGeom>
          <a:noFill/>
        </p:spPr>
        <p:txBody>
          <a:bodyPr wrap="none" lIns="0" tIns="0" rIns="0" bIns="0" rtlCol="0" anchor="ctr">
            <a:spAutoFit/>
          </a:bodyPr>
          <a:lstStyle/>
          <a:p>
            <a:pPr algn="ctr"/>
            <a:r>
              <a:rPr lang="en-US" sz="1400">
                <a:latin typeface="+mn-lt"/>
              </a:rPr>
              <a:t>2</a:t>
            </a:r>
          </a:p>
        </p:txBody>
      </p:sp>
      <p:sp>
        <p:nvSpPr>
          <p:cNvPr id="25" name="Rectangle 24"/>
          <p:cNvSpPr/>
          <p:nvPr/>
        </p:nvSpPr>
        <p:spPr bwMode="auto">
          <a:xfrm>
            <a:off x="5691195" y="4778810"/>
            <a:ext cx="288032" cy="198022"/>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sz="1400">
                <a:latin typeface="+mn-lt"/>
              </a:rPr>
              <a:t>10</a:t>
            </a:r>
          </a:p>
        </p:txBody>
      </p:sp>
      <p:sp>
        <p:nvSpPr>
          <p:cNvPr id="26" name="TextBox 25"/>
          <p:cNvSpPr txBox="1"/>
          <p:nvPr/>
        </p:nvSpPr>
        <p:spPr>
          <a:xfrm>
            <a:off x="5479178" y="4770099"/>
            <a:ext cx="91372" cy="215444"/>
          </a:xfrm>
          <a:prstGeom prst="rect">
            <a:avLst/>
          </a:prstGeom>
          <a:noFill/>
        </p:spPr>
        <p:txBody>
          <a:bodyPr wrap="none" lIns="0" tIns="0" rIns="0" bIns="0" rtlCol="0" anchor="ctr">
            <a:spAutoFit/>
          </a:bodyPr>
          <a:lstStyle/>
          <a:p>
            <a:pPr algn="ctr"/>
            <a:r>
              <a:rPr lang="en-US" sz="1400">
                <a:latin typeface="+mn-lt"/>
              </a:rPr>
              <a:t>3</a:t>
            </a:r>
          </a:p>
        </p:txBody>
      </p:sp>
      <p:sp>
        <p:nvSpPr>
          <p:cNvPr id="28" name="Rectangle 27"/>
          <p:cNvSpPr/>
          <p:nvPr/>
        </p:nvSpPr>
        <p:spPr bwMode="auto">
          <a:xfrm>
            <a:off x="6311464" y="4778810"/>
            <a:ext cx="288032" cy="19802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sz="1400">
                <a:latin typeface="+mn-lt"/>
              </a:rPr>
              <a:t>0</a:t>
            </a:r>
          </a:p>
        </p:txBody>
      </p:sp>
      <p:sp>
        <p:nvSpPr>
          <p:cNvPr id="29" name="TextBox 28"/>
          <p:cNvSpPr txBox="1"/>
          <p:nvPr/>
        </p:nvSpPr>
        <p:spPr>
          <a:xfrm>
            <a:off x="6099447" y="4770099"/>
            <a:ext cx="91372" cy="215444"/>
          </a:xfrm>
          <a:prstGeom prst="rect">
            <a:avLst/>
          </a:prstGeom>
          <a:noFill/>
        </p:spPr>
        <p:txBody>
          <a:bodyPr wrap="none" lIns="0" tIns="0" rIns="0" bIns="0" rtlCol="0" anchor="ctr">
            <a:spAutoFit/>
          </a:bodyPr>
          <a:lstStyle/>
          <a:p>
            <a:pPr algn="ctr"/>
            <a:r>
              <a:rPr lang="en-US" sz="1400">
                <a:latin typeface="+mn-lt"/>
              </a:rPr>
              <a:t>4</a:t>
            </a:r>
          </a:p>
        </p:txBody>
      </p:sp>
      <p:sp>
        <p:nvSpPr>
          <p:cNvPr id="31" name="Rectangle 30"/>
          <p:cNvSpPr/>
          <p:nvPr/>
        </p:nvSpPr>
        <p:spPr bwMode="auto">
          <a:xfrm>
            <a:off x="6931734" y="4778810"/>
            <a:ext cx="288032" cy="198022"/>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sz="1400">
                <a:latin typeface="+mn-lt"/>
              </a:rPr>
              <a:t>-1</a:t>
            </a:r>
          </a:p>
        </p:txBody>
      </p:sp>
      <p:sp>
        <p:nvSpPr>
          <p:cNvPr id="32" name="TextBox 31"/>
          <p:cNvSpPr txBox="1"/>
          <p:nvPr/>
        </p:nvSpPr>
        <p:spPr>
          <a:xfrm>
            <a:off x="6719717" y="4770099"/>
            <a:ext cx="91372" cy="215444"/>
          </a:xfrm>
          <a:prstGeom prst="rect">
            <a:avLst/>
          </a:prstGeom>
          <a:noFill/>
        </p:spPr>
        <p:txBody>
          <a:bodyPr wrap="none" lIns="0" tIns="0" rIns="0" bIns="0" rtlCol="0" anchor="ctr">
            <a:spAutoFit/>
          </a:bodyPr>
          <a:lstStyle/>
          <a:p>
            <a:pPr algn="ctr"/>
            <a:r>
              <a:rPr lang="en-US" sz="1400">
                <a:latin typeface="+mn-lt"/>
              </a:rPr>
              <a:t>5</a:t>
            </a:r>
          </a:p>
        </p:txBody>
      </p:sp>
      <p:sp>
        <p:nvSpPr>
          <p:cNvPr id="69" name="Rectangle 68"/>
          <p:cNvSpPr/>
          <p:nvPr/>
        </p:nvSpPr>
        <p:spPr bwMode="auto">
          <a:xfrm>
            <a:off x="5070926" y="5147455"/>
            <a:ext cx="288032" cy="19802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sz="1400">
                <a:latin typeface="+mn-lt"/>
              </a:rPr>
              <a:t>0</a:t>
            </a:r>
          </a:p>
        </p:txBody>
      </p:sp>
      <p:sp>
        <p:nvSpPr>
          <p:cNvPr id="70" name="TextBox 69"/>
          <p:cNvSpPr txBox="1"/>
          <p:nvPr/>
        </p:nvSpPr>
        <p:spPr>
          <a:xfrm>
            <a:off x="4858909" y="5138744"/>
            <a:ext cx="91372" cy="215444"/>
          </a:xfrm>
          <a:prstGeom prst="rect">
            <a:avLst/>
          </a:prstGeom>
          <a:noFill/>
        </p:spPr>
        <p:txBody>
          <a:bodyPr wrap="none" lIns="0" tIns="0" rIns="0" bIns="0" rtlCol="0" anchor="ctr">
            <a:spAutoFit/>
          </a:bodyPr>
          <a:lstStyle/>
          <a:p>
            <a:pPr algn="ctr"/>
            <a:r>
              <a:rPr lang="en-US" sz="1400">
                <a:latin typeface="+mn-lt"/>
              </a:rPr>
              <a:t>6</a:t>
            </a:r>
          </a:p>
        </p:txBody>
      </p:sp>
      <p:sp>
        <p:nvSpPr>
          <p:cNvPr id="67" name="Rectangle 66"/>
          <p:cNvSpPr/>
          <p:nvPr/>
        </p:nvSpPr>
        <p:spPr bwMode="auto">
          <a:xfrm>
            <a:off x="5691195" y="5147455"/>
            <a:ext cx="288032" cy="19802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sz="1400">
                <a:latin typeface="+mn-lt"/>
              </a:rPr>
              <a:t>0</a:t>
            </a:r>
          </a:p>
        </p:txBody>
      </p:sp>
      <p:sp>
        <p:nvSpPr>
          <p:cNvPr id="68" name="TextBox 67"/>
          <p:cNvSpPr txBox="1"/>
          <p:nvPr/>
        </p:nvSpPr>
        <p:spPr>
          <a:xfrm>
            <a:off x="5479178" y="5138744"/>
            <a:ext cx="91372" cy="215444"/>
          </a:xfrm>
          <a:prstGeom prst="rect">
            <a:avLst/>
          </a:prstGeom>
          <a:noFill/>
        </p:spPr>
        <p:txBody>
          <a:bodyPr wrap="none" lIns="0" tIns="0" rIns="0" bIns="0" rtlCol="0" anchor="ctr">
            <a:spAutoFit/>
          </a:bodyPr>
          <a:lstStyle/>
          <a:p>
            <a:pPr algn="ctr"/>
            <a:r>
              <a:rPr lang="en-US" sz="1400">
                <a:latin typeface="+mn-lt"/>
              </a:rPr>
              <a:t>7</a:t>
            </a:r>
          </a:p>
        </p:txBody>
      </p:sp>
      <p:sp>
        <p:nvSpPr>
          <p:cNvPr id="65" name="Rectangle 64"/>
          <p:cNvSpPr/>
          <p:nvPr/>
        </p:nvSpPr>
        <p:spPr bwMode="auto">
          <a:xfrm>
            <a:off x="6311464" y="5147455"/>
            <a:ext cx="288032" cy="198022"/>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sz="1400">
                <a:latin typeface="+mn-lt"/>
              </a:rPr>
              <a:t>5</a:t>
            </a:r>
          </a:p>
        </p:txBody>
      </p:sp>
      <p:sp>
        <p:nvSpPr>
          <p:cNvPr id="66" name="TextBox 65"/>
          <p:cNvSpPr txBox="1"/>
          <p:nvPr/>
        </p:nvSpPr>
        <p:spPr>
          <a:xfrm>
            <a:off x="6099447" y="5138744"/>
            <a:ext cx="91372" cy="215444"/>
          </a:xfrm>
          <a:prstGeom prst="rect">
            <a:avLst/>
          </a:prstGeom>
          <a:noFill/>
        </p:spPr>
        <p:txBody>
          <a:bodyPr wrap="none" lIns="0" tIns="0" rIns="0" bIns="0" rtlCol="0" anchor="ctr">
            <a:spAutoFit/>
          </a:bodyPr>
          <a:lstStyle/>
          <a:p>
            <a:pPr algn="ctr"/>
            <a:r>
              <a:rPr lang="en-US" sz="1400">
                <a:latin typeface="+mn-lt"/>
              </a:rPr>
              <a:t>8</a:t>
            </a:r>
          </a:p>
        </p:txBody>
      </p:sp>
      <p:sp>
        <p:nvSpPr>
          <p:cNvPr id="63" name="Rectangle 62"/>
          <p:cNvSpPr/>
          <p:nvPr/>
        </p:nvSpPr>
        <p:spPr bwMode="auto">
          <a:xfrm>
            <a:off x="6931734" y="5147455"/>
            <a:ext cx="288032" cy="19802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sz="1400">
                <a:latin typeface="+mn-lt"/>
              </a:rPr>
              <a:t>0</a:t>
            </a:r>
          </a:p>
        </p:txBody>
      </p:sp>
      <p:sp>
        <p:nvSpPr>
          <p:cNvPr id="64" name="TextBox 63"/>
          <p:cNvSpPr txBox="1"/>
          <p:nvPr/>
        </p:nvSpPr>
        <p:spPr>
          <a:xfrm>
            <a:off x="6719717" y="5138744"/>
            <a:ext cx="91372" cy="215444"/>
          </a:xfrm>
          <a:prstGeom prst="rect">
            <a:avLst/>
          </a:prstGeom>
          <a:noFill/>
        </p:spPr>
        <p:txBody>
          <a:bodyPr wrap="none" lIns="0" tIns="0" rIns="0" bIns="0" rtlCol="0" anchor="ctr">
            <a:spAutoFit/>
          </a:bodyPr>
          <a:lstStyle/>
          <a:p>
            <a:pPr algn="ctr"/>
            <a:r>
              <a:rPr lang="en-US" sz="1400">
                <a:latin typeface="+mn-lt"/>
              </a:rPr>
              <a:t>9</a:t>
            </a:r>
          </a:p>
        </p:txBody>
      </p:sp>
      <p:sp>
        <p:nvSpPr>
          <p:cNvPr id="82" name="Rectangle 81"/>
          <p:cNvSpPr/>
          <p:nvPr/>
        </p:nvSpPr>
        <p:spPr bwMode="auto">
          <a:xfrm>
            <a:off x="5070926" y="5516100"/>
            <a:ext cx="288032" cy="198022"/>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sz="1400">
                <a:latin typeface="+mn-lt"/>
              </a:rPr>
              <a:t>15</a:t>
            </a:r>
          </a:p>
        </p:txBody>
      </p:sp>
      <p:sp>
        <p:nvSpPr>
          <p:cNvPr id="83" name="TextBox 82"/>
          <p:cNvSpPr txBox="1"/>
          <p:nvPr/>
        </p:nvSpPr>
        <p:spPr>
          <a:xfrm>
            <a:off x="4813225" y="5507389"/>
            <a:ext cx="182742" cy="215444"/>
          </a:xfrm>
          <a:prstGeom prst="rect">
            <a:avLst/>
          </a:prstGeom>
          <a:noFill/>
        </p:spPr>
        <p:txBody>
          <a:bodyPr wrap="none" lIns="0" tIns="0" rIns="0" bIns="0" rtlCol="0" anchor="ctr">
            <a:spAutoFit/>
          </a:bodyPr>
          <a:lstStyle/>
          <a:p>
            <a:pPr algn="ctr"/>
            <a:r>
              <a:rPr lang="en-US" sz="1400">
                <a:latin typeface="+mn-lt"/>
              </a:rPr>
              <a:t>10</a:t>
            </a:r>
          </a:p>
        </p:txBody>
      </p:sp>
      <p:sp>
        <p:nvSpPr>
          <p:cNvPr id="80" name="Rectangle 79"/>
          <p:cNvSpPr/>
          <p:nvPr/>
        </p:nvSpPr>
        <p:spPr bwMode="auto">
          <a:xfrm>
            <a:off x="5691195" y="5516100"/>
            <a:ext cx="288032" cy="19802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sz="1400">
                <a:latin typeface="+mn-lt"/>
              </a:rPr>
              <a:t>0</a:t>
            </a:r>
          </a:p>
        </p:txBody>
      </p:sp>
      <p:sp>
        <p:nvSpPr>
          <p:cNvPr id="81" name="TextBox 80"/>
          <p:cNvSpPr txBox="1"/>
          <p:nvPr/>
        </p:nvSpPr>
        <p:spPr>
          <a:xfrm>
            <a:off x="5432146" y="5507389"/>
            <a:ext cx="185436" cy="215444"/>
          </a:xfrm>
          <a:prstGeom prst="rect">
            <a:avLst/>
          </a:prstGeom>
          <a:noFill/>
        </p:spPr>
        <p:txBody>
          <a:bodyPr wrap="none" lIns="0" tIns="0" rIns="0" bIns="0" rtlCol="0" anchor="ctr">
            <a:spAutoFit/>
          </a:bodyPr>
          <a:lstStyle/>
          <a:p>
            <a:pPr algn="ctr"/>
            <a:r>
              <a:rPr lang="en-US" sz="1400">
                <a:latin typeface="+mn-lt"/>
              </a:rPr>
              <a:t>11</a:t>
            </a:r>
          </a:p>
        </p:txBody>
      </p:sp>
      <p:sp>
        <p:nvSpPr>
          <p:cNvPr id="78" name="Rectangle 77"/>
          <p:cNvSpPr/>
          <p:nvPr/>
        </p:nvSpPr>
        <p:spPr bwMode="auto">
          <a:xfrm>
            <a:off x="6311464" y="5516100"/>
            <a:ext cx="288032" cy="19802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sz="1400">
                <a:latin typeface="+mn-lt"/>
              </a:rPr>
              <a:t>0</a:t>
            </a:r>
          </a:p>
        </p:txBody>
      </p:sp>
      <p:sp>
        <p:nvSpPr>
          <p:cNvPr id="79" name="TextBox 78"/>
          <p:cNvSpPr txBox="1"/>
          <p:nvPr/>
        </p:nvSpPr>
        <p:spPr>
          <a:xfrm>
            <a:off x="6053763" y="5507389"/>
            <a:ext cx="182742" cy="215444"/>
          </a:xfrm>
          <a:prstGeom prst="rect">
            <a:avLst/>
          </a:prstGeom>
          <a:noFill/>
        </p:spPr>
        <p:txBody>
          <a:bodyPr wrap="none" lIns="0" tIns="0" rIns="0" bIns="0" rtlCol="0" anchor="ctr">
            <a:spAutoFit/>
          </a:bodyPr>
          <a:lstStyle/>
          <a:p>
            <a:pPr algn="ctr"/>
            <a:r>
              <a:rPr lang="en-US" sz="1400">
                <a:latin typeface="+mn-lt"/>
              </a:rPr>
              <a:t>12</a:t>
            </a:r>
          </a:p>
        </p:txBody>
      </p:sp>
      <p:sp>
        <p:nvSpPr>
          <p:cNvPr id="76" name="Rectangle 75"/>
          <p:cNvSpPr/>
          <p:nvPr/>
        </p:nvSpPr>
        <p:spPr bwMode="auto">
          <a:xfrm>
            <a:off x="6931734" y="5516100"/>
            <a:ext cx="288032" cy="198022"/>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sz="1400">
                <a:latin typeface="+mn-lt"/>
              </a:rPr>
              <a:t>8</a:t>
            </a:r>
          </a:p>
        </p:txBody>
      </p:sp>
      <p:sp>
        <p:nvSpPr>
          <p:cNvPr id="77" name="TextBox 76"/>
          <p:cNvSpPr txBox="1"/>
          <p:nvPr/>
        </p:nvSpPr>
        <p:spPr>
          <a:xfrm>
            <a:off x="6674033" y="5507389"/>
            <a:ext cx="182742" cy="215444"/>
          </a:xfrm>
          <a:prstGeom prst="rect">
            <a:avLst/>
          </a:prstGeom>
          <a:noFill/>
        </p:spPr>
        <p:txBody>
          <a:bodyPr wrap="none" lIns="0" tIns="0" rIns="0" bIns="0" rtlCol="0" anchor="ctr">
            <a:spAutoFit/>
          </a:bodyPr>
          <a:lstStyle/>
          <a:p>
            <a:pPr algn="ctr"/>
            <a:r>
              <a:rPr lang="en-US" sz="1400">
                <a:latin typeface="+mn-lt"/>
              </a:rPr>
              <a:t>13</a:t>
            </a:r>
          </a:p>
        </p:txBody>
      </p:sp>
      <p:sp>
        <p:nvSpPr>
          <p:cNvPr id="95" name="Rectangle 94"/>
          <p:cNvSpPr/>
          <p:nvPr/>
        </p:nvSpPr>
        <p:spPr bwMode="auto">
          <a:xfrm>
            <a:off x="5070926" y="5884744"/>
            <a:ext cx="288032" cy="198022"/>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sz="1400">
                <a:latin typeface="+mn-lt"/>
              </a:rPr>
              <a:t>-1</a:t>
            </a:r>
          </a:p>
        </p:txBody>
      </p:sp>
      <p:sp>
        <p:nvSpPr>
          <p:cNvPr id="96" name="TextBox 95"/>
          <p:cNvSpPr txBox="1"/>
          <p:nvPr/>
        </p:nvSpPr>
        <p:spPr>
          <a:xfrm>
            <a:off x="4813225" y="5876033"/>
            <a:ext cx="182742" cy="215444"/>
          </a:xfrm>
          <a:prstGeom prst="rect">
            <a:avLst/>
          </a:prstGeom>
          <a:noFill/>
        </p:spPr>
        <p:txBody>
          <a:bodyPr wrap="none" lIns="0" tIns="0" rIns="0" bIns="0" rtlCol="0" anchor="ctr">
            <a:spAutoFit/>
          </a:bodyPr>
          <a:lstStyle/>
          <a:p>
            <a:pPr algn="ctr"/>
            <a:r>
              <a:rPr lang="en-US" sz="1400">
                <a:latin typeface="+mn-lt"/>
              </a:rPr>
              <a:t>14</a:t>
            </a:r>
          </a:p>
        </p:txBody>
      </p:sp>
      <p:sp>
        <p:nvSpPr>
          <p:cNvPr id="93" name="Rectangle 92"/>
          <p:cNvSpPr/>
          <p:nvPr/>
        </p:nvSpPr>
        <p:spPr bwMode="auto">
          <a:xfrm>
            <a:off x="5691195" y="5884744"/>
            <a:ext cx="288032" cy="198022"/>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sz="1400">
                <a:latin typeface="+mn-lt"/>
              </a:rPr>
              <a:t>14</a:t>
            </a:r>
          </a:p>
        </p:txBody>
      </p:sp>
      <p:sp>
        <p:nvSpPr>
          <p:cNvPr id="94" name="TextBox 93"/>
          <p:cNvSpPr txBox="1"/>
          <p:nvPr/>
        </p:nvSpPr>
        <p:spPr>
          <a:xfrm>
            <a:off x="5433494" y="5876033"/>
            <a:ext cx="182742" cy="215444"/>
          </a:xfrm>
          <a:prstGeom prst="rect">
            <a:avLst/>
          </a:prstGeom>
          <a:noFill/>
        </p:spPr>
        <p:txBody>
          <a:bodyPr wrap="none" lIns="0" tIns="0" rIns="0" bIns="0" rtlCol="0" anchor="ctr">
            <a:spAutoFit/>
          </a:bodyPr>
          <a:lstStyle/>
          <a:p>
            <a:pPr algn="ctr"/>
            <a:r>
              <a:rPr lang="en-US" sz="1400">
                <a:latin typeface="+mn-lt"/>
              </a:rPr>
              <a:t>15</a:t>
            </a:r>
          </a:p>
        </p:txBody>
      </p:sp>
      <p:sp>
        <p:nvSpPr>
          <p:cNvPr id="91" name="Rectangle 90"/>
          <p:cNvSpPr/>
          <p:nvPr/>
        </p:nvSpPr>
        <p:spPr bwMode="auto">
          <a:xfrm>
            <a:off x="6311464" y="5884744"/>
            <a:ext cx="288032" cy="19802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sz="1400">
                <a:latin typeface="+mn-lt"/>
              </a:rPr>
              <a:t>0</a:t>
            </a:r>
          </a:p>
        </p:txBody>
      </p:sp>
      <p:sp>
        <p:nvSpPr>
          <p:cNvPr id="92" name="TextBox 91"/>
          <p:cNvSpPr txBox="1"/>
          <p:nvPr/>
        </p:nvSpPr>
        <p:spPr>
          <a:xfrm>
            <a:off x="6053763" y="5876033"/>
            <a:ext cx="182742" cy="215444"/>
          </a:xfrm>
          <a:prstGeom prst="rect">
            <a:avLst/>
          </a:prstGeom>
          <a:noFill/>
        </p:spPr>
        <p:txBody>
          <a:bodyPr wrap="none" lIns="0" tIns="0" rIns="0" bIns="0" rtlCol="0" anchor="ctr">
            <a:spAutoFit/>
          </a:bodyPr>
          <a:lstStyle/>
          <a:p>
            <a:pPr algn="ctr"/>
            <a:r>
              <a:rPr lang="en-US" sz="1400">
                <a:latin typeface="+mn-lt"/>
              </a:rPr>
              <a:t>16</a:t>
            </a:r>
          </a:p>
        </p:txBody>
      </p:sp>
      <p:sp>
        <p:nvSpPr>
          <p:cNvPr id="89" name="Rectangle 88"/>
          <p:cNvSpPr/>
          <p:nvPr/>
        </p:nvSpPr>
        <p:spPr bwMode="auto">
          <a:xfrm>
            <a:off x="6931734" y="5884744"/>
            <a:ext cx="288032" cy="19802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sz="1400">
                <a:latin typeface="+mn-lt"/>
              </a:rPr>
              <a:t>0</a:t>
            </a:r>
          </a:p>
        </p:txBody>
      </p:sp>
      <p:sp>
        <p:nvSpPr>
          <p:cNvPr id="90" name="TextBox 89"/>
          <p:cNvSpPr txBox="1"/>
          <p:nvPr/>
        </p:nvSpPr>
        <p:spPr>
          <a:xfrm>
            <a:off x="6674033" y="5876033"/>
            <a:ext cx="182742" cy="215444"/>
          </a:xfrm>
          <a:prstGeom prst="rect">
            <a:avLst/>
          </a:prstGeom>
          <a:noFill/>
        </p:spPr>
        <p:txBody>
          <a:bodyPr wrap="none" lIns="0" tIns="0" rIns="0" bIns="0" rtlCol="0" anchor="ctr">
            <a:spAutoFit/>
          </a:bodyPr>
          <a:lstStyle/>
          <a:p>
            <a:pPr algn="ctr"/>
            <a:r>
              <a:rPr lang="en-US" sz="1400">
                <a:latin typeface="+mn-lt"/>
              </a:rPr>
              <a:t>17</a:t>
            </a:r>
          </a:p>
        </p:txBody>
      </p:sp>
      <p:cxnSp>
        <p:nvCxnSpPr>
          <p:cNvPr id="98" name="Straight Arrow Connector 97"/>
          <p:cNvCxnSpPr>
            <a:stCxn id="12" idx="3"/>
            <a:endCxn id="76" idx="1"/>
          </p:cNvCxnSpPr>
          <p:nvPr/>
        </p:nvCxnSpPr>
        <p:spPr bwMode="auto">
          <a:xfrm>
            <a:off x="3342736" y="5216751"/>
            <a:ext cx="3588999" cy="39836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2" name="Straight Arrow Connector 101"/>
          <p:cNvCxnSpPr>
            <a:stCxn id="76" idx="0"/>
            <a:endCxn id="65" idx="2"/>
          </p:cNvCxnSpPr>
          <p:nvPr/>
        </p:nvCxnSpPr>
        <p:spPr bwMode="auto">
          <a:xfrm flipH="1" flipV="1">
            <a:off x="6455480" y="5345478"/>
            <a:ext cx="620270" cy="17062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4" name="Straight Arrow Connector 103"/>
          <p:cNvCxnSpPr>
            <a:stCxn id="65" idx="0"/>
            <a:endCxn id="31" idx="2"/>
          </p:cNvCxnSpPr>
          <p:nvPr/>
        </p:nvCxnSpPr>
        <p:spPr bwMode="auto">
          <a:xfrm flipV="1">
            <a:off x="6455480" y="4976833"/>
            <a:ext cx="620270" cy="17062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8" name="Straight Arrow Connector 107"/>
          <p:cNvCxnSpPr>
            <a:stCxn id="15" idx="3"/>
            <a:endCxn id="25" idx="1"/>
          </p:cNvCxnSpPr>
          <p:nvPr/>
        </p:nvCxnSpPr>
        <p:spPr bwMode="auto">
          <a:xfrm flipV="1">
            <a:off x="3342735" y="4877821"/>
            <a:ext cx="2348460" cy="76168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0" name="Straight Arrow Connector 109"/>
          <p:cNvCxnSpPr>
            <a:stCxn id="25" idx="2"/>
            <a:endCxn id="82" idx="0"/>
          </p:cNvCxnSpPr>
          <p:nvPr/>
        </p:nvCxnSpPr>
        <p:spPr bwMode="auto">
          <a:xfrm flipH="1">
            <a:off x="5214943" y="4976832"/>
            <a:ext cx="620269" cy="53926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4" name="Straight Arrow Connector 113"/>
          <p:cNvCxnSpPr>
            <a:stCxn id="82" idx="2"/>
            <a:endCxn id="93" idx="0"/>
          </p:cNvCxnSpPr>
          <p:nvPr/>
        </p:nvCxnSpPr>
        <p:spPr bwMode="auto">
          <a:xfrm>
            <a:off x="5214943" y="5714122"/>
            <a:ext cx="620269" cy="17062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6" name="Straight Arrow Connector 115"/>
          <p:cNvCxnSpPr>
            <a:stCxn id="93" idx="1"/>
            <a:endCxn id="95" idx="3"/>
          </p:cNvCxnSpPr>
          <p:nvPr/>
        </p:nvCxnSpPr>
        <p:spPr bwMode="auto">
          <a:xfrm flipH="1">
            <a:off x="5358959" y="5983755"/>
            <a:ext cx="33223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18" name="Rectangle 117"/>
          <p:cNvSpPr/>
          <p:nvPr/>
        </p:nvSpPr>
        <p:spPr bwMode="auto">
          <a:xfrm>
            <a:off x="8311286" y="4307360"/>
            <a:ext cx="1584176" cy="301625"/>
          </a:xfrm>
          <a:prstGeom prst="rect">
            <a:avLst/>
          </a:prstGeom>
          <a:solidFill>
            <a:schemeClr val="accent4">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Boot record</a:t>
            </a:r>
          </a:p>
        </p:txBody>
      </p:sp>
      <p:sp>
        <p:nvSpPr>
          <p:cNvPr id="119" name="Rectangle 118"/>
          <p:cNvSpPr/>
          <p:nvPr/>
        </p:nvSpPr>
        <p:spPr bwMode="auto">
          <a:xfrm>
            <a:off x="8311286" y="4594981"/>
            <a:ext cx="1584176" cy="506091"/>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FAT1</a:t>
            </a:r>
          </a:p>
        </p:txBody>
      </p:sp>
      <p:sp>
        <p:nvSpPr>
          <p:cNvPr id="120" name="Rectangle 119"/>
          <p:cNvSpPr/>
          <p:nvPr/>
        </p:nvSpPr>
        <p:spPr bwMode="auto">
          <a:xfrm>
            <a:off x="8311286" y="5876034"/>
            <a:ext cx="1584176" cy="663573"/>
          </a:xfrm>
          <a:prstGeom prst="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Data</a:t>
            </a:r>
          </a:p>
        </p:txBody>
      </p:sp>
      <p:sp>
        <p:nvSpPr>
          <p:cNvPr id="121" name="Rectangle 120"/>
          <p:cNvSpPr/>
          <p:nvPr/>
        </p:nvSpPr>
        <p:spPr bwMode="auto">
          <a:xfrm>
            <a:off x="8311286" y="5099096"/>
            <a:ext cx="1584176" cy="506091"/>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FAT2</a:t>
            </a:r>
          </a:p>
        </p:txBody>
      </p:sp>
      <p:sp>
        <p:nvSpPr>
          <p:cNvPr id="122" name="TextBox 121"/>
          <p:cNvSpPr txBox="1"/>
          <p:nvPr/>
        </p:nvSpPr>
        <p:spPr>
          <a:xfrm>
            <a:off x="5849732" y="4307359"/>
            <a:ext cx="504754" cy="369332"/>
          </a:xfrm>
          <a:prstGeom prst="rect">
            <a:avLst/>
          </a:prstGeom>
          <a:noFill/>
        </p:spPr>
        <p:txBody>
          <a:bodyPr wrap="none" rtlCol="0">
            <a:spAutoFit/>
          </a:bodyPr>
          <a:lstStyle/>
          <a:p>
            <a:r>
              <a:rPr lang="en-US">
                <a:latin typeface="+mn-lt"/>
              </a:rPr>
              <a:t>FAT</a:t>
            </a:r>
          </a:p>
        </p:txBody>
      </p:sp>
      <p:sp>
        <p:nvSpPr>
          <p:cNvPr id="123" name="Rectangle 122"/>
          <p:cNvSpPr/>
          <p:nvPr/>
        </p:nvSpPr>
        <p:spPr bwMode="auto">
          <a:xfrm>
            <a:off x="8311286" y="5605187"/>
            <a:ext cx="1584176" cy="279558"/>
          </a:xfrm>
          <a:prstGeom prst="rect">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Root directory</a:t>
            </a:r>
          </a:p>
        </p:txBody>
      </p:sp>
    </p:spTree>
    <p:extLst>
      <p:ext uri="{BB962C8B-B14F-4D97-AF65-F5344CB8AC3E}">
        <p14:creationId xmlns:p14="http://schemas.microsoft.com/office/powerpoint/2010/main" val="34373332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Ext2</a:t>
            </a:r>
          </a:p>
        </p:txBody>
      </p:sp>
      <p:sp>
        <p:nvSpPr>
          <p:cNvPr id="3" name="Content Placeholder 2"/>
          <p:cNvSpPr>
            <a:spLocks noGrp="1"/>
          </p:cNvSpPr>
          <p:nvPr>
            <p:ph idx="1"/>
          </p:nvPr>
        </p:nvSpPr>
        <p:spPr/>
        <p:txBody>
          <a:bodyPr>
            <a:normAutofit/>
          </a:bodyPr>
          <a:lstStyle/>
          <a:p>
            <a:r>
              <a:rPr lang="en-US"/>
              <a:t>Second extended file system (ext2)</a:t>
            </a:r>
          </a:p>
          <a:p>
            <a:pPr lvl="1"/>
            <a:r>
              <a:rPr lang="en-US"/>
              <a:t>Simple, old, Linux</a:t>
            </a:r>
          </a:p>
          <a:p>
            <a:pPr lvl="2"/>
            <a:r>
              <a:rPr lang="en-US"/>
              <a:t>Ext3 – added journal to improve persistence</a:t>
            </a:r>
          </a:p>
          <a:p>
            <a:pPr lvl="2"/>
            <a:r>
              <a:rPr lang="en-US"/>
              <a:t>Ext4 – improvement of ext3, larger individual files (16T) and FS (1 EB) </a:t>
            </a:r>
          </a:p>
          <a:p>
            <a:pPr lvl="1"/>
            <a:r>
              <a:rPr lang="en-US" err="1"/>
              <a:t>Inode</a:t>
            </a:r>
            <a:r>
              <a:rPr lang="en-US"/>
              <a:t> (index node)</a:t>
            </a:r>
          </a:p>
          <a:p>
            <a:pPr lvl="2"/>
            <a:r>
              <a:rPr lang="en-US"/>
              <a:t>Represents one file/directory</a:t>
            </a:r>
          </a:p>
          <a:p>
            <a:pPr lvl="2"/>
            <a:r>
              <a:rPr lang="en-US"/>
              <a:t>Tree-like hierarchy with block references (faster than linked list)</a:t>
            </a:r>
          </a:p>
          <a:p>
            <a:pPr lvl="3"/>
            <a:r>
              <a:rPr lang="en-US"/>
              <a:t>Smaller files are represented more efficiently</a:t>
            </a:r>
          </a:p>
          <a:p>
            <a:pPr lvl="2"/>
            <a:r>
              <a:rPr lang="en-US"/>
              <a:t>Holds most of the attributes</a:t>
            </a:r>
          </a:p>
          <a:p>
            <a:pPr lvl="1"/>
            <a:r>
              <a:rPr lang="en-US"/>
              <a:t>Directory</a:t>
            </a:r>
          </a:p>
          <a:p>
            <a:pPr lvl="2"/>
            <a:r>
              <a:rPr lang="en-US"/>
              <a:t>Sequence of entries with fixed structure</a:t>
            </a:r>
          </a:p>
          <a:p>
            <a:pPr lvl="3"/>
            <a:r>
              <a:rPr lang="en-US" err="1"/>
              <a:t>Inode</a:t>
            </a:r>
            <a:r>
              <a:rPr lang="en-US"/>
              <a:t> number, file name</a:t>
            </a:r>
          </a:p>
        </p:txBody>
      </p:sp>
      <p:sp>
        <p:nvSpPr>
          <p:cNvPr id="14" name="Date Placeholder 13"/>
          <p:cNvSpPr>
            <a:spLocks noGrp="1"/>
          </p:cNvSpPr>
          <p:nvPr>
            <p:ph type="dt" sz="half" idx="10"/>
          </p:nvPr>
        </p:nvSpPr>
        <p:spPr/>
        <p:txBody>
          <a:bodyPr/>
          <a:lstStyle/>
          <a:p>
            <a:r>
              <a:rPr lang="cs-CZ" altLang="en-US"/>
              <a:t>17.4.2025</a:t>
            </a:r>
            <a:endParaRPr lang="en-US" altLang="en-US"/>
          </a:p>
        </p:txBody>
      </p:sp>
      <p:sp>
        <p:nvSpPr>
          <p:cNvPr id="16" name="Slide Number Placeholder 15"/>
          <p:cNvSpPr>
            <a:spLocks noGrp="1"/>
          </p:cNvSpPr>
          <p:nvPr>
            <p:ph type="sldNum" sz="quarter" idx="12"/>
          </p:nvPr>
        </p:nvSpPr>
        <p:spPr/>
        <p:txBody>
          <a:bodyPr/>
          <a:lstStyle/>
          <a:p>
            <a:fld id="{F4A1145F-674A-4228-8958-0EA9769F5517}" type="slidenum">
              <a:rPr lang="en-US" altLang="en-US" smtClean="0"/>
              <a:pPr/>
              <a:t>49</a:t>
            </a:fld>
            <a:endParaRPr lang="en-US" altLang="en-US"/>
          </a:p>
        </p:txBody>
      </p:sp>
    </p:spTree>
    <p:extLst>
      <p:ext uri="{BB962C8B-B14F-4D97-AF65-F5344CB8AC3E}">
        <p14:creationId xmlns:p14="http://schemas.microsoft.com/office/powerpoint/2010/main" val="13259019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Ext2</a:t>
            </a:r>
          </a:p>
        </p:txBody>
      </p:sp>
      <p:sp>
        <p:nvSpPr>
          <p:cNvPr id="14" name="Date Placeholder 13"/>
          <p:cNvSpPr>
            <a:spLocks noGrp="1"/>
          </p:cNvSpPr>
          <p:nvPr>
            <p:ph type="dt" sz="half" idx="10"/>
          </p:nvPr>
        </p:nvSpPr>
        <p:spPr/>
        <p:txBody>
          <a:bodyPr/>
          <a:lstStyle/>
          <a:p>
            <a:r>
              <a:rPr lang="cs-CZ" altLang="en-US"/>
              <a:t>17.4.2025</a:t>
            </a:r>
            <a:endParaRPr lang="en-US" altLang="en-US"/>
          </a:p>
        </p:txBody>
      </p:sp>
      <p:sp>
        <p:nvSpPr>
          <p:cNvPr id="16" name="Slide Number Placeholder 15"/>
          <p:cNvSpPr>
            <a:spLocks noGrp="1"/>
          </p:cNvSpPr>
          <p:nvPr>
            <p:ph type="sldNum" sz="quarter" idx="12"/>
          </p:nvPr>
        </p:nvSpPr>
        <p:spPr/>
        <p:txBody>
          <a:bodyPr/>
          <a:lstStyle/>
          <a:p>
            <a:fld id="{F4A1145F-674A-4228-8958-0EA9769F5517}" type="slidenum">
              <a:rPr lang="en-US" altLang="en-US" smtClean="0"/>
              <a:pPr/>
              <a:t>50</a:t>
            </a:fld>
            <a:endParaRPr lang="en-US" altLang="en-US"/>
          </a:p>
        </p:txBody>
      </p:sp>
      <p:sp>
        <p:nvSpPr>
          <p:cNvPr id="4" name="Rectangle 3"/>
          <p:cNvSpPr/>
          <p:nvPr/>
        </p:nvSpPr>
        <p:spPr bwMode="auto">
          <a:xfrm>
            <a:off x="1275619" y="3146526"/>
            <a:ext cx="1584176" cy="301625"/>
          </a:xfrm>
          <a:prstGeom prst="rect">
            <a:avLst/>
          </a:prstGeom>
          <a:solidFill>
            <a:schemeClr val="accent4">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a:latin typeface="+mn-lt"/>
              </a:rPr>
              <a:t>Boot record</a:t>
            </a:r>
          </a:p>
        </p:txBody>
      </p:sp>
      <p:sp>
        <p:nvSpPr>
          <p:cNvPr id="5" name="Rectangle 4"/>
          <p:cNvSpPr/>
          <p:nvPr/>
        </p:nvSpPr>
        <p:spPr bwMode="auto">
          <a:xfrm>
            <a:off x="1275619" y="3434147"/>
            <a:ext cx="1584176" cy="506091"/>
          </a:xfrm>
          <a:prstGeom prst="rect">
            <a:avLst/>
          </a:prstGeom>
          <a:solidFill>
            <a:schemeClr val="accent5">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Block group 0</a:t>
            </a:r>
          </a:p>
        </p:txBody>
      </p:sp>
      <p:sp>
        <p:nvSpPr>
          <p:cNvPr id="6" name="Rectangle 5"/>
          <p:cNvSpPr/>
          <p:nvPr/>
        </p:nvSpPr>
        <p:spPr bwMode="auto">
          <a:xfrm>
            <a:off x="1275619" y="3940238"/>
            <a:ext cx="1584176" cy="506091"/>
          </a:xfrm>
          <a:prstGeom prst="rect">
            <a:avLst/>
          </a:prstGeom>
          <a:solidFill>
            <a:schemeClr val="accent5">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Block group 1</a:t>
            </a:r>
          </a:p>
        </p:txBody>
      </p:sp>
      <p:sp>
        <p:nvSpPr>
          <p:cNvPr id="7" name="Rectangle 6"/>
          <p:cNvSpPr/>
          <p:nvPr/>
        </p:nvSpPr>
        <p:spPr bwMode="auto">
          <a:xfrm>
            <a:off x="1275619" y="4701378"/>
            <a:ext cx="1584176" cy="506091"/>
          </a:xfrm>
          <a:prstGeom prst="rect">
            <a:avLst/>
          </a:prstGeom>
          <a:solidFill>
            <a:schemeClr val="accent5">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Block group N</a:t>
            </a:r>
          </a:p>
        </p:txBody>
      </p:sp>
      <p:sp>
        <p:nvSpPr>
          <p:cNvPr id="8" name="Rectangle 7"/>
          <p:cNvSpPr/>
          <p:nvPr/>
        </p:nvSpPr>
        <p:spPr bwMode="auto">
          <a:xfrm>
            <a:off x="3435859" y="2910441"/>
            <a:ext cx="1584176" cy="320078"/>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none" lIns="91440" tIns="45720" rIns="91440" bIns="45720" numCol="1" rtlCol="0" anchor="ctr" anchorCtr="0" compatLnSpc="1">
            <a:prstTxWarp prst="textNoShape">
              <a:avLst/>
            </a:prstTxWarp>
          </a:bodyPr>
          <a:lstStyle/>
          <a:p>
            <a:pPr algn="ctr"/>
            <a:r>
              <a:rPr lang="en-US" dirty="0">
                <a:latin typeface="+mn-lt"/>
              </a:rPr>
              <a:t>Superblock</a:t>
            </a:r>
          </a:p>
        </p:txBody>
      </p:sp>
      <p:sp>
        <p:nvSpPr>
          <p:cNvPr id="9" name="Rectangle 8"/>
          <p:cNvSpPr/>
          <p:nvPr/>
        </p:nvSpPr>
        <p:spPr bwMode="auto">
          <a:xfrm>
            <a:off x="3435859" y="3229382"/>
            <a:ext cx="1584176" cy="320078"/>
          </a:xfrm>
          <a:prstGeom prst="rect">
            <a:avLst/>
          </a:prstGeom>
          <a:solidFill>
            <a:schemeClr val="accent4">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a:latin typeface="+mn-lt"/>
              </a:rPr>
              <a:t>Descriptor</a:t>
            </a:r>
          </a:p>
        </p:txBody>
      </p:sp>
      <p:sp>
        <p:nvSpPr>
          <p:cNvPr id="10" name="Rectangle 9"/>
          <p:cNvSpPr/>
          <p:nvPr/>
        </p:nvSpPr>
        <p:spPr bwMode="auto">
          <a:xfrm>
            <a:off x="3435859" y="3549460"/>
            <a:ext cx="1584176" cy="320078"/>
          </a:xfrm>
          <a:prstGeom prst="rect">
            <a:avLst/>
          </a:prstGeom>
          <a:solidFill>
            <a:schemeClr val="accent5">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a:latin typeface="+mn-lt"/>
              </a:rPr>
              <a:t>Data bitmap</a:t>
            </a:r>
          </a:p>
        </p:txBody>
      </p:sp>
      <p:sp>
        <p:nvSpPr>
          <p:cNvPr id="11" name="Rectangle 10"/>
          <p:cNvSpPr/>
          <p:nvPr/>
        </p:nvSpPr>
        <p:spPr bwMode="auto">
          <a:xfrm>
            <a:off x="3435859" y="3868401"/>
            <a:ext cx="1584176" cy="320078"/>
          </a:xfrm>
          <a:prstGeom prst="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err="1">
                <a:latin typeface="+mn-lt"/>
              </a:rPr>
              <a:t>Inode</a:t>
            </a:r>
            <a:r>
              <a:rPr lang="en-US">
                <a:latin typeface="+mn-lt"/>
              </a:rPr>
              <a:t> bitmap</a:t>
            </a:r>
          </a:p>
        </p:txBody>
      </p:sp>
      <p:sp>
        <p:nvSpPr>
          <p:cNvPr id="12" name="Rectangle 11"/>
          <p:cNvSpPr/>
          <p:nvPr/>
        </p:nvSpPr>
        <p:spPr bwMode="auto">
          <a:xfrm>
            <a:off x="3435859" y="4658415"/>
            <a:ext cx="1584176" cy="691034"/>
          </a:xfrm>
          <a:prstGeom prst="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algn="ctr"/>
            <a:r>
              <a:rPr lang="en-US" dirty="0">
                <a:latin typeface="+mn-lt"/>
              </a:rPr>
              <a:t>Data blocks</a:t>
            </a:r>
          </a:p>
        </p:txBody>
      </p:sp>
      <p:sp>
        <p:nvSpPr>
          <p:cNvPr id="13" name="Rectangle 12"/>
          <p:cNvSpPr/>
          <p:nvPr/>
        </p:nvSpPr>
        <p:spPr bwMode="auto">
          <a:xfrm>
            <a:off x="3435859" y="4188281"/>
            <a:ext cx="1584176" cy="470135"/>
          </a:xfrm>
          <a:prstGeom prst="rect">
            <a:avLst/>
          </a:prstGeom>
          <a:solidFill>
            <a:srgbClr val="92D05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err="1">
                <a:latin typeface="+mn-lt"/>
              </a:rPr>
              <a:t>Inode</a:t>
            </a:r>
            <a:r>
              <a:rPr lang="en-US">
                <a:latin typeface="+mn-lt"/>
              </a:rPr>
              <a:t> table</a:t>
            </a:r>
          </a:p>
        </p:txBody>
      </p:sp>
      <p:cxnSp>
        <p:nvCxnSpPr>
          <p:cNvPr id="15" name="Straight Connector 14"/>
          <p:cNvCxnSpPr/>
          <p:nvPr/>
        </p:nvCxnSpPr>
        <p:spPr bwMode="auto">
          <a:xfrm flipV="1">
            <a:off x="2859795" y="2910441"/>
            <a:ext cx="576064" cy="102979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7" name="Straight Connector 16"/>
          <p:cNvCxnSpPr/>
          <p:nvPr/>
        </p:nvCxnSpPr>
        <p:spPr bwMode="auto">
          <a:xfrm>
            <a:off x="2859795" y="4446329"/>
            <a:ext cx="576064" cy="903121"/>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8" name="Rectangle 17"/>
          <p:cNvSpPr/>
          <p:nvPr/>
        </p:nvSpPr>
        <p:spPr bwMode="auto">
          <a:xfrm>
            <a:off x="5565267" y="2976337"/>
            <a:ext cx="1584176" cy="506091"/>
          </a:xfrm>
          <a:prstGeom prst="rect">
            <a:avLst/>
          </a:prstGeom>
          <a:solidFill>
            <a:schemeClr val="accent4">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Info</a:t>
            </a:r>
          </a:p>
        </p:txBody>
      </p:sp>
      <p:sp>
        <p:nvSpPr>
          <p:cNvPr id="19" name="Rectangle 18"/>
          <p:cNvSpPr/>
          <p:nvPr/>
        </p:nvSpPr>
        <p:spPr bwMode="auto">
          <a:xfrm>
            <a:off x="5565267" y="3482427"/>
            <a:ext cx="1584176" cy="28284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Block 0</a:t>
            </a:r>
          </a:p>
        </p:txBody>
      </p:sp>
      <p:sp>
        <p:nvSpPr>
          <p:cNvPr id="20" name="Rectangle 19"/>
          <p:cNvSpPr/>
          <p:nvPr/>
        </p:nvSpPr>
        <p:spPr bwMode="auto">
          <a:xfrm>
            <a:off x="5565267" y="3765273"/>
            <a:ext cx="1584176" cy="28284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Block 1</a:t>
            </a:r>
          </a:p>
        </p:txBody>
      </p:sp>
      <p:sp>
        <p:nvSpPr>
          <p:cNvPr id="21" name="Rectangle 20"/>
          <p:cNvSpPr/>
          <p:nvPr/>
        </p:nvSpPr>
        <p:spPr bwMode="auto">
          <a:xfrm>
            <a:off x="5565267" y="4359537"/>
            <a:ext cx="1584176" cy="28284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Block 11</a:t>
            </a:r>
          </a:p>
        </p:txBody>
      </p:sp>
      <p:sp>
        <p:nvSpPr>
          <p:cNvPr id="22" name="Rectangle 21"/>
          <p:cNvSpPr/>
          <p:nvPr/>
        </p:nvSpPr>
        <p:spPr bwMode="auto">
          <a:xfrm>
            <a:off x="5565267" y="4642990"/>
            <a:ext cx="1584176" cy="28284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Block 12 (I)</a:t>
            </a:r>
          </a:p>
        </p:txBody>
      </p:sp>
      <p:sp>
        <p:nvSpPr>
          <p:cNvPr id="23" name="Rectangle 22"/>
          <p:cNvSpPr/>
          <p:nvPr/>
        </p:nvSpPr>
        <p:spPr bwMode="auto">
          <a:xfrm>
            <a:off x="5565267" y="4927050"/>
            <a:ext cx="1584176" cy="28284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Block 13 (DI)</a:t>
            </a:r>
          </a:p>
        </p:txBody>
      </p:sp>
      <p:sp>
        <p:nvSpPr>
          <p:cNvPr id="24" name="Rectangle 23"/>
          <p:cNvSpPr/>
          <p:nvPr/>
        </p:nvSpPr>
        <p:spPr bwMode="auto">
          <a:xfrm>
            <a:off x="5565267" y="5207468"/>
            <a:ext cx="1584176" cy="28284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Block 14 (TI)</a:t>
            </a:r>
          </a:p>
        </p:txBody>
      </p:sp>
      <p:sp>
        <p:nvSpPr>
          <p:cNvPr id="25" name="Rectangle 24"/>
          <p:cNvSpPr/>
          <p:nvPr/>
        </p:nvSpPr>
        <p:spPr bwMode="auto">
          <a:xfrm>
            <a:off x="7959415" y="1785691"/>
            <a:ext cx="792088" cy="506091"/>
          </a:xfrm>
          <a:prstGeom prst="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algn="ctr"/>
            <a:r>
              <a:rPr lang="en-US">
                <a:latin typeface="+mn-lt"/>
              </a:rPr>
              <a:t>Data</a:t>
            </a:r>
            <a:br>
              <a:rPr lang="en-US">
                <a:latin typeface="+mn-lt"/>
              </a:rPr>
            </a:br>
            <a:r>
              <a:rPr lang="en-US">
                <a:latin typeface="+mn-lt"/>
              </a:rPr>
              <a:t>block</a:t>
            </a:r>
          </a:p>
        </p:txBody>
      </p:sp>
      <p:sp>
        <p:nvSpPr>
          <p:cNvPr id="26" name="Rectangle 25"/>
          <p:cNvSpPr/>
          <p:nvPr/>
        </p:nvSpPr>
        <p:spPr bwMode="auto">
          <a:xfrm>
            <a:off x="7959415" y="2410793"/>
            <a:ext cx="792088" cy="506091"/>
          </a:xfrm>
          <a:prstGeom prst="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algn="ctr"/>
            <a:r>
              <a:rPr lang="en-US">
                <a:latin typeface="+mn-lt"/>
              </a:rPr>
              <a:t>Data</a:t>
            </a:r>
            <a:br>
              <a:rPr lang="en-US">
                <a:latin typeface="+mn-lt"/>
              </a:rPr>
            </a:br>
            <a:r>
              <a:rPr lang="en-US">
                <a:latin typeface="+mn-lt"/>
              </a:rPr>
              <a:t>block</a:t>
            </a:r>
          </a:p>
        </p:txBody>
      </p:sp>
      <p:cxnSp>
        <p:nvCxnSpPr>
          <p:cNvPr id="28" name="Straight Arrow Connector 27"/>
          <p:cNvCxnSpPr>
            <a:stCxn id="19" idx="3"/>
            <a:endCxn id="25" idx="1"/>
          </p:cNvCxnSpPr>
          <p:nvPr/>
        </p:nvCxnSpPr>
        <p:spPr bwMode="auto">
          <a:xfrm flipV="1">
            <a:off x="7149443" y="2038737"/>
            <a:ext cx="809972" cy="158511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p:cNvCxnSpPr>
            <a:stCxn id="20" idx="3"/>
            <a:endCxn id="26" idx="1"/>
          </p:cNvCxnSpPr>
          <p:nvPr/>
        </p:nvCxnSpPr>
        <p:spPr bwMode="auto">
          <a:xfrm flipV="1">
            <a:off x="7149443" y="2663839"/>
            <a:ext cx="809972" cy="124285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1" name="Rectangle 30"/>
          <p:cNvSpPr/>
          <p:nvPr/>
        </p:nvSpPr>
        <p:spPr bwMode="auto">
          <a:xfrm>
            <a:off x="7959415" y="3152845"/>
            <a:ext cx="792088" cy="506091"/>
          </a:xfrm>
          <a:prstGeom prst="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algn="ctr"/>
            <a:r>
              <a:rPr lang="en-US">
                <a:latin typeface="+mn-lt"/>
              </a:rPr>
              <a:t>Data</a:t>
            </a:r>
            <a:br>
              <a:rPr lang="en-US">
                <a:latin typeface="+mn-lt"/>
              </a:rPr>
            </a:br>
            <a:r>
              <a:rPr lang="en-US">
                <a:latin typeface="+mn-lt"/>
              </a:rPr>
              <a:t>block</a:t>
            </a:r>
          </a:p>
        </p:txBody>
      </p:sp>
      <p:cxnSp>
        <p:nvCxnSpPr>
          <p:cNvPr id="33" name="Straight Arrow Connector 32"/>
          <p:cNvCxnSpPr>
            <a:stCxn id="21" idx="3"/>
            <a:endCxn id="31" idx="1"/>
          </p:cNvCxnSpPr>
          <p:nvPr/>
        </p:nvCxnSpPr>
        <p:spPr bwMode="auto">
          <a:xfrm flipV="1">
            <a:off x="7149443" y="3405891"/>
            <a:ext cx="809972" cy="109506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5" name="Straight Connector 34"/>
          <p:cNvCxnSpPr>
            <a:stCxn id="20" idx="2"/>
            <a:endCxn id="21" idx="0"/>
          </p:cNvCxnSpPr>
          <p:nvPr/>
        </p:nvCxnSpPr>
        <p:spPr bwMode="auto">
          <a:xfrm>
            <a:off x="6357355" y="4048119"/>
            <a:ext cx="0" cy="311418"/>
          </a:xfrm>
          <a:prstGeom prst="line">
            <a:avLst/>
          </a:prstGeom>
          <a:solidFill>
            <a:schemeClr val="accent1"/>
          </a:solidFill>
          <a:ln w="9525" cap="flat" cmpd="sng" algn="ctr">
            <a:solidFill>
              <a:schemeClr val="tx1"/>
            </a:solidFill>
            <a:prstDash val="lgDash"/>
            <a:round/>
            <a:headEnd type="none" w="med" len="med"/>
            <a:tailEnd type="none" w="med" len="med"/>
          </a:ln>
          <a:effectLst/>
        </p:spPr>
      </p:cxnSp>
      <p:sp>
        <p:nvSpPr>
          <p:cNvPr id="36" name="Rectangle 35"/>
          <p:cNvSpPr/>
          <p:nvPr/>
        </p:nvSpPr>
        <p:spPr bwMode="auto">
          <a:xfrm>
            <a:off x="7959415" y="3972441"/>
            <a:ext cx="1008112" cy="847931"/>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dirty="0">
              <a:latin typeface="+mn-lt"/>
            </a:endParaRPr>
          </a:p>
        </p:txBody>
      </p:sp>
      <p:cxnSp>
        <p:nvCxnSpPr>
          <p:cNvPr id="38" name="Straight Arrow Connector 37"/>
          <p:cNvCxnSpPr>
            <a:stCxn id="22" idx="3"/>
            <a:endCxn id="36" idx="1"/>
          </p:cNvCxnSpPr>
          <p:nvPr/>
        </p:nvCxnSpPr>
        <p:spPr bwMode="auto">
          <a:xfrm flipV="1">
            <a:off x="7149443" y="4396407"/>
            <a:ext cx="809972" cy="38800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Rectangle 39"/>
          <p:cNvSpPr/>
          <p:nvPr/>
        </p:nvSpPr>
        <p:spPr bwMode="auto">
          <a:xfrm>
            <a:off x="7959415" y="3967053"/>
            <a:ext cx="1008112" cy="28284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a:latin typeface="+mn-lt"/>
              </a:rPr>
              <a:t>Block 0</a:t>
            </a:r>
          </a:p>
        </p:txBody>
      </p:sp>
      <p:sp>
        <p:nvSpPr>
          <p:cNvPr id="41" name="Rectangle 40"/>
          <p:cNvSpPr/>
          <p:nvPr/>
        </p:nvSpPr>
        <p:spPr bwMode="auto">
          <a:xfrm>
            <a:off x="7959415" y="4537525"/>
            <a:ext cx="1008112" cy="28284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Block 127</a:t>
            </a:r>
          </a:p>
        </p:txBody>
      </p:sp>
      <p:sp>
        <p:nvSpPr>
          <p:cNvPr id="42" name="Rectangle 41"/>
          <p:cNvSpPr/>
          <p:nvPr/>
        </p:nvSpPr>
        <p:spPr bwMode="auto">
          <a:xfrm>
            <a:off x="9458585" y="3195105"/>
            <a:ext cx="792088" cy="506091"/>
          </a:xfrm>
          <a:prstGeom prst="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algn="ctr"/>
            <a:r>
              <a:rPr lang="en-US" dirty="0">
                <a:latin typeface="+mn-lt"/>
              </a:rPr>
              <a:t>Data</a:t>
            </a:r>
            <a:br>
              <a:rPr lang="en-US" dirty="0">
                <a:latin typeface="+mn-lt"/>
              </a:rPr>
            </a:br>
            <a:r>
              <a:rPr lang="en-US" dirty="0">
                <a:latin typeface="+mn-lt"/>
              </a:rPr>
              <a:t>block</a:t>
            </a:r>
          </a:p>
        </p:txBody>
      </p:sp>
      <p:sp>
        <p:nvSpPr>
          <p:cNvPr id="43" name="Rectangle 42"/>
          <p:cNvSpPr/>
          <p:nvPr/>
        </p:nvSpPr>
        <p:spPr bwMode="auto">
          <a:xfrm>
            <a:off x="9458585" y="4080830"/>
            <a:ext cx="792088" cy="506091"/>
          </a:xfrm>
          <a:prstGeom prst="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algn="ctr"/>
            <a:r>
              <a:rPr lang="en-US" dirty="0">
                <a:latin typeface="+mn-lt"/>
              </a:rPr>
              <a:t>Data</a:t>
            </a:r>
            <a:br>
              <a:rPr lang="en-US" dirty="0">
                <a:latin typeface="+mn-lt"/>
              </a:rPr>
            </a:br>
            <a:r>
              <a:rPr lang="en-US" dirty="0">
                <a:latin typeface="+mn-lt"/>
              </a:rPr>
              <a:t>block</a:t>
            </a:r>
          </a:p>
        </p:txBody>
      </p:sp>
      <p:cxnSp>
        <p:nvCxnSpPr>
          <p:cNvPr id="45" name="Straight Arrow Connector 44"/>
          <p:cNvCxnSpPr>
            <a:stCxn id="40" idx="3"/>
            <a:endCxn id="42" idx="1"/>
          </p:cNvCxnSpPr>
          <p:nvPr/>
        </p:nvCxnSpPr>
        <p:spPr bwMode="auto">
          <a:xfrm flipV="1">
            <a:off x="8967527" y="3448151"/>
            <a:ext cx="491058" cy="66032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7" name="Straight Arrow Connector 46"/>
          <p:cNvCxnSpPr>
            <a:stCxn id="41" idx="3"/>
            <a:endCxn id="43" idx="1"/>
          </p:cNvCxnSpPr>
          <p:nvPr/>
        </p:nvCxnSpPr>
        <p:spPr bwMode="auto">
          <a:xfrm flipV="1">
            <a:off x="8967527" y="4333876"/>
            <a:ext cx="491058" cy="34507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p:cNvCxnSpPr>
            <a:stCxn id="24" idx="3"/>
          </p:cNvCxnSpPr>
          <p:nvPr/>
        </p:nvCxnSpPr>
        <p:spPr bwMode="auto">
          <a:xfrm>
            <a:off x="7149443" y="5348891"/>
            <a:ext cx="318914" cy="912960"/>
          </a:xfrm>
          <a:prstGeom prst="straightConnector1">
            <a:avLst/>
          </a:prstGeom>
          <a:solidFill>
            <a:schemeClr val="accent1"/>
          </a:solidFill>
          <a:ln w="9525" cap="flat" cmpd="sng" algn="ctr">
            <a:solidFill>
              <a:schemeClr val="tx1"/>
            </a:solidFill>
            <a:prstDash val="lgDash"/>
            <a:round/>
            <a:headEnd type="none" w="med" len="med"/>
            <a:tailEnd type="triangle"/>
          </a:ln>
          <a:effectLst/>
        </p:spPr>
      </p:cxnSp>
      <p:cxnSp>
        <p:nvCxnSpPr>
          <p:cNvPr id="57" name="Straight Connector 56"/>
          <p:cNvCxnSpPr>
            <a:stCxn id="13" idx="3"/>
          </p:cNvCxnSpPr>
          <p:nvPr/>
        </p:nvCxnSpPr>
        <p:spPr bwMode="auto">
          <a:xfrm flipV="1">
            <a:off x="5020035" y="2976336"/>
            <a:ext cx="545232" cy="144701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9" name="Straight Connector 58"/>
          <p:cNvCxnSpPr>
            <a:stCxn id="13" idx="3"/>
          </p:cNvCxnSpPr>
          <p:nvPr/>
        </p:nvCxnSpPr>
        <p:spPr bwMode="auto">
          <a:xfrm>
            <a:off x="5020035" y="4423348"/>
            <a:ext cx="545232" cy="106509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6" name="Rectangle 45"/>
          <p:cNvSpPr/>
          <p:nvPr/>
        </p:nvSpPr>
        <p:spPr bwMode="auto">
          <a:xfrm>
            <a:off x="7959415" y="5109456"/>
            <a:ext cx="1008112" cy="847931"/>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48" name="Rectangle 47"/>
          <p:cNvSpPr/>
          <p:nvPr/>
        </p:nvSpPr>
        <p:spPr bwMode="auto">
          <a:xfrm>
            <a:off x="7959415" y="5104068"/>
            <a:ext cx="1008112" cy="28284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a:latin typeface="+mn-lt"/>
              </a:rPr>
              <a:t>Block 0</a:t>
            </a:r>
          </a:p>
        </p:txBody>
      </p:sp>
      <p:sp>
        <p:nvSpPr>
          <p:cNvPr id="50" name="Rectangle 49"/>
          <p:cNvSpPr/>
          <p:nvPr/>
        </p:nvSpPr>
        <p:spPr bwMode="auto">
          <a:xfrm>
            <a:off x="7959415" y="5674540"/>
            <a:ext cx="1008112" cy="28284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Block 127</a:t>
            </a:r>
          </a:p>
        </p:txBody>
      </p:sp>
      <p:cxnSp>
        <p:nvCxnSpPr>
          <p:cNvPr id="52" name="Straight Arrow Connector 51"/>
          <p:cNvCxnSpPr>
            <a:stCxn id="48" idx="3"/>
            <a:endCxn id="56" idx="1"/>
          </p:cNvCxnSpPr>
          <p:nvPr/>
        </p:nvCxnSpPr>
        <p:spPr bwMode="auto">
          <a:xfrm flipV="1">
            <a:off x="8967527" y="5237498"/>
            <a:ext cx="491058" cy="799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3" name="Straight Arrow Connector 52"/>
          <p:cNvCxnSpPr>
            <a:stCxn id="23" idx="3"/>
            <a:endCxn id="48" idx="1"/>
          </p:cNvCxnSpPr>
          <p:nvPr/>
        </p:nvCxnSpPr>
        <p:spPr bwMode="auto">
          <a:xfrm>
            <a:off x="7149443" y="5068473"/>
            <a:ext cx="809972" cy="1770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6" name="Rectangle 55"/>
          <p:cNvSpPr/>
          <p:nvPr/>
        </p:nvSpPr>
        <p:spPr bwMode="auto">
          <a:xfrm>
            <a:off x="9458585" y="4813532"/>
            <a:ext cx="1008112" cy="847931"/>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58" name="Rectangle 57"/>
          <p:cNvSpPr/>
          <p:nvPr/>
        </p:nvSpPr>
        <p:spPr bwMode="auto">
          <a:xfrm>
            <a:off x="9458585" y="4808144"/>
            <a:ext cx="1008112" cy="28284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a:latin typeface="+mn-lt"/>
              </a:rPr>
              <a:t>Block 0</a:t>
            </a:r>
          </a:p>
        </p:txBody>
      </p:sp>
      <p:sp>
        <p:nvSpPr>
          <p:cNvPr id="60" name="Rectangle 59"/>
          <p:cNvSpPr/>
          <p:nvPr/>
        </p:nvSpPr>
        <p:spPr bwMode="auto">
          <a:xfrm>
            <a:off x="9458585" y="5378616"/>
            <a:ext cx="1008112" cy="28284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Block 127</a:t>
            </a:r>
          </a:p>
        </p:txBody>
      </p:sp>
      <p:sp>
        <p:nvSpPr>
          <p:cNvPr id="61" name="Rectangle 60"/>
          <p:cNvSpPr/>
          <p:nvPr/>
        </p:nvSpPr>
        <p:spPr bwMode="auto">
          <a:xfrm>
            <a:off x="10957755" y="4696521"/>
            <a:ext cx="792088" cy="506091"/>
          </a:xfrm>
          <a:prstGeom prst="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algn="ctr"/>
            <a:r>
              <a:rPr lang="en-US" dirty="0">
                <a:latin typeface="+mn-lt"/>
              </a:rPr>
              <a:t>Data</a:t>
            </a:r>
            <a:br>
              <a:rPr lang="en-US" dirty="0">
                <a:latin typeface="+mn-lt"/>
              </a:rPr>
            </a:br>
            <a:r>
              <a:rPr lang="en-US" dirty="0">
                <a:latin typeface="+mn-lt"/>
              </a:rPr>
              <a:t>block</a:t>
            </a:r>
          </a:p>
        </p:txBody>
      </p:sp>
      <p:cxnSp>
        <p:nvCxnSpPr>
          <p:cNvPr id="62" name="Straight Arrow Connector 61"/>
          <p:cNvCxnSpPr>
            <a:stCxn id="58" idx="3"/>
            <a:endCxn id="61" idx="1"/>
          </p:cNvCxnSpPr>
          <p:nvPr/>
        </p:nvCxnSpPr>
        <p:spPr bwMode="auto">
          <a:xfrm>
            <a:off x="10466697" y="4949567"/>
            <a:ext cx="49105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4" name="Straight Arrow Connector 73"/>
          <p:cNvCxnSpPr>
            <a:stCxn id="50" idx="3"/>
          </p:cNvCxnSpPr>
          <p:nvPr/>
        </p:nvCxnSpPr>
        <p:spPr bwMode="auto">
          <a:xfrm>
            <a:off x="8967527" y="5815963"/>
            <a:ext cx="491058" cy="265838"/>
          </a:xfrm>
          <a:prstGeom prst="straightConnector1">
            <a:avLst/>
          </a:prstGeom>
          <a:solidFill>
            <a:schemeClr val="accent1"/>
          </a:solidFill>
          <a:ln w="9525" cap="flat" cmpd="sng" algn="ctr">
            <a:solidFill>
              <a:schemeClr val="tx1"/>
            </a:solidFill>
            <a:prstDash val="lgDash"/>
            <a:round/>
            <a:headEnd type="none" w="med" len="med"/>
            <a:tailEnd type="triangle"/>
          </a:ln>
          <a:effectLst/>
        </p:spPr>
      </p:cxnSp>
      <p:cxnSp>
        <p:nvCxnSpPr>
          <p:cNvPr id="77" name="Straight Arrow Connector 76"/>
          <p:cNvCxnSpPr>
            <a:stCxn id="60" idx="3"/>
          </p:cNvCxnSpPr>
          <p:nvPr/>
        </p:nvCxnSpPr>
        <p:spPr bwMode="auto">
          <a:xfrm>
            <a:off x="10466697" y="5520039"/>
            <a:ext cx="584857" cy="253045"/>
          </a:xfrm>
          <a:prstGeom prst="straightConnector1">
            <a:avLst/>
          </a:prstGeom>
          <a:solidFill>
            <a:schemeClr val="accent1"/>
          </a:solidFill>
          <a:ln w="9525" cap="flat" cmpd="sng" algn="ctr">
            <a:solidFill>
              <a:schemeClr val="tx1"/>
            </a:solidFill>
            <a:prstDash val="lgDash"/>
            <a:round/>
            <a:headEnd type="none" w="med" len="med"/>
            <a:tailEnd type="triangle"/>
          </a:ln>
          <a:effectLst/>
        </p:spPr>
      </p:cxnSp>
      <p:sp>
        <p:nvSpPr>
          <p:cNvPr id="80" name="Rounded Rectangular Callout 79"/>
          <p:cNvSpPr/>
          <p:nvPr/>
        </p:nvSpPr>
        <p:spPr>
          <a:xfrm>
            <a:off x="694592" y="1697913"/>
            <a:ext cx="3127612" cy="1063326"/>
          </a:xfrm>
          <a:prstGeom prst="wedgeRoundRectCallout">
            <a:avLst>
              <a:gd name="adj1" fmla="val 39731"/>
              <a:gd name="adj2" fmla="val 69012"/>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Contains most important information about the FS</a:t>
            </a:r>
            <a:br>
              <a:rPr lang="en-US" dirty="0"/>
            </a:br>
            <a:r>
              <a:rPr lang="en-US" dirty="0"/>
              <a:t>(a copy is in each block group)</a:t>
            </a:r>
          </a:p>
        </p:txBody>
      </p:sp>
      <p:sp>
        <p:nvSpPr>
          <p:cNvPr id="86" name="Rounded Rectangular Callout 85"/>
          <p:cNvSpPr/>
          <p:nvPr/>
        </p:nvSpPr>
        <p:spPr>
          <a:xfrm>
            <a:off x="4102636" y="1794088"/>
            <a:ext cx="3193423" cy="822026"/>
          </a:xfrm>
          <a:prstGeom prst="wedgeRoundRectCallout">
            <a:avLst>
              <a:gd name="adj1" fmla="val -24420"/>
              <a:gd name="adj2" fmla="val 134257"/>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Block group descriptor table</a:t>
            </a:r>
            <a:br>
              <a:rPr lang="en-US" dirty="0"/>
            </a:br>
            <a:r>
              <a:rPr lang="en-US" dirty="0"/>
              <a:t>(a copy is in each block group)</a:t>
            </a:r>
          </a:p>
        </p:txBody>
      </p:sp>
      <p:sp>
        <p:nvSpPr>
          <p:cNvPr id="3" name="Rounded Rectangular Callout 85">
            <a:extLst>
              <a:ext uri="{FF2B5EF4-FFF2-40B4-BE49-F238E27FC236}">
                <a16:creationId xmlns:a16="http://schemas.microsoft.com/office/drawing/2014/main" id="{10EB8883-635B-170A-7BD4-955E9693155F}"/>
              </a:ext>
            </a:extLst>
          </p:cNvPr>
          <p:cNvSpPr/>
          <p:nvPr/>
        </p:nvSpPr>
        <p:spPr>
          <a:xfrm>
            <a:off x="4392359" y="5808530"/>
            <a:ext cx="2613975" cy="511357"/>
          </a:xfrm>
          <a:prstGeom prst="wedgeRoundRectCallout">
            <a:avLst>
              <a:gd name="adj1" fmla="val 23006"/>
              <a:gd name="adj2" fmla="val -108180"/>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A single </a:t>
            </a:r>
            <a:r>
              <a:rPr lang="en-US" dirty="0" err="1"/>
              <a:t>Inode</a:t>
            </a:r>
            <a:r>
              <a:rPr lang="en-US" dirty="0"/>
              <a:t> structure</a:t>
            </a:r>
          </a:p>
        </p:txBody>
      </p:sp>
      <p:sp>
        <p:nvSpPr>
          <p:cNvPr id="27" name="Rounded Rectangular Callout 85">
            <a:extLst>
              <a:ext uri="{FF2B5EF4-FFF2-40B4-BE49-F238E27FC236}">
                <a16:creationId xmlns:a16="http://schemas.microsoft.com/office/drawing/2014/main" id="{6169ACEA-C683-E348-D4F8-57DD520D3E12}"/>
              </a:ext>
            </a:extLst>
          </p:cNvPr>
          <p:cNvSpPr/>
          <p:nvPr/>
        </p:nvSpPr>
        <p:spPr>
          <a:xfrm>
            <a:off x="9276278" y="1647593"/>
            <a:ext cx="2473565" cy="1123493"/>
          </a:xfrm>
          <a:prstGeom prst="wedgeRoundRectCallout">
            <a:avLst>
              <a:gd name="adj1" fmla="val -29601"/>
              <a:gd name="adj2" fmla="val 84336"/>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Data blocks of one file are kept in one Block group if possible</a:t>
            </a:r>
          </a:p>
        </p:txBody>
      </p:sp>
    </p:spTree>
    <p:extLst>
      <p:ext uri="{BB962C8B-B14F-4D97-AF65-F5344CB8AC3E}">
        <p14:creationId xmlns:p14="http://schemas.microsoft.com/office/powerpoint/2010/main" val="19546006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Hard disc mechanics</a:t>
            </a:r>
          </a:p>
        </p:txBody>
      </p:sp>
      <p:sp>
        <p:nvSpPr>
          <p:cNvPr id="3" name="Content Placeholder 2"/>
          <p:cNvSpPr>
            <a:spLocks noGrp="1"/>
          </p:cNvSpPr>
          <p:nvPr>
            <p:ph idx="1"/>
          </p:nvPr>
        </p:nvSpPr>
        <p:spPr>
          <a:xfrm>
            <a:off x="838200" y="3993445"/>
            <a:ext cx="10515600" cy="2183517"/>
          </a:xfrm>
        </p:spPr>
        <p:txBody>
          <a:bodyPr>
            <a:normAutofit/>
          </a:bodyPr>
          <a:lstStyle/>
          <a:p>
            <a:r>
              <a:rPr lang="en-US"/>
              <a:t>Additional terminology</a:t>
            </a:r>
          </a:p>
          <a:p>
            <a:pPr lvl="1"/>
            <a:r>
              <a:rPr lang="en-US"/>
              <a:t>Block – the same sector on all platters</a:t>
            </a:r>
          </a:p>
          <a:p>
            <a:pPr lvl="1"/>
            <a:r>
              <a:rPr lang="en-US"/>
              <a:t>Cluster – the same track on all platters</a:t>
            </a:r>
          </a:p>
          <a:p>
            <a:pPr lvl="1"/>
            <a:r>
              <a:rPr lang="en-US"/>
              <a:t>Flying height – distance between head and platter (~5 nm)</a:t>
            </a:r>
          </a:p>
          <a:p>
            <a:pPr lvl="1"/>
            <a:r>
              <a:rPr lang="en-US"/>
              <a:t>Rotational speed – 5400, 7200, 10k, 15k rpm</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51</a:t>
            </a:fld>
            <a:endParaRPr lang="en-US" altLang="en-US"/>
          </a:p>
        </p:txBody>
      </p:sp>
      <p:sp>
        <p:nvSpPr>
          <p:cNvPr id="7" name="Rectangle 6"/>
          <p:cNvSpPr/>
          <p:nvPr/>
        </p:nvSpPr>
        <p:spPr bwMode="auto">
          <a:xfrm>
            <a:off x="3078100" y="1988841"/>
            <a:ext cx="144016" cy="147750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8" name="Rectangle 7"/>
          <p:cNvSpPr/>
          <p:nvPr/>
        </p:nvSpPr>
        <p:spPr bwMode="auto">
          <a:xfrm>
            <a:off x="1997980" y="2201342"/>
            <a:ext cx="2304256" cy="72008"/>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9" name="Rectangle 8"/>
          <p:cNvSpPr/>
          <p:nvPr/>
        </p:nvSpPr>
        <p:spPr bwMode="auto">
          <a:xfrm>
            <a:off x="1997980" y="2690918"/>
            <a:ext cx="2304256" cy="72008"/>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10" name="Rectangle 9"/>
          <p:cNvSpPr/>
          <p:nvPr/>
        </p:nvSpPr>
        <p:spPr bwMode="auto">
          <a:xfrm>
            <a:off x="1997980" y="3180494"/>
            <a:ext cx="2304256" cy="72008"/>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grpSp>
        <p:nvGrpSpPr>
          <p:cNvPr id="33" name="Group 32"/>
          <p:cNvGrpSpPr/>
          <p:nvPr/>
        </p:nvGrpSpPr>
        <p:grpSpPr>
          <a:xfrm>
            <a:off x="3863752" y="1826822"/>
            <a:ext cx="792088" cy="1800200"/>
            <a:chOff x="2339752" y="1826822"/>
            <a:chExt cx="792088" cy="1800200"/>
          </a:xfrm>
        </p:grpSpPr>
        <p:sp>
          <p:nvSpPr>
            <p:cNvPr id="11" name="Rectangle 10"/>
            <p:cNvSpPr/>
            <p:nvPr/>
          </p:nvSpPr>
          <p:spPr bwMode="auto">
            <a:xfrm>
              <a:off x="2987824" y="1826822"/>
              <a:ext cx="144016" cy="1800200"/>
            </a:xfrm>
            <a:prstGeom prst="rect">
              <a:avLst/>
            </a:prstGeom>
            <a:solidFill>
              <a:srgbClr val="00B05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13" name="Isosceles Triangle 12"/>
            <p:cNvSpPr/>
            <p:nvPr/>
          </p:nvSpPr>
          <p:spPr bwMode="auto">
            <a:xfrm flipV="1">
              <a:off x="2339752" y="2006421"/>
              <a:ext cx="216024" cy="147538"/>
            </a:xfrm>
            <a:prstGeom prst="triangle">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cxnSp>
          <p:nvCxnSpPr>
            <p:cNvPr id="15" name="Straight Connector 14"/>
            <p:cNvCxnSpPr>
              <a:stCxn id="13" idx="4"/>
            </p:cNvCxnSpPr>
            <p:nvPr/>
          </p:nvCxnSpPr>
          <p:spPr bwMode="auto">
            <a:xfrm>
              <a:off x="2555776" y="2006421"/>
              <a:ext cx="43204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7" name="Isosceles Triangle 16"/>
            <p:cNvSpPr/>
            <p:nvPr/>
          </p:nvSpPr>
          <p:spPr bwMode="auto">
            <a:xfrm flipV="1">
              <a:off x="2342970" y="2493689"/>
              <a:ext cx="216024" cy="147538"/>
            </a:xfrm>
            <a:prstGeom prst="triangle">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cxnSp>
          <p:nvCxnSpPr>
            <p:cNvPr id="18" name="Straight Connector 17"/>
            <p:cNvCxnSpPr>
              <a:stCxn id="17" idx="4"/>
            </p:cNvCxnSpPr>
            <p:nvPr/>
          </p:nvCxnSpPr>
          <p:spPr bwMode="auto">
            <a:xfrm>
              <a:off x="2558994" y="2493689"/>
              <a:ext cx="43204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9" name="Isosceles Triangle 18"/>
            <p:cNvSpPr/>
            <p:nvPr/>
          </p:nvSpPr>
          <p:spPr bwMode="auto">
            <a:xfrm flipV="1">
              <a:off x="2339752" y="2980957"/>
              <a:ext cx="216024" cy="147538"/>
            </a:xfrm>
            <a:prstGeom prst="triangle">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cxnSp>
          <p:nvCxnSpPr>
            <p:cNvPr id="20" name="Straight Connector 19"/>
            <p:cNvCxnSpPr>
              <a:stCxn id="19" idx="4"/>
            </p:cNvCxnSpPr>
            <p:nvPr/>
          </p:nvCxnSpPr>
          <p:spPr bwMode="auto">
            <a:xfrm>
              <a:off x="2555776" y="2980957"/>
              <a:ext cx="43204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1" name="Isosceles Triangle 20"/>
            <p:cNvSpPr/>
            <p:nvPr/>
          </p:nvSpPr>
          <p:spPr bwMode="auto">
            <a:xfrm>
              <a:off x="2339752" y="2320732"/>
              <a:ext cx="216024" cy="147538"/>
            </a:xfrm>
            <a:prstGeom prst="triangle">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cxnSp>
          <p:nvCxnSpPr>
            <p:cNvPr id="22" name="Straight Connector 21"/>
            <p:cNvCxnSpPr>
              <a:stCxn id="21" idx="4"/>
            </p:cNvCxnSpPr>
            <p:nvPr/>
          </p:nvCxnSpPr>
          <p:spPr bwMode="auto">
            <a:xfrm>
              <a:off x="2555776" y="2468270"/>
              <a:ext cx="43204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4" name="Isosceles Triangle 23"/>
            <p:cNvSpPr/>
            <p:nvPr/>
          </p:nvSpPr>
          <p:spPr bwMode="auto">
            <a:xfrm>
              <a:off x="2339752" y="2807420"/>
              <a:ext cx="216024" cy="147538"/>
            </a:xfrm>
            <a:prstGeom prst="triangle">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cxnSp>
          <p:nvCxnSpPr>
            <p:cNvPr id="25" name="Straight Connector 24"/>
            <p:cNvCxnSpPr>
              <a:stCxn id="24" idx="4"/>
            </p:cNvCxnSpPr>
            <p:nvPr/>
          </p:nvCxnSpPr>
          <p:spPr bwMode="auto">
            <a:xfrm>
              <a:off x="2555776" y="2954958"/>
              <a:ext cx="43204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6" name="Isosceles Triangle 25"/>
            <p:cNvSpPr/>
            <p:nvPr/>
          </p:nvSpPr>
          <p:spPr bwMode="auto">
            <a:xfrm>
              <a:off x="2339752" y="3292014"/>
              <a:ext cx="216024" cy="147538"/>
            </a:xfrm>
            <a:prstGeom prst="triangle">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cxnSp>
          <p:nvCxnSpPr>
            <p:cNvPr id="27" name="Straight Connector 26"/>
            <p:cNvCxnSpPr>
              <a:stCxn id="26" idx="4"/>
            </p:cNvCxnSpPr>
            <p:nvPr/>
          </p:nvCxnSpPr>
          <p:spPr bwMode="auto">
            <a:xfrm>
              <a:off x="2555776" y="3439552"/>
              <a:ext cx="43204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
        <p:nvSpPr>
          <p:cNvPr id="28" name="Line Callout 2 (No Border) 27"/>
          <p:cNvSpPr/>
          <p:nvPr/>
        </p:nvSpPr>
        <p:spPr bwMode="auto">
          <a:xfrm>
            <a:off x="1880314" y="1671761"/>
            <a:ext cx="798524" cy="275459"/>
          </a:xfrm>
          <a:prstGeom prst="callout2">
            <a:avLst>
              <a:gd name="adj1" fmla="val 60475"/>
              <a:gd name="adj2" fmla="val 107212"/>
              <a:gd name="adj3" fmla="val 60475"/>
              <a:gd name="adj4" fmla="val 132595"/>
              <a:gd name="adj5" fmla="val 102810"/>
              <a:gd name="adj6" fmla="val 157943"/>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a:t>spindle</a:t>
            </a:r>
          </a:p>
        </p:txBody>
      </p:sp>
      <p:sp>
        <p:nvSpPr>
          <p:cNvPr id="30" name="Line Callout 2 (No Border) 29"/>
          <p:cNvSpPr/>
          <p:nvPr/>
        </p:nvSpPr>
        <p:spPr bwMode="auto">
          <a:xfrm>
            <a:off x="1847528" y="3308022"/>
            <a:ext cx="864096" cy="288032"/>
          </a:xfrm>
          <a:prstGeom prst="callout2">
            <a:avLst>
              <a:gd name="adj1" fmla="val 55788"/>
              <a:gd name="adj2" fmla="val 91022"/>
              <a:gd name="adj3" fmla="val 36387"/>
              <a:gd name="adj4" fmla="val 116198"/>
              <a:gd name="adj5" fmla="val -9194"/>
              <a:gd name="adj6" fmla="val 122060"/>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a:t>platter</a:t>
            </a:r>
          </a:p>
        </p:txBody>
      </p:sp>
      <p:sp>
        <p:nvSpPr>
          <p:cNvPr id="31" name="Line Callout 2 (No Border) 30"/>
          <p:cNvSpPr/>
          <p:nvPr/>
        </p:nvSpPr>
        <p:spPr bwMode="auto">
          <a:xfrm>
            <a:off x="2611594" y="3483006"/>
            <a:ext cx="1135820" cy="288032"/>
          </a:xfrm>
          <a:prstGeom prst="callout2">
            <a:avLst>
              <a:gd name="adj1" fmla="val 46969"/>
              <a:gd name="adj2" fmla="val 97284"/>
              <a:gd name="adj3" fmla="val 36387"/>
              <a:gd name="adj4" fmla="val 116198"/>
              <a:gd name="adj5" fmla="val -9194"/>
              <a:gd name="adj6" fmla="val 119376"/>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a:t>RW head</a:t>
            </a:r>
          </a:p>
        </p:txBody>
      </p:sp>
      <p:sp>
        <p:nvSpPr>
          <p:cNvPr id="32" name="Line Callout 2 (No Border) 31"/>
          <p:cNvSpPr/>
          <p:nvPr/>
        </p:nvSpPr>
        <p:spPr bwMode="auto">
          <a:xfrm>
            <a:off x="3647728" y="1514602"/>
            <a:ext cx="498948" cy="275459"/>
          </a:xfrm>
          <a:prstGeom prst="callout2">
            <a:avLst>
              <a:gd name="adj1" fmla="val 60475"/>
              <a:gd name="adj2" fmla="val 107212"/>
              <a:gd name="adj3" fmla="val 60475"/>
              <a:gd name="adj4" fmla="val 132595"/>
              <a:gd name="adj5" fmla="val 104654"/>
              <a:gd name="adj6" fmla="val 186451"/>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a:t>arm</a:t>
            </a:r>
          </a:p>
        </p:txBody>
      </p:sp>
      <p:sp>
        <p:nvSpPr>
          <p:cNvPr id="44" name="Line Callout 2 (No Border) 43"/>
          <p:cNvSpPr/>
          <p:nvPr/>
        </p:nvSpPr>
        <p:spPr bwMode="auto">
          <a:xfrm>
            <a:off x="5663952" y="1635604"/>
            <a:ext cx="560998" cy="275459"/>
          </a:xfrm>
          <a:prstGeom prst="callout2">
            <a:avLst>
              <a:gd name="adj1" fmla="val 60475"/>
              <a:gd name="adj2" fmla="val 107212"/>
              <a:gd name="adj3" fmla="val 60475"/>
              <a:gd name="adj4" fmla="val 132595"/>
              <a:gd name="adj5" fmla="val 104654"/>
              <a:gd name="adj6" fmla="val 186451"/>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a:solidFill>
                  <a:srgbClr val="FF00FF"/>
                </a:solidFill>
              </a:rPr>
              <a:t>track</a:t>
            </a:r>
          </a:p>
        </p:txBody>
      </p:sp>
      <p:grpSp>
        <p:nvGrpSpPr>
          <p:cNvPr id="74" name="Group 73"/>
          <p:cNvGrpSpPr/>
          <p:nvPr/>
        </p:nvGrpSpPr>
        <p:grpSpPr>
          <a:xfrm>
            <a:off x="6096000" y="1620944"/>
            <a:ext cx="2304256" cy="2304000"/>
            <a:chOff x="4572000" y="1620944"/>
            <a:chExt cx="2304256" cy="2304000"/>
          </a:xfrm>
        </p:grpSpPr>
        <p:sp>
          <p:nvSpPr>
            <p:cNvPr id="34" name="Oval 33"/>
            <p:cNvSpPr/>
            <p:nvPr/>
          </p:nvSpPr>
          <p:spPr bwMode="auto">
            <a:xfrm>
              <a:off x="4572000" y="1620944"/>
              <a:ext cx="2304256" cy="2304000"/>
            </a:xfrm>
            <a:prstGeom prst="ellipse">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35" name="Oval 34"/>
            <p:cNvSpPr/>
            <p:nvPr/>
          </p:nvSpPr>
          <p:spPr bwMode="auto">
            <a:xfrm>
              <a:off x="4716128" y="1764944"/>
              <a:ext cx="2016000" cy="2016000"/>
            </a:xfrm>
            <a:prstGeom prst="ellipse">
              <a:avLst/>
            </a:prstGeom>
            <a:noFill/>
            <a:ln w="9525" cap="flat" cmpd="sng" algn="ctr">
              <a:solidFill>
                <a:srgbClr val="FF00FF"/>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36" name="Oval 35"/>
            <p:cNvSpPr/>
            <p:nvPr/>
          </p:nvSpPr>
          <p:spPr bwMode="auto">
            <a:xfrm>
              <a:off x="5659530" y="2707462"/>
              <a:ext cx="129196" cy="130964"/>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37" name="Oval 36"/>
            <p:cNvSpPr/>
            <p:nvPr/>
          </p:nvSpPr>
          <p:spPr bwMode="auto">
            <a:xfrm>
              <a:off x="5292128" y="2340944"/>
              <a:ext cx="864000" cy="864000"/>
            </a:xfrm>
            <a:prstGeom prst="ellipse">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38" name="Oval 37"/>
            <p:cNvSpPr/>
            <p:nvPr/>
          </p:nvSpPr>
          <p:spPr bwMode="auto">
            <a:xfrm>
              <a:off x="5148128" y="2196944"/>
              <a:ext cx="1152000" cy="1152000"/>
            </a:xfrm>
            <a:prstGeom prst="ellipse">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39" name="Oval 38"/>
            <p:cNvSpPr/>
            <p:nvPr/>
          </p:nvSpPr>
          <p:spPr bwMode="auto">
            <a:xfrm>
              <a:off x="4860128" y="1908944"/>
              <a:ext cx="1728000" cy="1728000"/>
            </a:xfrm>
            <a:prstGeom prst="ellipse">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40" name="Oval 39"/>
            <p:cNvSpPr/>
            <p:nvPr/>
          </p:nvSpPr>
          <p:spPr bwMode="auto">
            <a:xfrm>
              <a:off x="5004128" y="2052944"/>
              <a:ext cx="1440000" cy="1440000"/>
            </a:xfrm>
            <a:prstGeom prst="ellipse">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41" name="Oval 40"/>
            <p:cNvSpPr/>
            <p:nvPr/>
          </p:nvSpPr>
          <p:spPr bwMode="auto">
            <a:xfrm>
              <a:off x="5436128" y="2484944"/>
              <a:ext cx="576000" cy="576000"/>
            </a:xfrm>
            <a:prstGeom prst="ellipse">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42" name="Oval 41"/>
            <p:cNvSpPr/>
            <p:nvPr/>
          </p:nvSpPr>
          <p:spPr bwMode="auto">
            <a:xfrm>
              <a:off x="5580128" y="2628944"/>
              <a:ext cx="288000" cy="288000"/>
            </a:xfrm>
            <a:prstGeom prst="ellipse">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cxnSp>
          <p:nvCxnSpPr>
            <p:cNvPr id="46" name="Straight Connector 45"/>
            <p:cNvCxnSpPr>
              <a:stCxn id="36" idx="4"/>
              <a:endCxn id="34" idx="4"/>
            </p:cNvCxnSpPr>
            <p:nvPr/>
          </p:nvCxnSpPr>
          <p:spPr bwMode="auto">
            <a:xfrm>
              <a:off x="5724128" y="2838426"/>
              <a:ext cx="0" cy="108651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8" name="Straight Connector 47"/>
            <p:cNvCxnSpPr>
              <a:stCxn id="36" idx="0"/>
              <a:endCxn id="34" idx="0"/>
            </p:cNvCxnSpPr>
            <p:nvPr/>
          </p:nvCxnSpPr>
          <p:spPr bwMode="auto">
            <a:xfrm flipV="1">
              <a:off x="5724128" y="1620944"/>
              <a:ext cx="0" cy="108651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0" name="Straight Connector 49"/>
            <p:cNvCxnSpPr>
              <a:stCxn id="34" idx="6"/>
              <a:endCxn id="36" idx="6"/>
            </p:cNvCxnSpPr>
            <p:nvPr/>
          </p:nvCxnSpPr>
          <p:spPr bwMode="auto">
            <a:xfrm flipH="1">
              <a:off x="5788726" y="2772944"/>
              <a:ext cx="108753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5" name="Straight Connector 54"/>
            <p:cNvCxnSpPr>
              <a:stCxn id="34" idx="2"/>
              <a:endCxn id="36" idx="2"/>
            </p:cNvCxnSpPr>
            <p:nvPr/>
          </p:nvCxnSpPr>
          <p:spPr bwMode="auto">
            <a:xfrm>
              <a:off x="4572000" y="2772944"/>
              <a:ext cx="108753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1" name="Straight Connector 60"/>
            <p:cNvCxnSpPr>
              <a:stCxn id="36" idx="7"/>
              <a:endCxn id="34" idx="7"/>
            </p:cNvCxnSpPr>
            <p:nvPr/>
          </p:nvCxnSpPr>
          <p:spPr bwMode="auto">
            <a:xfrm flipV="1">
              <a:off x="5769806" y="1958357"/>
              <a:ext cx="769000" cy="76828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4" name="Straight Connector 63"/>
            <p:cNvCxnSpPr>
              <a:stCxn id="36" idx="5"/>
              <a:endCxn id="34" idx="5"/>
            </p:cNvCxnSpPr>
            <p:nvPr/>
          </p:nvCxnSpPr>
          <p:spPr bwMode="auto">
            <a:xfrm>
              <a:off x="5769806" y="2819247"/>
              <a:ext cx="769000" cy="76828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6" name="Straight Connector 65"/>
            <p:cNvCxnSpPr>
              <a:stCxn id="36" idx="3"/>
              <a:endCxn id="34" idx="3"/>
            </p:cNvCxnSpPr>
            <p:nvPr/>
          </p:nvCxnSpPr>
          <p:spPr bwMode="auto">
            <a:xfrm flipH="1">
              <a:off x="4909450" y="2819247"/>
              <a:ext cx="769000" cy="76828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0" name="Straight Connector 69"/>
            <p:cNvCxnSpPr>
              <a:stCxn id="36" idx="1"/>
              <a:endCxn id="34" idx="1"/>
            </p:cNvCxnSpPr>
            <p:nvPr/>
          </p:nvCxnSpPr>
          <p:spPr bwMode="auto">
            <a:xfrm flipH="1" flipV="1">
              <a:off x="4909450" y="1958357"/>
              <a:ext cx="769000" cy="768284"/>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2" name="Arc 71"/>
            <p:cNvSpPr/>
            <p:nvPr/>
          </p:nvSpPr>
          <p:spPr bwMode="auto">
            <a:xfrm>
              <a:off x="5000484" y="2052944"/>
              <a:ext cx="1440000" cy="1440000"/>
            </a:xfrm>
            <a:prstGeom prst="arc">
              <a:avLst>
                <a:gd name="adj1" fmla="val 18911400"/>
                <a:gd name="adj2" fmla="val 0"/>
              </a:avLst>
            </a:prstGeom>
            <a:noFill/>
            <a:ln w="38100" cap="flat" cmpd="sng" algn="ctr">
              <a:solidFill>
                <a:srgbClr val="00CCFF"/>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grpSp>
      <p:sp>
        <p:nvSpPr>
          <p:cNvPr id="73" name="Line Callout 2 (No Border) 72"/>
          <p:cNvSpPr/>
          <p:nvPr/>
        </p:nvSpPr>
        <p:spPr bwMode="auto">
          <a:xfrm>
            <a:off x="8617664" y="1997892"/>
            <a:ext cx="790592" cy="275459"/>
          </a:xfrm>
          <a:prstGeom prst="callout2">
            <a:avLst>
              <a:gd name="adj1" fmla="val 68774"/>
              <a:gd name="adj2" fmla="val 1360"/>
              <a:gd name="adj3" fmla="val 68774"/>
              <a:gd name="adj4" fmla="val -29290"/>
              <a:gd name="adj5" fmla="val 159980"/>
              <a:gd name="adj6" fmla="val -85271"/>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a:solidFill>
                  <a:srgbClr val="00CCFF"/>
                </a:solidFill>
              </a:rPr>
              <a:t>sector</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60116" y="2340944"/>
            <a:ext cx="3033744" cy="4040947"/>
          </a:xfrm>
          <a:prstGeom prst="rect">
            <a:avLst/>
          </a:prstGeom>
        </p:spPr>
      </p:pic>
    </p:spTree>
    <p:extLst>
      <p:ext uri="{BB962C8B-B14F-4D97-AF65-F5344CB8AC3E}">
        <p14:creationId xmlns:p14="http://schemas.microsoft.com/office/powerpoint/2010/main" val="662854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1.94444E-6 4.81481E-6 L -0.01962 -0.00024 " pathEditMode="relative" rAng="0" ptsTypes="AA">
                                      <p:cBhvr>
                                        <p:cTn id="6" dur="2000" fill="hold"/>
                                        <p:tgtEl>
                                          <p:spTgt spid="33"/>
                                        </p:tgtEl>
                                        <p:attrNameLst>
                                          <p:attrName>ppt_x</p:attrName>
                                          <p:attrName>ppt_y</p:attrName>
                                        </p:attrNameLst>
                                      </p:cBhvr>
                                      <p:rCtr x="-99000" y="-2300"/>
                                    </p:animMotion>
                                  </p:childTnLst>
                                </p:cTn>
                              </p:par>
                            </p:childTnLst>
                          </p:cTn>
                        </p:par>
                      </p:childTnLst>
                    </p:cTn>
                  </p:par>
                  <p:par>
                    <p:cTn id="7" fill="hold">
                      <p:stCondLst>
                        <p:cond delay="indefinite"/>
                      </p:stCondLst>
                      <p:childTnLst>
                        <p:par>
                          <p:cTn id="8" fill="hold">
                            <p:stCondLst>
                              <p:cond delay="0"/>
                            </p:stCondLst>
                            <p:childTnLst>
                              <p:par>
                                <p:cTn id="9" presetID="8" presetClass="emph" presetSubtype="0" fill="hold" nodeType="clickEffect">
                                  <p:stCondLst>
                                    <p:cond delay="0"/>
                                  </p:stCondLst>
                                  <p:childTnLst>
                                    <p:animRot by="21600000">
                                      <p:cBhvr>
                                        <p:cTn id="10" dur="2000" fill="hold"/>
                                        <p:tgtEl>
                                          <p:spTgt spid="74"/>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Disk scheduling algorithms</a:t>
            </a:r>
          </a:p>
        </p:txBody>
      </p:sp>
      <p:sp>
        <p:nvSpPr>
          <p:cNvPr id="3" name="Content Placeholder 2"/>
          <p:cNvSpPr>
            <a:spLocks noGrp="1"/>
          </p:cNvSpPr>
          <p:nvPr>
            <p:ph idx="1"/>
          </p:nvPr>
        </p:nvSpPr>
        <p:spPr/>
        <p:txBody>
          <a:bodyPr>
            <a:normAutofit fontScale="92500" lnSpcReduction="20000"/>
          </a:bodyPr>
          <a:lstStyle/>
          <a:p>
            <a:r>
              <a:rPr lang="en-US"/>
              <a:t>What?</a:t>
            </a:r>
          </a:p>
          <a:p>
            <a:pPr lvl="1"/>
            <a:r>
              <a:rPr lang="en-US"/>
              <a:t>Scheduling of I/O requests for the disk</a:t>
            </a:r>
          </a:p>
          <a:p>
            <a:pPr lvl="1"/>
            <a:r>
              <a:rPr lang="en-US"/>
              <a:t>Originally done by OS, now by disk itself</a:t>
            </a:r>
          </a:p>
          <a:p>
            <a:r>
              <a:rPr lang="en-US"/>
              <a:t>Why?</a:t>
            </a:r>
          </a:p>
          <a:p>
            <a:pPr lvl="1"/>
            <a:r>
              <a:rPr lang="en-US"/>
              <a:t>Disk access time = Seek Time + Rotational Latency + Transfer time</a:t>
            </a:r>
          </a:p>
          <a:p>
            <a:pPr lvl="2"/>
            <a:r>
              <a:rPr lang="en-US"/>
              <a:t>Seek Time – time to locate the arm to a track (~</a:t>
            </a:r>
            <a:r>
              <a:rPr lang="en-US" err="1"/>
              <a:t>ms</a:t>
            </a:r>
            <a:r>
              <a:rPr lang="en-US"/>
              <a:t>)</a:t>
            </a:r>
          </a:p>
          <a:p>
            <a:pPr lvl="2"/>
            <a:r>
              <a:rPr lang="en-US"/>
              <a:t>Rotational latency – time to rotate a sector to the fixed position of heads</a:t>
            </a:r>
          </a:p>
          <a:p>
            <a:pPr lvl="2"/>
            <a:r>
              <a:rPr lang="en-US"/>
              <a:t>Transfer time – time to transfer data</a:t>
            </a:r>
          </a:p>
          <a:p>
            <a:pPr lvl="1"/>
            <a:r>
              <a:rPr lang="en-US"/>
              <a:t>Minimize disk access time for multiple I/O requests</a:t>
            </a:r>
          </a:p>
          <a:p>
            <a:r>
              <a:rPr lang="en-US"/>
              <a:t>Examples</a:t>
            </a:r>
          </a:p>
          <a:p>
            <a:pPr lvl="1"/>
            <a:r>
              <a:rPr lang="en-US"/>
              <a:t>All algorithms demonstrated with the same pattern of I/O requests and initial position</a:t>
            </a:r>
          </a:p>
          <a:p>
            <a:pPr lvl="2"/>
            <a:r>
              <a:rPr lang="en-US"/>
              <a:t>I/O requests - 82, 170, 43, 61, 24, 16, 190</a:t>
            </a:r>
          </a:p>
          <a:p>
            <a:pPr lvl="2"/>
            <a:r>
              <a:rPr lang="en-US"/>
              <a:t>Initial position - 50</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52</a:t>
            </a:fld>
            <a:endParaRPr lang="en-US" altLang="en-US"/>
          </a:p>
        </p:txBody>
      </p:sp>
    </p:spTree>
    <p:extLst>
      <p:ext uri="{BB962C8B-B14F-4D97-AF65-F5344CB8AC3E}">
        <p14:creationId xmlns:p14="http://schemas.microsoft.com/office/powerpoint/2010/main" val="5357895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Disk scheduling algorithms</a:t>
            </a:r>
          </a:p>
        </p:txBody>
      </p:sp>
      <p:sp>
        <p:nvSpPr>
          <p:cNvPr id="3" name="Content Placeholder 2"/>
          <p:cNvSpPr>
            <a:spLocks noGrp="1"/>
          </p:cNvSpPr>
          <p:nvPr>
            <p:ph idx="1"/>
          </p:nvPr>
        </p:nvSpPr>
        <p:spPr>
          <a:xfrm>
            <a:off x="838200" y="1825625"/>
            <a:ext cx="10515600" cy="1801590"/>
          </a:xfrm>
        </p:spPr>
        <p:txBody>
          <a:bodyPr>
            <a:normAutofit fontScale="92500" lnSpcReduction="20000"/>
          </a:bodyPr>
          <a:lstStyle/>
          <a:p>
            <a:pPr marL="228600" lvl="1">
              <a:spcBef>
                <a:spcPts val="1000"/>
              </a:spcBef>
            </a:pPr>
            <a:r>
              <a:rPr lang="en-US"/>
              <a:t>FCFS (First Come First Served)</a:t>
            </a:r>
          </a:p>
          <a:p>
            <a:pPr lvl="1"/>
            <a:r>
              <a:rPr lang="en-US"/>
              <a:t>Pros</a:t>
            </a:r>
          </a:p>
          <a:p>
            <a:pPr lvl="2"/>
            <a:r>
              <a:rPr lang="en-US"/>
              <a:t>Fair chance for all requests</a:t>
            </a:r>
          </a:p>
          <a:p>
            <a:pPr lvl="2"/>
            <a:r>
              <a:rPr lang="en-US"/>
              <a:t>Simple, good for light load</a:t>
            </a:r>
          </a:p>
          <a:p>
            <a:pPr lvl="1"/>
            <a:r>
              <a:rPr lang="en-US"/>
              <a:t>Cons</a:t>
            </a:r>
          </a:p>
          <a:p>
            <a:pPr lvl="2"/>
            <a:r>
              <a:rPr lang="en-US"/>
              <a:t>No optimization – usually not the best</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6" name="Slide Number Placeholder 5"/>
          <p:cNvSpPr>
            <a:spLocks noGrp="1"/>
          </p:cNvSpPr>
          <p:nvPr>
            <p:ph type="sldNum" sz="quarter" idx="12"/>
          </p:nvPr>
        </p:nvSpPr>
        <p:spPr/>
        <p:txBody>
          <a:bodyPr/>
          <a:lstStyle/>
          <a:p>
            <a:fld id="{F4A1145F-674A-4228-8958-0EA9769F5517}" type="slidenum">
              <a:rPr lang="en-US" altLang="en-US" smtClean="0"/>
              <a:pPr/>
              <a:t>53</a:t>
            </a:fld>
            <a:endParaRPr lang="en-US" altLang="en-US"/>
          </a:p>
        </p:txBody>
      </p:sp>
      <p:cxnSp>
        <p:nvCxnSpPr>
          <p:cNvPr id="5" name="Straight Connector 4"/>
          <p:cNvCxnSpPr>
            <a:stCxn id="23" idx="2"/>
            <a:endCxn id="32" idx="2"/>
          </p:cNvCxnSpPr>
          <p:nvPr/>
        </p:nvCxnSpPr>
        <p:spPr bwMode="auto">
          <a:xfrm>
            <a:off x="2147999" y="4212571"/>
            <a:ext cx="667919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 name="Straight Connector 7"/>
          <p:cNvCxnSpPr/>
          <p:nvPr/>
        </p:nvCxnSpPr>
        <p:spPr bwMode="auto">
          <a:xfrm>
            <a:off x="2147998"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 name="Straight Connector 10"/>
          <p:cNvCxnSpPr/>
          <p:nvPr/>
        </p:nvCxnSpPr>
        <p:spPr bwMode="auto">
          <a:xfrm>
            <a:off x="2500149"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2" name="Straight Connector 11"/>
          <p:cNvCxnSpPr/>
          <p:nvPr/>
        </p:nvCxnSpPr>
        <p:spPr bwMode="auto">
          <a:xfrm>
            <a:off x="2896192"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3" name="Straight Connector 12"/>
          <p:cNvCxnSpPr/>
          <p:nvPr/>
        </p:nvCxnSpPr>
        <p:spPr bwMode="auto">
          <a:xfrm>
            <a:off x="3547220"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4" name="Straight Connector 13"/>
          <p:cNvCxnSpPr/>
          <p:nvPr/>
        </p:nvCxnSpPr>
        <p:spPr bwMode="auto">
          <a:xfrm>
            <a:off x="3870471"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 name="Straight Connector 14"/>
          <p:cNvCxnSpPr/>
          <p:nvPr/>
        </p:nvCxnSpPr>
        <p:spPr bwMode="auto">
          <a:xfrm>
            <a:off x="4366723"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6" name="Straight Connector 15"/>
          <p:cNvCxnSpPr/>
          <p:nvPr/>
        </p:nvCxnSpPr>
        <p:spPr bwMode="auto">
          <a:xfrm>
            <a:off x="5159896"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7" name="Straight Connector 16"/>
          <p:cNvCxnSpPr/>
          <p:nvPr/>
        </p:nvCxnSpPr>
        <p:spPr bwMode="auto">
          <a:xfrm>
            <a:off x="7795634"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8" name="Straight Connector 17"/>
          <p:cNvCxnSpPr/>
          <p:nvPr/>
        </p:nvCxnSpPr>
        <p:spPr bwMode="auto">
          <a:xfrm>
            <a:off x="8361812"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0" name="Straight Connector 19"/>
          <p:cNvCxnSpPr/>
          <p:nvPr/>
        </p:nvCxnSpPr>
        <p:spPr bwMode="auto">
          <a:xfrm>
            <a:off x="8827196"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3" name="TextBox 22"/>
          <p:cNvSpPr txBox="1"/>
          <p:nvPr/>
        </p:nvSpPr>
        <p:spPr>
          <a:xfrm>
            <a:off x="1991545" y="3843239"/>
            <a:ext cx="312906" cy="369332"/>
          </a:xfrm>
          <a:prstGeom prst="rect">
            <a:avLst/>
          </a:prstGeom>
          <a:noFill/>
        </p:spPr>
        <p:txBody>
          <a:bodyPr wrap="none" rtlCol="0">
            <a:spAutoFit/>
          </a:bodyPr>
          <a:lstStyle/>
          <a:p>
            <a:r>
              <a:rPr lang="en-US"/>
              <a:t>0</a:t>
            </a:r>
          </a:p>
        </p:txBody>
      </p:sp>
      <p:sp>
        <p:nvSpPr>
          <p:cNvPr id="24" name="TextBox 23"/>
          <p:cNvSpPr txBox="1"/>
          <p:nvPr/>
        </p:nvSpPr>
        <p:spPr>
          <a:xfrm>
            <a:off x="2279576" y="3843239"/>
            <a:ext cx="441146" cy="369332"/>
          </a:xfrm>
          <a:prstGeom prst="rect">
            <a:avLst/>
          </a:prstGeom>
          <a:noFill/>
        </p:spPr>
        <p:txBody>
          <a:bodyPr wrap="none" rtlCol="0">
            <a:spAutoFit/>
          </a:bodyPr>
          <a:lstStyle/>
          <a:p>
            <a:r>
              <a:rPr lang="en-US"/>
              <a:t>16</a:t>
            </a:r>
          </a:p>
        </p:txBody>
      </p:sp>
      <p:sp>
        <p:nvSpPr>
          <p:cNvPr id="25" name="TextBox 24"/>
          <p:cNvSpPr txBox="1"/>
          <p:nvPr/>
        </p:nvSpPr>
        <p:spPr>
          <a:xfrm>
            <a:off x="3326647" y="3843239"/>
            <a:ext cx="441146" cy="369332"/>
          </a:xfrm>
          <a:prstGeom prst="rect">
            <a:avLst/>
          </a:prstGeom>
          <a:noFill/>
        </p:spPr>
        <p:txBody>
          <a:bodyPr wrap="none" rtlCol="0">
            <a:spAutoFit/>
          </a:bodyPr>
          <a:lstStyle/>
          <a:p>
            <a:r>
              <a:rPr lang="en-US"/>
              <a:t>43</a:t>
            </a:r>
          </a:p>
        </p:txBody>
      </p:sp>
      <p:sp>
        <p:nvSpPr>
          <p:cNvPr id="26" name="TextBox 25"/>
          <p:cNvSpPr txBox="1"/>
          <p:nvPr/>
        </p:nvSpPr>
        <p:spPr>
          <a:xfrm>
            <a:off x="2675619" y="3843239"/>
            <a:ext cx="441146" cy="369332"/>
          </a:xfrm>
          <a:prstGeom prst="rect">
            <a:avLst/>
          </a:prstGeom>
          <a:noFill/>
        </p:spPr>
        <p:txBody>
          <a:bodyPr wrap="none" rtlCol="0">
            <a:spAutoFit/>
          </a:bodyPr>
          <a:lstStyle/>
          <a:p>
            <a:r>
              <a:rPr lang="en-US"/>
              <a:t>24</a:t>
            </a:r>
          </a:p>
        </p:txBody>
      </p:sp>
      <p:sp>
        <p:nvSpPr>
          <p:cNvPr id="27" name="TextBox 26"/>
          <p:cNvSpPr txBox="1"/>
          <p:nvPr/>
        </p:nvSpPr>
        <p:spPr>
          <a:xfrm>
            <a:off x="3649898" y="3843239"/>
            <a:ext cx="441146" cy="369332"/>
          </a:xfrm>
          <a:prstGeom prst="rect">
            <a:avLst/>
          </a:prstGeom>
          <a:noFill/>
        </p:spPr>
        <p:txBody>
          <a:bodyPr wrap="none" rtlCol="0">
            <a:spAutoFit/>
          </a:bodyPr>
          <a:lstStyle/>
          <a:p>
            <a:r>
              <a:rPr lang="en-US"/>
              <a:t>50</a:t>
            </a:r>
          </a:p>
        </p:txBody>
      </p:sp>
      <p:sp>
        <p:nvSpPr>
          <p:cNvPr id="28" name="TextBox 27"/>
          <p:cNvSpPr txBox="1"/>
          <p:nvPr/>
        </p:nvSpPr>
        <p:spPr>
          <a:xfrm>
            <a:off x="4939323" y="3843239"/>
            <a:ext cx="441146" cy="369332"/>
          </a:xfrm>
          <a:prstGeom prst="rect">
            <a:avLst/>
          </a:prstGeom>
          <a:noFill/>
        </p:spPr>
        <p:txBody>
          <a:bodyPr wrap="none" rtlCol="0">
            <a:spAutoFit/>
          </a:bodyPr>
          <a:lstStyle/>
          <a:p>
            <a:r>
              <a:rPr lang="en-US"/>
              <a:t>82</a:t>
            </a:r>
          </a:p>
        </p:txBody>
      </p:sp>
      <p:sp>
        <p:nvSpPr>
          <p:cNvPr id="29" name="TextBox 28"/>
          <p:cNvSpPr txBox="1"/>
          <p:nvPr/>
        </p:nvSpPr>
        <p:spPr>
          <a:xfrm>
            <a:off x="4146150" y="3843239"/>
            <a:ext cx="441146" cy="369332"/>
          </a:xfrm>
          <a:prstGeom prst="rect">
            <a:avLst/>
          </a:prstGeom>
          <a:noFill/>
        </p:spPr>
        <p:txBody>
          <a:bodyPr wrap="none" rtlCol="0">
            <a:spAutoFit/>
          </a:bodyPr>
          <a:lstStyle/>
          <a:p>
            <a:r>
              <a:rPr lang="en-US"/>
              <a:t>61</a:t>
            </a:r>
          </a:p>
        </p:txBody>
      </p:sp>
      <p:sp>
        <p:nvSpPr>
          <p:cNvPr id="30" name="TextBox 29"/>
          <p:cNvSpPr txBox="1"/>
          <p:nvPr/>
        </p:nvSpPr>
        <p:spPr>
          <a:xfrm>
            <a:off x="7510942" y="3843239"/>
            <a:ext cx="569387" cy="369332"/>
          </a:xfrm>
          <a:prstGeom prst="rect">
            <a:avLst/>
          </a:prstGeom>
          <a:noFill/>
        </p:spPr>
        <p:txBody>
          <a:bodyPr wrap="none" rtlCol="0">
            <a:spAutoFit/>
          </a:bodyPr>
          <a:lstStyle/>
          <a:p>
            <a:r>
              <a:rPr lang="en-US"/>
              <a:t>170</a:t>
            </a:r>
          </a:p>
        </p:txBody>
      </p:sp>
      <p:sp>
        <p:nvSpPr>
          <p:cNvPr id="31" name="TextBox 30"/>
          <p:cNvSpPr txBox="1"/>
          <p:nvPr/>
        </p:nvSpPr>
        <p:spPr>
          <a:xfrm>
            <a:off x="8077120" y="3843239"/>
            <a:ext cx="569387" cy="369332"/>
          </a:xfrm>
          <a:prstGeom prst="rect">
            <a:avLst/>
          </a:prstGeom>
          <a:noFill/>
        </p:spPr>
        <p:txBody>
          <a:bodyPr wrap="none" rtlCol="0">
            <a:spAutoFit/>
          </a:bodyPr>
          <a:lstStyle/>
          <a:p>
            <a:r>
              <a:rPr lang="en-US"/>
              <a:t>190</a:t>
            </a:r>
          </a:p>
        </p:txBody>
      </p:sp>
      <p:sp>
        <p:nvSpPr>
          <p:cNvPr id="32" name="TextBox 31"/>
          <p:cNvSpPr txBox="1"/>
          <p:nvPr/>
        </p:nvSpPr>
        <p:spPr>
          <a:xfrm>
            <a:off x="8542504" y="3843239"/>
            <a:ext cx="569387" cy="369332"/>
          </a:xfrm>
          <a:prstGeom prst="rect">
            <a:avLst/>
          </a:prstGeom>
          <a:noFill/>
        </p:spPr>
        <p:txBody>
          <a:bodyPr wrap="none" rtlCol="0">
            <a:spAutoFit/>
          </a:bodyPr>
          <a:lstStyle/>
          <a:p>
            <a:r>
              <a:rPr lang="en-US"/>
              <a:t>199</a:t>
            </a:r>
          </a:p>
        </p:txBody>
      </p:sp>
      <p:cxnSp>
        <p:nvCxnSpPr>
          <p:cNvPr id="36" name="Straight Arrow Connector 35"/>
          <p:cNvCxnSpPr/>
          <p:nvPr/>
        </p:nvCxnSpPr>
        <p:spPr bwMode="auto">
          <a:xfrm>
            <a:off x="3870472" y="4437112"/>
            <a:ext cx="1289425" cy="21602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9" name="Straight Arrow Connector 38"/>
          <p:cNvCxnSpPr/>
          <p:nvPr/>
        </p:nvCxnSpPr>
        <p:spPr bwMode="auto">
          <a:xfrm>
            <a:off x="5159896" y="4653136"/>
            <a:ext cx="2635738" cy="21602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1" name="Straight Arrow Connector 40"/>
          <p:cNvCxnSpPr/>
          <p:nvPr/>
        </p:nvCxnSpPr>
        <p:spPr bwMode="auto">
          <a:xfrm flipH="1">
            <a:off x="3547220" y="4869160"/>
            <a:ext cx="4248414" cy="28803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3" name="Straight Arrow Connector 42"/>
          <p:cNvCxnSpPr/>
          <p:nvPr/>
        </p:nvCxnSpPr>
        <p:spPr bwMode="auto">
          <a:xfrm>
            <a:off x="3547221" y="5157192"/>
            <a:ext cx="819503" cy="21602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5" name="Straight Arrow Connector 44"/>
          <p:cNvCxnSpPr/>
          <p:nvPr/>
        </p:nvCxnSpPr>
        <p:spPr bwMode="auto">
          <a:xfrm flipH="1">
            <a:off x="2896193" y="5373216"/>
            <a:ext cx="1470531" cy="28803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7" name="Straight Arrow Connector 46"/>
          <p:cNvCxnSpPr/>
          <p:nvPr/>
        </p:nvCxnSpPr>
        <p:spPr bwMode="auto">
          <a:xfrm flipH="1">
            <a:off x="2500150" y="5661248"/>
            <a:ext cx="396042" cy="21602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p:cNvCxnSpPr/>
          <p:nvPr/>
        </p:nvCxnSpPr>
        <p:spPr bwMode="auto">
          <a:xfrm>
            <a:off x="2500150" y="5877272"/>
            <a:ext cx="5861663" cy="43204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27502479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Disk scheduling algorithms</a:t>
            </a:r>
          </a:p>
        </p:txBody>
      </p:sp>
      <p:sp>
        <p:nvSpPr>
          <p:cNvPr id="3" name="Content Placeholder 2"/>
          <p:cNvSpPr>
            <a:spLocks noGrp="1"/>
          </p:cNvSpPr>
          <p:nvPr>
            <p:ph idx="1"/>
          </p:nvPr>
        </p:nvSpPr>
        <p:spPr>
          <a:xfrm>
            <a:off x="838200" y="1825625"/>
            <a:ext cx="10515600" cy="1812391"/>
          </a:xfrm>
        </p:spPr>
        <p:txBody>
          <a:bodyPr>
            <a:normAutofit fontScale="92500" lnSpcReduction="20000"/>
          </a:bodyPr>
          <a:lstStyle/>
          <a:p>
            <a:pPr marL="228600" lvl="1">
              <a:spcBef>
                <a:spcPts val="1000"/>
              </a:spcBef>
            </a:pPr>
            <a:r>
              <a:rPr lang="en-US"/>
              <a:t>SSTF (Shortest Seek Time First)</a:t>
            </a:r>
          </a:p>
          <a:p>
            <a:pPr lvl="1"/>
            <a:r>
              <a:rPr lang="en-US"/>
              <a:t>Pros</a:t>
            </a:r>
          </a:p>
          <a:p>
            <a:pPr lvl="2"/>
            <a:r>
              <a:rPr lang="en-US"/>
              <a:t>Average access time decreases</a:t>
            </a:r>
          </a:p>
          <a:p>
            <a:pPr lvl="2"/>
            <a:r>
              <a:rPr lang="en-US"/>
              <a:t>Increased throughput</a:t>
            </a:r>
          </a:p>
          <a:p>
            <a:pPr lvl="1"/>
            <a:r>
              <a:rPr lang="en-US"/>
              <a:t>Cons</a:t>
            </a:r>
          </a:p>
          <a:p>
            <a:pPr lvl="2"/>
            <a:r>
              <a:rPr lang="en-US"/>
              <a:t>Possible starvation for distant requests, when new short seek requests arrive</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7" name="Slide Number Placeholder 6"/>
          <p:cNvSpPr>
            <a:spLocks noGrp="1"/>
          </p:cNvSpPr>
          <p:nvPr>
            <p:ph type="sldNum" sz="quarter" idx="12"/>
          </p:nvPr>
        </p:nvSpPr>
        <p:spPr/>
        <p:txBody>
          <a:bodyPr/>
          <a:lstStyle/>
          <a:p>
            <a:fld id="{F4A1145F-674A-4228-8958-0EA9769F5517}" type="slidenum">
              <a:rPr lang="en-US" altLang="en-US" smtClean="0"/>
              <a:pPr/>
              <a:t>54</a:t>
            </a:fld>
            <a:endParaRPr lang="en-US" altLang="en-US"/>
          </a:p>
        </p:txBody>
      </p:sp>
      <p:cxnSp>
        <p:nvCxnSpPr>
          <p:cNvPr id="5" name="Straight Connector 4"/>
          <p:cNvCxnSpPr>
            <a:stCxn id="23" idx="2"/>
            <a:endCxn id="32" idx="2"/>
          </p:cNvCxnSpPr>
          <p:nvPr/>
        </p:nvCxnSpPr>
        <p:spPr bwMode="auto">
          <a:xfrm>
            <a:off x="2147999" y="4212571"/>
            <a:ext cx="667919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 name="Straight Connector 7"/>
          <p:cNvCxnSpPr/>
          <p:nvPr/>
        </p:nvCxnSpPr>
        <p:spPr bwMode="auto">
          <a:xfrm>
            <a:off x="2147998"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 name="Straight Connector 10"/>
          <p:cNvCxnSpPr/>
          <p:nvPr/>
        </p:nvCxnSpPr>
        <p:spPr bwMode="auto">
          <a:xfrm>
            <a:off x="2500149"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2" name="Straight Connector 11"/>
          <p:cNvCxnSpPr/>
          <p:nvPr/>
        </p:nvCxnSpPr>
        <p:spPr bwMode="auto">
          <a:xfrm>
            <a:off x="2896192"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3" name="Straight Connector 12"/>
          <p:cNvCxnSpPr/>
          <p:nvPr/>
        </p:nvCxnSpPr>
        <p:spPr bwMode="auto">
          <a:xfrm>
            <a:off x="3547220"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4" name="Straight Connector 13"/>
          <p:cNvCxnSpPr/>
          <p:nvPr/>
        </p:nvCxnSpPr>
        <p:spPr bwMode="auto">
          <a:xfrm>
            <a:off x="3870471"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 name="Straight Connector 14"/>
          <p:cNvCxnSpPr/>
          <p:nvPr/>
        </p:nvCxnSpPr>
        <p:spPr bwMode="auto">
          <a:xfrm>
            <a:off x="4366723"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6" name="Straight Connector 15"/>
          <p:cNvCxnSpPr/>
          <p:nvPr/>
        </p:nvCxnSpPr>
        <p:spPr bwMode="auto">
          <a:xfrm>
            <a:off x="5159896"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7" name="Straight Connector 16"/>
          <p:cNvCxnSpPr/>
          <p:nvPr/>
        </p:nvCxnSpPr>
        <p:spPr bwMode="auto">
          <a:xfrm>
            <a:off x="7795634"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8" name="Straight Connector 17"/>
          <p:cNvCxnSpPr/>
          <p:nvPr/>
        </p:nvCxnSpPr>
        <p:spPr bwMode="auto">
          <a:xfrm>
            <a:off x="8361812"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0" name="Straight Connector 19"/>
          <p:cNvCxnSpPr/>
          <p:nvPr/>
        </p:nvCxnSpPr>
        <p:spPr bwMode="auto">
          <a:xfrm>
            <a:off x="8827196"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3" name="TextBox 22"/>
          <p:cNvSpPr txBox="1"/>
          <p:nvPr/>
        </p:nvSpPr>
        <p:spPr>
          <a:xfrm>
            <a:off x="1991545" y="3843239"/>
            <a:ext cx="312906" cy="369332"/>
          </a:xfrm>
          <a:prstGeom prst="rect">
            <a:avLst/>
          </a:prstGeom>
          <a:noFill/>
        </p:spPr>
        <p:txBody>
          <a:bodyPr wrap="none" rtlCol="0">
            <a:spAutoFit/>
          </a:bodyPr>
          <a:lstStyle/>
          <a:p>
            <a:r>
              <a:rPr lang="en-US"/>
              <a:t>0</a:t>
            </a:r>
          </a:p>
        </p:txBody>
      </p:sp>
      <p:sp>
        <p:nvSpPr>
          <p:cNvPr id="24" name="TextBox 23"/>
          <p:cNvSpPr txBox="1"/>
          <p:nvPr/>
        </p:nvSpPr>
        <p:spPr>
          <a:xfrm>
            <a:off x="2279576" y="3843239"/>
            <a:ext cx="441146" cy="369332"/>
          </a:xfrm>
          <a:prstGeom prst="rect">
            <a:avLst/>
          </a:prstGeom>
          <a:noFill/>
        </p:spPr>
        <p:txBody>
          <a:bodyPr wrap="none" rtlCol="0">
            <a:spAutoFit/>
          </a:bodyPr>
          <a:lstStyle/>
          <a:p>
            <a:r>
              <a:rPr lang="en-US"/>
              <a:t>16</a:t>
            </a:r>
          </a:p>
        </p:txBody>
      </p:sp>
      <p:sp>
        <p:nvSpPr>
          <p:cNvPr id="25" name="TextBox 24"/>
          <p:cNvSpPr txBox="1"/>
          <p:nvPr/>
        </p:nvSpPr>
        <p:spPr>
          <a:xfrm>
            <a:off x="3326647" y="3843239"/>
            <a:ext cx="441146" cy="369332"/>
          </a:xfrm>
          <a:prstGeom prst="rect">
            <a:avLst/>
          </a:prstGeom>
          <a:noFill/>
        </p:spPr>
        <p:txBody>
          <a:bodyPr wrap="none" rtlCol="0">
            <a:spAutoFit/>
          </a:bodyPr>
          <a:lstStyle/>
          <a:p>
            <a:r>
              <a:rPr lang="en-US"/>
              <a:t>43</a:t>
            </a:r>
          </a:p>
        </p:txBody>
      </p:sp>
      <p:sp>
        <p:nvSpPr>
          <p:cNvPr id="26" name="TextBox 25"/>
          <p:cNvSpPr txBox="1"/>
          <p:nvPr/>
        </p:nvSpPr>
        <p:spPr>
          <a:xfrm>
            <a:off x="2675619" y="3843239"/>
            <a:ext cx="441146" cy="369332"/>
          </a:xfrm>
          <a:prstGeom prst="rect">
            <a:avLst/>
          </a:prstGeom>
          <a:noFill/>
        </p:spPr>
        <p:txBody>
          <a:bodyPr wrap="none" rtlCol="0">
            <a:spAutoFit/>
          </a:bodyPr>
          <a:lstStyle/>
          <a:p>
            <a:r>
              <a:rPr lang="en-US"/>
              <a:t>24</a:t>
            </a:r>
          </a:p>
        </p:txBody>
      </p:sp>
      <p:sp>
        <p:nvSpPr>
          <p:cNvPr id="27" name="TextBox 26"/>
          <p:cNvSpPr txBox="1"/>
          <p:nvPr/>
        </p:nvSpPr>
        <p:spPr>
          <a:xfrm>
            <a:off x="3649898" y="3843239"/>
            <a:ext cx="441146" cy="369332"/>
          </a:xfrm>
          <a:prstGeom prst="rect">
            <a:avLst/>
          </a:prstGeom>
          <a:noFill/>
        </p:spPr>
        <p:txBody>
          <a:bodyPr wrap="none" rtlCol="0">
            <a:spAutoFit/>
          </a:bodyPr>
          <a:lstStyle/>
          <a:p>
            <a:r>
              <a:rPr lang="en-US"/>
              <a:t>50</a:t>
            </a:r>
          </a:p>
        </p:txBody>
      </p:sp>
      <p:sp>
        <p:nvSpPr>
          <p:cNvPr id="28" name="TextBox 27"/>
          <p:cNvSpPr txBox="1"/>
          <p:nvPr/>
        </p:nvSpPr>
        <p:spPr>
          <a:xfrm>
            <a:off x="4939323" y="3843239"/>
            <a:ext cx="441146" cy="369332"/>
          </a:xfrm>
          <a:prstGeom prst="rect">
            <a:avLst/>
          </a:prstGeom>
          <a:noFill/>
        </p:spPr>
        <p:txBody>
          <a:bodyPr wrap="none" rtlCol="0">
            <a:spAutoFit/>
          </a:bodyPr>
          <a:lstStyle/>
          <a:p>
            <a:r>
              <a:rPr lang="en-US"/>
              <a:t>82</a:t>
            </a:r>
          </a:p>
        </p:txBody>
      </p:sp>
      <p:sp>
        <p:nvSpPr>
          <p:cNvPr id="29" name="TextBox 28"/>
          <p:cNvSpPr txBox="1"/>
          <p:nvPr/>
        </p:nvSpPr>
        <p:spPr>
          <a:xfrm>
            <a:off x="4146150" y="3843239"/>
            <a:ext cx="441146" cy="369332"/>
          </a:xfrm>
          <a:prstGeom prst="rect">
            <a:avLst/>
          </a:prstGeom>
          <a:noFill/>
        </p:spPr>
        <p:txBody>
          <a:bodyPr wrap="none" rtlCol="0">
            <a:spAutoFit/>
          </a:bodyPr>
          <a:lstStyle/>
          <a:p>
            <a:r>
              <a:rPr lang="en-US"/>
              <a:t>61</a:t>
            </a:r>
          </a:p>
        </p:txBody>
      </p:sp>
      <p:sp>
        <p:nvSpPr>
          <p:cNvPr id="30" name="TextBox 29"/>
          <p:cNvSpPr txBox="1"/>
          <p:nvPr/>
        </p:nvSpPr>
        <p:spPr>
          <a:xfrm>
            <a:off x="7510942" y="3843239"/>
            <a:ext cx="569387" cy="369332"/>
          </a:xfrm>
          <a:prstGeom prst="rect">
            <a:avLst/>
          </a:prstGeom>
          <a:noFill/>
        </p:spPr>
        <p:txBody>
          <a:bodyPr wrap="none" rtlCol="0">
            <a:spAutoFit/>
          </a:bodyPr>
          <a:lstStyle/>
          <a:p>
            <a:r>
              <a:rPr lang="en-US"/>
              <a:t>170</a:t>
            </a:r>
          </a:p>
        </p:txBody>
      </p:sp>
      <p:sp>
        <p:nvSpPr>
          <p:cNvPr id="31" name="TextBox 30"/>
          <p:cNvSpPr txBox="1"/>
          <p:nvPr/>
        </p:nvSpPr>
        <p:spPr>
          <a:xfrm>
            <a:off x="8077120" y="3843239"/>
            <a:ext cx="569387" cy="369332"/>
          </a:xfrm>
          <a:prstGeom prst="rect">
            <a:avLst/>
          </a:prstGeom>
          <a:noFill/>
        </p:spPr>
        <p:txBody>
          <a:bodyPr wrap="none" rtlCol="0">
            <a:spAutoFit/>
          </a:bodyPr>
          <a:lstStyle/>
          <a:p>
            <a:r>
              <a:rPr lang="en-US"/>
              <a:t>190</a:t>
            </a:r>
          </a:p>
        </p:txBody>
      </p:sp>
      <p:sp>
        <p:nvSpPr>
          <p:cNvPr id="32" name="TextBox 31"/>
          <p:cNvSpPr txBox="1"/>
          <p:nvPr/>
        </p:nvSpPr>
        <p:spPr>
          <a:xfrm>
            <a:off x="8542504" y="3843239"/>
            <a:ext cx="569387" cy="369332"/>
          </a:xfrm>
          <a:prstGeom prst="rect">
            <a:avLst/>
          </a:prstGeom>
          <a:noFill/>
        </p:spPr>
        <p:txBody>
          <a:bodyPr wrap="none" rtlCol="0">
            <a:spAutoFit/>
          </a:bodyPr>
          <a:lstStyle/>
          <a:p>
            <a:r>
              <a:rPr lang="en-US"/>
              <a:t>199</a:t>
            </a:r>
          </a:p>
        </p:txBody>
      </p:sp>
      <p:cxnSp>
        <p:nvCxnSpPr>
          <p:cNvPr id="6" name="Straight Arrow Connector 5"/>
          <p:cNvCxnSpPr/>
          <p:nvPr/>
        </p:nvCxnSpPr>
        <p:spPr bwMode="auto">
          <a:xfrm flipH="1">
            <a:off x="3547221" y="4437112"/>
            <a:ext cx="323251" cy="1440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 name="Straight Arrow Connector 8"/>
          <p:cNvCxnSpPr/>
          <p:nvPr/>
        </p:nvCxnSpPr>
        <p:spPr bwMode="auto">
          <a:xfrm>
            <a:off x="3547221" y="4581128"/>
            <a:ext cx="819503" cy="1440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9" name="Straight Arrow Connector 18"/>
          <p:cNvCxnSpPr/>
          <p:nvPr/>
        </p:nvCxnSpPr>
        <p:spPr bwMode="auto">
          <a:xfrm>
            <a:off x="4366724" y="4725144"/>
            <a:ext cx="793173" cy="1440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2" name="Straight Arrow Connector 21"/>
          <p:cNvCxnSpPr/>
          <p:nvPr/>
        </p:nvCxnSpPr>
        <p:spPr bwMode="auto">
          <a:xfrm flipH="1">
            <a:off x="2896192" y="4869160"/>
            <a:ext cx="2263704" cy="28803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4" name="Straight Arrow Connector 33"/>
          <p:cNvCxnSpPr/>
          <p:nvPr/>
        </p:nvCxnSpPr>
        <p:spPr bwMode="auto">
          <a:xfrm flipH="1">
            <a:off x="2500149" y="5157192"/>
            <a:ext cx="396044" cy="21602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0" name="Straight Arrow Connector 39"/>
          <p:cNvCxnSpPr/>
          <p:nvPr/>
        </p:nvCxnSpPr>
        <p:spPr bwMode="auto">
          <a:xfrm>
            <a:off x="2500150" y="5373216"/>
            <a:ext cx="5295485" cy="43204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4" name="Straight Arrow Connector 43"/>
          <p:cNvCxnSpPr/>
          <p:nvPr/>
        </p:nvCxnSpPr>
        <p:spPr bwMode="auto">
          <a:xfrm>
            <a:off x="7795634" y="5805264"/>
            <a:ext cx="566178" cy="1440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41888315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Disk scheduling algorithms</a:t>
            </a:r>
          </a:p>
        </p:txBody>
      </p:sp>
      <p:sp>
        <p:nvSpPr>
          <p:cNvPr id="3" name="Content Placeholder 2"/>
          <p:cNvSpPr>
            <a:spLocks noGrp="1"/>
          </p:cNvSpPr>
          <p:nvPr>
            <p:ph idx="1"/>
          </p:nvPr>
        </p:nvSpPr>
        <p:spPr>
          <a:xfrm>
            <a:off x="838200" y="1825625"/>
            <a:ext cx="10515600" cy="2051884"/>
          </a:xfrm>
        </p:spPr>
        <p:txBody>
          <a:bodyPr>
            <a:normAutofit fontScale="85000" lnSpcReduction="20000"/>
          </a:bodyPr>
          <a:lstStyle/>
          <a:p>
            <a:r>
              <a:rPr lang="en-US" dirty="0"/>
              <a:t>SCAN (a.k.a. Elevator algorithm)</a:t>
            </a:r>
          </a:p>
          <a:p>
            <a:pPr lvl="1"/>
            <a:r>
              <a:rPr lang="en-US" dirty="0"/>
              <a:t>Keeps direction (as long as request exists)</a:t>
            </a:r>
          </a:p>
          <a:p>
            <a:pPr lvl="1"/>
            <a:r>
              <a:rPr lang="en-US" dirty="0"/>
              <a:t>Pros</a:t>
            </a:r>
          </a:p>
          <a:p>
            <a:pPr lvl="2"/>
            <a:r>
              <a:rPr lang="en-US" dirty="0"/>
              <a:t>High throughput – good for heavy loads</a:t>
            </a:r>
          </a:p>
          <a:p>
            <a:pPr lvl="2"/>
            <a:r>
              <a:rPr lang="en-US" dirty="0"/>
              <a:t>Low variance in access time</a:t>
            </a:r>
          </a:p>
          <a:p>
            <a:pPr lvl="1"/>
            <a:r>
              <a:rPr lang="en-US" dirty="0"/>
              <a:t>Cons</a:t>
            </a:r>
          </a:p>
          <a:p>
            <a:pPr lvl="2"/>
            <a:r>
              <a:rPr lang="en-US" dirty="0"/>
              <a:t>Long waiting times for new requests just visited by the arm</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7" name="Slide Number Placeholder 6"/>
          <p:cNvSpPr>
            <a:spLocks noGrp="1"/>
          </p:cNvSpPr>
          <p:nvPr>
            <p:ph type="sldNum" sz="quarter" idx="12"/>
          </p:nvPr>
        </p:nvSpPr>
        <p:spPr/>
        <p:txBody>
          <a:bodyPr/>
          <a:lstStyle/>
          <a:p>
            <a:fld id="{F4A1145F-674A-4228-8958-0EA9769F5517}" type="slidenum">
              <a:rPr lang="en-US" altLang="en-US" smtClean="0"/>
              <a:pPr/>
              <a:t>55</a:t>
            </a:fld>
            <a:endParaRPr lang="en-US" altLang="en-US"/>
          </a:p>
        </p:txBody>
      </p:sp>
      <p:cxnSp>
        <p:nvCxnSpPr>
          <p:cNvPr id="5" name="Straight Connector 4"/>
          <p:cNvCxnSpPr>
            <a:stCxn id="23" idx="2"/>
            <a:endCxn id="32" idx="2"/>
          </p:cNvCxnSpPr>
          <p:nvPr/>
        </p:nvCxnSpPr>
        <p:spPr bwMode="auto">
          <a:xfrm>
            <a:off x="2147999" y="4212571"/>
            <a:ext cx="667919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 name="Straight Connector 7"/>
          <p:cNvCxnSpPr/>
          <p:nvPr/>
        </p:nvCxnSpPr>
        <p:spPr bwMode="auto">
          <a:xfrm>
            <a:off x="2147998"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 name="Straight Connector 10"/>
          <p:cNvCxnSpPr/>
          <p:nvPr/>
        </p:nvCxnSpPr>
        <p:spPr bwMode="auto">
          <a:xfrm>
            <a:off x="2500149"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2" name="Straight Connector 11"/>
          <p:cNvCxnSpPr/>
          <p:nvPr/>
        </p:nvCxnSpPr>
        <p:spPr bwMode="auto">
          <a:xfrm>
            <a:off x="2896192"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3" name="Straight Connector 12"/>
          <p:cNvCxnSpPr/>
          <p:nvPr/>
        </p:nvCxnSpPr>
        <p:spPr bwMode="auto">
          <a:xfrm>
            <a:off x="3547220"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4" name="Straight Connector 13"/>
          <p:cNvCxnSpPr/>
          <p:nvPr/>
        </p:nvCxnSpPr>
        <p:spPr bwMode="auto">
          <a:xfrm>
            <a:off x="3870471"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 name="Straight Connector 14"/>
          <p:cNvCxnSpPr/>
          <p:nvPr/>
        </p:nvCxnSpPr>
        <p:spPr bwMode="auto">
          <a:xfrm>
            <a:off x="4366723"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6" name="Straight Connector 15"/>
          <p:cNvCxnSpPr/>
          <p:nvPr/>
        </p:nvCxnSpPr>
        <p:spPr bwMode="auto">
          <a:xfrm>
            <a:off x="5159896"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7" name="Straight Connector 16"/>
          <p:cNvCxnSpPr/>
          <p:nvPr/>
        </p:nvCxnSpPr>
        <p:spPr bwMode="auto">
          <a:xfrm>
            <a:off x="7795634"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8" name="Straight Connector 17"/>
          <p:cNvCxnSpPr/>
          <p:nvPr/>
        </p:nvCxnSpPr>
        <p:spPr bwMode="auto">
          <a:xfrm>
            <a:off x="8361812"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0" name="Straight Connector 19"/>
          <p:cNvCxnSpPr/>
          <p:nvPr/>
        </p:nvCxnSpPr>
        <p:spPr bwMode="auto">
          <a:xfrm>
            <a:off x="8827196"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3" name="TextBox 22"/>
          <p:cNvSpPr txBox="1"/>
          <p:nvPr/>
        </p:nvSpPr>
        <p:spPr>
          <a:xfrm>
            <a:off x="1991545" y="3843239"/>
            <a:ext cx="312906" cy="369332"/>
          </a:xfrm>
          <a:prstGeom prst="rect">
            <a:avLst/>
          </a:prstGeom>
          <a:noFill/>
        </p:spPr>
        <p:txBody>
          <a:bodyPr wrap="none" rtlCol="0">
            <a:spAutoFit/>
          </a:bodyPr>
          <a:lstStyle/>
          <a:p>
            <a:r>
              <a:rPr lang="en-US"/>
              <a:t>0</a:t>
            </a:r>
          </a:p>
        </p:txBody>
      </p:sp>
      <p:sp>
        <p:nvSpPr>
          <p:cNvPr id="24" name="TextBox 23"/>
          <p:cNvSpPr txBox="1"/>
          <p:nvPr/>
        </p:nvSpPr>
        <p:spPr>
          <a:xfrm>
            <a:off x="2279576" y="3843239"/>
            <a:ext cx="441146" cy="369332"/>
          </a:xfrm>
          <a:prstGeom prst="rect">
            <a:avLst/>
          </a:prstGeom>
          <a:noFill/>
        </p:spPr>
        <p:txBody>
          <a:bodyPr wrap="none" rtlCol="0">
            <a:spAutoFit/>
          </a:bodyPr>
          <a:lstStyle/>
          <a:p>
            <a:r>
              <a:rPr lang="en-US"/>
              <a:t>16</a:t>
            </a:r>
          </a:p>
        </p:txBody>
      </p:sp>
      <p:sp>
        <p:nvSpPr>
          <p:cNvPr id="25" name="TextBox 24"/>
          <p:cNvSpPr txBox="1"/>
          <p:nvPr/>
        </p:nvSpPr>
        <p:spPr>
          <a:xfrm>
            <a:off x="3326647" y="3843239"/>
            <a:ext cx="441146" cy="369332"/>
          </a:xfrm>
          <a:prstGeom prst="rect">
            <a:avLst/>
          </a:prstGeom>
          <a:noFill/>
        </p:spPr>
        <p:txBody>
          <a:bodyPr wrap="none" rtlCol="0">
            <a:spAutoFit/>
          </a:bodyPr>
          <a:lstStyle/>
          <a:p>
            <a:r>
              <a:rPr lang="en-US"/>
              <a:t>43</a:t>
            </a:r>
          </a:p>
        </p:txBody>
      </p:sp>
      <p:sp>
        <p:nvSpPr>
          <p:cNvPr id="26" name="TextBox 25"/>
          <p:cNvSpPr txBox="1"/>
          <p:nvPr/>
        </p:nvSpPr>
        <p:spPr>
          <a:xfrm>
            <a:off x="2675619" y="3843239"/>
            <a:ext cx="441146" cy="369332"/>
          </a:xfrm>
          <a:prstGeom prst="rect">
            <a:avLst/>
          </a:prstGeom>
          <a:noFill/>
        </p:spPr>
        <p:txBody>
          <a:bodyPr wrap="none" rtlCol="0">
            <a:spAutoFit/>
          </a:bodyPr>
          <a:lstStyle/>
          <a:p>
            <a:r>
              <a:rPr lang="en-US"/>
              <a:t>24</a:t>
            </a:r>
          </a:p>
        </p:txBody>
      </p:sp>
      <p:sp>
        <p:nvSpPr>
          <p:cNvPr id="27" name="TextBox 26"/>
          <p:cNvSpPr txBox="1"/>
          <p:nvPr/>
        </p:nvSpPr>
        <p:spPr>
          <a:xfrm>
            <a:off x="3649898" y="3843239"/>
            <a:ext cx="441146" cy="369332"/>
          </a:xfrm>
          <a:prstGeom prst="rect">
            <a:avLst/>
          </a:prstGeom>
          <a:noFill/>
        </p:spPr>
        <p:txBody>
          <a:bodyPr wrap="none" rtlCol="0">
            <a:spAutoFit/>
          </a:bodyPr>
          <a:lstStyle/>
          <a:p>
            <a:r>
              <a:rPr lang="en-US"/>
              <a:t>50</a:t>
            </a:r>
          </a:p>
        </p:txBody>
      </p:sp>
      <p:sp>
        <p:nvSpPr>
          <p:cNvPr id="28" name="TextBox 27"/>
          <p:cNvSpPr txBox="1"/>
          <p:nvPr/>
        </p:nvSpPr>
        <p:spPr>
          <a:xfrm>
            <a:off x="4939323" y="3843239"/>
            <a:ext cx="441146" cy="369332"/>
          </a:xfrm>
          <a:prstGeom prst="rect">
            <a:avLst/>
          </a:prstGeom>
          <a:noFill/>
        </p:spPr>
        <p:txBody>
          <a:bodyPr wrap="none" rtlCol="0">
            <a:spAutoFit/>
          </a:bodyPr>
          <a:lstStyle/>
          <a:p>
            <a:r>
              <a:rPr lang="en-US"/>
              <a:t>82</a:t>
            </a:r>
          </a:p>
        </p:txBody>
      </p:sp>
      <p:sp>
        <p:nvSpPr>
          <p:cNvPr id="29" name="TextBox 28"/>
          <p:cNvSpPr txBox="1"/>
          <p:nvPr/>
        </p:nvSpPr>
        <p:spPr>
          <a:xfrm>
            <a:off x="4146150" y="3843239"/>
            <a:ext cx="441146" cy="369332"/>
          </a:xfrm>
          <a:prstGeom prst="rect">
            <a:avLst/>
          </a:prstGeom>
          <a:noFill/>
        </p:spPr>
        <p:txBody>
          <a:bodyPr wrap="none" rtlCol="0">
            <a:spAutoFit/>
          </a:bodyPr>
          <a:lstStyle/>
          <a:p>
            <a:r>
              <a:rPr lang="en-US"/>
              <a:t>61</a:t>
            </a:r>
          </a:p>
        </p:txBody>
      </p:sp>
      <p:sp>
        <p:nvSpPr>
          <p:cNvPr id="30" name="TextBox 29"/>
          <p:cNvSpPr txBox="1"/>
          <p:nvPr/>
        </p:nvSpPr>
        <p:spPr>
          <a:xfrm>
            <a:off x="7510942" y="3843239"/>
            <a:ext cx="569387" cy="369332"/>
          </a:xfrm>
          <a:prstGeom prst="rect">
            <a:avLst/>
          </a:prstGeom>
          <a:noFill/>
        </p:spPr>
        <p:txBody>
          <a:bodyPr wrap="none" rtlCol="0">
            <a:spAutoFit/>
          </a:bodyPr>
          <a:lstStyle/>
          <a:p>
            <a:r>
              <a:rPr lang="en-US"/>
              <a:t>170</a:t>
            </a:r>
          </a:p>
        </p:txBody>
      </p:sp>
      <p:sp>
        <p:nvSpPr>
          <p:cNvPr id="31" name="TextBox 30"/>
          <p:cNvSpPr txBox="1"/>
          <p:nvPr/>
        </p:nvSpPr>
        <p:spPr>
          <a:xfrm>
            <a:off x="8077120" y="3843239"/>
            <a:ext cx="569387" cy="369332"/>
          </a:xfrm>
          <a:prstGeom prst="rect">
            <a:avLst/>
          </a:prstGeom>
          <a:noFill/>
        </p:spPr>
        <p:txBody>
          <a:bodyPr wrap="none" rtlCol="0">
            <a:spAutoFit/>
          </a:bodyPr>
          <a:lstStyle/>
          <a:p>
            <a:r>
              <a:rPr lang="en-US"/>
              <a:t>190</a:t>
            </a:r>
          </a:p>
        </p:txBody>
      </p:sp>
      <p:sp>
        <p:nvSpPr>
          <p:cNvPr id="32" name="TextBox 31"/>
          <p:cNvSpPr txBox="1"/>
          <p:nvPr/>
        </p:nvSpPr>
        <p:spPr>
          <a:xfrm>
            <a:off x="8542504" y="3843239"/>
            <a:ext cx="569387" cy="369332"/>
          </a:xfrm>
          <a:prstGeom prst="rect">
            <a:avLst/>
          </a:prstGeom>
          <a:noFill/>
        </p:spPr>
        <p:txBody>
          <a:bodyPr wrap="none" rtlCol="0">
            <a:spAutoFit/>
          </a:bodyPr>
          <a:lstStyle/>
          <a:p>
            <a:r>
              <a:rPr lang="en-US"/>
              <a:t>199</a:t>
            </a:r>
          </a:p>
        </p:txBody>
      </p:sp>
      <p:cxnSp>
        <p:nvCxnSpPr>
          <p:cNvPr id="6" name="Straight Arrow Connector 5"/>
          <p:cNvCxnSpPr/>
          <p:nvPr/>
        </p:nvCxnSpPr>
        <p:spPr bwMode="auto">
          <a:xfrm>
            <a:off x="3870472" y="4509120"/>
            <a:ext cx="569345" cy="1440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 name="Straight Arrow Connector 8"/>
          <p:cNvCxnSpPr/>
          <p:nvPr/>
        </p:nvCxnSpPr>
        <p:spPr bwMode="auto">
          <a:xfrm>
            <a:off x="4439816" y="4653136"/>
            <a:ext cx="792088" cy="1440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9" name="Straight Arrow Connector 18"/>
          <p:cNvCxnSpPr/>
          <p:nvPr/>
        </p:nvCxnSpPr>
        <p:spPr bwMode="auto">
          <a:xfrm>
            <a:off x="5159896" y="4797152"/>
            <a:ext cx="2635738" cy="21602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2" name="Straight Arrow Connector 21"/>
          <p:cNvCxnSpPr/>
          <p:nvPr/>
        </p:nvCxnSpPr>
        <p:spPr bwMode="auto">
          <a:xfrm>
            <a:off x="7795634" y="5013176"/>
            <a:ext cx="566178" cy="7200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4" name="Straight Arrow Connector 33"/>
          <p:cNvCxnSpPr/>
          <p:nvPr/>
        </p:nvCxnSpPr>
        <p:spPr bwMode="auto">
          <a:xfrm>
            <a:off x="8361812" y="5085184"/>
            <a:ext cx="465384" cy="7200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0" name="Straight Arrow Connector 39"/>
          <p:cNvCxnSpPr/>
          <p:nvPr/>
        </p:nvCxnSpPr>
        <p:spPr bwMode="auto">
          <a:xfrm flipH="1">
            <a:off x="3547220" y="5157192"/>
            <a:ext cx="5279976" cy="43204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6" name="Straight Arrow Connector 45"/>
          <p:cNvCxnSpPr/>
          <p:nvPr/>
        </p:nvCxnSpPr>
        <p:spPr bwMode="auto">
          <a:xfrm flipH="1">
            <a:off x="2896192" y="5589240"/>
            <a:ext cx="651028" cy="1440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9" name="Straight Arrow Connector 48"/>
          <p:cNvCxnSpPr/>
          <p:nvPr/>
        </p:nvCxnSpPr>
        <p:spPr bwMode="auto">
          <a:xfrm flipH="1">
            <a:off x="2500150" y="5733256"/>
            <a:ext cx="396042" cy="1440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3" name="Straight Arrow Connector 52"/>
          <p:cNvCxnSpPr/>
          <p:nvPr/>
        </p:nvCxnSpPr>
        <p:spPr bwMode="auto">
          <a:xfrm flipH="1">
            <a:off x="2147999" y="5877272"/>
            <a:ext cx="352151" cy="1440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10912172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Disk scheduling algorithms</a:t>
            </a:r>
          </a:p>
        </p:txBody>
      </p:sp>
      <p:sp>
        <p:nvSpPr>
          <p:cNvPr id="3" name="Content Placeholder 2"/>
          <p:cNvSpPr>
            <a:spLocks noGrp="1"/>
          </p:cNvSpPr>
          <p:nvPr>
            <p:ph idx="1"/>
          </p:nvPr>
        </p:nvSpPr>
        <p:spPr/>
        <p:txBody>
          <a:bodyPr>
            <a:normAutofit/>
          </a:bodyPr>
          <a:lstStyle/>
          <a:p>
            <a:r>
              <a:rPr lang="en-US"/>
              <a:t>CSCAN</a:t>
            </a:r>
          </a:p>
          <a:p>
            <a:pPr lvl="1"/>
            <a:r>
              <a:rPr lang="en-US"/>
              <a:t>Circular SCAN</a:t>
            </a:r>
          </a:p>
          <a:p>
            <a:pPr lvl="1"/>
            <a:r>
              <a:rPr lang="en-US"/>
              <a:t>Pros</a:t>
            </a:r>
          </a:p>
          <a:p>
            <a:pPr lvl="2"/>
            <a:r>
              <a:rPr lang="en-US"/>
              <a:t>More uniform time compared to SCAN</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6" name="Slide Number Placeholder 5"/>
          <p:cNvSpPr>
            <a:spLocks noGrp="1"/>
          </p:cNvSpPr>
          <p:nvPr>
            <p:ph type="sldNum" sz="quarter" idx="12"/>
          </p:nvPr>
        </p:nvSpPr>
        <p:spPr/>
        <p:txBody>
          <a:bodyPr/>
          <a:lstStyle/>
          <a:p>
            <a:fld id="{F4A1145F-674A-4228-8958-0EA9769F5517}" type="slidenum">
              <a:rPr lang="en-US" altLang="en-US" smtClean="0"/>
              <a:pPr/>
              <a:t>56</a:t>
            </a:fld>
            <a:endParaRPr lang="en-US" altLang="en-US"/>
          </a:p>
        </p:txBody>
      </p:sp>
      <p:cxnSp>
        <p:nvCxnSpPr>
          <p:cNvPr id="5" name="Straight Connector 4"/>
          <p:cNvCxnSpPr>
            <a:stCxn id="23" idx="2"/>
            <a:endCxn id="32" idx="2"/>
          </p:cNvCxnSpPr>
          <p:nvPr/>
        </p:nvCxnSpPr>
        <p:spPr bwMode="auto">
          <a:xfrm>
            <a:off x="2147999" y="4212571"/>
            <a:ext cx="667919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 name="Straight Connector 7"/>
          <p:cNvCxnSpPr/>
          <p:nvPr/>
        </p:nvCxnSpPr>
        <p:spPr bwMode="auto">
          <a:xfrm>
            <a:off x="2147998"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 name="Straight Connector 10"/>
          <p:cNvCxnSpPr/>
          <p:nvPr/>
        </p:nvCxnSpPr>
        <p:spPr bwMode="auto">
          <a:xfrm>
            <a:off x="2500149"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2" name="Straight Connector 11"/>
          <p:cNvCxnSpPr/>
          <p:nvPr/>
        </p:nvCxnSpPr>
        <p:spPr bwMode="auto">
          <a:xfrm>
            <a:off x="2896192"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3" name="Straight Connector 12"/>
          <p:cNvCxnSpPr/>
          <p:nvPr/>
        </p:nvCxnSpPr>
        <p:spPr bwMode="auto">
          <a:xfrm>
            <a:off x="3547220"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4" name="Straight Connector 13"/>
          <p:cNvCxnSpPr/>
          <p:nvPr/>
        </p:nvCxnSpPr>
        <p:spPr bwMode="auto">
          <a:xfrm>
            <a:off x="3870471"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 name="Straight Connector 14"/>
          <p:cNvCxnSpPr/>
          <p:nvPr/>
        </p:nvCxnSpPr>
        <p:spPr bwMode="auto">
          <a:xfrm>
            <a:off x="4366723"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6" name="Straight Connector 15"/>
          <p:cNvCxnSpPr/>
          <p:nvPr/>
        </p:nvCxnSpPr>
        <p:spPr bwMode="auto">
          <a:xfrm>
            <a:off x="5159896"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7" name="Straight Connector 16"/>
          <p:cNvCxnSpPr/>
          <p:nvPr/>
        </p:nvCxnSpPr>
        <p:spPr bwMode="auto">
          <a:xfrm>
            <a:off x="7795634"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8" name="Straight Connector 17"/>
          <p:cNvCxnSpPr/>
          <p:nvPr/>
        </p:nvCxnSpPr>
        <p:spPr bwMode="auto">
          <a:xfrm>
            <a:off x="8361812"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0" name="Straight Connector 19"/>
          <p:cNvCxnSpPr/>
          <p:nvPr/>
        </p:nvCxnSpPr>
        <p:spPr bwMode="auto">
          <a:xfrm>
            <a:off x="8827196"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3" name="TextBox 22"/>
          <p:cNvSpPr txBox="1"/>
          <p:nvPr/>
        </p:nvSpPr>
        <p:spPr>
          <a:xfrm>
            <a:off x="1991545" y="3843239"/>
            <a:ext cx="312906" cy="369332"/>
          </a:xfrm>
          <a:prstGeom prst="rect">
            <a:avLst/>
          </a:prstGeom>
          <a:noFill/>
        </p:spPr>
        <p:txBody>
          <a:bodyPr wrap="none" rtlCol="0">
            <a:spAutoFit/>
          </a:bodyPr>
          <a:lstStyle/>
          <a:p>
            <a:r>
              <a:rPr lang="en-US"/>
              <a:t>0</a:t>
            </a:r>
          </a:p>
        </p:txBody>
      </p:sp>
      <p:sp>
        <p:nvSpPr>
          <p:cNvPr id="24" name="TextBox 23"/>
          <p:cNvSpPr txBox="1"/>
          <p:nvPr/>
        </p:nvSpPr>
        <p:spPr>
          <a:xfrm>
            <a:off x="2279576" y="3843239"/>
            <a:ext cx="441146" cy="369332"/>
          </a:xfrm>
          <a:prstGeom prst="rect">
            <a:avLst/>
          </a:prstGeom>
          <a:noFill/>
        </p:spPr>
        <p:txBody>
          <a:bodyPr wrap="none" rtlCol="0">
            <a:spAutoFit/>
          </a:bodyPr>
          <a:lstStyle/>
          <a:p>
            <a:r>
              <a:rPr lang="en-US"/>
              <a:t>16</a:t>
            </a:r>
          </a:p>
        </p:txBody>
      </p:sp>
      <p:sp>
        <p:nvSpPr>
          <p:cNvPr id="25" name="TextBox 24"/>
          <p:cNvSpPr txBox="1"/>
          <p:nvPr/>
        </p:nvSpPr>
        <p:spPr>
          <a:xfrm>
            <a:off x="3326647" y="3843239"/>
            <a:ext cx="441146" cy="369332"/>
          </a:xfrm>
          <a:prstGeom prst="rect">
            <a:avLst/>
          </a:prstGeom>
          <a:noFill/>
        </p:spPr>
        <p:txBody>
          <a:bodyPr wrap="none" rtlCol="0">
            <a:spAutoFit/>
          </a:bodyPr>
          <a:lstStyle/>
          <a:p>
            <a:r>
              <a:rPr lang="en-US"/>
              <a:t>43</a:t>
            </a:r>
          </a:p>
        </p:txBody>
      </p:sp>
      <p:sp>
        <p:nvSpPr>
          <p:cNvPr id="26" name="TextBox 25"/>
          <p:cNvSpPr txBox="1"/>
          <p:nvPr/>
        </p:nvSpPr>
        <p:spPr>
          <a:xfrm>
            <a:off x="2675619" y="3843239"/>
            <a:ext cx="441146" cy="369332"/>
          </a:xfrm>
          <a:prstGeom prst="rect">
            <a:avLst/>
          </a:prstGeom>
          <a:noFill/>
        </p:spPr>
        <p:txBody>
          <a:bodyPr wrap="none" rtlCol="0">
            <a:spAutoFit/>
          </a:bodyPr>
          <a:lstStyle/>
          <a:p>
            <a:r>
              <a:rPr lang="en-US"/>
              <a:t>24</a:t>
            </a:r>
          </a:p>
        </p:txBody>
      </p:sp>
      <p:sp>
        <p:nvSpPr>
          <p:cNvPr id="27" name="TextBox 26"/>
          <p:cNvSpPr txBox="1"/>
          <p:nvPr/>
        </p:nvSpPr>
        <p:spPr>
          <a:xfrm>
            <a:off x="3649898" y="3843239"/>
            <a:ext cx="441146" cy="369332"/>
          </a:xfrm>
          <a:prstGeom prst="rect">
            <a:avLst/>
          </a:prstGeom>
          <a:noFill/>
        </p:spPr>
        <p:txBody>
          <a:bodyPr wrap="none" rtlCol="0">
            <a:spAutoFit/>
          </a:bodyPr>
          <a:lstStyle/>
          <a:p>
            <a:r>
              <a:rPr lang="en-US"/>
              <a:t>50</a:t>
            </a:r>
          </a:p>
        </p:txBody>
      </p:sp>
      <p:sp>
        <p:nvSpPr>
          <p:cNvPr id="28" name="TextBox 27"/>
          <p:cNvSpPr txBox="1"/>
          <p:nvPr/>
        </p:nvSpPr>
        <p:spPr>
          <a:xfrm>
            <a:off x="4939323" y="3843239"/>
            <a:ext cx="441146" cy="369332"/>
          </a:xfrm>
          <a:prstGeom prst="rect">
            <a:avLst/>
          </a:prstGeom>
          <a:noFill/>
        </p:spPr>
        <p:txBody>
          <a:bodyPr wrap="none" rtlCol="0">
            <a:spAutoFit/>
          </a:bodyPr>
          <a:lstStyle/>
          <a:p>
            <a:r>
              <a:rPr lang="en-US"/>
              <a:t>82</a:t>
            </a:r>
          </a:p>
        </p:txBody>
      </p:sp>
      <p:sp>
        <p:nvSpPr>
          <p:cNvPr id="29" name="TextBox 28"/>
          <p:cNvSpPr txBox="1"/>
          <p:nvPr/>
        </p:nvSpPr>
        <p:spPr>
          <a:xfrm>
            <a:off x="4146150" y="3843239"/>
            <a:ext cx="441146" cy="369332"/>
          </a:xfrm>
          <a:prstGeom prst="rect">
            <a:avLst/>
          </a:prstGeom>
          <a:noFill/>
        </p:spPr>
        <p:txBody>
          <a:bodyPr wrap="none" rtlCol="0">
            <a:spAutoFit/>
          </a:bodyPr>
          <a:lstStyle/>
          <a:p>
            <a:r>
              <a:rPr lang="en-US"/>
              <a:t>61</a:t>
            </a:r>
          </a:p>
        </p:txBody>
      </p:sp>
      <p:sp>
        <p:nvSpPr>
          <p:cNvPr id="30" name="TextBox 29"/>
          <p:cNvSpPr txBox="1"/>
          <p:nvPr/>
        </p:nvSpPr>
        <p:spPr>
          <a:xfrm>
            <a:off x="7510942" y="3843239"/>
            <a:ext cx="569387" cy="369332"/>
          </a:xfrm>
          <a:prstGeom prst="rect">
            <a:avLst/>
          </a:prstGeom>
          <a:noFill/>
        </p:spPr>
        <p:txBody>
          <a:bodyPr wrap="none" rtlCol="0">
            <a:spAutoFit/>
          </a:bodyPr>
          <a:lstStyle/>
          <a:p>
            <a:r>
              <a:rPr lang="en-US"/>
              <a:t>170</a:t>
            </a:r>
          </a:p>
        </p:txBody>
      </p:sp>
      <p:sp>
        <p:nvSpPr>
          <p:cNvPr id="31" name="TextBox 30"/>
          <p:cNvSpPr txBox="1"/>
          <p:nvPr/>
        </p:nvSpPr>
        <p:spPr>
          <a:xfrm>
            <a:off x="8077120" y="3843239"/>
            <a:ext cx="569387" cy="369332"/>
          </a:xfrm>
          <a:prstGeom prst="rect">
            <a:avLst/>
          </a:prstGeom>
          <a:noFill/>
        </p:spPr>
        <p:txBody>
          <a:bodyPr wrap="none" rtlCol="0">
            <a:spAutoFit/>
          </a:bodyPr>
          <a:lstStyle/>
          <a:p>
            <a:r>
              <a:rPr lang="en-US"/>
              <a:t>190</a:t>
            </a:r>
          </a:p>
        </p:txBody>
      </p:sp>
      <p:sp>
        <p:nvSpPr>
          <p:cNvPr id="32" name="TextBox 31"/>
          <p:cNvSpPr txBox="1"/>
          <p:nvPr/>
        </p:nvSpPr>
        <p:spPr>
          <a:xfrm>
            <a:off x="8542504" y="3843239"/>
            <a:ext cx="569387" cy="369332"/>
          </a:xfrm>
          <a:prstGeom prst="rect">
            <a:avLst/>
          </a:prstGeom>
          <a:noFill/>
        </p:spPr>
        <p:txBody>
          <a:bodyPr wrap="none" rtlCol="0">
            <a:spAutoFit/>
          </a:bodyPr>
          <a:lstStyle/>
          <a:p>
            <a:r>
              <a:rPr lang="en-US"/>
              <a:t>199</a:t>
            </a:r>
          </a:p>
        </p:txBody>
      </p:sp>
      <p:cxnSp>
        <p:nvCxnSpPr>
          <p:cNvPr id="33" name="Straight Arrow Connector 32"/>
          <p:cNvCxnSpPr/>
          <p:nvPr/>
        </p:nvCxnSpPr>
        <p:spPr bwMode="auto">
          <a:xfrm>
            <a:off x="3870472" y="4509120"/>
            <a:ext cx="569345" cy="1440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4" name="Straight Arrow Connector 33"/>
          <p:cNvCxnSpPr/>
          <p:nvPr/>
        </p:nvCxnSpPr>
        <p:spPr bwMode="auto">
          <a:xfrm>
            <a:off x="4439816" y="4653136"/>
            <a:ext cx="792088" cy="1440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5" name="Straight Arrow Connector 34"/>
          <p:cNvCxnSpPr/>
          <p:nvPr/>
        </p:nvCxnSpPr>
        <p:spPr bwMode="auto">
          <a:xfrm>
            <a:off x="5159896" y="4797152"/>
            <a:ext cx="2635738" cy="21602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7" name="Straight Arrow Connector 36"/>
          <p:cNvCxnSpPr/>
          <p:nvPr/>
        </p:nvCxnSpPr>
        <p:spPr bwMode="auto">
          <a:xfrm>
            <a:off x="7795634" y="5013176"/>
            <a:ext cx="566178" cy="7200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8" name="Straight Arrow Connector 37"/>
          <p:cNvCxnSpPr/>
          <p:nvPr/>
        </p:nvCxnSpPr>
        <p:spPr bwMode="auto">
          <a:xfrm>
            <a:off x="8361812" y="5085184"/>
            <a:ext cx="465384" cy="7200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0" name="Straight Arrow Connector 39"/>
          <p:cNvCxnSpPr/>
          <p:nvPr/>
        </p:nvCxnSpPr>
        <p:spPr bwMode="auto">
          <a:xfrm flipH="1">
            <a:off x="2147998" y="5157192"/>
            <a:ext cx="6679198" cy="64807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 name="Straight Arrow Connector 6"/>
          <p:cNvCxnSpPr/>
          <p:nvPr/>
        </p:nvCxnSpPr>
        <p:spPr bwMode="auto">
          <a:xfrm>
            <a:off x="2147998" y="5805264"/>
            <a:ext cx="419610" cy="1440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p:cNvCxnSpPr/>
          <p:nvPr/>
        </p:nvCxnSpPr>
        <p:spPr bwMode="auto">
          <a:xfrm>
            <a:off x="2567608" y="5949280"/>
            <a:ext cx="328584" cy="1440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2" name="Straight Arrow Connector 41"/>
          <p:cNvCxnSpPr/>
          <p:nvPr/>
        </p:nvCxnSpPr>
        <p:spPr bwMode="auto">
          <a:xfrm>
            <a:off x="2896192" y="6093296"/>
            <a:ext cx="651028" cy="1440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28101048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Disk scheduling algorithms</a:t>
            </a:r>
          </a:p>
        </p:txBody>
      </p:sp>
      <p:sp>
        <p:nvSpPr>
          <p:cNvPr id="3" name="Content Placeholder 2"/>
          <p:cNvSpPr>
            <a:spLocks noGrp="1"/>
          </p:cNvSpPr>
          <p:nvPr>
            <p:ph idx="1"/>
          </p:nvPr>
        </p:nvSpPr>
        <p:spPr>
          <a:xfrm>
            <a:off x="838200" y="1825625"/>
            <a:ext cx="10515600" cy="2026906"/>
          </a:xfrm>
        </p:spPr>
        <p:txBody>
          <a:bodyPr>
            <a:normAutofit fontScale="92500" lnSpcReduction="10000"/>
          </a:bodyPr>
          <a:lstStyle/>
          <a:p>
            <a:r>
              <a:rPr lang="en-US"/>
              <a:t>LOOK/CLOOK</a:t>
            </a:r>
          </a:p>
          <a:p>
            <a:pPr lvl="1"/>
            <a:r>
              <a:rPr lang="en-US"/>
              <a:t>Like SCAN/CSCAN but does not visit ends of the disk</a:t>
            </a:r>
          </a:p>
          <a:p>
            <a:r>
              <a:rPr lang="en-US"/>
              <a:t>FSCAN</a:t>
            </a:r>
          </a:p>
          <a:p>
            <a:pPr lvl="1"/>
            <a:r>
              <a:rPr lang="en-US"/>
              <a:t>Two queues</a:t>
            </a:r>
          </a:p>
          <a:p>
            <a:pPr lvl="1"/>
            <a:r>
              <a:rPr lang="en-US"/>
              <a:t>Compute algorithm only for 1</a:t>
            </a:r>
            <a:r>
              <a:rPr lang="en-US" baseline="30000"/>
              <a:t>st</a:t>
            </a:r>
            <a:r>
              <a:rPr lang="en-US"/>
              <a:t> queue, new requests are inserted to the 2</a:t>
            </a:r>
            <a:r>
              <a:rPr lang="en-US" baseline="30000"/>
              <a:t>nd</a:t>
            </a:r>
            <a:r>
              <a:rPr lang="en-US"/>
              <a:t> one</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7" name="Slide Number Placeholder 6"/>
          <p:cNvSpPr>
            <a:spLocks noGrp="1"/>
          </p:cNvSpPr>
          <p:nvPr>
            <p:ph type="sldNum" sz="quarter" idx="12"/>
          </p:nvPr>
        </p:nvSpPr>
        <p:spPr/>
        <p:txBody>
          <a:bodyPr/>
          <a:lstStyle/>
          <a:p>
            <a:fld id="{F4A1145F-674A-4228-8958-0EA9769F5517}" type="slidenum">
              <a:rPr lang="en-US" altLang="en-US" smtClean="0"/>
              <a:pPr/>
              <a:t>57</a:t>
            </a:fld>
            <a:endParaRPr lang="en-US" altLang="en-US"/>
          </a:p>
        </p:txBody>
      </p:sp>
      <p:cxnSp>
        <p:nvCxnSpPr>
          <p:cNvPr id="5" name="Straight Connector 4"/>
          <p:cNvCxnSpPr>
            <a:stCxn id="23" idx="2"/>
            <a:endCxn id="32" idx="2"/>
          </p:cNvCxnSpPr>
          <p:nvPr/>
        </p:nvCxnSpPr>
        <p:spPr bwMode="auto">
          <a:xfrm>
            <a:off x="2147999" y="4212571"/>
            <a:ext cx="667919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 name="Straight Connector 7"/>
          <p:cNvCxnSpPr/>
          <p:nvPr/>
        </p:nvCxnSpPr>
        <p:spPr bwMode="auto">
          <a:xfrm>
            <a:off x="2147998"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 name="Straight Connector 10"/>
          <p:cNvCxnSpPr/>
          <p:nvPr/>
        </p:nvCxnSpPr>
        <p:spPr bwMode="auto">
          <a:xfrm>
            <a:off x="2500149"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2" name="Straight Connector 11"/>
          <p:cNvCxnSpPr/>
          <p:nvPr/>
        </p:nvCxnSpPr>
        <p:spPr bwMode="auto">
          <a:xfrm>
            <a:off x="2896192"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3" name="Straight Connector 12"/>
          <p:cNvCxnSpPr/>
          <p:nvPr/>
        </p:nvCxnSpPr>
        <p:spPr bwMode="auto">
          <a:xfrm>
            <a:off x="3547220"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4" name="Straight Connector 13"/>
          <p:cNvCxnSpPr/>
          <p:nvPr/>
        </p:nvCxnSpPr>
        <p:spPr bwMode="auto">
          <a:xfrm>
            <a:off x="3870471"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 name="Straight Connector 14"/>
          <p:cNvCxnSpPr/>
          <p:nvPr/>
        </p:nvCxnSpPr>
        <p:spPr bwMode="auto">
          <a:xfrm>
            <a:off x="4366723"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6" name="Straight Connector 15"/>
          <p:cNvCxnSpPr/>
          <p:nvPr/>
        </p:nvCxnSpPr>
        <p:spPr bwMode="auto">
          <a:xfrm>
            <a:off x="5159896"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7" name="Straight Connector 16"/>
          <p:cNvCxnSpPr/>
          <p:nvPr/>
        </p:nvCxnSpPr>
        <p:spPr bwMode="auto">
          <a:xfrm>
            <a:off x="7795634"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8" name="Straight Connector 17"/>
          <p:cNvCxnSpPr/>
          <p:nvPr/>
        </p:nvCxnSpPr>
        <p:spPr bwMode="auto">
          <a:xfrm>
            <a:off x="8361812"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0" name="Straight Connector 19"/>
          <p:cNvCxnSpPr/>
          <p:nvPr/>
        </p:nvCxnSpPr>
        <p:spPr bwMode="auto">
          <a:xfrm>
            <a:off x="8827196" y="4150588"/>
            <a:ext cx="0" cy="14401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3" name="TextBox 22"/>
          <p:cNvSpPr txBox="1"/>
          <p:nvPr/>
        </p:nvSpPr>
        <p:spPr>
          <a:xfrm>
            <a:off x="1991545" y="3843239"/>
            <a:ext cx="312906" cy="369332"/>
          </a:xfrm>
          <a:prstGeom prst="rect">
            <a:avLst/>
          </a:prstGeom>
          <a:noFill/>
        </p:spPr>
        <p:txBody>
          <a:bodyPr wrap="none" rtlCol="0">
            <a:spAutoFit/>
          </a:bodyPr>
          <a:lstStyle/>
          <a:p>
            <a:r>
              <a:rPr lang="en-US"/>
              <a:t>0</a:t>
            </a:r>
          </a:p>
        </p:txBody>
      </p:sp>
      <p:sp>
        <p:nvSpPr>
          <p:cNvPr id="24" name="TextBox 23"/>
          <p:cNvSpPr txBox="1"/>
          <p:nvPr/>
        </p:nvSpPr>
        <p:spPr>
          <a:xfrm>
            <a:off x="2279576" y="3843239"/>
            <a:ext cx="441146" cy="369332"/>
          </a:xfrm>
          <a:prstGeom prst="rect">
            <a:avLst/>
          </a:prstGeom>
          <a:noFill/>
        </p:spPr>
        <p:txBody>
          <a:bodyPr wrap="none" rtlCol="0">
            <a:spAutoFit/>
          </a:bodyPr>
          <a:lstStyle/>
          <a:p>
            <a:r>
              <a:rPr lang="en-US"/>
              <a:t>16</a:t>
            </a:r>
          </a:p>
        </p:txBody>
      </p:sp>
      <p:sp>
        <p:nvSpPr>
          <p:cNvPr id="25" name="TextBox 24"/>
          <p:cNvSpPr txBox="1"/>
          <p:nvPr/>
        </p:nvSpPr>
        <p:spPr>
          <a:xfrm>
            <a:off x="3326647" y="3843239"/>
            <a:ext cx="441146" cy="369332"/>
          </a:xfrm>
          <a:prstGeom prst="rect">
            <a:avLst/>
          </a:prstGeom>
          <a:noFill/>
        </p:spPr>
        <p:txBody>
          <a:bodyPr wrap="none" rtlCol="0">
            <a:spAutoFit/>
          </a:bodyPr>
          <a:lstStyle/>
          <a:p>
            <a:r>
              <a:rPr lang="en-US"/>
              <a:t>43</a:t>
            </a:r>
          </a:p>
        </p:txBody>
      </p:sp>
      <p:sp>
        <p:nvSpPr>
          <p:cNvPr id="26" name="TextBox 25"/>
          <p:cNvSpPr txBox="1"/>
          <p:nvPr/>
        </p:nvSpPr>
        <p:spPr>
          <a:xfrm>
            <a:off x="2675619" y="3843239"/>
            <a:ext cx="441146" cy="369332"/>
          </a:xfrm>
          <a:prstGeom prst="rect">
            <a:avLst/>
          </a:prstGeom>
          <a:noFill/>
        </p:spPr>
        <p:txBody>
          <a:bodyPr wrap="none" rtlCol="0">
            <a:spAutoFit/>
          </a:bodyPr>
          <a:lstStyle/>
          <a:p>
            <a:r>
              <a:rPr lang="en-US"/>
              <a:t>24</a:t>
            </a:r>
          </a:p>
        </p:txBody>
      </p:sp>
      <p:sp>
        <p:nvSpPr>
          <p:cNvPr id="27" name="TextBox 26"/>
          <p:cNvSpPr txBox="1"/>
          <p:nvPr/>
        </p:nvSpPr>
        <p:spPr>
          <a:xfrm>
            <a:off x="3649898" y="3843239"/>
            <a:ext cx="441146" cy="369332"/>
          </a:xfrm>
          <a:prstGeom prst="rect">
            <a:avLst/>
          </a:prstGeom>
          <a:noFill/>
        </p:spPr>
        <p:txBody>
          <a:bodyPr wrap="none" rtlCol="0">
            <a:spAutoFit/>
          </a:bodyPr>
          <a:lstStyle/>
          <a:p>
            <a:r>
              <a:rPr lang="en-US"/>
              <a:t>50</a:t>
            </a:r>
          </a:p>
        </p:txBody>
      </p:sp>
      <p:sp>
        <p:nvSpPr>
          <p:cNvPr id="28" name="TextBox 27"/>
          <p:cNvSpPr txBox="1"/>
          <p:nvPr/>
        </p:nvSpPr>
        <p:spPr>
          <a:xfrm>
            <a:off x="4939323" y="3843239"/>
            <a:ext cx="441146" cy="369332"/>
          </a:xfrm>
          <a:prstGeom prst="rect">
            <a:avLst/>
          </a:prstGeom>
          <a:noFill/>
        </p:spPr>
        <p:txBody>
          <a:bodyPr wrap="none" rtlCol="0">
            <a:spAutoFit/>
          </a:bodyPr>
          <a:lstStyle/>
          <a:p>
            <a:r>
              <a:rPr lang="en-US"/>
              <a:t>82</a:t>
            </a:r>
          </a:p>
        </p:txBody>
      </p:sp>
      <p:sp>
        <p:nvSpPr>
          <p:cNvPr id="29" name="TextBox 28"/>
          <p:cNvSpPr txBox="1"/>
          <p:nvPr/>
        </p:nvSpPr>
        <p:spPr>
          <a:xfrm>
            <a:off x="4146150" y="3843239"/>
            <a:ext cx="441146" cy="369332"/>
          </a:xfrm>
          <a:prstGeom prst="rect">
            <a:avLst/>
          </a:prstGeom>
          <a:noFill/>
        </p:spPr>
        <p:txBody>
          <a:bodyPr wrap="none" rtlCol="0">
            <a:spAutoFit/>
          </a:bodyPr>
          <a:lstStyle/>
          <a:p>
            <a:r>
              <a:rPr lang="en-US"/>
              <a:t>61</a:t>
            </a:r>
          </a:p>
        </p:txBody>
      </p:sp>
      <p:sp>
        <p:nvSpPr>
          <p:cNvPr id="30" name="TextBox 29"/>
          <p:cNvSpPr txBox="1"/>
          <p:nvPr/>
        </p:nvSpPr>
        <p:spPr>
          <a:xfrm>
            <a:off x="7510942" y="3843239"/>
            <a:ext cx="569387" cy="369332"/>
          </a:xfrm>
          <a:prstGeom prst="rect">
            <a:avLst/>
          </a:prstGeom>
          <a:noFill/>
        </p:spPr>
        <p:txBody>
          <a:bodyPr wrap="none" rtlCol="0">
            <a:spAutoFit/>
          </a:bodyPr>
          <a:lstStyle/>
          <a:p>
            <a:r>
              <a:rPr lang="en-US"/>
              <a:t>170</a:t>
            </a:r>
          </a:p>
        </p:txBody>
      </p:sp>
      <p:sp>
        <p:nvSpPr>
          <p:cNvPr id="31" name="TextBox 30"/>
          <p:cNvSpPr txBox="1"/>
          <p:nvPr/>
        </p:nvSpPr>
        <p:spPr>
          <a:xfrm>
            <a:off x="8077120" y="3843239"/>
            <a:ext cx="569387" cy="369332"/>
          </a:xfrm>
          <a:prstGeom prst="rect">
            <a:avLst/>
          </a:prstGeom>
          <a:noFill/>
        </p:spPr>
        <p:txBody>
          <a:bodyPr wrap="none" rtlCol="0">
            <a:spAutoFit/>
          </a:bodyPr>
          <a:lstStyle/>
          <a:p>
            <a:r>
              <a:rPr lang="en-US"/>
              <a:t>190</a:t>
            </a:r>
          </a:p>
        </p:txBody>
      </p:sp>
      <p:sp>
        <p:nvSpPr>
          <p:cNvPr id="32" name="TextBox 31"/>
          <p:cNvSpPr txBox="1"/>
          <p:nvPr/>
        </p:nvSpPr>
        <p:spPr>
          <a:xfrm>
            <a:off x="8542504" y="3843239"/>
            <a:ext cx="569387" cy="369332"/>
          </a:xfrm>
          <a:prstGeom prst="rect">
            <a:avLst/>
          </a:prstGeom>
          <a:noFill/>
        </p:spPr>
        <p:txBody>
          <a:bodyPr wrap="none" rtlCol="0">
            <a:spAutoFit/>
          </a:bodyPr>
          <a:lstStyle/>
          <a:p>
            <a:r>
              <a:rPr lang="en-US"/>
              <a:t>199</a:t>
            </a:r>
          </a:p>
        </p:txBody>
      </p:sp>
      <p:cxnSp>
        <p:nvCxnSpPr>
          <p:cNvPr id="33" name="Straight Arrow Connector 32"/>
          <p:cNvCxnSpPr/>
          <p:nvPr/>
        </p:nvCxnSpPr>
        <p:spPr bwMode="auto">
          <a:xfrm>
            <a:off x="3870472" y="4509120"/>
            <a:ext cx="569345" cy="1440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4" name="Straight Arrow Connector 33"/>
          <p:cNvCxnSpPr/>
          <p:nvPr/>
        </p:nvCxnSpPr>
        <p:spPr bwMode="auto">
          <a:xfrm>
            <a:off x="4439816" y="4653136"/>
            <a:ext cx="792088" cy="1440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5" name="Straight Arrow Connector 34"/>
          <p:cNvCxnSpPr/>
          <p:nvPr/>
        </p:nvCxnSpPr>
        <p:spPr bwMode="auto">
          <a:xfrm>
            <a:off x="5159896" y="4797152"/>
            <a:ext cx="2635738" cy="21602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7" name="Straight Arrow Connector 36"/>
          <p:cNvCxnSpPr/>
          <p:nvPr/>
        </p:nvCxnSpPr>
        <p:spPr bwMode="auto">
          <a:xfrm>
            <a:off x="7795634" y="5013176"/>
            <a:ext cx="566178" cy="7200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 name="Straight Arrow Connector 5"/>
          <p:cNvCxnSpPr/>
          <p:nvPr/>
        </p:nvCxnSpPr>
        <p:spPr bwMode="auto">
          <a:xfrm flipH="1">
            <a:off x="3547220" y="5085184"/>
            <a:ext cx="4814592" cy="36004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 name="Straight Arrow Connector 8"/>
          <p:cNvCxnSpPr/>
          <p:nvPr/>
        </p:nvCxnSpPr>
        <p:spPr bwMode="auto">
          <a:xfrm flipH="1">
            <a:off x="2999656" y="5445224"/>
            <a:ext cx="547564" cy="1440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9" name="Straight Arrow Connector 18"/>
          <p:cNvCxnSpPr/>
          <p:nvPr/>
        </p:nvCxnSpPr>
        <p:spPr bwMode="auto">
          <a:xfrm flipH="1">
            <a:off x="2567608" y="5589240"/>
            <a:ext cx="432048" cy="1440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4777161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Solid state disk</a:t>
            </a:r>
          </a:p>
        </p:txBody>
      </p:sp>
      <p:sp>
        <p:nvSpPr>
          <p:cNvPr id="3" name="Content Placeholder 2"/>
          <p:cNvSpPr>
            <a:spLocks noGrp="1"/>
          </p:cNvSpPr>
          <p:nvPr>
            <p:ph idx="1"/>
          </p:nvPr>
        </p:nvSpPr>
        <p:spPr>
          <a:xfrm>
            <a:off x="838200" y="1825624"/>
            <a:ext cx="10515600" cy="4530725"/>
          </a:xfrm>
        </p:spPr>
        <p:txBody>
          <a:bodyPr>
            <a:normAutofit/>
          </a:bodyPr>
          <a:lstStyle/>
          <a:p>
            <a:r>
              <a:rPr lang="en-US" dirty="0"/>
              <a:t>Solid-state disk (SSD)</a:t>
            </a:r>
          </a:p>
          <a:p>
            <a:pPr lvl="1"/>
            <a:r>
              <a:rPr lang="en-US" dirty="0"/>
              <a:t>Disk without moving parts (only electric circuits)</a:t>
            </a:r>
          </a:p>
          <a:p>
            <a:pPr lvl="1"/>
            <a:r>
              <a:rPr lang="en-US" dirty="0"/>
              <a:t>NAND flash, made of floating gate transistors</a:t>
            </a:r>
          </a:p>
          <a:p>
            <a:pPr lvl="2"/>
            <a:r>
              <a:rPr lang="en-US" dirty="0"/>
              <a:t>Similar to RAM, but slower and the transistors retain the charge without refreshing</a:t>
            </a:r>
          </a:p>
          <a:p>
            <a:pPr lvl="2"/>
            <a:r>
              <a:rPr lang="en-US" dirty="0"/>
              <a:t>Reads/writes damage the transistors over time (writes and erases far more than reads)</a:t>
            </a:r>
          </a:p>
          <a:p>
            <a:pPr lvl="3"/>
            <a:r>
              <a:rPr lang="en-US" dirty="0"/>
              <a:t>1k-100k program-erase (P/E) cycles (MTBF)</a:t>
            </a:r>
          </a:p>
          <a:p>
            <a:pPr lvl="1"/>
            <a:r>
              <a:rPr lang="en-US" dirty="0"/>
              <a:t>Grid structure organized as block of pages</a:t>
            </a:r>
          </a:p>
          <a:p>
            <a:pPr lvl="2"/>
            <a:r>
              <a:rPr lang="en-US" dirty="0"/>
              <a:t>Page is ~ 2-16 KiB long, block has ~ 128-256 pages</a:t>
            </a:r>
          </a:p>
          <a:p>
            <a:pPr lvl="3"/>
            <a:r>
              <a:rPr lang="en-US" dirty="0"/>
              <a:t>1-4 bits per cell (SLC, MLC, TLC QLC), more bits = cheaper, but less efficient</a:t>
            </a:r>
          </a:p>
          <a:p>
            <a:pPr lvl="2"/>
            <a:r>
              <a:rPr lang="en-US" dirty="0"/>
              <a:t>Read/write per page, erase per block (!)</a:t>
            </a:r>
          </a:p>
          <a:p>
            <a:pPr lvl="1"/>
            <a:r>
              <a:rPr lang="en-US" dirty="0"/>
              <a:t>Complex controller that handles the I/O operations</a:t>
            </a:r>
          </a:p>
          <a:p>
            <a:pPr lvl="2"/>
            <a:r>
              <a:rPr lang="en-US" dirty="0"/>
              <a:t>And data caching in internal RAM</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58</a:t>
            </a:fld>
            <a:endParaRPr lang="en-US" altLang="en-US"/>
          </a:p>
        </p:txBody>
      </p:sp>
    </p:spTree>
    <p:extLst>
      <p:ext uri="{BB962C8B-B14F-4D97-AF65-F5344CB8AC3E}">
        <p14:creationId xmlns:p14="http://schemas.microsoft.com/office/powerpoint/2010/main" val="34555295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Solid state disk</a:t>
            </a:r>
          </a:p>
        </p:txBody>
      </p:sp>
      <p:sp>
        <p:nvSpPr>
          <p:cNvPr id="3" name="Content Placeholder 2"/>
          <p:cNvSpPr>
            <a:spLocks noGrp="1"/>
          </p:cNvSpPr>
          <p:nvPr>
            <p:ph idx="1"/>
          </p:nvPr>
        </p:nvSpPr>
        <p:spPr>
          <a:xfrm>
            <a:off x="838200" y="1825625"/>
            <a:ext cx="4656992" cy="4351338"/>
          </a:xfrm>
        </p:spPr>
        <p:txBody>
          <a:bodyPr/>
          <a:lstStyle/>
          <a:p>
            <a:r>
              <a:rPr lang="en-US" dirty="0"/>
              <a:t>SSD data updates</a:t>
            </a:r>
          </a:p>
          <a:p>
            <a:pPr lvl="1"/>
            <a:r>
              <a:rPr lang="en-US" dirty="0"/>
              <a:t>Writing new data is OK</a:t>
            </a:r>
          </a:p>
          <a:p>
            <a:pPr lvl="1"/>
            <a:r>
              <a:rPr lang="en-US" dirty="0"/>
              <a:t>Page update cannot erase only one page</a:t>
            </a:r>
          </a:p>
          <a:p>
            <a:pPr lvl="2"/>
            <a:r>
              <a:rPr lang="en-US" dirty="0"/>
              <a:t>Erase is performed on blocks</a:t>
            </a:r>
          </a:p>
          <a:p>
            <a:pPr lvl="1"/>
            <a:r>
              <a:rPr lang="en-US" dirty="0"/>
              <a:t>Update invalidates old page and writes a new one</a:t>
            </a:r>
          </a:p>
          <a:p>
            <a:pPr lvl="1"/>
            <a:r>
              <a:rPr lang="en-US" dirty="0"/>
              <a:t>Garbage collection preforms data consolidation</a:t>
            </a:r>
          </a:p>
          <a:p>
            <a:pPr lvl="2"/>
            <a:r>
              <a:rPr lang="en-US" dirty="0"/>
              <a:t>Copy only valid pages of a block</a:t>
            </a:r>
          </a:p>
          <a:p>
            <a:pPr lvl="2"/>
            <a:r>
              <a:rPr lang="en-US" dirty="0"/>
              <a:t>Erase entire block</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59</a:t>
            </a:fld>
            <a:endParaRPr lang="en-US" alt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9348" y="1755287"/>
            <a:ext cx="6061053" cy="4288194"/>
          </a:xfrm>
          <a:prstGeom prst="rect">
            <a:avLst/>
          </a:prstGeom>
        </p:spPr>
      </p:pic>
      <p:sp>
        <p:nvSpPr>
          <p:cNvPr id="7" name="TextBox 6"/>
          <p:cNvSpPr txBox="1"/>
          <p:nvPr/>
        </p:nvSpPr>
        <p:spPr>
          <a:xfrm>
            <a:off x="6388528" y="6108080"/>
            <a:ext cx="4682692" cy="307777"/>
          </a:xfrm>
          <a:prstGeom prst="rect">
            <a:avLst/>
          </a:prstGeom>
          <a:noFill/>
        </p:spPr>
        <p:txBody>
          <a:bodyPr wrap="none" rtlCol="0">
            <a:spAutoFit/>
          </a:bodyPr>
          <a:lstStyle/>
          <a:p>
            <a:r>
              <a:rPr lang="en-US" sz="1400" dirty="0">
                <a:solidFill>
                  <a:srgbClr val="0070C0"/>
                </a:solidFill>
              </a:rPr>
              <a:t>https://en.wikipedia.org/wiki/File:Garbage_Collection.png</a:t>
            </a:r>
          </a:p>
        </p:txBody>
      </p:sp>
    </p:spTree>
    <p:extLst>
      <p:ext uri="{BB962C8B-B14F-4D97-AF65-F5344CB8AC3E}">
        <p14:creationId xmlns:p14="http://schemas.microsoft.com/office/powerpoint/2010/main" val="21335181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Solid state disk</a:t>
            </a:r>
          </a:p>
        </p:txBody>
      </p:sp>
      <p:sp>
        <p:nvSpPr>
          <p:cNvPr id="3" name="Content Placeholder 2"/>
          <p:cNvSpPr>
            <a:spLocks noGrp="1"/>
          </p:cNvSpPr>
          <p:nvPr>
            <p:ph idx="1"/>
          </p:nvPr>
        </p:nvSpPr>
        <p:spPr/>
        <p:txBody>
          <a:bodyPr/>
          <a:lstStyle/>
          <a:p>
            <a:r>
              <a:rPr lang="en-US" dirty="0"/>
              <a:t>SSD issues</a:t>
            </a:r>
          </a:p>
          <a:p>
            <a:pPr lvl="1"/>
            <a:r>
              <a:rPr lang="en-US" dirty="0"/>
              <a:t>Write amplification problem</a:t>
            </a:r>
          </a:p>
          <a:p>
            <a:pPr lvl="2"/>
            <a:r>
              <a:rPr lang="en-US" dirty="0"/>
              <a:t>A page is re-written many times due to garbage collection</a:t>
            </a:r>
          </a:p>
          <a:p>
            <a:pPr lvl="2"/>
            <a:r>
              <a:rPr lang="en-US" dirty="0"/>
              <a:t>Each write/erase create cumulative damage to NAND flash</a:t>
            </a:r>
          </a:p>
          <a:p>
            <a:pPr lvl="1"/>
            <a:r>
              <a:rPr lang="en-US" dirty="0"/>
              <a:t>HW solutions</a:t>
            </a:r>
          </a:p>
          <a:p>
            <a:pPr lvl="2"/>
            <a:r>
              <a:rPr lang="en-US" dirty="0"/>
              <a:t>Wear leveling – elaborate algorithm that remaps the blocks</a:t>
            </a:r>
          </a:p>
          <a:p>
            <a:pPr lvl="2"/>
            <a:r>
              <a:rPr lang="en-US" dirty="0"/>
              <a:t>Over-provisioning – the SSD is larger than it declares</a:t>
            </a:r>
          </a:p>
          <a:p>
            <a:pPr lvl="1"/>
            <a:r>
              <a:rPr lang="en-US" dirty="0"/>
              <a:t>Operating systems solutions</a:t>
            </a:r>
          </a:p>
          <a:p>
            <a:pPr lvl="2"/>
            <a:r>
              <a:rPr lang="en-US" dirty="0"/>
              <a:t>Special file systems designed for SSDs</a:t>
            </a:r>
          </a:p>
          <a:p>
            <a:pPr lvl="3"/>
            <a:r>
              <a:rPr lang="en-US" dirty="0"/>
              <a:t>Flash-friendly FS (F2FS), </a:t>
            </a:r>
            <a:r>
              <a:rPr lang="en-US" dirty="0" err="1"/>
              <a:t>BtrFS</a:t>
            </a:r>
            <a:r>
              <a:rPr lang="en-US" dirty="0"/>
              <a:t>, log-structure file systems (e.g., LFS)</a:t>
            </a:r>
          </a:p>
          <a:p>
            <a:pPr lvl="2"/>
            <a:r>
              <a:rPr lang="en-US" dirty="0"/>
              <a:t>TRIM operation – special command how OS can render blocks invalid (file is deleted)</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60</a:t>
            </a:fld>
            <a:endParaRPr lang="en-US" altLang="en-US"/>
          </a:p>
        </p:txBody>
      </p:sp>
    </p:spTree>
    <p:extLst>
      <p:ext uri="{BB962C8B-B14F-4D97-AF65-F5344CB8AC3E}">
        <p14:creationId xmlns:p14="http://schemas.microsoft.com/office/powerpoint/2010/main" val="37061057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File system(s) on HDD(s)</a:t>
            </a:r>
          </a:p>
        </p:txBody>
      </p:sp>
      <p:sp>
        <p:nvSpPr>
          <p:cNvPr id="3" name="Content Placeholder 2"/>
          <p:cNvSpPr>
            <a:spLocks noGrp="1"/>
          </p:cNvSpPr>
          <p:nvPr>
            <p:ph idx="1"/>
          </p:nvPr>
        </p:nvSpPr>
        <p:spPr/>
        <p:txBody>
          <a:bodyPr vert="horz" lIns="91440" tIns="45720" rIns="91440" bIns="45720" rtlCol="0" anchor="t">
            <a:normAutofit/>
          </a:bodyPr>
          <a:lstStyle/>
          <a:p>
            <a:r>
              <a:rPr lang="en-US" dirty="0"/>
              <a:t>HDD Partitioning</a:t>
            </a:r>
          </a:p>
          <a:p>
            <a:pPr lvl="1"/>
            <a:r>
              <a:rPr lang="en-US" dirty="0"/>
              <a:t>Division of physical drive into multiple logical drives (MBR, GPT)</a:t>
            </a:r>
            <a:endParaRPr lang="en-US" dirty="0">
              <a:cs typeface="Calibri"/>
            </a:endParaRPr>
          </a:p>
          <a:p>
            <a:pPr lvl="2"/>
            <a:r>
              <a:rPr lang="en-US" dirty="0"/>
              <a:t>Each may have its own file system</a:t>
            </a:r>
            <a:endParaRPr lang="en-US" dirty="0">
              <a:cs typeface="Calibri"/>
            </a:endParaRPr>
          </a:p>
          <a:p>
            <a:pPr lvl="1"/>
            <a:r>
              <a:rPr lang="en-US" dirty="0"/>
              <a:t>Mounted to paths in the root tree (Linux), or presented separately (Windows)</a:t>
            </a:r>
            <a:endParaRPr lang="en-US" dirty="0">
              <a:cs typeface="Calibri"/>
            </a:endParaRPr>
          </a:p>
          <a:p>
            <a:r>
              <a:rPr lang="en-US" dirty="0"/>
              <a:t>Redundant Array of Inexpensive Disks (RAID)</a:t>
            </a:r>
            <a:endParaRPr lang="en-US" dirty="0">
              <a:cs typeface="Calibri"/>
            </a:endParaRPr>
          </a:p>
          <a:p>
            <a:pPr lvl="1"/>
            <a:r>
              <a:rPr lang="en-US" dirty="0"/>
              <a:t>A way to interconnect multiple HDDs into one</a:t>
            </a:r>
            <a:endParaRPr lang="en-US" dirty="0">
              <a:cs typeface="Calibri"/>
            </a:endParaRPr>
          </a:p>
          <a:p>
            <a:pPr lvl="2"/>
            <a:r>
              <a:rPr lang="en-US" dirty="0"/>
              <a:t>Typically at the hardware level, but OS can implement it as well</a:t>
            </a:r>
            <a:endParaRPr lang="en-US" dirty="0">
              <a:cs typeface="Calibri"/>
            </a:endParaRPr>
          </a:p>
          <a:p>
            <a:pPr lvl="1"/>
            <a:r>
              <a:rPr lang="en-US" dirty="0"/>
              <a:t>The main objective is to increase reliability (and possibly R/W speed)</a:t>
            </a:r>
            <a:endParaRPr lang="en-US" dirty="0">
              <a:cs typeface="Calibri"/>
            </a:endParaRPr>
          </a:p>
          <a:p>
            <a:pPr lvl="2"/>
            <a:r>
              <a:rPr lang="en-US" dirty="0"/>
              <a:t>RAID 0 – two disks, per-sector interleaving (better speed, worst reliability)</a:t>
            </a:r>
            <a:endParaRPr lang="en-US" dirty="0">
              <a:cs typeface="Calibri"/>
            </a:endParaRPr>
          </a:p>
          <a:p>
            <a:pPr lvl="2"/>
            <a:r>
              <a:rPr lang="en-US" dirty="0"/>
              <a:t>RAID 1 – two disks completely mirrored</a:t>
            </a:r>
            <a:endParaRPr lang="en-US" dirty="0">
              <a:cs typeface="Calibri"/>
            </a:endParaRPr>
          </a:p>
          <a:p>
            <a:pPr lvl="2"/>
            <a:r>
              <a:rPr lang="en-US" dirty="0"/>
              <a:t>RAID 5 – each data block is divided among N disks + 1 checksum is created</a:t>
            </a:r>
            <a:endParaRPr lang="en-US" dirty="0">
              <a:cs typeface="Calibri"/>
            </a:endParaRP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61</a:t>
            </a:fld>
            <a:endParaRPr lang="en-US" altLang="en-US"/>
          </a:p>
        </p:txBody>
      </p:sp>
    </p:spTree>
    <p:extLst>
      <p:ext uri="{BB962C8B-B14F-4D97-AF65-F5344CB8AC3E}">
        <p14:creationId xmlns:p14="http://schemas.microsoft.com/office/powerpoint/2010/main" val="24194744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Virtual memory</a:t>
            </a:r>
          </a:p>
        </p:txBody>
      </p:sp>
      <p:sp>
        <p:nvSpPr>
          <p:cNvPr id="3" name="Content Placeholder 2"/>
          <p:cNvSpPr>
            <a:spLocks noGrp="1"/>
          </p:cNvSpPr>
          <p:nvPr>
            <p:ph idx="1"/>
          </p:nvPr>
        </p:nvSpPr>
        <p:spPr/>
        <p:txBody>
          <a:bodyPr>
            <a:normAutofit lnSpcReduction="10000"/>
          </a:bodyPr>
          <a:lstStyle/>
          <a:p>
            <a:r>
              <a:rPr lang="en-US" dirty="0"/>
              <a:t>Basic concepts</a:t>
            </a:r>
          </a:p>
          <a:p>
            <a:pPr lvl="1"/>
            <a:r>
              <a:rPr lang="en-US" dirty="0"/>
              <a:t>All memory accesses from instructions work with a </a:t>
            </a:r>
            <a:r>
              <a:rPr lang="en-US" b="1" dirty="0"/>
              <a:t>virtual</a:t>
            </a:r>
            <a:r>
              <a:rPr lang="en-US" dirty="0"/>
              <a:t> address</a:t>
            </a:r>
          </a:p>
          <a:p>
            <a:pPr lvl="2"/>
            <a:r>
              <a:rPr lang="en-US" dirty="0"/>
              <a:t>Virtual address space</a:t>
            </a:r>
          </a:p>
          <a:p>
            <a:pPr lvl="2"/>
            <a:r>
              <a:rPr lang="en-US" dirty="0"/>
              <a:t>Even instruction fetch</a:t>
            </a:r>
          </a:p>
          <a:p>
            <a:pPr lvl="1"/>
            <a:r>
              <a:rPr lang="en-US" dirty="0"/>
              <a:t>Operating memory provides </a:t>
            </a:r>
            <a:r>
              <a:rPr lang="en-US" b="1" dirty="0"/>
              <a:t>physical</a:t>
            </a:r>
            <a:r>
              <a:rPr lang="en-US" dirty="0"/>
              <a:t> memory</a:t>
            </a:r>
          </a:p>
          <a:p>
            <a:pPr lvl="2"/>
            <a:r>
              <a:rPr lang="en-US" dirty="0"/>
              <a:t>Physical address space</a:t>
            </a:r>
          </a:p>
          <a:p>
            <a:pPr lvl="2"/>
            <a:r>
              <a:rPr lang="en-US" dirty="0"/>
              <a:t>Always 1-dimensional</a:t>
            </a:r>
          </a:p>
          <a:p>
            <a:pPr lvl="2"/>
            <a:r>
              <a:rPr lang="en-US" dirty="0"/>
              <a:t>The memory controller uses physical addresses</a:t>
            </a:r>
          </a:p>
          <a:p>
            <a:pPr lvl="1"/>
            <a:r>
              <a:rPr lang="en-US" dirty="0"/>
              <a:t>Translation mechanism</a:t>
            </a:r>
          </a:p>
          <a:p>
            <a:pPr lvl="2"/>
            <a:r>
              <a:rPr lang="en-US" dirty="0"/>
              <a:t>Implemented </a:t>
            </a:r>
            <a:r>
              <a:rPr lang="en-US" b="1" dirty="0"/>
              <a:t>in HW</a:t>
            </a:r>
            <a:r>
              <a:rPr lang="en-US" dirty="0"/>
              <a:t> (MMU embedded in CPU)</a:t>
            </a:r>
          </a:p>
          <a:p>
            <a:pPr lvl="2"/>
            <a:r>
              <a:rPr lang="en-US" dirty="0"/>
              <a:t>Translates a virtual address to a physical address</a:t>
            </a:r>
          </a:p>
          <a:p>
            <a:pPr lvl="2"/>
            <a:r>
              <a:rPr lang="en-US" dirty="0"/>
              <a:t>The translation (mapping) </a:t>
            </a:r>
            <a:r>
              <a:rPr lang="en-US" b="1" dirty="0"/>
              <a:t>may not exist -&gt; </a:t>
            </a:r>
            <a:r>
              <a:rPr lang="en-US" b="1" dirty="0">
                <a:solidFill>
                  <a:srgbClr val="FF0000"/>
                </a:solidFill>
              </a:rPr>
              <a:t>exception (fault)</a:t>
            </a:r>
          </a:p>
          <a:p>
            <a:pPr lvl="2"/>
            <a:r>
              <a:rPr lang="en-US" dirty="0"/>
              <a:t>Two basic mechanisms – segmentation, paging</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62</a:t>
            </a:fld>
            <a:endParaRPr lang="en-US" alt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2689" y="2741661"/>
            <a:ext cx="3359021" cy="2519266"/>
          </a:xfrm>
          <a:prstGeom prst="rect">
            <a:avLst/>
          </a:prstGeom>
        </p:spPr>
      </p:pic>
    </p:spTree>
    <p:extLst>
      <p:ext uri="{BB962C8B-B14F-4D97-AF65-F5344CB8AC3E}">
        <p14:creationId xmlns:p14="http://schemas.microsoft.com/office/powerpoint/2010/main" val="308046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Virtual memory</a:t>
            </a:r>
          </a:p>
        </p:txBody>
      </p:sp>
      <p:sp>
        <p:nvSpPr>
          <p:cNvPr id="4" name="Rectangle 3"/>
          <p:cNvSpPr>
            <a:spLocks noChangeArrowheads="1"/>
          </p:cNvSpPr>
          <p:nvPr/>
        </p:nvSpPr>
        <p:spPr bwMode="auto">
          <a:xfrm>
            <a:off x="1981201" y="6072707"/>
            <a:ext cx="3322713" cy="431800"/>
          </a:xfrm>
          <a:prstGeom prst="rect">
            <a:avLst/>
          </a:prstGeom>
          <a:solidFill>
            <a:schemeClr val="accent6">
              <a:lumMod val="60000"/>
              <a:lumOff val="40000"/>
            </a:schemeClr>
          </a:solidFill>
          <a:ln w="9525">
            <a:solidFill>
              <a:schemeClr val="tx1"/>
            </a:solidFill>
            <a:miter lim="800000"/>
            <a:headEnd/>
            <a:tailEnd/>
          </a:ln>
        </p:spPr>
        <p:txBody>
          <a:bodyPr wrap="none" anchor="ctr"/>
          <a:lstStyle/>
          <a:p>
            <a:pPr algn="ctr"/>
            <a:r>
              <a:rPr lang="en-US" sz="2400">
                <a:latin typeface="+mn-lt"/>
              </a:rPr>
              <a:t>Heap</a:t>
            </a:r>
          </a:p>
        </p:txBody>
      </p:sp>
      <p:sp>
        <p:nvSpPr>
          <p:cNvPr id="5" name="Rectangle 4"/>
          <p:cNvSpPr>
            <a:spLocks noChangeArrowheads="1"/>
          </p:cNvSpPr>
          <p:nvPr/>
        </p:nvSpPr>
        <p:spPr bwMode="auto">
          <a:xfrm>
            <a:off x="1981201" y="2492896"/>
            <a:ext cx="3322713" cy="433388"/>
          </a:xfrm>
          <a:prstGeom prst="rect">
            <a:avLst/>
          </a:prstGeom>
          <a:solidFill>
            <a:srgbClr val="FFC000"/>
          </a:solidFill>
          <a:ln w="9525">
            <a:solidFill>
              <a:schemeClr val="tx1"/>
            </a:solidFill>
            <a:miter lim="800000"/>
            <a:headEnd/>
            <a:tailEnd/>
          </a:ln>
        </p:spPr>
        <p:txBody>
          <a:bodyPr wrap="none" anchor="ctr"/>
          <a:lstStyle/>
          <a:p>
            <a:pPr algn="ctr"/>
            <a:r>
              <a:rPr lang="en-US" sz="2400">
                <a:latin typeface="+mn-lt"/>
              </a:rPr>
              <a:t>Code</a:t>
            </a:r>
            <a:endParaRPr lang="cs-CZ" sz="2400">
              <a:latin typeface="+mn-lt"/>
            </a:endParaRPr>
          </a:p>
        </p:txBody>
      </p:sp>
      <p:sp>
        <p:nvSpPr>
          <p:cNvPr id="6" name="Rectangle 5"/>
          <p:cNvSpPr>
            <a:spLocks noChangeArrowheads="1"/>
          </p:cNvSpPr>
          <p:nvPr/>
        </p:nvSpPr>
        <p:spPr bwMode="auto">
          <a:xfrm>
            <a:off x="1981201" y="3769245"/>
            <a:ext cx="3322712" cy="431800"/>
          </a:xfrm>
          <a:prstGeom prst="rect">
            <a:avLst/>
          </a:prstGeom>
          <a:solidFill>
            <a:schemeClr val="accent5">
              <a:lumMod val="60000"/>
              <a:lumOff val="40000"/>
            </a:schemeClr>
          </a:solidFill>
          <a:ln w="9525">
            <a:solidFill>
              <a:schemeClr val="tx1"/>
            </a:solidFill>
            <a:miter lim="800000"/>
            <a:headEnd/>
            <a:tailEnd/>
          </a:ln>
        </p:spPr>
        <p:txBody>
          <a:bodyPr wrap="none" anchor="ctr"/>
          <a:lstStyle/>
          <a:p>
            <a:pPr algn="ctr"/>
            <a:r>
              <a:rPr lang="en-US" sz="2400">
                <a:latin typeface="+mn-lt"/>
              </a:rPr>
              <a:t>Uninitialized static data</a:t>
            </a:r>
            <a:endParaRPr lang="cs-CZ" sz="2400">
              <a:latin typeface="+mn-lt"/>
            </a:endParaRPr>
          </a:p>
        </p:txBody>
      </p:sp>
      <p:sp>
        <p:nvSpPr>
          <p:cNvPr id="7" name="Rectangle 6"/>
          <p:cNvSpPr>
            <a:spLocks noChangeArrowheads="1"/>
          </p:cNvSpPr>
          <p:nvPr/>
        </p:nvSpPr>
        <p:spPr bwMode="auto">
          <a:xfrm>
            <a:off x="1981201" y="5137670"/>
            <a:ext cx="3322713" cy="430212"/>
          </a:xfrm>
          <a:prstGeom prst="rect">
            <a:avLst/>
          </a:prstGeom>
          <a:solidFill>
            <a:schemeClr val="bg1">
              <a:lumMod val="85000"/>
            </a:schemeClr>
          </a:solidFill>
          <a:ln w="9525">
            <a:solidFill>
              <a:schemeClr val="tx1"/>
            </a:solidFill>
            <a:miter lim="800000"/>
            <a:headEnd/>
            <a:tailEnd/>
          </a:ln>
        </p:spPr>
        <p:txBody>
          <a:bodyPr wrap="none" anchor="ctr"/>
          <a:lstStyle/>
          <a:p>
            <a:pPr algn="ctr"/>
            <a:r>
              <a:rPr lang="en-US" sz="2400">
                <a:latin typeface="+mn-lt"/>
              </a:rPr>
              <a:t>Stack for thread </a:t>
            </a:r>
            <a:r>
              <a:rPr lang="cs-CZ" sz="2400">
                <a:latin typeface="+mn-lt"/>
              </a:rPr>
              <a:t>n</a:t>
            </a:r>
            <a:endParaRPr lang="cs-CZ" sz="2400" baseline="-25000">
              <a:latin typeface="+mn-lt"/>
            </a:endParaRPr>
          </a:p>
        </p:txBody>
      </p:sp>
      <p:sp>
        <p:nvSpPr>
          <p:cNvPr id="8" name="Line 16"/>
          <p:cNvSpPr>
            <a:spLocks noChangeShapeType="1"/>
          </p:cNvSpPr>
          <p:nvPr/>
        </p:nvSpPr>
        <p:spPr bwMode="auto">
          <a:xfrm flipV="1">
            <a:off x="3637621" y="5834309"/>
            <a:ext cx="0" cy="238399"/>
          </a:xfrm>
          <a:prstGeom prst="line">
            <a:avLst/>
          </a:prstGeom>
          <a:noFill/>
          <a:ln w="9525">
            <a:solidFill>
              <a:schemeClr val="tx1"/>
            </a:solidFill>
            <a:round/>
            <a:headEnd/>
            <a:tailEnd type="triangle" w="med" len="med"/>
          </a:ln>
        </p:spPr>
        <p:txBody>
          <a:bodyPr wrap="none"/>
          <a:lstStyle/>
          <a:p>
            <a:endParaRPr lang="cs-CZ">
              <a:latin typeface="+mn-lt"/>
            </a:endParaRPr>
          </a:p>
        </p:txBody>
      </p:sp>
      <p:sp>
        <p:nvSpPr>
          <p:cNvPr id="9" name="Line 17"/>
          <p:cNvSpPr>
            <a:spLocks noChangeShapeType="1"/>
          </p:cNvSpPr>
          <p:nvPr/>
        </p:nvSpPr>
        <p:spPr bwMode="auto">
          <a:xfrm>
            <a:off x="3638790" y="5567882"/>
            <a:ext cx="0" cy="215900"/>
          </a:xfrm>
          <a:prstGeom prst="line">
            <a:avLst/>
          </a:prstGeom>
          <a:noFill/>
          <a:ln w="9525">
            <a:solidFill>
              <a:schemeClr val="tx1"/>
            </a:solidFill>
            <a:round/>
            <a:headEnd/>
            <a:tailEnd type="triangle" w="med" len="med"/>
          </a:ln>
        </p:spPr>
        <p:txBody>
          <a:bodyPr wrap="none"/>
          <a:lstStyle/>
          <a:p>
            <a:endParaRPr lang="cs-CZ">
              <a:latin typeface="+mn-lt"/>
            </a:endParaRPr>
          </a:p>
        </p:txBody>
      </p:sp>
      <p:sp>
        <p:nvSpPr>
          <p:cNvPr id="10" name="Rectangle 9"/>
          <p:cNvSpPr>
            <a:spLocks noChangeArrowheads="1"/>
          </p:cNvSpPr>
          <p:nvPr/>
        </p:nvSpPr>
        <p:spPr bwMode="auto">
          <a:xfrm>
            <a:off x="1981201" y="4201045"/>
            <a:ext cx="3322713" cy="430212"/>
          </a:xfrm>
          <a:prstGeom prst="rect">
            <a:avLst/>
          </a:prstGeom>
          <a:solidFill>
            <a:schemeClr val="bg1">
              <a:lumMod val="85000"/>
            </a:schemeClr>
          </a:solidFill>
          <a:ln w="9525">
            <a:solidFill>
              <a:schemeClr val="tx1"/>
            </a:solidFill>
            <a:miter lim="800000"/>
            <a:headEnd/>
            <a:tailEnd/>
          </a:ln>
        </p:spPr>
        <p:txBody>
          <a:bodyPr wrap="none" anchor="ctr"/>
          <a:lstStyle/>
          <a:p>
            <a:pPr algn="ctr"/>
            <a:r>
              <a:rPr lang="en-US" sz="2400">
                <a:latin typeface="+mn-lt"/>
              </a:rPr>
              <a:t>Stack for thread 1</a:t>
            </a:r>
            <a:endParaRPr lang="cs-CZ" sz="2400" baseline="-25000">
              <a:latin typeface="+mn-lt"/>
            </a:endParaRPr>
          </a:p>
        </p:txBody>
      </p:sp>
      <p:sp>
        <p:nvSpPr>
          <p:cNvPr id="11" name="Line 20"/>
          <p:cNvSpPr>
            <a:spLocks noChangeShapeType="1"/>
          </p:cNvSpPr>
          <p:nvPr/>
        </p:nvSpPr>
        <p:spPr bwMode="auto">
          <a:xfrm>
            <a:off x="3638790" y="4631257"/>
            <a:ext cx="0" cy="215900"/>
          </a:xfrm>
          <a:prstGeom prst="line">
            <a:avLst/>
          </a:prstGeom>
          <a:noFill/>
          <a:ln w="9525">
            <a:solidFill>
              <a:schemeClr val="tx1"/>
            </a:solidFill>
            <a:round/>
            <a:headEnd/>
            <a:tailEnd type="triangle" w="med" len="med"/>
          </a:ln>
        </p:spPr>
        <p:txBody>
          <a:bodyPr wrap="none"/>
          <a:lstStyle/>
          <a:p>
            <a:endParaRPr lang="cs-CZ">
              <a:latin typeface="+mn-lt"/>
            </a:endParaRPr>
          </a:p>
        </p:txBody>
      </p:sp>
      <p:sp>
        <p:nvSpPr>
          <p:cNvPr id="12" name="Line 21"/>
          <p:cNvSpPr>
            <a:spLocks noChangeShapeType="1"/>
          </p:cNvSpPr>
          <p:nvPr/>
        </p:nvSpPr>
        <p:spPr bwMode="auto">
          <a:xfrm>
            <a:off x="3638790" y="4921770"/>
            <a:ext cx="0" cy="215900"/>
          </a:xfrm>
          <a:prstGeom prst="line">
            <a:avLst/>
          </a:prstGeom>
          <a:noFill/>
          <a:ln w="9525">
            <a:solidFill>
              <a:schemeClr val="tx1"/>
            </a:solidFill>
            <a:prstDash val="dash"/>
            <a:round/>
            <a:headEnd/>
            <a:tailEnd/>
          </a:ln>
        </p:spPr>
        <p:txBody>
          <a:bodyPr wrap="none"/>
          <a:lstStyle/>
          <a:p>
            <a:endParaRPr lang="cs-CZ">
              <a:latin typeface="+mn-lt"/>
            </a:endParaRPr>
          </a:p>
        </p:txBody>
      </p:sp>
      <p:sp>
        <p:nvSpPr>
          <p:cNvPr id="13" name="Rectangle 22"/>
          <p:cNvSpPr>
            <a:spLocks noChangeArrowheads="1"/>
          </p:cNvSpPr>
          <p:nvPr/>
        </p:nvSpPr>
        <p:spPr bwMode="auto">
          <a:xfrm>
            <a:off x="1981201" y="2924696"/>
            <a:ext cx="3322713" cy="431800"/>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a:r>
              <a:rPr lang="en-US" sz="2400">
                <a:latin typeface="+mn-lt"/>
              </a:rPr>
              <a:t>Constants</a:t>
            </a:r>
            <a:endParaRPr lang="cs-CZ" sz="2400">
              <a:latin typeface="+mn-lt"/>
            </a:endParaRPr>
          </a:p>
        </p:txBody>
      </p:sp>
      <p:sp>
        <p:nvSpPr>
          <p:cNvPr id="14" name="Rectangle 23"/>
          <p:cNvSpPr>
            <a:spLocks noChangeArrowheads="1"/>
          </p:cNvSpPr>
          <p:nvPr/>
        </p:nvSpPr>
        <p:spPr bwMode="auto">
          <a:xfrm>
            <a:off x="1981201" y="3339033"/>
            <a:ext cx="3322713" cy="431800"/>
          </a:xfrm>
          <a:prstGeom prst="rect">
            <a:avLst/>
          </a:prstGeom>
          <a:solidFill>
            <a:schemeClr val="accent5">
              <a:lumMod val="60000"/>
              <a:lumOff val="40000"/>
            </a:schemeClr>
          </a:solidFill>
          <a:ln w="9525">
            <a:solidFill>
              <a:schemeClr val="tx1"/>
            </a:solidFill>
            <a:miter lim="800000"/>
            <a:headEnd/>
            <a:tailEnd/>
          </a:ln>
        </p:spPr>
        <p:txBody>
          <a:bodyPr wrap="none" anchor="ctr"/>
          <a:lstStyle/>
          <a:p>
            <a:pPr algn="ctr"/>
            <a:r>
              <a:rPr lang="en-US" sz="2400" dirty="0">
                <a:latin typeface="+mn-lt"/>
              </a:rPr>
              <a:t>Initialized static data</a:t>
            </a:r>
            <a:endParaRPr lang="cs-CZ" sz="2400" dirty="0">
              <a:latin typeface="+mn-lt"/>
            </a:endParaRPr>
          </a:p>
        </p:txBody>
      </p:sp>
      <p:sp>
        <p:nvSpPr>
          <p:cNvPr id="15" name="Line 25"/>
          <p:cNvSpPr>
            <a:spLocks noChangeShapeType="1"/>
          </p:cNvSpPr>
          <p:nvPr/>
        </p:nvSpPr>
        <p:spPr bwMode="auto">
          <a:xfrm>
            <a:off x="1981200" y="4632846"/>
            <a:ext cx="0" cy="504825"/>
          </a:xfrm>
          <a:prstGeom prst="line">
            <a:avLst/>
          </a:prstGeom>
          <a:noFill/>
          <a:ln w="9525">
            <a:solidFill>
              <a:schemeClr val="tx1"/>
            </a:solidFill>
            <a:prstDash val="dash"/>
            <a:round/>
            <a:headEnd/>
            <a:tailEnd/>
          </a:ln>
        </p:spPr>
        <p:txBody>
          <a:bodyPr wrap="none"/>
          <a:lstStyle/>
          <a:p>
            <a:endParaRPr lang="cs-CZ">
              <a:latin typeface="+mn-lt"/>
            </a:endParaRPr>
          </a:p>
        </p:txBody>
      </p:sp>
      <p:sp>
        <p:nvSpPr>
          <p:cNvPr id="16" name="Line 26"/>
          <p:cNvSpPr>
            <a:spLocks noChangeShapeType="1"/>
          </p:cNvSpPr>
          <p:nvPr/>
        </p:nvSpPr>
        <p:spPr bwMode="auto">
          <a:xfrm>
            <a:off x="5303913" y="4632846"/>
            <a:ext cx="0" cy="504825"/>
          </a:xfrm>
          <a:prstGeom prst="line">
            <a:avLst/>
          </a:prstGeom>
          <a:noFill/>
          <a:ln w="9525">
            <a:solidFill>
              <a:schemeClr val="tx1"/>
            </a:solidFill>
            <a:prstDash val="dash"/>
            <a:round/>
            <a:headEnd/>
            <a:tailEnd/>
          </a:ln>
        </p:spPr>
        <p:txBody>
          <a:bodyPr wrap="none"/>
          <a:lstStyle/>
          <a:p>
            <a:endParaRPr lang="cs-CZ">
              <a:latin typeface="+mn-lt"/>
            </a:endParaRPr>
          </a:p>
        </p:txBody>
      </p:sp>
      <p:sp>
        <p:nvSpPr>
          <p:cNvPr id="17" name="Line 25"/>
          <p:cNvSpPr>
            <a:spLocks noChangeShapeType="1"/>
          </p:cNvSpPr>
          <p:nvPr/>
        </p:nvSpPr>
        <p:spPr bwMode="auto">
          <a:xfrm>
            <a:off x="1981200" y="5567883"/>
            <a:ext cx="0" cy="504825"/>
          </a:xfrm>
          <a:prstGeom prst="line">
            <a:avLst/>
          </a:prstGeom>
          <a:noFill/>
          <a:ln w="9525">
            <a:solidFill>
              <a:schemeClr val="tx1"/>
            </a:solidFill>
            <a:prstDash val="dash"/>
            <a:round/>
            <a:headEnd/>
            <a:tailEnd/>
          </a:ln>
        </p:spPr>
        <p:txBody>
          <a:bodyPr wrap="none"/>
          <a:lstStyle/>
          <a:p>
            <a:endParaRPr lang="cs-CZ">
              <a:latin typeface="+mn-lt"/>
            </a:endParaRPr>
          </a:p>
        </p:txBody>
      </p:sp>
      <p:sp>
        <p:nvSpPr>
          <p:cNvPr id="18" name="Line 25"/>
          <p:cNvSpPr>
            <a:spLocks noChangeShapeType="1"/>
          </p:cNvSpPr>
          <p:nvPr/>
        </p:nvSpPr>
        <p:spPr bwMode="auto">
          <a:xfrm>
            <a:off x="5303913" y="5581896"/>
            <a:ext cx="0" cy="504825"/>
          </a:xfrm>
          <a:prstGeom prst="line">
            <a:avLst/>
          </a:prstGeom>
          <a:noFill/>
          <a:ln w="9525">
            <a:solidFill>
              <a:schemeClr val="tx1"/>
            </a:solidFill>
            <a:prstDash val="dash"/>
            <a:round/>
            <a:headEnd/>
            <a:tailEnd/>
          </a:ln>
        </p:spPr>
        <p:txBody>
          <a:bodyPr wrap="none"/>
          <a:lstStyle/>
          <a:p>
            <a:endParaRPr lang="cs-CZ">
              <a:latin typeface="+mn-lt"/>
            </a:endParaRPr>
          </a:p>
        </p:txBody>
      </p:sp>
      <p:sp>
        <p:nvSpPr>
          <p:cNvPr id="19" name="TextBox 18"/>
          <p:cNvSpPr txBox="1"/>
          <p:nvPr/>
        </p:nvSpPr>
        <p:spPr>
          <a:xfrm>
            <a:off x="1603132" y="1827860"/>
            <a:ext cx="3726341" cy="461665"/>
          </a:xfrm>
          <a:prstGeom prst="rect">
            <a:avLst/>
          </a:prstGeom>
          <a:noFill/>
        </p:spPr>
        <p:txBody>
          <a:bodyPr wrap="none" rtlCol="0">
            <a:spAutoFit/>
          </a:bodyPr>
          <a:lstStyle/>
          <a:p>
            <a:r>
              <a:rPr lang="en-US" sz="2400" dirty="0">
                <a:latin typeface="+mn-lt"/>
              </a:rPr>
              <a:t>VAS = process address space</a:t>
            </a:r>
          </a:p>
        </p:txBody>
      </p:sp>
      <p:sp>
        <p:nvSpPr>
          <p:cNvPr id="22" name="Rectangle 21"/>
          <p:cNvSpPr/>
          <p:nvPr/>
        </p:nvSpPr>
        <p:spPr bwMode="auto">
          <a:xfrm>
            <a:off x="6168008" y="3958263"/>
            <a:ext cx="1296144" cy="878159"/>
          </a:xfrm>
          <a:prstGeom prst="rect">
            <a:avLst/>
          </a:prstGeom>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vert="horz" wrap="none" lIns="91440" tIns="45720" rIns="91440" bIns="45720" numCol="1" rtlCol="0" anchor="ctr" anchorCtr="0" compatLnSpc="1">
            <a:prstTxWarp prst="textNoShape">
              <a:avLst/>
            </a:prstTxWarp>
          </a:bodyPr>
          <a:lstStyle/>
          <a:p>
            <a:pPr algn="ctr"/>
            <a:r>
              <a:rPr lang="en-US" sz="2400">
                <a:solidFill>
                  <a:schemeClr val="bg1"/>
                </a:solidFill>
              </a:rPr>
              <a:t>MMU</a:t>
            </a:r>
          </a:p>
        </p:txBody>
      </p:sp>
      <p:cxnSp>
        <p:nvCxnSpPr>
          <p:cNvPr id="24" name="Straight Connector 23"/>
          <p:cNvCxnSpPr/>
          <p:nvPr/>
        </p:nvCxnSpPr>
        <p:spPr bwMode="auto">
          <a:xfrm>
            <a:off x="1819068" y="3149053"/>
            <a:ext cx="3637107"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26" name="Straight Arrow Connector 25"/>
          <p:cNvCxnSpPr>
            <a:stCxn id="13" idx="3"/>
            <a:endCxn id="22" idx="1"/>
          </p:cNvCxnSpPr>
          <p:nvPr/>
        </p:nvCxnSpPr>
        <p:spPr bwMode="auto">
          <a:xfrm>
            <a:off x="5303914" y="3140596"/>
            <a:ext cx="864095" cy="125674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7" name="TextBox 26"/>
          <p:cNvSpPr txBox="1"/>
          <p:nvPr/>
        </p:nvSpPr>
        <p:spPr>
          <a:xfrm>
            <a:off x="5574430" y="2955930"/>
            <a:ext cx="438325" cy="369332"/>
          </a:xfrm>
          <a:prstGeom prst="rect">
            <a:avLst/>
          </a:prstGeom>
          <a:noFill/>
        </p:spPr>
        <p:txBody>
          <a:bodyPr wrap="none" rtlCol="0">
            <a:spAutoFit/>
          </a:bodyPr>
          <a:lstStyle/>
          <a:p>
            <a:r>
              <a:rPr lang="en-US">
                <a:latin typeface="+mn-lt"/>
              </a:rPr>
              <a:t>VA</a:t>
            </a:r>
          </a:p>
        </p:txBody>
      </p:sp>
      <p:sp>
        <p:nvSpPr>
          <p:cNvPr id="28" name="Rectangle 27"/>
          <p:cNvSpPr/>
          <p:nvPr/>
        </p:nvSpPr>
        <p:spPr bwMode="auto">
          <a:xfrm>
            <a:off x="8256240" y="2924697"/>
            <a:ext cx="1800200" cy="3028811"/>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29" name="TextBox 28"/>
          <p:cNvSpPr txBox="1"/>
          <p:nvPr/>
        </p:nvSpPr>
        <p:spPr>
          <a:xfrm>
            <a:off x="7125428" y="1876498"/>
            <a:ext cx="3542573" cy="461665"/>
          </a:xfrm>
          <a:prstGeom prst="rect">
            <a:avLst/>
          </a:prstGeom>
          <a:noFill/>
        </p:spPr>
        <p:txBody>
          <a:bodyPr wrap="none" rtlCol="0">
            <a:spAutoFit/>
          </a:bodyPr>
          <a:lstStyle/>
          <a:p>
            <a:r>
              <a:rPr lang="en-US" sz="2400"/>
              <a:t>PAS = available memory</a:t>
            </a:r>
          </a:p>
        </p:txBody>
      </p:sp>
      <p:cxnSp>
        <p:nvCxnSpPr>
          <p:cNvPr id="30" name="Straight Connector 29"/>
          <p:cNvCxnSpPr/>
          <p:nvPr/>
        </p:nvCxnSpPr>
        <p:spPr bwMode="auto">
          <a:xfrm>
            <a:off x="7968208" y="5137670"/>
            <a:ext cx="2304256"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33" name="Straight Arrow Connector 32"/>
          <p:cNvCxnSpPr>
            <a:stCxn id="22" idx="3"/>
          </p:cNvCxnSpPr>
          <p:nvPr/>
        </p:nvCxnSpPr>
        <p:spPr bwMode="auto">
          <a:xfrm>
            <a:off x="7464152" y="4397342"/>
            <a:ext cx="792088" cy="74032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4" name="TextBox 33"/>
          <p:cNvSpPr txBox="1"/>
          <p:nvPr/>
        </p:nvSpPr>
        <p:spPr>
          <a:xfrm>
            <a:off x="7464152" y="4953004"/>
            <a:ext cx="419346" cy="369332"/>
          </a:xfrm>
          <a:prstGeom prst="rect">
            <a:avLst/>
          </a:prstGeom>
          <a:noFill/>
        </p:spPr>
        <p:txBody>
          <a:bodyPr wrap="none" rtlCol="0">
            <a:spAutoFit/>
          </a:bodyPr>
          <a:lstStyle/>
          <a:p>
            <a:r>
              <a:rPr lang="en-US">
                <a:latin typeface="+mn-lt"/>
              </a:rPr>
              <a:t>PA</a:t>
            </a:r>
          </a:p>
        </p:txBody>
      </p:sp>
      <p:sp>
        <p:nvSpPr>
          <p:cNvPr id="3" name="Date Placeholder 2"/>
          <p:cNvSpPr>
            <a:spLocks noGrp="1"/>
          </p:cNvSpPr>
          <p:nvPr>
            <p:ph type="dt" sz="half" idx="10"/>
          </p:nvPr>
        </p:nvSpPr>
        <p:spPr/>
        <p:txBody>
          <a:bodyPr/>
          <a:lstStyle/>
          <a:p>
            <a:r>
              <a:rPr lang="cs-CZ" altLang="en-US"/>
              <a:t>17.4.2025</a:t>
            </a:r>
            <a:endParaRPr lang="en-US" altLang="en-US"/>
          </a:p>
        </p:txBody>
      </p:sp>
      <p:sp>
        <p:nvSpPr>
          <p:cNvPr id="20" name="Slide Number Placeholder 19"/>
          <p:cNvSpPr>
            <a:spLocks noGrp="1"/>
          </p:cNvSpPr>
          <p:nvPr>
            <p:ph type="sldNum" sz="quarter" idx="12"/>
          </p:nvPr>
        </p:nvSpPr>
        <p:spPr/>
        <p:txBody>
          <a:bodyPr/>
          <a:lstStyle/>
          <a:p>
            <a:fld id="{F4A1145F-674A-4228-8958-0EA9769F5517}" type="slidenum">
              <a:rPr lang="en-US" altLang="en-US" smtClean="0"/>
              <a:pPr/>
              <a:t>63</a:t>
            </a:fld>
            <a:endParaRPr lang="en-US" altLang="en-US"/>
          </a:p>
        </p:txBody>
      </p:sp>
    </p:spTree>
    <p:extLst>
      <p:ext uri="{BB962C8B-B14F-4D97-AF65-F5344CB8AC3E}">
        <p14:creationId xmlns:p14="http://schemas.microsoft.com/office/powerpoint/2010/main" val="34158021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Virtual memory</a:t>
            </a:r>
          </a:p>
        </p:txBody>
      </p:sp>
      <p:sp>
        <p:nvSpPr>
          <p:cNvPr id="3" name="Content Placeholder 2"/>
          <p:cNvSpPr>
            <a:spLocks noGrp="1"/>
          </p:cNvSpPr>
          <p:nvPr>
            <p:ph idx="1"/>
          </p:nvPr>
        </p:nvSpPr>
        <p:spPr/>
        <p:txBody>
          <a:bodyPr/>
          <a:lstStyle/>
          <a:p>
            <a:r>
              <a:rPr lang="en-US" dirty="0"/>
              <a:t>Why?</a:t>
            </a:r>
          </a:p>
          <a:p>
            <a:pPr lvl="1"/>
            <a:r>
              <a:rPr lang="en-US" dirty="0"/>
              <a:t>More address space</a:t>
            </a:r>
          </a:p>
          <a:p>
            <a:pPr lvl="2"/>
            <a:r>
              <a:rPr lang="en-US" dirty="0"/>
              <a:t>VAS can be larger than PAS (an illusion of having large memory)</a:t>
            </a:r>
          </a:p>
          <a:p>
            <a:pPr lvl="3"/>
            <a:r>
              <a:rPr lang="en-US" dirty="0"/>
              <a:t>Today, IA-32 can have larger PAS than VAS</a:t>
            </a:r>
          </a:p>
          <a:p>
            <a:pPr lvl="2"/>
            <a:r>
              <a:rPr lang="en-US" dirty="0"/>
              <a:t>Add secondary storage as a memory backup/swap</a:t>
            </a:r>
          </a:p>
          <a:p>
            <a:pPr lvl="2"/>
            <a:r>
              <a:rPr lang="en-US" dirty="0"/>
              <a:t>This is no longer the primary reason today</a:t>
            </a:r>
          </a:p>
          <a:p>
            <a:pPr lvl="1"/>
            <a:r>
              <a:rPr lang="en-US" dirty="0"/>
              <a:t>Security</a:t>
            </a:r>
          </a:p>
          <a:p>
            <a:pPr lvl="2"/>
            <a:r>
              <a:rPr lang="en-US" dirty="0"/>
              <a:t>Process address space separation</a:t>
            </a:r>
          </a:p>
          <a:p>
            <a:pPr lvl="2"/>
            <a:r>
              <a:rPr lang="en-US" dirty="0"/>
              <a:t>“Separation” of logical segments in a process address space (read-only, executable, …)</a:t>
            </a:r>
          </a:p>
          <a:p>
            <a:pPr lvl="1"/>
            <a:r>
              <a:rPr lang="en-US" dirty="0"/>
              <a:t>Specialized (advanced) operations</a:t>
            </a:r>
          </a:p>
          <a:p>
            <a:pPr lvl="2"/>
            <a:r>
              <a:rPr lang="en-US" dirty="0"/>
              <a:t>Memory-mapped I/O (e.g., memory-mapped file)</a:t>
            </a:r>
          </a:p>
          <a:p>
            <a:pPr lvl="2"/>
            <a:r>
              <a:rPr lang="en-US" dirty="0"/>
              <a:t>Controlled memory sharing</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64</a:t>
            </a:fld>
            <a:endParaRPr lang="en-US" altLang="en-US"/>
          </a:p>
        </p:txBody>
      </p:sp>
    </p:spTree>
    <p:extLst>
      <p:ext uri="{BB962C8B-B14F-4D97-AF65-F5344CB8AC3E}">
        <p14:creationId xmlns:p14="http://schemas.microsoft.com/office/powerpoint/2010/main" val="42877786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Segmentation</a:t>
            </a:r>
          </a:p>
        </p:txBody>
      </p:sp>
      <p:sp>
        <p:nvSpPr>
          <p:cNvPr id="3" name="Content Placeholder 2"/>
          <p:cNvSpPr>
            <a:spLocks noGrp="1"/>
          </p:cNvSpPr>
          <p:nvPr>
            <p:ph idx="1"/>
          </p:nvPr>
        </p:nvSpPr>
        <p:spPr>
          <a:xfrm>
            <a:off x="838200" y="1825624"/>
            <a:ext cx="10515600" cy="4452083"/>
          </a:xfrm>
        </p:spPr>
        <p:txBody>
          <a:bodyPr>
            <a:normAutofit/>
          </a:bodyPr>
          <a:lstStyle/>
          <a:p>
            <a:r>
              <a:rPr lang="en-US" dirty="0"/>
              <a:t>Concepts</a:t>
            </a:r>
          </a:p>
          <a:p>
            <a:pPr lvl="1"/>
            <a:r>
              <a:rPr lang="en-US" dirty="0"/>
              <a:t>Virtual (process) address space divided into logical segments</a:t>
            </a:r>
          </a:p>
          <a:p>
            <a:pPr lvl="2"/>
            <a:r>
              <a:rPr lang="en-US" dirty="0"/>
              <a:t>Segments are numbered</a:t>
            </a:r>
          </a:p>
          <a:p>
            <a:pPr lvl="2"/>
            <a:r>
              <a:rPr lang="en-US" dirty="0"/>
              <a:t>may have different sizes</a:t>
            </a:r>
          </a:p>
          <a:p>
            <a:pPr lvl="1"/>
            <a:r>
              <a:rPr lang="en-US" dirty="0"/>
              <a:t>Virtual address has two parts</a:t>
            </a:r>
          </a:p>
          <a:p>
            <a:pPr lvl="2"/>
            <a:r>
              <a:rPr lang="en-US" dirty="0"/>
              <a:t>[segment number; segment offset]</a:t>
            </a:r>
          </a:p>
          <a:p>
            <a:pPr lvl="2"/>
            <a:r>
              <a:rPr lang="en-US" dirty="0"/>
              <a:t>Offsets 0-based for each segment</a:t>
            </a:r>
          </a:p>
          <a:p>
            <a:pPr lvl="1"/>
            <a:r>
              <a:rPr lang="en-US" dirty="0"/>
              <a:t>Segment table (translation data structure)</a:t>
            </a:r>
          </a:p>
          <a:p>
            <a:pPr lvl="2"/>
            <a:r>
              <a:rPr lang="en-US" dirty="0"/>
              <a:t>In memory, for each process</a:t>
            </a:r>
          </a:p>
          <a:p>
            <a:pPr lvl="2"/>
            <a:r>
              <a:rPr lang="en-US" dirty="0"/>
              <a:t>Stores base physical address, length, and attributes for each segment</a:t>
            </a:r>
          </a:p>
          <a:p>
            <a:pPr lvl="2"/>
            <a:r>
              <a:rPr lang="en-US" dirty="0"/>
              <a:t>Indexed by the segment number</a:t>
            </a:r>
          </a:p>
          <a:p>
            <a:pPr lvl="2"/>
            <a:r>
              <a:rPr lang="en-US" dirty="0"/>
              <a:t>Segment fault (if translation or validation of access fails)</a:t>
            </a:r>
          </a:p>
        </p:txBody>
      </p:sp>
      <p:sp>
        <p:nvSpPr>
          <p:cNvPr id="8" name="Date Placeholder 7"/>
          <p:cNvSpPr>
            <a:spLocks noGrp="1"/>
          </p:cNvSpPr>
          <p:nvPr>
            <p:ph type="dt" sz="half" idx="10"/>
          </p:nvPr>
        </p:nvSpPr>
        <p:spPr/>
        <p:txBody>
          <a:bodyPr/>
          <a:lstStyle/>
          <a:p>
            <a:r>
              <a:rPr lang="cs-CZ" altLang="en-US"/>
              <a:t>17.4.2025</a:t>
            </a:r>
            <a:endParaRPr lang="en-US" altLang="en-US"/>
          </a:p>
        </p:txBody>
      </p:sp>
      <p:sp>
        <p:nvSpPr>
          <p:cNvPr id="16" name="Slide Number Placeholder 15"/>
          <p:cNvSpPr>
            <a:spLocks noGrp="1"/>
          </p:cNvSpPr>
          <p:nvPr>
            <p:ph type="sldNum" sz="quarter" idx="12"/>
          </p:nvPr>
        </p:nvSpPr>
        <p:spPr/>
        <p:txBody>
          <a:bodyPr/>
          <a:lstStyle/>
          <a:p>
            <a:fld id="{F4A1145F-674A-4228-8958-0EA9769F5517}" type="slidenum">
              <a:rPr lang="en-US" altLang="en-US" smtClean="0"/>
              <a:pPr/>
              <a:t>65</a:t>
            </a:fld>
            <a:endParaRPr lang="en-US" altLang="en-US"/>
          </a:p>
        </p:txBody>
      </p:sp>
    </p:spTree>
    <p:extLst>
      <p:ext uri="{BB962C8B-B14F-4D97-AF65-F5344CB8AC3E}">
        <p14:creationId xmlns:p14="http://schemas.microsoft.com/office/powerpoint/2010/main" val="39776533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Segmentation</a:t>
            </a:r>
          </a:p>
        </p:txBody>
      </p:sp>
      <p:sp>
        <p:nvSpPr>
          <p:cNvPr id="3" name="Content Placeholder 2"/>
          <p:cNvSpPr>
            <a:spLocks noGrp="1"/>
          </p:cNvSpPr>
          <p:nvPr>
            <p:ph idx="1"/>
          </p:nvPr>
        </p:nvSpPr>
        <p:spPr>
          <a:xfrm>
            <a:off x="838200" y="1825625"/>
            <a:ext cx="10515600" cy="511476"/>
          </a:xfrm>
        </p:spPr>
        <p:txBody>
          <a:bodyPr>
            <a:normAutofit/>
          </a:bodyPr>
          <a:lstStyle/>
          <a:p>
            <a:r>
              <a:rPr lang="en-US" dirty="0"/>
              <a:t>Schema</a:t>
            </a:r>
          </a:p>
        </p:txBody>
      </p:sp>
      <p:sp>
        <p:nvSpPr>
          <p:cNvPr id="8" name="Date Placeholder 7"/>
          <p:cNvSpPr>
            <a:spLocks noGrp="1"/>
          </p:cNvSpPr>
          <p:nvPr>
            <p:ph type="dt" sz="half" idx="10"/>
          </p:nvPr>
        </p:nvSpPr>
        <p:spPr/>
        <p:txBody>
          <a:bodyPr/>
          <a:lstStyle/>
          <a:p>
            <a:r>
              <a:rPr lang="cs-CZ" altLang="en-US"/>
              <a:t>17.4.2025</a:t>
            </a:r>
            <a:endParaRPr lang="en-US" altLang="en-US"/>
          </a:p>
        </p:txBody>
      </p:sp>
      <p:sp>
        <p:nvSpPr>
          <p:cNvPr id="16" name="Slide Number Placeholder 15"/>
          <p:cNvSpPr>
            <a:spLocks noGrp="1"/>
          </p:cNvSpPr>
          <p:nvPr>
            <p:ph type="sldNum" sz="quarter" idx="12"/>
          </p:nvPr>
        </p:nvSpPr>
        <p:spPr/>
        <p:txBody>
          <a:bodyPr/>
          <a:lstStyle/>
          <a:p>
            <a:fld id="{F4A1145F-674A-4228-8958-0EA9769F5517}" type="slidenum">
              <a:rPr lang="en-US" altLang="en-US" smtClean="0"/>
              <a:pPr/>
              <a:t>66</a:t>
            </a:fld>
            <a:endParaRPr lang="en-US" altLang="en-US"/>
          </a:p>
        </p:txBody>
      </p:sp>
      <p:sp>
        <p:nvSpPr>
          <p:cNvPr id="4" name="Rectangle 3"/>
          <p:cNvSpPr/>
          <p:nvPr/>
        </p:nvSpPr>
        <p:spPr bwMode="auto">
          <a:xfrm>
            <a:off x="4209539" y="3447253"/>
            <a:ext cx="504055" cy="288032"/>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2000" dirty="0" err="1">
                <a:latin typeface="+mn-lt"/>
              </a:rPr>
              <a:t>seg</a:t>
            </a:r>
            <a:endParaRPr lang="en-US" sz="2000" dirty="0">
              <a:latin typeface="+mn-lt"/>
            </a:endParaRPr>
          </a:p>
        </p:txBody>
      </p:sp>
      <p:sp>
        <p:nvSpPr>
          <p:cNvPr id="5" name="TextBox 4"/>
          <p:cNvSpPr txBox="1"/>
          <p:nvPr/>
        </p:nvSpPr>
        <p:spPr>
          <a:xfrm>
            <a:off x="4461566" y="3028915"/>
            <a:ext cx="467564" cy="400110"/>
          </a:xfrm>
          <a:prstGeom prst="rect">
            <a:avLst/>
          </a:prstGeom>
          <a:noFill/>
        </p:spPr>
        <p:txBody>
          <a:bodyPr wrap="none" rtlCol="0">
            <a:spAutoFit/>
          </a:bodyPr>
          <a:lstStyle/>
          <a:p>
            <a:r>
              <a:rPr lang="en-US" sz="2000">
                <a:latin typeface="+mn-lt"/>
              </a:rPr>
              <a:t>VA</a:t>
            </a:r>
          </a:p>
        </p:txBody>
      </p:sp>
      <p:sp>
        <p:nvSpPr>
          <p:cNvPr id="6" name="Rectangle 5"/>
          <p:cNvSpPr/>
          <p:nvPr/>
        </p:nvSpPr>
        <p:spPr bwMode="auto">
          <a:xfrm>
            <a:off x="4713594" y="3447253"/>
            <a:ext cx="504338" cy="288032"/>
          </a:xfrm>
          <a:prstGeom prst="rect">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2000" dirty="0">
                <a:latin typeface="+mn-lt"/>
              </a:rPr>
              <a:t>offs</a:t>
            </a:r>
          </a:p>
        </p:txBody>
      </p:sp>
      <p:sp>
        <p:nvSpPr>
          <p:cNvPr id="7" name="TextBox 6"/>
          <p:cNvSpPr txBox="1"/>
          <p:nvPr/>
        </p:nvSpPr>
        <p:spPr>
          <a:xfrm>
            <a:off x="5440761" y="5284365"/>
            <a:ext cx="1138517" cy="400110"/>
          </a:xfrm>
          <a:prstGeom prst="rect">
            <a:avLst/>
          </a:prstGeom>
          <a:noFill/>
        </p:spPr>
        <p:txBody>
          <a:bodyPr wrap="none" rtlCol="0">
            <a:spAutoFit/>
          </a:bodyPr>
          <a:lstStyle/>
          <a:p>
            <a:r>
              <a:rPr lang="en-US" sz="2000" dirty="0" err="1">
                <a:latin typeface="+mn-lt"/>
              </a:rPr>
              <a:t>Seg</a:t>
            </a:r>
            <a:r>
              <a:rPr lang="en-US" sz="2000" dirty="0">
                <a:latin typeface="+mn-lt"/>
              </a:rPr>
              <a:t> table</a:t>
            </a:r>
          </a:p>
        </p:txBody>
      </p:sp>
      <p:cxnSp>
        <p:nvCxnSpPr>
          <p:cNvPr id="9" name="Straight Connector 8"/>
          <p:cNvCxnSpPr/>
          <p:nvPr/>
        </p:nvCxnSpPr>
        <p:spPr bwMode="auto">
          <a:xfrm>
            <a:off x="5577972" y="3735284"/>
            <a:ext cx="0" cy="1565179"/>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0" name="Straight Connector 9"/>
          <p:cNvCxnSpPr/>
          <p:nvPr/>
        </p:nvCxnSpPr>
        <p:spPr bwMode="auto">
          <a:xfrm>
            <a:off x="6442068" y="3735284"/>
            <a:ext cx="0" cy="1565179"/>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1" name="Rectangle 10"/>
          <p:cNvSpPr/>
          <p:nvPr/>
        </p:nvSpPr>
        <p:spPr bwMode="auto">
          <a:xfrm>
            <a:off x="5577972" y="4173573"/>
            <a:ext cx="864096" cy="720080"/>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sz="2000">
              <a:latin typeface="+mn-lt"/>
            </a:endParaRPr>
          </a:p>
        </p:txBody>
      </p:sp>
      <p:sp>
        <p:nvSpPr>
          <p:cNvPr id="12" name="Rectangle 11"/>
          <p:cNvSpPr/>
          <p:nvPr/>
        </p:nvSpPr>
        <p:spPr bwMode="auto">
          <a:xfrm>
            <a:off x="5577972" y="4173573"/>
            <a:ext cx="648072" cy="288032"/>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2000" dirty="0">
                <a:latin typeface="+mn-lt"/>
              </a:rPr>
              <a:t>BPA</a:t>
            </a:r>
          </a:p>
        </p:txBody>
      </p:sp>
      <p:sp>
        <p:nvSpPr>
          <p:cNvPr id="13" name="Rectangle 12"/>
          <p:cNvSpPr/>
          <p:nvPr/>
        </p:nvSpPr>
        <p:spPr bwMode="auto">
          <a:xfrm>
            <a:off x="5793997" y="4605621"/>
            <a:ext cx="648072" cy="288032"/>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2000" err="1">
                <a:latin typeface="+mn-lt"/>
              </a:rPr>
              <a:t>len</a:t>
            </a:r>
            <a:endParaRPr lang="en-US" sz="2000">
              <a:latin typeface="+mn-lt"/>
            </a:endParaRPr>
          </a:p>
        </p:txBody>
      </p:sp>
      <p:cxnSp>
        <p:nvCxnSpPr>
          <p:cNvPr id="17" name="Elbow Connector 16"/>
          <p:cNvCxnSpPr>
            <a:stCxn id="4" idx="2"/>
            <a:endCxn id="11" idx="1"/>
          </p:cNvCxnSpPr>
          <p:nvPr/>
        </p:nvCxnSpPr>
        <p:spPr bwMode="auto">
          <a:xfrm rot="16200000" flipH="1">
            <a:off x="4620605" y="3576246"/>
            <a:ext cx="798328" cy="1116406"/>
          </a:xfrm>
          <a:prstGeom prst="bentConnector2">
            <a:avLst/>
          </a:prstGeom>
          <a:solidFill>
            <a:schemeClr val="accent1"/>
          </a:solidFill>
          <a:ln w="9525" cap="flat" cmpd="sng" algn="ctr">
            <a:solidFill>
              <a:schemeClr val="tx1"/>
            </a:solidFill>
            <a:prstDash val="solid"/>
            <a:round/>
            <a:headEnd type="none" w="med" len="med"/>
            <a:tailEnd type="triangle"/>
          </a:ln>
          <a:effectLst/>
        </p:spPr>
      </p:cxnSp>
      <p:sp>
        <p:nvSpPr>
          <p:cNvPr id="18" name="Oval 17"/>
          <p:cNvSpPr/>
          <p:nvPr/>
        </p:nvSpPr>
        <p:spPr bwMode="auto">
          <a:xfrm>
            <a:off x="7782675" y="3847167"/>
            <a:ext cx="288032" cy="288032"/>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2000">
                <a:latin typeface="+mn-lt"/>
              </a:rPr>
              <a:t>+</a:t>
            </a:r>
          </a:p>
        </p:txBody>
      </p:sp>
      <p:cxnSp>
        <p:nvCxnSpPr>
          <p:cNvPr id="22" name="Elbow Connector 21"/>
          <p:cNvCxnSpPr>
            <a:stCxn id="12" idx="3"/>
            <a:endCxn id="18" idx="4"/>
          </p:cNvCxnSpPr>
          <p:nvPr/>
        </p:nvCxnSpPr>
        <p:spPr bwMode="auto">
          <a:xfrm flipV="1">
            <a:off x="6226045" y="4135199"/>
            <a:ext cx="1700647" cy="182390"/>
          </a:xfrm>
          <a:prstGeom prst="bentConnector2">
            <a:avLst/>
          </a:prstGeom>
          <a:solidFill>
            <a:schemeClr val="accent1"/>
          </a:solidFill>
          <a:ln w="9525" cap="flat" cmpd="sng" algn="ctr">
            <a:solidFill>
              <a:schemeClr val="tx1"/>
            </a:solidFill>
            <a:prstDash val="solid"/>
            <a:round/>
            <a:headEnd type="none" w="med" len="med"/>
            <a:tailEnd type="triangle"/>
          </a:ln>
          <a:effectLst/>
        </p:spPr>
      </p:cxnSp>
      <p:sp>
        <p:nvSpPr>
          <p:cNvPr id="27" name="Rectangle 26"/>
          <p:cNvSpPr>
            <a:spLocks noChangeArrowheads="1"/>
          </p:cNvSpPr>
          <p:nvPr/>
        </p:nvSpPr>
        <p:spPr bwMode="auto">
          <a:xfrm>
            <a:off x="1506865" y="5262546"/>
            <a:ext cx="1954560" cy="306324"/>
          </a:xfrm>
          <a:prstGeom prst="rect">
            <a:avLst/>
          </a:prstGeom>
          <a:solidFill>
            <a:schemeClr val="accent6">
              <a:lumMod val="60000"/>
              <a:lumOff val="40000"/>
            </a:schemeClr>
          </a:solidFill>
          <a:ln w="9525">
            <a:solidFill>
              <a:schemeClr val="tx1"/>
            </a:solidFill>
            <a:miter lim="800000"/>
            <a:headEnd/>
            <a:tailEnd/>
          </a:ln>
        </p:spPr>
        <p:txBody>
          <a:bodyPr wrap="none" anchor="ctr"/>
          <a:lstStyle/>
          <a:p>
            <a:pPr algn="ctr"/>
            <a:r>
              <a:rPr lang="en-US" sz="1600">
                <a:latin typeface="+mn-lt"/>
              </a:rPr>
              <a:t>Heap</a:t>
            </a:r>
          </a:p>
        </p:txBody>
      </p:sp>
      <p:sp>
        <p:nvSpPr>
          <p:cNvPr id="28" name="Rectangle 27"/>
          <p:cNvSpPr>
            <a:spLocks noChangeArrowheads="1"/>
          </p:cNvSpPr>
          <p:nvPr/>
        </p:nvSpPr>
        <p:spPr bwMode="auto">
          <a:xfrm>
            <a:off x="1506422" y="2648996"/>
            <a:ext cx="1954560" cy="314328"/>
          </a:xfrm>
          <a:prstGeom prst="rect">
            <a:avLst/>
          </a:prstGeom>
          <a:solidFill>
            <a:srgbClr val="FFC000"/>
          </a:solidFill>
          <a:ln w="9525">
            <a:solidFill>
              <a:schemeClr val="tx1"/>
            </a:solidFill>
            <a:miter lim="800000"/>
            <a:headEnd/>
            <a:tailEnd/>
          </a:ln>
        </p:spPr>
        <p:txBody>
          <a:bodyPr wrap="none" anchor="ctr"/>
          <a:lstStyle/>
          <a:p>
            <a:pPr algn="ctr"/>
            <a:r>
              <a:rPr lang="en-US" sz="1600" dirty="0">
                <a:latin typeface="+mn-lt"/>
              </a:rPr>
              <a:t>Code</a:t>
            </a:r>
            <a:endParaRPr lang="cs-CZ" sz="1600" dirty="0">
              <a:latin typeface="+mn-lt"/>
            </a:endParaRPr>
          </a:p>
        </p:txBody>
      </p:sp>
      <p:sp>
        <p:nvSpPr>
          <p:cNvPr id="29" name="Rectangle 28"/>
          <p:cNvSpPr>
            <a:spLocks noChangeArrowheads="1"/>
          </p:cNvSpPr>
          <p:nvPr/>
        </p:nvSpPr>
        <p:spPr bwMode="auto">
          <a:xfrm>
            <a:off x="1506868" y="3981823"/>
            <a:ext cx="1954559" cy="303816"/>
          </a:xfrm>
          <a:prstGeom prst="rect">
            <a:avLst/>
          </a:prstGeom>
          <a:solidFill>
            <a:schemeClr val="accent5">
              <a:lumMod val="60000"/>
              <a:lumOff val="40000"/>
            </a:schemeClr>
          </a:solidFill>
          <a:ln w="9525">
            <a:solidFill>
              <a:schemeClr val="tx1"/>
            </a:solidFill>
            <a:miter lim="800000"/>
            <a:headEnd/>
            <a:tailEnd/>
          </a:ln>
        </p:spPr>
        <p:txBody>
          <a:bodyPr wrap="none" anchor="ctr"/>
          <a:lstStyle/>
          <a:p>
            <a:pPr algn="ctr"/>
            <a:r>
              <a:rPr lang="en-US" sz="1600" dirty="0">
                <a:latin typeface="+mn-lt"/>
              </a:rPr>
              <a:t>Uninitialized static data</a:t>
            </a:r>
            <a:endParaRPr lang="cs-CZ" sz="1600" dirty="0">
              <a:latin typeface="+mn-lt"/>
            </a:endParaRPr>
          </a:p>
        </p:txBody>
      </p:sp>
      <p:sp>
        <p:nvSpPr>
          <p:cNvPr id="31" name="Line 16"/>
          <p:cNvSpPr>
            <a:spLocks noChangeShapeType="1"/>
          </p:cNvSpPr>
          <p:nvPr/>
        </p:nvSpPr>
        <p:spPr bwMode="auto">
          <a:xfrm flipH="1" flipV="1">
            <a:off x="2482394" y="5075253"/>
            <a:ext cx="1169" cy="198553"/>
          </a:xfrm>
          <a:prstGeom prst="line">
            <a:avLst/>
          </a:prstGeom>
          <a:noFill/>
          <a:ln w="9525">
            <a:solidFill>
              <a:schemeClr val="tx1"/>
            </a:solidFill>
            <a:round/>
            <a:headEnd/>
            <a:tailEnd type="triangle" w="med" len="med"/>
          </a:ln>
        </p:spPr>
        <p:txBody>
          <a:bodyPr wrap="none"/>
          <a:lstStyle/>
          <a:p>
            <a:endParaRPr lang="cs-CZ" sz="1600">
              <a:latin typeface="+mn-lt"/>
            </a:endParaRPr>
          </a:p>
        </p:txBody>
      </p:sp>
      <p:sp>
        <p:nvSpPr>
          <p:cNvPr id="33" name="Rectangle 32"/>
          <p:cNvSpPr>
            <a:spLocks noChangeArrowheads="1"/>
          </p:cNvSpPr>
          <p:nvPr/>
        </p:nvSpPr>
        <p:spPr bwMode="auto">
          <a:xfrm>
            <a:off x="1506868" y="4285135"/>
            <a:ext cx="1954560" cy="323271"/>
          </a:xfrm>
          <a:prstGeom prst="rect">
            <a:avLst/>
          </a:prstGeom>
          <a:solidFill>
            <a:schemeClr val="bg1">
              <a:lumMod val="85000"/>
            </a:schemeClr>
          </a:solidFill>
          <a:ln w="9525">
            <a:solidFill>
              <a:schemeClr val="tx1"/>
            </a:solidFill>
            <a:miter lim="800000"/>
            <a:headEnd/>
            <a:tailEnd/>
          </a:ln>
        </p:spPr>
        <p:txBody>
          <a:bodyPr wrap="none" anchor="ctr"/>
          <a:lstStyle/>
          <a:p>
            <a:pPr algn="ctr"/>
            <a:r>
              <a:rPr lang="en-US" sz="1600" dirty="0">
                <a:latin typeface="+mn-lt"/>
              </a:rPr>
              <a:t>Stack for thread</a:t>
            </a:r>
            <a:endParaRPr lang="cs-CZ" sz="1600" baseline="-25000" dirty="0">
              <a:latin typeface="+mn-lt"/>
            </a:endParaRPr>
          </a:p>
        </p:txBody>
      </p:sp>
      <p:sp>
        <p:nvSpPr>
          <p:cNvPr id="34" name="Line 20"/>
          <p:cNvSpPr>
            <a:spLocks noChangeShapeType="1"/>
          </p:cNvSpPr>
          <p:nvPr/>
        </p:nvSpPr>
        <p:spPr bwMode="auto">
          <a:xfrm>
            <a:off x="2482394" y="4608406"/>
            <a:ext cx="0" cy="215900"/>
          </a:xfrm>
          <a:prstGeom prst="line">
            <a:avLst/>
          </a:prstGeom>
          <a:noFill/>
          <a:ln w="9525">
            <a:solidFill>
              <a:schemeClr val="tx1"/>
            </a:solidFill>
            <a:round/>
            <a:headEnd/>
            <a:tailEnd type="triangle" w="med" len="med"/>
          </a:ln>
        </p:spPr>
        <p:txBody>
          <a:bodyPr wrap="none"/>
          <a:lstStyle/>
          <a:p>
            <a:endParaRPr lang="cs-CZ" sz="1600">
              <a:latin typeface="+mn-lt"/>
            </a:endParaRPr>
          </a:p>
        </p:txBody>
      </p:sp>
      <p:sp>
        <p:nvSpPr>
          <p:cNvPr id="35" name="Line 21"/>
          <p:cNvSpPr>
            <a:spLocks noChangeShapeType="1"/>
          </p:cNvSpPr>
          <p:nvPr/>
        </p:nvSpPr>
        <p:spPr bwMode="auto">
          <a:xfrm>
            <a:off x="3461424" y="4490014"/>
            <a:ext cx="3501" cy="772532"/>
          </a:xfrm>
          <a:prstGeom prst="line">
            <a:avLst/>
          </a:prstGeom>
          <a:noFill/>
          <a:ln w="9525">
            <a:solidFill>
              <a:schemeClr val="tx1"/>
            </a:solidFill>
            <a:prstDash val="dash"/>
            <a:round/>
            <a:headEnd/>
            <a:tailEnd/>
          </a:ln>
        </p:spPr>
        <p:txBody>
          <a:bodyPr wrap="none"/>
          <a:lstStyle/>
          <a:p>
            <a:endParaRPr lang="cs-CZ" sz="1600">
              <a:latin typeface="+mn-lt"/>
            </a:endParaRPr>
          </a:p>
        </p:txBody>
      </p:sp>
      <p:sp>
        <p:nvSpPr>
          <p:cNvPr id="36" name="Rectangle 22"/>
          <p:cNvSpPr>
            <a:spLocks noChangeArrowheads="1"/>
          </p:cNvSpPr>
          <p:nvPr/>
        </p:nvSpPr>
        <p:spPr bwMode="auto">
          <a:xfrm>
            <a:off x="1507588" y="2964089"/>
            <a:ext cx="1954560" cy="710411"/>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a:r>
              <a:rPr lang="en-US" sz="1600" dirty="0">
                <a:latin typeface="+mn-lt"/>
              </a:rPr>
              <a:t>Constants</a:t>
            </a:r>
            <a:endParaRPr lang="cs-CZ" sz="1600" dirty="0">
              <a:latin typeface="+mn-lt"/>
            </a:endParaRPr>
          </a:p>
        </p:txBody>
      </p:sp>
      <p:sp>
        <p:nvSpPr>
          <p:cNvPr id="37" name="Rectangle 23"/>
          <p:cNvSpPr>
            <a:spLocks noChangeArrowheads="1"/>
          </p:cNvSpPr>
          <p:nvPr/>
        </p:nvSpPr>
        <p:spPr bwMode="auto">
          <a:xfrm>
            <a:off x="1507588" y="3675265"/>
            <a:ext cx="1954560" cy="302548"/>
          </a:xfrm>
          <a:prstGeom prst="rect">
            <a:avLst/>
          </a:prstGeom>
          <a:solidFill>
            <a:schemeClr val="accent5">
              <a:lumMod val="60000"/>
              <a:lumOff val="40000"/>
            </a:schemeClr>
          </a:solidFill>
          <a:ln w="9525">
            <a:solidFill>
              <a:schemeClr val="tx1"/>
            </a:solidFill>
            <a:miter lim="800000"/>
            <a:headEnd/>
            <a:tailEnd/>
          </a:ln>
        </p:spPr>
        <p:txBody>
          <a:bodyPr wrap="none" anchor="ctr"/>
          <a:lstStyle/>
          <a:p>
            <a:pPr algn="ctr"/>
            <a:r>
              <a:rPr lang="en-US" sz="1600" dirty="0">
                <a:latin typeface="+mn-lt"/>
              </a:rPr>
              <a:t>Initialized static data</a:t>
            </a:r>
            <a:endParaRPr lang="cs-CZ" sz="1600" dirty="0">
              <a:latin typeface="+mn-lt"/>
            </a:endParaRPr>
          </a:p>
        </p:txBody>
      </p:sp>
      <p:cxnSp>
        <p:nvCxnSpPr>
          <p:cNvPr id="42" name="Straight Connector 41"/>
          <p:cNvCxnSpPr/>
          <p:nvPr/>
        </p:nvCxnSpPr>
        <p:spPr bwMode="auto">
          <a:xfrm flipV="1">
            <a:off x="1309777" y="3473712"/>
            <a:ext cx="2346687" cy="5600"/>
          </a:xfrm>
          <a:prstGeom prst="line">
            <a:avLst/>
          </a:prstGeom>
          <a:solidFill>
            <a:schemeClr val="accent1"/>
          </a:solidFill>
          <a:ln w="28575" cap="flat" cmpd="sng" algn="ctr">
            <a:solidFill>
              <a:srgbClr val="FF0000"/>
            </a:solidFill>
            <a:prstDash val="solid"/>
            <a:round/>
            <a:headEnd type="none" w="med" len="med"/>
            <a:tailEnd type="none" w="med" len="med"/>
          </a:ln>
          <a:effectLst/>
        </p:spPr>
      </p:cxnSp>
      <p:sp>
        <p:nvSpPr>
          <p:cNvPr id="30" name="Line 21"/>
          <p:cNvSpPr>
            <a:spLocks noChangeShapeType="1"/>
          </p:cNvSpPr>
          <p:nvPr/>
        </p:nvSpPr>
        <p:spPr bwMode="auto">
          <a:xfrm flipH="1">
            <a:off x="1503364" y="4490014"/>
            <a:ext cx="3501" cy="772532"/>
          </a:xfrm>
          <a:prstGeom prst="line">
            <a:avLst/>
          </a:prstGeom>
          <a:noFill/>
          <a:ln w="9525">
            <a:solidFill>
              <a:schemeClr val="tx1"/>
            </a:solidFill>
            <a:prstDash val="dash"/>
            <a:round/>
            <a:headEnd/>
            <a:tailEnd/>
          </a:ln>
        </p:spPr>
        <p:txBody>
          <a:bodyPr wrap="none"/>
          <a:lstStyle/>
          <a:p>
            <a:endParaRPr lang="cs-CZ" sz="1600">
              <a:latin typeface="+mn-lt"/>
            </a:endParaRPr>
          </a:p>
        </p:txBody>
      </p:sp>
      <p:cxnSp>
        <p:nvCxnSpPr>
          <p:cNvPr id="14" name="Straight Arrow Connector 13"/>
          <p:cNvCxnSpPr/>
          <p:nvPr/>
        </p:nvCxnSpPr>
        <p:spPr bwMode="auto">
          <a:xfrm>
            <a:off x="3107137" y="2963322"/>
            <a:ext cx="0" cy="510390"/>
          </a:xfrm>
          <a:prstGeom prst="straightConnector1">
            <a:avLst/>
          </a:prstGeom>
          <a:solidFill>
            <a:schemeClr val="accent1"/>
          </a:solidFill>
          <a:ln w="9525" cap="flat" cmpd="sng" algn="ctr">
            <a:solidFill>
              <a:schemeClr val="tx1"/>
            </a:solidFill>
            <a:prstDash val="solid"/>
            <a:round/>
            <a:headEnd type="triangle"/>
            <a:tailEnd type="triangle"/>
          </a:ln>
          <a:effectLst/>
        </p:spPr>
      </p:cxnSp>
      <p:sp>
        <p:nvSpPr>
          <p:cNvPr id="15" name="TextBox 14"/>
          <p:cNvSpPr txBox="1"/>
          <p:nvPr/>
        </p:nvSpPr>
        <p:spPr>
          <a:xfrm>
            <a:off x="3054375" y="3064193"/>
            <a:ext cx="494174" cy="338554"/>
          </a:xfrm>
          <a:prstGeom prst="rect">
            <a:avLst/>
          </a:prstGeom>
          <a:noFill/>
        </p:spPr>
        <p:txBody>
          <a:bodyPr wrap="none" rtlCol="0">
            <a:spAutoFit/>
          </a:bodyPr>
          <a:lstStyle/>
          <a:p>
            <a:r>
              <a:rPr lang="en-US" sz="1600">
                <a:latin typeface="+mn-lt"/>
              </a:rPr>
              <a:t>offs</a:t>
            </a:r>
          </a:p>
        </p:txBody>
      </p:sp>
      <p:sp>
        <p:nvSpPr>
          <p:cNvPr id="32" name="Rectangle 31"/>
          <p:cNvSpPr/>
          <p:nvPr/>
        </p:nvSpPr>
        <p:spPr bwMode="auto">
          <a:xfrm>
            <a:off x="8423097" y="3089516"/>
            <a:ext cx="1954559" cy="2062775"/>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sz="2000">
              <a:latin typeface="+mn-lt"/>
            </a:endParaRPr>
          </a:p>
        </p:txBody>
      </p:sp>
      <p:sp>
        <p:nvSpPr>
          <p:cNvPr id="38" name="Rectangle 22"/>
          <p:cNvSpPr>
            <a:spLocks noChangeArrowheads="1"/>
          </p:cNvSpPr>
          <p:nvPr/>
        </p:nvSpPr>
        <p:spPr bwMode="auto">
          <a:xfrm>
            <a:off x="8423096" y="3457067"/>
            <a:ext cx="1954560" cy="710411"/>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a:r>
              <a:rPr lang="en-US" sz="1600">
                <a:latin typeface="+mn-lt"/>
              </a:rPr>
              <a:t>Constants</a:t>
            </a:r>
            <a:endParaRPr lang="cs-CZ" sz="1600">
              <a:latin typeface="+mn-lt"/>
            </a:endParaRPr>
          </a:p>
        </p:txBody>
      </p:sp>
      <p:sp>
        <p:nvSpPr>
          <p:cNvPr id="39" name="Rectangle 38"/>
          <p:cNvSpPr>
            <a:spLocks noChangeArrowheads="1"/>
          </p:cNvSpPr>
          <p:nvPr/>
        </p:nvSpPr>
        <p:spPr bwMode="auto">
          <a:xfrm>
            <a:off x="8422377" y="4560614"/>
            <a:ext cx="1954560" cy="263692"/>
          </a:xfrm>
          <a:prstGeom prst="rect">
            <a:avLst/>
          </a:prstGeom>
          <a:solidFill>
            <a:srgbClr val="FFC000"/>
          </a:solidFill>
          <a:ln w="9525">
            <a:solidFill>
              <a:schemeClr val="tx1"/>
            </a:solidFill>
            <a:miter lim="800000"/>
            <a:headEnd/>
            <a:tailEnd/>
          </a:ln>
        </p:spPr>
        <p:txBody>
          <a:bodyPr wrap="none" anchor="ctr"/>
          <a:lstStyle/>
          <a:p>
            <a:pPr algn="ctr"/>
            <a:r>
              <a:rPr lang="en-US" sz="1600" dirty="0">
                <a:latin typeface="+mn-lt"/>
              </a:rPr>
              <a:t>Code</a:t>
            </a:r>
            <a:endParaRPr lang="cs-CZ" sz="1600" dirty="0">
              <a:latin typeface="+mn-lt"/>
            </a:endParaRPr>
          </a:p>
        </p:txBody>
      </p:sp>
      <p:sp>
        <p:nvSpPr>
          <p:cNvPr id="40" name="Rectangle 39"/>
          <p:cNvSpPr>
            <a:spLocks noChangeArrowheads="1"/>
          </p:cNvSpPr>
          <p:nvPr/>
        </p:nvSpPr>
        <p:spPr bwMode="auto">
          <a:xfrm>
            <a:off x="8423096" y="3164606"/>
            <a:ext cx="1954560" cy="238141"/>
          </a:xfrm>
          <a:prstGeom prst="rect">
            <a:avLst/>
          </a:prstGeom>
          <a:solidFill>
            <a:schemeClr val="accent6">
              <a:lumMod val="60000"/>
              <a:lumOff val="40000"/>
            </a:schemeClr>
          </a:solidFill>
          <a:ln w="9525">
            <a:solidFill>
              <a:schemeClr val="tx1"/>
            </a:solidFill>
            <a:miter lim="800000"/>
            <a:headEnd/>
            <a:tailEnd/>
          </a:ln>
        </p:spPr>
        <p:txBody>
          <a:bodyPr wrap="none" anchor="ctr"/>
          <a:lstStyle/>
          <a:p>
            <a:pPr algn="ctr"/>
            <a:r>
              <a:rPr lang="en-US" sz="1600">
                <a:latin typeface="+mn-lt"/>
              </a:rPr>
              <a:t>Heap</a:t>
            </a:r>
          </a:p>
        </p:txBody>
      </p:sp>
      <p:sp>
        <p:nvSpPr>
          <p:cNvPr id="41" name="Rectangle 40"/>
          <p:cNvSpPr>
            <a:spLocks noChangeArrowheads="1"/>
          </p:cNvSpPr>
          <p:nvPr/>
        </p:nvSpPr>
        <p:spPr bwMode="auto">
          <a:xfrm>
            <a:off x="8423096" y="4167478"/>
            <a:ext cx="1954560" cy="294127"/>
          </a:xfrm>
          <a:prstGeom prst="rect">
            <a:avLst/>
          </a:prstGeom>
          <a:solidFill>
            <a:schemeClr val="bg1">
              <a:lumMod val="85000"/>
            </a:schemeClr>
          </a:solidFill>
          <a:ln w="9525">
            <a:solidFill>
              <a:schemeClr val="tx1"/>
            </a:solidFill>
            <a:miter lim="800000"/>
            <a:headEnd/>
            <a:tailEnd/>
          </a:ln>
        </p:spPr>
        <p:txBody>
          <a:bodyPr wrap="none" anchor="ctr"/>
          <a:lstStyle/>
          <a:p>
            <a:pPr algn="ctr"/>
            <a:r>
              <a:rPr lang="en-US" sz="1600" dirty="0">
                <a:latin typeface="+mn-lt"/>
              </a:rPr>
              <a:t>Stack for thread</a:t>
            </a:r>
            <a:endParaRPr lang="cs-CZ" sz="1600" baseline="-25000" dirty="0">
              <a:latin typeface="+mn-lt"/>
            </a:endParaRPr>
          </a:p>
        </p:txBody>
      </p:sp>
      <p:cxnSp>
        <p:nvCxnSpPr>
          <p:cNvPr id="43" name="Straight Connector 42"/>
          <p:cNvCxnSpPr/>
          <p:nvPr/>
        </p:nvCxnSpPr>
        <p:spPr bwMode="auto">
          <a:xfrm flipV="1">
            <a:off x="8172915" y="3976825"/>
            <a:ext cx="2387581" cy="560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44" name="Straight Arrow Connector 43"/>
          <p:cNvCxnSpPr/>
          <p:nvPr/>
        </p:nvCxnSpPr>
        <p:spPr bwMode="auto">
          <a:xfrm>
            <a:off x="9960482" y="3447253"/>
            <a:ext cx="0" cy="510390"/>
          </a:xfrm>
          <a:prstGeom prst="straightConnector1">
            <a:avLst/>
          </a:prstGeom>
          <a:solidFill>
            <a:schemeClr val="accent1"/>
          </a:solidFill>
          <a:ln w="9525" cap="flat" cmpd="sng" algn="ctr">
            <a:solidFill>
              <a:schemeClr val="tx1"/>
            </a:solidFill>
            <a:prstDash val="solid"/>
            <a:round/>
            <a:headEnd type="triangle"/>
            <a:tailEnd type="triangle"/>
          </a:ln>
          <a:effectLst/>
        </p:spPr>
      </p:cxnSp>
      <p:sp>
        <p:nvSpPr>
          <p:cNvPr id="45" name="TextBox 44"/>
          <p:cNvSpPr txBox="1"/>
          <p:nvPr/>
        </p:nvSpPr>
        <p:spPr>
          <a:xfrm>
            <a:off x="9907720" y="3548124"/>
            <a:ext cx="494174" cy="338554"/>
          </a:xfrm>
          <a:prstGeom prst="rect">
            <a:avLst/>
          </a:prstGeom>
          <a:noFill/>
        </p:spPr>
        <p:txBody>
          <a:bodyPr wrap="none" rtlCol="0">
            <a:spAutoFit/>
          </a:bodyPr>
          <a:lstStyle/>
          <a:p>
            <a:r>
              <a:rPr lang="en-US" sz="1600">
                <a:latin typeface="+mn-lt"/>
              </a:rPr>
              <a:t>offs</a:t>
            </a:r>
          </a:p>
        </p:txBody>
      </p:sp>
      <p:cxnSp>
        <p:nvCxnSpPr>
          <p:cNvPr id="21" name="Elbow Connector 20"/>
          <p:cNvCxnSpPr>
            <a:stCxn id="6" idx="3"/>
            <a:endCxn id="18" idx="0"/>
          </p:cNvCxnSpPr>
          <p:nvPr/>
        </p:nvCxnSpPr>
        <p:spPr bwMode="auto">
          <a:xfrm>
            <a:off x="5217933" y="3591269"/>
            <a:ext cx="2708759" cy="255898"/>
          </a:xfrm>
          <a:prstGeom prst="bentConnector2">
            <a:avLst/>
          </a:prstGeom>
          <a:solidFill>
            <a:schemeClr val="accent1"/>
          </a:solidFill>
          <a:ln w="9525" cap="flat" cmpd="sng" algn="ctr">
            <a:solidFill>
              <a:schemeClr val="tx1"/>
            </a:solidFill>
            <a:prstDash val="solid"/>
            <a:round/>
            <a:headEnd type="none" w="med" len="med"/>
            <a:tailEnd type="triangle"/>
          </a:ln>
          <a:effectLst/>
        </p:spPr>
      </p:cxnSp>
      <p:cxnSp>
        <p:nvCxnSpPr>
          <p:cNvPr id="50" name="Straight Arrow Connector 49"/>
          <p:cNvCxnSpPr>
            <a:stCxn id="12" idx="0"/>
          </p:cNvCxnSpPr>
          <p:nvPr/>
        </p:nvCxnSpPr>
        <p:spPr bwMode="auto">
          <a:xfrm flipV="1">
            <a:off x="5902008" y="3447253"/>
            <a:ext cx="2521088" cy="726320"/>
          </a:xfrm>
          <a:prstGeom prst="straightConnector1">
            <a:avLst/>
          </a:prstGeom>
          <a:solidFill>
            <a:schemeClr val="accent1"/>
          </a:solidFill>
          <a:ln w="9525" cap="flat" cmpd="sng" algn="ctr">
            <a:solidFill>
              <a:schemeClr val="tx1"/>
            </a:solidFill>
            <a:prstDash val="dash"/>
            <a:round/>
            <a:headEnd type="none" w="med" len="med"/>
            <a:tailEnd type="triangle"/>
          </a:ln>
          <a:effectLst/>
        </p:spPr>
      </p:cxnSp>
    </p:spTree>
    <p:extLst>
      <p:ext uri="{BB962C8B-B14F-4D97-AF65-F5344CB8AC3E}">
        <p14:creationId xmlns:p14="http://schemas.microsoft.com/office/powerpoint/2010/main" val="832112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Paging</a:t>
            </a:r>
          </a:p>
        </p:txBody>
      </p:sp>
      <p:sp>
        <p:nvSpPr>
          <p:cNvPr id="3" name="Content Placeholder 2"/>
          <p:cNvSpPr>
            <a:spLocks noGrp="1"/>
          </p:cNvSpPr>
          <p:nvPr>
            <p:ph idx="1"/>
          </p:nvPr>
        </p:nvSpPr>
        <p:spPr/>
        <p:txBody>
          <a:bodyPr>
            <a:normAutofit/>
          </a:bodyPr>
          <a:lstStyle/>
          <a:p>
            <a:r>
              <a:rPr lang="en-US" dirty="0"/>
              <a:t>Concepts</a:t>
            </a:r>
          </a:p>
          <a:p>
            <a:pPr lvl="1"/>
            <a:r>
              <a:rPr lang="en-US" dirty="0"/>
              <a:t>VAS divided into </a:t>
            </a:r>
            <a:r>
              <a:rPr lang="en-US" b="1" dirty="0">
                <a:solidFill>
                  <a:srgbClr val="FF0000"/>
                </a:solidFill>
              </a:rPr>
              <a:t>equal</a:t>
            </a:r>
            <a:r>
              <a:rPr lang="en-US" dirty="0"/>
              <a:t> parts</a:t>
            </a:r>
          </a:p>
          <a:p>
            <a:pPr lvl="2"/>
            <a:r>
              <a:rPr lang="en-US" dirty="0"/>
              <a:t>Page, 2</a:t>
            </a:r>
            <a:r>
              <a:rPr lang="en-US" baseline="30000" dirty="0"/>
              <a:t>n</a:t>
            </a:r>
            <a:r>
              <a:rPr lang="en-US" dirty="0"/>
              <a:t> size</a:t>
            </a:r>
          </a:p>
          <a:p>
            <a:pPr lvl="1"/>
            <a:r>
              <a:rPr lang="en-US" dirty="0"/>
              <a:t>PAS divided into </a:t>
            </a:r>
            <a:r>
              <a:rPr lang="en-US" b="1" dirty="0">
                <a:solidFill>
                  <a:srgbClr val="FF0000"/>
                </a:solidFill>
              </a:rPr>
              <a:t>equal</a:t>
            </a:r>
            <a:r>
              <a:rPr lang="en-US" dirty="0"/>
              <a:t> parts</a:t>
            </a:r>
          </a:p>
          <a:p>
            <a:pPr lvl="2"/>
            <a:r>
              <a:rPr lang="en-US" dirty="0"/>
              <a:t>Frame, equal size with page (i.e., one page fits exactly one frame)</a:t>
            </a:r>
          </a:p>
          <a:p>
            <a:pPr lvl="1"/>
            <a:r>
              <a:rPr lang="en-US" dirty="0"/>
              <a:t>VA 1-dimensional</a:t>
            </a:r>
          </a:p>
          <a:p>
            <a:pPr lvl="1"/>
            <a:r>
              <a:rPr lang="en-US" dirty="0"/>
              <a:t>Page table (translation data structure)</a:t>
            </a:r>
          </a:p>
          <a:p>
            <a:pPr lvl="2"/>
            <a:r>
              <a:rPr lang="en-US" dirty="0"/>
              <a:t>In memory, for each process</a:t>
            </a:r>
          </a:p>
          <a:p>
            <a:pPr lvl="2"/>
            <a:r>
              <a:rPr lang="en-US" dirty="0"/>
              <a:t>Indexed by a page number</a:t>
            </a:r>
          </a:p>
          <a:p>
            <a:pPr lvl="2"/>
            <a:r>
              <a:rPr lang="en-US" dirty="0"/>
              <a:t>Each entry contains a frame number and attributes (P)</a:t>
            </a:r>
          </a:p>
          <a:p>
            <a:pPr lvl="2"/>
            <a:r>
              <a:rPr lang="en-US" dirty="0"/>
              <a:t>Page fault</a:t>
            </a:r>
          </a:p>
        </p:txBody>
      </p:sp>
      <p:sp>
        <p:nvSpPr>
          <p:cNvPr id="9" name="Date Placeholder 8"/>
          <p:cNvSpPr>
            <a:spLocks noGrp="1"/>
          </p:cNvSpPr>
          <p:nvPr>
            <p:ph type="dt" sz="half" idx="10"/>
          </p:nvPr>
        </p:nvSpPr>
        <p:spPr/>
        <p:txBody>
          <a:bodyPr/>
          <a:lstStyle/>
          <a:p>
            <a:r>
              <a:rPr lang="cs-CZ" altLang="en-US"/>
              <a:t>17.4.2025</a:t>
            </a:r>
            <a:endParaRPr lang="en-US" altLang="en-US"/>
          </a:p>
        </p:txBody>
      </p:sp>
      <p:sp>
        <p:nvSpPr>
          <p:cNvPr id="14" name="Slide Number Placeholder 13"/>
          <p:cNvSpPr>
            <a:spLocks noGrp="1"/>
          </p:cNvSpPr>
          <p:nvPr>
            <p:ph type="sldNum" sz="quarter" idx="12"/>
          </p:nvPr>
        </p:nvSpPr>
        <p:spPr/>
        <p:txBody>
          <a:bodyPr/>
          <a:lstStyle/>
          <a:p>
            <a:fld id="{F4A1145F-674A-4228-8958-0EA9769F5517}" type="slidenum">
              <a:rPr lang="en-US" altLang="en-US" smtClean="0"/>
              <a:pPr/>
              <a:t>67</a:t>
            </a:fld>
            <a:endParaRPr lang="en-US" altLang="en-US"/>
          </a:p>
        </p:txBody>
      </p:sp>
      <p:sp>
        <p:nvSpPr>
          <p:cNvPr id="57" name="Rounded Rectangular Callout 56"/>
          <p:cNvSpPr/>
          <p:nvPr/>
        </p:nvSpPr>
        <p:spPr>
          <a:xfrm>
            <a:off x="5315935" y="2629236"/>
            <a:ext cx="2597142" cy="474449"/>
          </a:xfrm>
          <a:prstGeom prst="wedgeRoundRectCallout">
            <a:avLst>
              <a:gd name="adj1" fmla="val -122308"/>
              <a:gd name="adj2" fmla="val -4978"/>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This is very important!</a:t>
            </a:r>
          </a:p>
        </p:txBody>
      </p:sp>
    </p:spTree>
    <p:extLst>
      <p:ext uri="{BB962C8B-B14F-4D97-AF65-F5344CB8AC3E}">
        <p14:creationId xmlns:p14="http://schemas.microsoft.com/office/powerpoint/2010/main" val="62001446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Paging</a:t>
            </a:r>
          </a:p>
        </p:txBody>
      </p:sp>
      <p:sp>
        <p:nvSpPr>
          <p:cNvPr id="3" name="Content Placeholder 2"/>
          <p:cNvSpPr>
            <a:spLocks noGrp="1"/>
          </p:cNvSpPr>
          <p:nvPr>
            <p:ph idx="1"/>
          </p:nvPr>
        </p:nvSpPr>
        <p:spPr>
          <a:xfrm>
            <a:off x="838200" y="1825625"/>
            <a:ext cx="10515600" cy="542238"/>
          </a:xfrm>
        </p:spPr>
        <p:txBody>
          <a:bodyPr>
            <a:normAutofit/>
          </a:bodyPr>
          <a:lstStyle/>
          <a:p>
            <a:r>
              <a:rPr lang="en-US" dirty="0"/>
              <a:t>Concepts</a:t>
            </a:r>
          </a:p>
        </p:txBody>
      </p:sp>
      <p:sp>
        <p:nvSpPr>
          <p:cNvPr id="9" name="Date Placeholder 8"/>
          <p:cNvSpPr>
            <a:spLocks noGrp="1"/>
          </p:cNvSpPr>
          <p:nvPr>
            <p:ph type="dt" sz="half" idx="10"/>
          </p:nvPr>
        </p:nvSpPr>
        <p:spPr/>
        <p:txBody>
          <a:bodyPr/>
          <a:lstStyle/>
          <a:p>
            <a:r>
              <a:rPr lang="cs-CZ" altLang="en-US"/>
              <a:t>17.4.2025</a:t>
            </a:r>
            <a:endParaRPr lang="en-US" altLang="en-US"/>
          </a:p>
        </p:txBody>
      </p:sp>
      <p:sp>
        <p:nvSpPr>
          <p:cNvPr id="14" name="Slide Number Placeholder 13"/>
          <p:cNvSpPr>
            <a:spLocks noGrp="1"/>
          </p:cNvSpPr>
          <p:nvPr>
            <p:ph type="sldNum" sz="quarter" idx="12"/>
          </p:nvPr>
        </p:nvSpPr>
        <p:spPr/>
        <p:txBody>
          <a:bodyPr/>
          <a:lstStyle/>
          <a:p>
            <a:fld id="{F4A1145F-674A-4228-8958-0EA9769F5517}" type="slidenum">
              <a:rPr lang="en-US" altLang="en-US" smtClean="0"/>
              <a:pPr/>
              <a:t>68</a:t>
            </a:fld>
            <a:endParaRPr lang="en-US" altLang="en-US"/>
          </a:p>
        </p:txBody>
      </p:sp>
      <p:sp>
        <p:nvSpPr>
          <p:cNvPr id="4" name="Rectangle 3"/>
          <p:cNvSpPr/>
          <p:nvPr/>
        </p:nvSpPr>
        <p:spPr bwMode="auto">
          <a:xfrm>
            <a:off x="1936729" y="3214328"/>
            <a:ext cx="648072" cy="288032"/>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a:r>
              <a:rPr lang="en-US" sz="1400">
                <a:latin typeface="+mn-lt"/>
              </a:rPr>
              <a:t>0</a:t>
            </a:r>
          </a:p>
        </p:txBody>
      </p:sp>
      <p:sp>
        <p:nvSpPr>
          <p:cNvPr id="5" name="Rectangle 4"/>
          <p:cNvSpPr/>
          <p:nvPr/>
        </p:nvSpPr>
        <p:spPr bwMode="auto">
          <a:xfrm>
            <a:off x="1936729" y="3502360"/>
            <a:ext cx="648072" cy="288032"/>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a:r>
              <a:rPr lang="en-US" sz="1400">
                <a:latin typeface="+mn-lt"/>
              </a:rPr>
              <a:t>1</a:t>
            </a:r>
          </a:p>
        </p:txBody>
      </p:sp>
      <p:sp>
        <p:nvSpPr>
          <p:cNvPr id="6" name="Rectangle 5"/>
          <p:cNvSpPr/>
          <p:nvPr/>
        </p:nvSpPr>
        <p:spPr bwMode="auto">
          <a:xfrm>
            <a:off x="1936729" y="3790392"/>
            <a:ext cx="648072" cy="288032"/>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a:r>
              <a:rPr lang="en-US" sz="1400">
                <a:latin typeface="+mn-lt"/>
              </a:rPr>
              <a:t>2</a:t>
            </a:r>
          </a:p>
        </p:txBody>
      </p:sp>
      <p:sp>
        <p:nvSpPr>
          <p:cNvPr id="7" name="Rectangle 6"/>
          <p:cNvSpPr/>
          <p:nvPr/>
        </p:nvSpPr>
        <p:spPr bwMode="auto">
          <a:xfrm>
            <a:off x="1936729" y="4366456"/>
            <a:ext cx="648072" cy="288032"/>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a:r>
              <a:rPr lang="en-US" sz="1400">
                <a:latin typeface="+mn-lt"/>
              </a:rPr>
              <a:t>p</a:t>
            </a:r>
          </a:p>
        </p:txBody>
      </p:sp>
      <p:sp>
        <p:nvSpPr>
          <p:cNvPr id="8" name="Rectangle 7"/>
          <p:cNvSpPr/>
          <p:nvPr/>
        </p:nvSpPr>
        <p:spPr bwMode="auto">
          <a:xfrm>
            <a:off x="1936729" y="4942520"/>
            <a:ext cx="648072" cy="288032"/>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a:r>
              <a:rPr lang="en-US" sz="1400">
                <a:latin typeface="+mn-lt"/>
              </a:rPr>
              <a:t>2</a:t>
            </a:r>
            <a:r>
              <a:rPr lang="en-US" sz="1400" baseline="30000">
                <a:latin typeface="+mn-lt"/>
              </a:rPr>
              <a:t>N-n</a:t>
            </a:r>
            <a:r>
              <a:rPr lang="en-US" sz="1400">
                <a:latin typeface="+mn-lt"/>
              </a:rPr>
              <a:t>-1</a:t>
            </a:r>
          </a:p>
        </p:txBody>
      </p:sp>
      <p:cxnSp>
        <p:nvCxnSpPr>
          <p:cNvPr id="10" name="Straight Connector 9"/>
          <p:cNvCxnSpPr/>
          <p:nvPr/>
        </p:nvCxnSpPr>
        <p:spPr bwMode="auto">
          <a:xfrm>
            <a:off x="2584801" y="4078424"/>
            <a:ext cx="0" cy="288032"/>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11" name="Straight Connector 10"/>
          <p:cNvCxnSpPr/>
          <p:nvPr/>
        </p:nvCxnSpPr>
        <p:spPr bwMode="auto">
          <a:xfrm>
            <a:off x="1936729" y="4078424"/>
            <a:ext cx="0" cy="288032"/>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12" name="Straight Connector 11"/>
          <p:cNvCxnSpPr/>
          <p:nvPr/>
        </p:nvCxnSpPr>
        <p:spPr bwMode="auto">
          <a:xfrm>
            <a:off x="1936729" y="4658913"/>
            <a:ext cx="0" cy="288032"/>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13" name="Straight Connector 12"/>
          <p:cNvCxnSpPr/>
          <p:nvPr/>
        </p:nvCxnSpPr>
        <p:spPr bwMode="auto">
          <a:xfrm>
            <a:off x="2584801" y="4638186"/>
            <a:ext cx="0" cy="288032"/>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15" name="Straight Connector 14"/>
          <p:cNvCxnSpPr/>
          <p:nvPr/>
        </p:nvCxnSpPr>
        <p:spPr bwMode="auto">
          <a:xfrm>
            <a:off x="1828717" y="4568887"/>
            <a:ext cx="864096"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20" name="Straight Arrow Connector 19"/>
          <p:cNvCxnSpPr/>
          <p:nvPr/>
        </p:nvCxnSpPr>
        <p:spPr bwMode="auto">
          <a:xfrm>
            <a:off x="2456417" y="4366457"/>
            <a:ext cx="0" cy="202431"/>
          </a:xfrm>
          <a:prstGeom prst="straightConnector1">
            <a:avLst/>
          </a:prstGeom>
          <a:solidFill>
            <a:schemeClr val="accent1"/>
          </a:solidFill>
          <a:ln w="9525" cap="flat" cmpd="sng" algn="ctr">
            <a:solidFill>
              <a:schemeClr val="tx1"/>
            </a:solidFill>
            <a:prstDash val="solid"/>
            <a:round/>
            <a:headEnd type="triangle"/>
            <a:tailEnd type="triangle"/>
          </a:ln>
          <a:effectLst/>
        </p:spPr>
      </p:cxnSp>
      <p:sp>
        <p:nvSpPr>
          <p:cNvPr id="21" name="TextBox 20"/>
          <p:cNvSpPr txBox="1"/>
          <p:nvPr/>
        </p:nvSpPr>
        <p:spPr>
          <a:xfrm>
            <a:off x="2440725" y="4303804"/>
            <a:ext cx="469937" cy="307777"/>
          </a:xfrm>
          <a:prstGeom prst="rect">
            <a:avLst/>
          </a:prstGeom>
          <a:noFill/>
        </p:spPr>
        <p:txBody>
          <a:bodyPr wrap="none" rtlCol="0">
            <a:spAutoFit/>
          </a:bodyPr>
          <a:lstStyle/>
          <a:p>
            <a:r>
              <a:rPr lang="en-US" sz="1400">
                <a:latin typeface="+mn-lt"/>
              </a:rPr>
              <a:t>offs</a:t>
            </a:r>
          </a:p>
        </p:txBody>
      </p:sp>
      <p:sp>
        <p:nvSpPr>
          <p:cNvPr id="23" name="Rectangle 22"/>
          <p:cNvSpPr/>
          <p:nvPr/>
        </p:nvSpPr>
        <p:spPr bwMode="auto">
          <a:xfrm>
            <a:off x="2960473" y="4424871"/>
            <a:ext cx="1582352" cy="288032"/>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p</a:t>
            </a:r>
          </a:p>
        </p:txBody>
      </p:sp>
      <p:sp>
        <p:nvSpPr>
          <p:cNvPr id="24" name="Rectangle 23"/>
          <p:cNvSpPr/>
          <p:nvPr/>
        </p:nvSpPr>
        <p:spPr bwMode="auto">
          <a:xfrm>
            <a:off x="4542825" y="4424871"/>
            <a:ext cx="648072" cy="288032"/>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offs</a:t>
            </a:r>
          </a:p>
        </p:txBody>
      </p:sp>
      <p:sp>
        <p:nvSpPr>
          <p:cNvPr id="25" name="TextBox 24"/>
          <p:cNvSpPr txBox="1"/>
          <p:nvPr/>
        </p:nvSpPr>
        <p:spPr>
          <a:xfrm>
            <a:off x="3232873" y="3812959"/>
            <a:ext cx="1590692" cy="369332"/>
          </a:xfrm>
          <a:prstGeom prst="rect">
            <a:avLst/>
          </a:prstGeom>
          <a:noFill/>
        </p:spPr>
        <p:txBody>
          <a:bodyPr wrap="none" rtlCol="0">
            <a:spAutoFit/>
          </a:bodyPr>
          <a:lstStyle/>
          <a:p>
            <a:r>
              <a:rPr lang="en-US">
                <a:latin typeface="+mn-lt"/>
              </a:rPr>
              <a:t>Virtual address</a:t>
            </a:r>
          </a:p>
        </p:txBody>
      </p:sp>
      <p:sp>
        <p:nvSpPr>
          <p:cNvPr id="27" name="TextBox 26"/>
          <p:cNvSpPr txBox="1"/>
          <p:nvPr/>
        </p:nvSpPr>
        <p:spPr>
          <a:xfrm>
            <a:off x="5034444" y="4080615"/>
            <a:ext cx="312906" cy="369332"/>
          </a:xfrm>
          <a:prstGeom prst="rect">
            <a:avLst/>
          </a:prstGeom>
          <a:noFill/>
        </p:spPr>
        <p:txBody>
          <a:bodyPr wrap="none" rtlCol="0">
            <a:spAutoFit/>
          </a:bodyPr>
          <a:lstStyle/>
          <a:p>
            <a:r>
              <a:rPr lang="en-US">
                <a:latin typeface="+mn-lt"/>
              </a:rPr>
              <a:t>0</a:t>
            </a:r>
          </a:p>
        </p:txBody>
      </p:sp>
      <p:sp>
        <p:nvSpPr>
          <p:cNvPr id="28" name="TextBox 27"/>
          <p:cNvSpPr txBox="1"/>
          <p:nvPr/>
        </p:nvSpPr>
        <p:spPr>
          <a:xfrm>
            <a:off x="4468253" y="4080615"/>
            <a:ext cx="494046" cy="369332"/>
          </a:xfrm>
          <a:prstGeom prst="rect">
            <a:avLst/>
          </a:prstGeom>
          <a:noFill/>
        </p:spPr>
        <p:txBody>
          <a:bodyPr wrap="none" rtlCol="0">
            <a:spAutoFit/>
          </a:bodyPr>
          <a:lstStyle/>
          <a:p>
            <a:r>
              <a:rPr lang="en-US">
                <a:latin typeface="+mn-lt"/>
              </a:rPr>
              <a:t>n-1</a:t>
            </a:r>
          </a:p>
        </p:txBody>
      </p:sp>
      <p:sp>
        <p:nvSpPr>
          <p:cNvPr id="30" name="TextBox 29"/>
          <p:cNvSpPr txBox="1"/>
          <p:nvPr/>
        </p:nvSpPr>
        <p:spPr>
          <a:xfrm>
            <a:off x="2798487" y="4080615"/>
            <a:ext cx="521297" cy="369332"/>
          </a:xfrm>
          <a:prstGeom prst="rect">
            <a:avLst/>
          </a:prstGeom>
          <a:noFill/>
        </p:spPr>
        <p:txBody>
          <a:bodyPr wrap="none" rtlCol="0">
            <a:spAutoFit/>
          </a:bodyPr>
          <a:lstStyle/>
          <a:p>
            <a:r>
              <a:rPr lang="en-US">
                <a:latin typeface="+mn-lt"/>
              </a:rPr>
              <a:t>N-1</a:t>
            </a:r>
          </a:p>
        </p:txBody>
      </p:sp>
      <p:cxnSp>
        <p:nvCxnSpPr>
          <p:cNvPr id="32" name="Straight Connector 31"/>
          <p:cNvCxnSpPr/>
          <p:nvPr/>
        </p:nvCxnSpPr>
        <p:spPr bwMode="auto">
          <a:xfrm>
            <a:off x="5840793" y="3214328"/>
            <a:ext cx="0" cy="201622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3" name="Straight Connector 32"/>
          <p:cNvCxnSpPr/>
          <p:nvPr/>
        </p:nvCxnSpPr>
        <p:spPr bwMode="auto">
          <a:xfrm>
            <a:off x="6704889" y="3214328"/>
            <a:ext cx="0" cy="2016224"/>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4" name="Rectangle 33"/>
          <p:cNvSpPr/>
          <p:nvPr/>
        </p:nvSpPr>
        <p:spPr bwMode="auto">
          <a:xfrm>
            <a:off x="5840793" y="4424871"/>
            <a:ext cx="864096" cy="288032"/>
          </a:xfrm>
          <a:prstGeom prst="rect">
            <a:avLst/>
          </a:prstGeom>
          <a:solidFill>
            <a:schemeClr val="accent4">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35" name="Rectangle 34"/>
          <p:cNvSpPr/>
          <p:nvPr/>
        </p:nvSpPr>
        <p:spPr bwMode="auto">
          <a:xfrm>
            <a:off x="5840793" y="4424871"/>
            <a:ext cx="648072" cy="288032"/>
          </a:xfrm>
          <a:prstGeom prst="rect">
            <a:avLst/>
          </a:prstGeom>
          <a:solidFill>
            <a:schemeClr val="accent5">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f</a:t>
            </a:r>
          </a:p>
        </p:txBody>
      </p:sp>
      <p:cxnSp>
        <p:nvCxnSpPr>
          <p:cNvPr id="37" name="Elbow Connector 36"/>
          <p:cNvCxnSpPr>
            <a:stCxn id="23" idx="2"/>
            <a:endCxn id="35" idx="1"/>
          </p:cNvCxnSpPr>
          <p:nvPr/>
        </p:nvCxnSpPr>
        <p:spPr bwMode="auto">
          <a:xfrm rot="5400000" flipH="1" flipV="1">
            <a:off x="4724213" y="3596323"/>
            <a:ext cx="144016" cy="2089144"/>
          </a:xfrm>
          <a:prstGeom prst="bentConnector4">
            <a:avLst>
              <a:gd name="adj1" fmla="val -158732"/>
              <a:gd name="adj2" fmla="val 76716"/>
            </a:avLst>
          </a:prstGeom>
          <a:solidFill>
            <a:schemeClr val="accent1"/>
          </a:solidFill>
          <a:ln w="9525" cap="flat" cmpd="sng" algn="ctr">
            <a:solidFill>
              <a:schemeClr val="tx1"/>
            </a:solidFill>
            <a:prstDash val="solid"/>
            <a:round/>
            <a:headEnd type="none" w="med" len="med"/>
            <a:tailEnd type="triangle"/>
          </a:ln>
          <a:effectLst/>
        </p:spPr>
      </p:cxnSp>
      <p:sp>
        <p:nvSpPr>
          <p:cNvPr id="39" name="Rectangle 38"/>
          <p:cNvSpPr/>
          <p:nvPr/>
        </p:nvSpPr>
        <p:spPr bwMode="auto">
          <a:xfrm>
            <a:off x="9586563" y="3214328"/>
            <a:ext cx="648072" cy="288032"/>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a:r>
              <a:rPr lang="en-US" sz="1400">
                <a:latin typeface="+mn-lt"/>
              </a:rPr>
              <a:t>0</a:t>
            </a:r>
          </a:p>
        </p:txBody>
      </p:sp>
      <p:sp>
        <p:nvSpPr>
          <p:cNvPr id="40" name="Rectangle 39"/>
          <p:cNvSpPr/>
          <p:nvPr/>
        </p:nvSpPr>
        <p:spPr bwMode="auto">
          <a:xfrm>
            <a:off x="9586563" y="3502360"/>
            <a:ext cx="648072" cy="288032"/>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a:r>
              <a:rPr lang="en-US" sz="1400">
                <a:latin typeface="+mn-lt"/>
              </a:rPr>
              <a:t>1</a:t>
            </a:r>
          </a:p>
        </p:txBody>
      </p:sp>
      <p:sp>
        <p:nvSpPr>
          <p:cNvPr id="42" name="Rectangle 41"/>
          <p:cNvSpPr/>
          <p:nvPr/>
        </p:nvSpPr>
        <p:spPr bwMode="auto">
          <a:xfrm>
            <a:off x="9586563" y="4010750"/>
            <a:ext cx="648072" cy="288032"/>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a:r>
              <a:rPr lang="en-US" sz="1400">
                <a:latin typeface="+mn-lt"/>
              </a:rPr>
              <a:t>f</a:t>
            </a:r>
          </a:p>
        </p:txBody>
      </p:sp>
      <p:sp>
        <p:nvSpPr>
          <p:cNvPr id="43" name="Rectangle 42"/>
          <p:cNvSpPr/>
          <p:nvPr/>
        </p:nvSpPr>
        <p:spPr bwMode="auto">
          <a:xfrm>
            <a:off x="9586563" y="4942520"/>
            <a:ext cx="648072" cy="288032"/>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a:r>
              <a:rPr lang="en-US" sz="1400">
                <a:latin typeface="+mn-lt"/>
              </a:rPr>
              <a:t>2</a:t>
            </a:r>
            <a:r>
              <a:rPr lang="en-US" sz="1400" baseline="30000">
                <a:latin typeface="+mn-lt"/>
              </a:rPr>
              <a:t>P-n</a:t>
            </a:r>
            <a:r>
              <a:rPr lang="en-US" sz="1400">
                <a:latin typeface="+mn-lt"/>
              </a:rPr>
              <a:t>-1</a:t>
            </a:r>
          </a:p>
        </p:txBody>
      </p:sp>
      <p:cxnSp>
        <p:nvCxnSpPr>
          <p:cNvPr id="44" name="Straight Connector 43"/>
          <p:cNvCxnSpPr/>
          <p:nvPr/>
        </p:nvCxnSpPr>
        <p:spPr bwMode="auto">
          <a:xfrm>
            <a:off x="10234635" y="3757473"/>
            <a:ext cx="0" cy="288032"/>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45" name="Straight Connector 44"/>
          <p:cNvCxnSpPr/>
          <p:nvPr/>
        </p:nvCxnSpPr>
        <p:spPr bwMode="auto">
          <a:xfrm>
            <a:off x="9586563" y="3757473"/>
            <a:ext cx="0" cy="288032"/>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46" name="Straight Connector 45"/>
          <p:cNvCxnSpPr/>
          <p:nvPr/>
        </p:nvCxnSpPr>
        <p:spPr bwMode="auto">
          <a:xfrm>
            <a:off x="9586563" y="4298783"/>
            <a:ext cx="0" cy="648163"/>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47" name="Straight Connector 46"/>
          <p:cNvCxnSpPr/>
          <p:nvPr/>
        </p:nvCxnSpPr>
        <p:spPr bwMode="auto">
          <a:xfrm>
            <a:off x="10234635" y="4366456"/>
            <a:ext cx="0" cy="559762"/>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48" name="Straight Connector 47"/>
          <p:cNvCxnSpPr/>
          <p:nvPr/>
        </p:nvCxnSpPr>
        <p:spPr bwMode="auto">
          <a:xfrm>
            <a:off x="9478551" y="4213181"/>
            <a:ext cx="864096"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49" name="Straight Arrow Connector 48"/>
          <p:cNvCxnSpPr/>
          <p:nvPr/>
        </p:nvCxnSpPr>
        <p:spPr bwMode="auto">
          <a:xfrm>
            <a:off x="10106251" y="4010751"/>
            <a:ext cx="0" cy="202431"/>
          </a:xfrm>
          <a:prstGeom prst="straightConnector1">
            <a:avLst/>
          </a:prstGeom>
          <a:solidFill>
            <a:schemeClr val="accent1"/>
          </a:solidFill>
          <a:ln w="9525" cap="flat" cmpd="sng" algn="ctr">
            <a:solidFill>
              <a:schemeClr val="tx1"/>
            </a:solidFill>
            <a:prstDash val="solid"/>
            <a:round/>
            <a:headEnd type="triangle"/>
            <a:tailEnd type="triangle"/>
          </a:ln>
          <a:effectLst/>
        </p:spPr>
      </p:cxnSp>
      <p:sp>
        <p:nvSpPr>
          <p:cNvPr id="50" name="TextBox 49"/>
          <p:cNvSpPr txBox="1"/>
          <p:nvPr/>
        </p:nvSpPr>
        <p:spPr>
          <a:xfrm>
            <a:off x="10090559" y="3948098"/>
            <a:ext cx="469937" cy="307777"/>
          </a:xfrm>
          <a:prstGeom prst="rect">
            <a:avLst/>
          </a:prstGeom>
          <a:noFill/>
        </p:spPr>
        <p:txBody>
          <a:bodyPr wrap="none" rtlCol="0">
            <a:spAutoFit/>
          </a:bodyPr>
          <a:lstStyle/>
          <a:p>
            <a:r>
              <a:rPr lang="en-US" sz="1400" dirty="0">
                <a:latin typeface="+mn-lt"/>
              </a:rPr>
              <a:t>offs</a:t>
            </a:r>
          </a:p>
        </p:txBody>
      </p:sp>
      <p:sp>
        <p:nvSpPr>
          <p:cNvPr id="51" name="Rectangle 50"/>
          <p:cNvSpPr/>
          <p:nvPr/>
        </p:nvSpPr>
        <p:spPr bwMode="auto">
          <a:xfrm>
            <a:off x="7020989" y="4078424"/>
            <a:ext cx="1582352" cy="288032"/>
          </a:xfrm>
          <a:prstGeom prst="rect">
            <a:avLst/>
          </a:prstGeom>
          <a:solidFill>
            <a:schemeClr val="accent5">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f</a:t>
            </a:r>
          </a:p>
        </p:txBody>
      </p:sp>
      <p:sp>
        <p:nvSpPr>
          <p:cNvPr id="52" name="Rectangle 51"/>
          <p:cNvSpPr/>
          <p:nvPr/>
        </p:nvSpPr>
        <p:spPr bwMode="auto">
          <a:xfrm>
            <a:off x="8603341" y="4078424"/>
            <a:ext cx="648072" cy="288032"/>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offs</a:t>
            </a:r>
          </a:p>
        </p:txBody>
      </p:sp>
      <p:sp>
        <p:nvSpPr>
          <p:cNvPr id="53" name="TextBox 52"/>
          <p:cNvSpPr txBox="1"/>
          <p:nvPr/>
        </p:nvSpPr>
        <p:spPr>
          <a:xfrm>
            <a:off x="7272442" y="3453780"/>
            <a:ext cx="1704184" cy="369332"/>
          </a:xfrm>
          <a:prstGeom prst="rect">
            <a:avLst/>
          </a:prstGeom>
          <a:noFill/>
        </p:spPr>
        <p:txBody>
          <a:bodyPr wrap="none" rtlCol="0">
            <a:spAutoFit/>
          </a:bodyPr>
          <a:lstStyle/>
          <a:p>
            <a:r>
              <a:rPr lang="en-US">
                <a:latin typeface="+mn-lt"/>
              </a:rPr>
              <a:t>Physical address</a:t>
            </a:r>
          </a:p>
        </p:txBody>
      </p:sp>
      <p:sp>
        <p:nvSpPr>
          <p:cNvPr id="54" name="TextBox 53"/>
          <p:cNvSpPr txBox="1"/>
          <p:nvPr/>
        </p:nvSpPr>
        <p:spPr>
          <a:xfrm>
            <a:off x="9074013" y="3721436"/>
            <a:ext cx="312906" cy="369332"/>
          </a:xfrm>
          <a:prstGeom prst="rect">
            <a:avLst/>
          </a:prstGeom>
          <a:noFill/>
        </p:spPr>
        <p:txBody>
          <a:bodyPr wrap="none" rtlCol="0">
            <a:spAutoFit/>
          </a:bodyPr>
          <a:lstStyle/>
          <a:p>
            <a:r>
              <a:rPr lang="en-US">
                <a:latin typeface="+mn-lt"/>
              </a:rPr>
              <a:t>0</a:t>
            </a:r>
          </a:p>
        </p:txBody>
      </p:sp>
      <p:sp>
        <p:nvSpPr>
          <p:cNvPr id="55" name="TextBox 54"/>
          <p:cNvSpPr txBox="1"/>
          <p:nvPr/>
        </p:nvSpPr>
        <p:spPr>
          <a:xfrm>
            <a:off x="8507822" y="3721436"/>
            <a:ext cx="494046" cy="369332"/>
          </a:xfrm>
          <a:prstGeom prst="rect">
            <a:avLst/>
          </a:prstGeom>
          <a:noFill/>
        </p:spPr>
        <p:txBody>
          <a:bodyPr wrap="none" rtlCol="0">
            <a:spAutoFit/>
          </a:bodyPr>
          <a:lstStyle/>
          <a:p>
            <a:r>
              <a:rPr lang="en-US">
                <a:latin typeface="+mn-lt"/>
              </a:rPr>
              <a:t>n-1</a:t>
            </a:r>
          </a:p>
        </p:txBody>
      </p:sp>
      <p:sp>
        <p:nvSpPr>
          <p:cNvPr id="56" name="TextBox 55"/>
          <p:cNvSpPr txBox="1"/>
          <p:nvPr/>
        </p:nvSpPr>
        <p:spPr>
          <a:xfrm>
            <a:off x="6838056" y="3721436"/>
            <a:ext cx="490840" cy="369332"/>
          </a:xfrm>
          <a:prstGeom prst="rect">
            <a:avLst/>
          </a:prstGeom>
          <a:noFill/>
        </p:spPr>
        <p:txBody>
          <a:bodyPr wrap="none" rtlCol="0">
            <a:spAutoFit/>
          </a:bodyPr>
          <a:lstStyle/>
          <a:p>
            <a:r>
              <a:rPr lang="en-US">
                <a:latin typeface="+mn-lt"/>
              </a:rPr>
              <a:t>P-1</a:t>
            </a:r>
          </a:p>
        </p:txBody>
      </p:sp>
      <p:cxnSp>
        <p:nvCxnSpPr>
          <p:cNvPr id="58" name="Elbow Connector 57"/>
          <p:cNvCxnSpPr>
            <a:stCxn id="35" idx="0"/>
            <a:endCxn id="51" idx="1"/>
          </p:cNvCxnSpPr>
          <p:nvPr/>
        </p:nvCxnSpPr>
        <p:spPr bwMode="auto">
          <a:xfrm rot="5400000" flipH="1" flipV="1">
            <a:off x="6491695" y="3895576"/>
            <a:ext cx="202431" cy="856160"/>
          </a:xfrm>
          <a:prstGeom prst="bentConnector2">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9734195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Page table – 1-level</a:t>
            </a:r>
          </a:p>
        </p:txBody>
      </p:sp>
      <p:sp>
        <p:nvSpPr>
          <p:cNvPr id="4" name="Rectangle 3"/>
          <p:cNvSpPr/>
          <p:nvPr/>
        </p:nvSpPr>
        <p:spPr bwMode="auto">
          <a:xfrm>
            <a:off x="2135560" y="2060848"/>
            <a:ext cx="648072" cy="288032"/>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a:r>
              <a:rPr lang="en-US" sz="1400">
                <a:latin typeface="+mn-lt"/>
              </a:rPr>
              <a:t>0</a:t>
            </a:r>
          </a:p>
        </p:txBody>
      </p:sp>
      <p:sp>
        <p:nvSpPr>
          <p:cNvPr id="5" name="Rectangle 4"/>
          <p:cNvSpPr/>
          <p:nvPr/>
        </p:nvSpPr>
        <p:spPr bwMode="auto">
          <a:xfrm>
            <a:off x="2135560" y="2348880"/>
            <a:ext cx="648072" cy="288032"/>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a:r>
              <a:rPr lang="en-US" sz="1400">
                <a:latin typeface="+mn-lt"/>
              </a:rPr>
              <a:t>1</a:t>
            </a:r>
          </a:p>
        </p:txBody>
      </p:sp>
      <p:sp>
        <p:nvSpPr>
          <p:cNvPr id="6" name="Rectangle 5"/>
          <p:cNvSpPr/>
          <p:nvPr/>
        </p:nvSpPr>
        <p:spPr bwMode="auto">
          <a:xfrm>
            <a:off x="2135560" y="2636912"/>
            <a:ext cx="648072" cy="288032"/>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a:r>
              <a:rPr lang="en-US" sz="1400">
                <a:latin typeface="+mn-lt"/>
              </a:rPr>
              <a:t>2</a:t>
            </a:r>
          </a:p>
        </p:txBody>
      </p:sp>
      <p:sp>
        <p:nvSpPr>
          <p:cNvPr id="7" name="Rectangle 6"/>
          <p:cNvSpPr/>
          <p:nvPr/>
        </p:nvSpPr>
        <p:spPr bwMode="auto">
          <a:xfrm>
            <a:off x="2135560" y="3212976"/>
            <a:ext cx="648072" cy="288032"/>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a:r>
              <a:rPr lang="en-US" sz="1400">
                <a:latin typeface="+mn-lt"/>
              </a:rPr>
              <a:t>14</a:t>
            </a:r>
          </a:p>
        </p:txBody>
      </p:sp>
      <p:sp>
        <p:nvSpPr>
          <p:cNvPr id="8" name="Rectangle 7"/>
          <p:cNvSpPr/>
          <p:nvPr/>
        </p:nvSpPr>
        <p:spPr bwMode="auto">
          <a:xfrm>
            <a:off x="2135560" y="6093296"/>
            <a:ext cx="648072" cy="288032"/>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a:r>
              <a:rPr lang="en-US" sz="1400">
                <a:latin typeface="+mn-lt"/>
              </a:rPr>
              <a:t>2</a:t>
            </a:r>
            <a:r>
              <a:rPr lang="en-US" sz="1400" baseline="30000">
                <a:latin typeface="+mn-lt"/>
              </a:rPr>
              <a:t>N-n</a:t>
            </a:r>
            <a:r>
              <a:rPr lang="en-US" sz="1400">
                <a:latin typeface="+mn-lt"/>
              </a:rPr>
              <a:t>-1</a:t>
            </a:r>
          </a:p>
        </p:txBody>
      </p:sp>
      <p:cxnSp>
        <p:nvCxnSpPr>
          <p:cNvPr id="9" name="Straight Connector 8"/>
          <p:cNvCxnSpPr/>
          <p:nvPr/>
        </p:nvCxnSpPr>
        <p:spPr bwMode="auto">
          <a:xfrm>
            <a:off x="2783632" y="2924944"/>
            <a:ext cx="0" cy="288032"/>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10" name="Straight Connector 9"/>
          <p:cNvCxnSpPr/>
          <p:nvPr/>
        </p:nvCxnSpPr>
        <p:spPr bwMode="auto">
          <a:xfrm>
            <a:off x="2135560" y="2924944"/>
            <a:ext cx="0" cy="288032"/>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11" name="Straight Connector 10"/>
          <p:cNvCxnSpPr/>
          <p:nvPr/>
        </p:nvCxnSpPr>
        <p:spPr bwMode="auto">
          <a:xfrm>
            <a:off x="2135560" y="3505434"/>
            <a:ext cx="0" cy="471443"/>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12" name="Straight Connector 11"/>
          <p:cNvCxnSpPr>
            <a:endCxn id="15" idx="3"/>
          </p:cNvCxnSpPr>
          <p:nvPr/>
        </p:nvCxnSpPr>
        <p:spPr bwMode="auto">
          <a:xfrm>
            <a:off x="2783632" y="3484706"/>
            <a:ext cx="0" cy="636186"/>
          </a:xfrm>
          <a:prstGeom prst="line">
            <a:avLst/>
          </a:prstGeom>
          <a:solidFill>
            <a:schemeClr val="accent1"/>
          </a:solidFill>
          <a:ln w="9525" cap="flat" cmpd="sng" algn="ctr">
            <a:solidFill>
              <a:schemeClr val="tx1"/>
            </a:solidFill>
            <a:prstDash val="lgDash"/>
            <a:round/>
            <a:headEnd type="none" w="med" len="med"/>
            <a:tailEnd type="none" w="med" len="med"/>
          </a:ln>
          <a:effectLst/>
        </p:spPr>
      </p:cxnSp>
      <p:sp>
        <p:nvSpPr>
          <p:cNvPr id="15" name="Rectangle 14"/>
          <p:cNvSpPr/>
          <p:nvPr/>
        </p:nvSpPr>
        <p:spPr bwMode="auto">
          <a:xfrm>
            <a:off x="2135560" y="3976876"/>
            <a:ext cx="648072" cy="288032"/>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a:r>
              <a:rPr lang="en-US" sz="1400">
                <a:latin typeface="+mn-lt"/>
              </a:rPr>
              <a:t>123</a:t>
            </a:r>
          </a:p>
        </p:txBody>
      </p:sp>
      <p:sp>
        <p:nvSpPr>
          <p:cNvPr id="16" name="Rectangle 15"/>
          <p:cNvSpPr/>
          <p:nvPr/>
        </p:nvSpPr>
        <p:spPr bwMode="auto">
          <a:xfrm>
            <a:off x="2135560" y="4670078"/>
            <a:ext cx="648072" cy="288032"/>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a:r>
              <a:rPr lang="en-US" sz="1400">
                <a:latin typeface="+mn-lt"/>
              </a:rPr>
              <a:t>1111</a:t>
            </a:r>
          </a:p>
        </p:txBody>
      </p:sp>
      <p:sp>
        <p:nvSpPr>
          <p:cNvPr id="17" name="Rectangle 16"/>
          <p:cNvSpPr/>
          <p:nvPr/>
        </p:nvSpPr>
        <p:spPr bwMode="auto">
          <a:xfrm>
            <a:off x="2135560" y="5554142"/>
            <a:ext cx="648072" cy="288032"/>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a:r>
              <a:rPr lang="en-US" sz="1400" dirty="0">
                <a:latin typeface="+mn-lt"/>
              </a:rPr>
              <a:t>3333</a:t>
            </a:r>
          </a:p>
        </p:txBody>
      </p:sp>
      <p:cxnSp>
        <p:nvCxnSpPr>
          <p:cNvPr id="20" name="Straight Connector 19"/>
          <p:cNvCxnSpPr/>
          <p:nvPr/>
        </p:nvCxnSpPr>
        <p:spPr bwMode="auto">
          <a:xfrm>
            <a:off x="2135560" y="4958110"/>
            <a:ext cx="0" cy="596032"/>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21" name="Straight Connector 20"/>
          <p:cNvCxnSpPr>
            <a:endCxn id="17" idx="3"/>
          </p:cNvCxnSpPr>
          <p:nvPr/>
        </p:nvCxnSpPr>
        <p:spPr bwMode="auto">
          <a:xfrm>
            <a:off x="2783632" y="4958110"/>
            <a:ext cx="0" cy="740048"/>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22" name="Straight Connector 21"/>
          <p:cNvCxnSpPr/>
          <p:nvPr/>
        </p:nvCxnSpPr>
        <p:spPr bwMode="auto">
          <a:xfrm>
            <a:off x="2783632" y="4264908"/>
            <a:ext cx="0" cy="405170"/>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24" name="Straight Connector 23"/>
          <p:cNvCxnSpPr>
            <a:endCxn id="16" idx="1"/>
          </p:cNvCxnSpPr>
          <p:nvPr/>
        </p:nvCxnSpPr>
        <p:spPr bwMode="auto">
          <a:xfrm>
            <a:off x="2135560" y="4264908"/>
            <a:ext cx="0" cy="549186"/>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26" name="Straight Connector 25"/>
          <p:cNvCxnSpPr/>
          <p:nvPr/>
        </p:nvCxnSpPr>
        <p:spPr bwMode="auto">
          <a:xfrm flipH="1">
            <a:off x="2135560" y="5507296"/>
            <a:ext cx="2332" cy="586000"/>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28" name="Straight Connector 27"/>
          <p:cNvCxnSpPr>
            <a:endCxn id="8" idx="3"/>
          </p:cNvCxnSpPr>
          <p:nvPr/>
        </p:nvCxnSpPr>
        <p:spPr bwMode="auto">
          <a:xfrm>
            <a:off x="2783632" y="5507296"/>
            <a:ext cx="0" cy="730016"/>
          </a:xfrm>
          <a:prstGeom prst="line">
            <a:avLst/>
          </a:prstGeom>
          <a:solidFill>
            <a:schemeClr val="accent1"/>
          </a:solidFill>
          <a:ln w="9525" cap="flat" cmpd="sng" algn="ctr">
            <a:solidFill>
              <a:schemeClr val="tx1"/>
            </a:solidFill>
            <a:prstDash val="lgDash"/>
            <a:round/>
            <a:headEnd type="none" w="med" len="med"/>
            <a:tailEnd type="none" w="med" len="med"/>
          </a:ln>
          <a:effectLst/>
        </p:spPr>
      </p:cxnSp>
      <p:sp>
        <p:nvSpPr>
          <p:cNvPr id="30" name="Rectangle 29"/>
          <p:cNvSpPr/>
          <p:nvPr/>
        </p:nvSpPr>
        <p:spPr bwMode="auto">
          <a:xfrm>
            <a:off x="5303912" y="2060848"/>
            <a:ext cx="648072" cy="288032"/>
          </a:xfrm>
          <a:prstGeom prst="rect">
            <a:avLst/>
          </a:prstGeom>
          <a:solidFill>
            <a:schemeClr val="accent1">
              <a:lumMod val="20000"/>
              <a:lumOff val="80000"/>
            </a:schemeClr>
          </a:solidFill>
          <a:ln w="9525">
            <a:solidFill>
              <a:schemeClr val="tx1"/>
            </a:solidFill>
            <a:miter lim="800000"/>
            <a:headEnd/>
            <a:tailEnd/>
          </a:ln>
        </p:spPr>
        <p:txBody>
          <a:bodyPr wrap="none" anchor="ctr"/>
          <a:lstStyle/>
          <a:p>
            <a:pPr algn="ctr"/>
            <a:endParaRPr lang="en-US" sz="1400">
              <a:latin typeface="+mn-lt"/>
            </a:endParaRPr>
          </a:p>
        </p:txBody>
      </p:sp>
      <p:sp>
        <p:nvSpPr>
          <p:cNvPr id="31" name="Rectangle 30"/>
          <p:cNvSpPr/>
          <p:nvPr/>
        </p:nvSpPr>
        <p:spPr bwMode="auto">
          <a:xfrm>
            <a:off x="5303912" y="2348880"/>
            <a:ext cx="648072" cy="288032"/>
          </a:xfrm>
          <a:prstGeom prst="rect">
            <a:avLst/>
          </a:prstGeom>
          <a:solidFill>
            <a:schemeClr val="accent1">
              <a:lumMod val="20000"/>
              <a:lumOff val="80000"/>
            </a:schemeClr>
          </a:solidFill>
          <a:ln w="9525">
            <a:solidFill>
              <a:schemeClr val="tx1"/>
            </a:solidFill>
            <a:miter lim="800000"/>
            <a:headEnd/>
            <a:tailEnd/>
          </a:ln>
        </p:spPr>
        <p:txBody>
          <a:bodyPr wrap="none" anchor="ctr"/>
          <a:lstStyle/>
          <a:p>
            <a:pPr algn="ctr"/>
            <a:endParaRPr lang="en-US" sz="1400">
              <a:latin typeface="+mn-lt"/>
            </a:endParaRPr>
          </a:p>
        </p:txBody>
      </p:sp>
      <p:sp>
        <p:nvSpPr>
          <p:cNvPr id="32" name="Rectangle 31"/>
          <p:cNvSpPr/>
          <p:nvPr/>
        </p:nvSpPr>
        <p:spPr bwMode="auto">
          <a:xfrm>
            <a:off x="5303912" y="2636912"/>
            <a:ext cx="648072" cy="288032"/>
          </a:xfrm>
          <a:prstGeom prst="rect">
            <a:avLst/>
          </a:prstGeom>
          <a:solidFill>
            <a:schemeClr val="accent1">
              <a:lumMod val="20000"/>
              <a:lumOff val="80000"/>
            </a:schemeClr>
          </a:solidFill>
          <a:ln w="9525">
            <a:solidFill>
              <a:schemeClr val="tx1"/>
            </a:solidFill>
            <a:miter lim="800000"/>
            <a:headEnd/>
            <a:tailEnd/>
          </a:ln>
        </p:spPr>
        <p:txBody>
          <a:bodyPr wrap="none" anchor="ctr"/>
          <a:lstStyle/>
          <a:p>
            <a:pPr algn="ctr"/>
            <a:endParaRPr lang="en-US" sz="1400">
              <a:latin typeface="+mn-lt"/>
            </a:endParaRPr>
          </a:p>
        </p:txBody>
      </p:sp>
      <p:sp>
        <p:nvSpPr>
          <p:cNvPr id="33" name="Rectangle 32"/>
          <p:cNvSpPr/>
          <p:nvPr/>
        </p:nvSpPr>
        <p:spPr bwMode="auto">
          <a:xfrm>
            <a:off x="5303912" y="3212976"/>
            <a:ext cx="648072" cy="288032"/>
          </a:xfrm>
          <a:prstGeom prst="rect">
            <a:avLst/>
          </a:prstGeom>
          <a:solidFill>
            <a:schemeClr val="accent1">
              <a:lumMod val="20000"/>
              <a:lumOff val="80000"/>
            </a:schemeClr>
          </a:solidFill>
          <a:ln w="9525">
            <a:solidFill>
              <a:schemeClr val="tx1"/>
            </a:solidFill>
            <a:miter lim="800000"/>
            <a:headEnd/>
            <a:tailEnd/>
          </a:ln>
        </p:spPr>
        <p:txBody>
          <a:bodyPr wrap="none" anchor="ctr"/>
          <a:lstStyle/>
          <a:p>
            <a:pPr algn="ctr"/>
            <a:r>
              <a:rPr lang="en-US" sz="1400">
                <a:latin typeface="+mn-lt"/>
              </a:rPr>
              <a:t>456</a:t>
            </a:r>
          </a:p>
        </p:txBody>
      </p:sp>
      <p:sp>
        <p:nvSpPr>
          <p:cNvPr id="34" name="Rectangle 33"/>
          <p:cNvSpPr/>
          <p:nvPr/>
        </p:nvSpPr>
        <p:spPr bwMode="auto">
          <a:xfrm>
            <a:off x="5303912" y="6093296"/>
            <a:ext cx="648072" cy="288032"/>
          </a:xfrm>
          <a:prstGeom prst="rect">
            <a:avLst/>
          </a:prstGeom>
          <a:solidFill>
            <a:schemeClr val="accent1">
              <a:lumMod val="20000"/>
              <a:lumOff val="80000"/>
            </a:schemeClr>
          </a:solidFill>
          <a:ln w="9525">
            <a:solidFill>
              <a:schemeClr val="tx1"/>
            </a:solidFill>
            <a:miter lim="800000"/>
            <a:headEnd/>
            <a:tailEnd/>
          </a:ln>
        </p:spPr>
        <p:txBody>
          <a:bodyPr wrap="none" anchor="ctr"/>
          <a:lstStyle/>
          <a:p>
            <a:pPr algn="ctr"/>
            <a:r>
              <a:rPr lang="en-US" sz="1400">
                <a:latin typeface="+mn-lt"/>
              </a:rPr>
              <a:t>2</a:t>
            </a:r>
            <a:r>
              <a:rPr lang="en-US" sz="1400" baseline="30000">
                <a:latin typeface="+mn-lt"/>
              </a:rPr>
              <a:t>N-n</a:t>
            </a:r>
            <a:r>
              <a:rPr lang="en-US" sz="1400">
                <a:latin typeface="+mn-lt"/>
              </a:rPr>
              <a:t>-1</a:t>
            </a:r>
          </a:p>
        </p:txBody>
      </p:sp>
      <p:cxnSp>
        <p:nvCxnSpPr>
          <p:cNvPr id="35" name="Straight Connector 34"/>
          <p:cNvCxnSpPr/>
          <p:nvPr/>
        </p:nvCxnSpPr>
        <p:spPr bwMode="auto">
          <a:xfrm>
            <a:off x="5951984" y="2924944"/>
            <a:ext cx="0" cy="288032"/>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36" name="Straight Connector 35"/>
          <p:cNvCxnSpPr/>
          <p:nvPr/>
        </p:nvCxnSpPr>
        <p:spPr bwMode="auto">
          <a:xfrm>
            <a:off x="5303912" y="2924944"/>
            <a:ext cx="0" cy="288032"/>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37" name="Straight Connector 36"/>
          <p:cNvCxnSpPr/>
          <p:nvPr/>
        </p:nvCxnSpPr>
        <p:spPr bwMode="auto">
          <a:xfrm>
            <a:off x="5303912" y="3505434"/>
            <a:ext cx="0" cy="471443"/>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38" name="Straight Connector 37"/>
          <p:cNvCxnSpPr>
            <a:endCxn id="39" idx="3"/>
          </p:cNvCxnSpPr>
          <p:nvPr/>
        </p:nvCxnSpPr>
        <p:spPr bwMode="auto">
          <a:xfrm>
            <a:off x="5951984" y="3484706"/>
            <a:ext cx="0" cy="636186"/>
          </a:xfrm>
          <a:prstGeom prst="line">
            <a:avLst/>
          </a:prstGeom>
          <a:solidFill>
            <a:schemeClr val="accent1"/>
          </a:solidFill>
          <a:ln w="9525" cap="flat" cmpd="sng" algn="ctr">
            <a:solidFill>
              <a:schemeClr val="tx1"/>
            </a:solidFill>
            <a:prstDash val="lgDash"/>
            <a:round/>
            <a:headEnd type="none" w="med" len="med"/>
            <a:tailEnd type="none" w="med" len="med"/>
          </a:ln>
          <a:effectLst/>
        </p:spPr>
      </p:cxnSp>
      <p:sp>
        <p:nvSpPr>
          <p:cNvPr id="39" name="Rectangle 38"/>
          <p:cNvSpPr/>
          <p:nvPr/>
        </p:nvSpPr>
        <p:spPr bwMode="auto">
          <a:xfrm>
            <a:off x="5303912" y="3976876"/>
            <a:ext cx="648072" cy="288032"/>
          </a:xfrm>
          <a:prstGeom prst="rect">
            <a:avLst/>
          </a:prstGeom>
          <a:solidFill>
            <a:schemeClr val="accent1">
              <a:lumMod val="20000"/>
              <a:lumOff val="80000"/>
            </a:schemeClr>
          </a:solidFill>
          <a:ln w="9525">
            <a:solidFill>
              <a:schemeClr val="tx1"/>
            </a:solidFill>
            <a:miter lim="800000"/>
            <a:headEnd/>
            <a:tailEnd/>
          </a:ln>
        </p:spPr>
        <p:txBody>
          <a:bodyPr wrap="none" anchor="ctr"/>
          <a:lstStyle/>
          <a:p>
            <a:pPr algn="ctr"/>
            <a:r>
              <a:rPr lang="en-US" sz="1400">
                <a:latin typeface="+mn-lt"/>
              </a:rPr>
              <a:t>17</a:t>
            </a:r>
          </a:p>
        </p:txBody>
      </p:sp>
      <p:sp>
        <p:nvSpPr>
          <p:cNvPr id="40" name="Rectangle 39"/>
          <p:cNvSpPr/>
          <p:nvPr/>
        </p:nvSpPr>
        <p:spPr bwMode="auto">
          <a:xfrm>
            <a:off x="5303912" y="4670078"/>
            <a:ext cx="648072" cy="288032"/>
          </a:xfrm>
          <a:prstGeom prst="rect">
            <a:avLst/>
          </a:prstGeom>
          <a:solidFill>
            <a:schemeClr val="accent1">
              <a:lumMod val="20000"/>
              <a:lumOff val="80000"/>
            </a:schemeClr>
          </a:solidFill>
          <a:ln w="9525">
            <a:solidFill>
              <a:schemeClr val="tx1"/>
            </a:solidFill>
            <a:miter lim="800000"/>
            <a:headEnd/>
            <a:tailEnd/>
          </a:ln>
        </p:spPr>
        <p:txBody>
          <a:bodyPr wrap="none" anchor="ctr"/>
          <a:lstStyle/>
          <a:p>
            <a:pPr algn="ctr"/>
            <a:r>
              <a:rPr lang="en-US" sz="1400">
                <a:latin typeface="+mn-lt"/>
              </a:rPr>
              <a:t>NA</a:t>
            </a:r>
          </a:p>
        </p:txBody>
      </p:sp>
      <p:sp>
        <p:nvSpPr>
          <p:cNvPr id="41" name="Rectangle 40"/>
          <p:cNvSpPr/>
          <p:nvPr/>
        </p:nvSpPr>
        <p:spPr bwMode="auto">
          <a:xfrm>
            <a:off x="5301898" y="5554142"/>
            <a:ext cx="648072" cy="288032"/>
          </a:xfrm>
          <a:prstGeom prst="rect">
            <a:avLst/>
          </a:prstGeom>
          <a:solidFill>
            <a:schemeClr val="accent1">
              <a:lumMod val="20000"/>
              <a:lumOff val="80000"/>
            </a:schemeClr>
          </a:solidFill>
          <a:ln w="9525">
            <a:solidFill>
              <a:schemeClr val="tx1"/>
            </a:solidFill>
            <a:miter lim="800000"/>
            <a:headEnd/>
            <a:tailEnd/>
          </a:ln>
        </p:spPr>
        <p:txBody>
          <a:bodyPr wrap="none" anchor="ctr"/>
          <a:lstStyle/>
          <a:p>
            <a:pPr algn="ctr"/>
            <a:r>
              <a:rPr lang="en-US" sz="1400">
                <a:latin typeface="+mn-lt"/>
              </a:rPr>
              <a:t>222</a:t>
            </a:r>
          </a:p>
        </p:txBody>
      </p:sp>
      <p:cxnSp>
        <p:nvCxnSpPr>
          <p:cNvPr id="42" name="Straight Connector 41"/>
          <p:cNvCxnSpPr/>
          <p:nvPr/>
        </p:nvCxnSpPr>
        <p:spPr bwMode="auto">
          <a:xfrm flipH="1">
            <a:off x="5301898" y="4958110"/>
            <a:ext cx="2014" cy="1057555"/>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43" name="Straight Connector 42"/>
          <p:cNvCxnSpPr/>
          <p:nvPr/>
        </p:nvCxnSpPr>
        <p:spPr bwMode="auto">
          <a:xfrm flipH="1">
            <a:off x="5949970" y="4958110"/>
            <a:ext cx="2014" cy="1119276"/>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44" name="Straight Connector 43"/>
          <p:cNvCxnSpPr/>
          <p:nvPr/>
        </p:nvCxnSpPr>
        <p:spPr bwMode="auto">
          <a:xfrm>
            <a:off x="5951984" y="4264908"/>
            <a:ext cx="0" cy="405170"/>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45" name="Straight Connector 44"/>
          <p:cNvCxnSpPr>
            <a:endCxn id="40" idx="1"/>
          </p:cNvCxnSpPr>
          <p:nvPr/>
        </p:nvCxnSpPr>
        <p:spPr bwMode="auto">
          <a:xfrm>
            <a:off x="5303912" y="4264908"/>
            <a:ext cx="0" cy="549186"/>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46" name="Straight Connector 45"/>
          <p:cNvCxnSpPr/>
          <p:nvPr/>
        </p:nvCxnSpPr>
        <p:spPr bwMode="auto">
          <a:xfrm flipH="1">
            <a:off x="5303912" y="5507296"/>
            <a:ext cx="2332" cy="586000"/>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47" name="Straight Connector 46"/>
          <p:cNvCxnSpPr>
            <a:endCxn id="34" idx="3"/>
          </p:cNvCxnSpPr>
          <p:nvPr/>
        </p:nvCxnSpPr>
        <p:spPr bwMode="auto">
          <a:xfrm>
            <a:off x="5951984" y="5507296"/>
            <a:ext cx="0" cy="730016"/>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49" name="Straight Arrow Connector 48"/>
          <p:cNvCxnSpPr>
            <a:stCxn id="7" idx="3"/>
            <a:endCxn id="33" idx="1"/>
          </p:cNvCxnSpPr>
          <p:nvPr/>
        </p:nvCxnSpPr>
        <p:spPr bwMode="auto">
          <a:xfrm>
            <a:off x="2783632" y="3356992"/>
            <a:ext cx="252028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p:cNvCxnSpPr>
            <a:stCxn id="15" idx="3"/>
            <a:endCxn id="39" idx="1"/>
          </p:cNvCxnSpPr>
          <p:nvPr/>
        </p:nvCxnSpPr>
        <p:spPr bwMode="auto">
          <a:xfrm>
            <a:off x="2783632" y="4120892"/>
            <a:ext cx="252028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4" name="Straight Arrow Connector 53"/>
          <p:cNvCxnSpPr>
            <a:stCxn id="16" idx="3"/>
            <a:endCxn id="40" idx="1"/>
          </p:cNvCxnSpPr>
          <p:nvPr/>
        </p:nvCxnSpPr>
        <p:spPr bwMode="auto">
          <a:xfrm>
            <a:off x="2783632" y="4814094"/>
            <a:ext cx="252028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6" name="Straight Arrow Connector 55"/>
          <p:cNvCxnSpPr>
            <a:stCxn id="17" idx="3"/>
            <a:endCxn id="41" idx="1"/>
          </p:cNvCxnSpPr>
          <p:nvPr/>
        </p:nvCxnSpPr>
        <p:spPr bwMode="auto">
          <a:xfrm>
            <a:off x="2783632" y="5698158"/>
            <a:ext cx="251826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7" name="Rectangle 56"/>
          <p:cNvSpPr/>
          <p:nvPr/>
        </p:nvSpPr>
        <p:spPr bwMode="auto">
          <a:xfrm>
            <a:off x="8472263" y="2348880"/>
            <a:ext cx="648072" cy="288032"/>
          </a:xfrm>
          <a:prstGeom prst="rect">
            <a:avLst/>
          </a:prstGeom>
          <a:solidFill>
            <a:schemeClr val="accent5">
              <a:lumMod val="60000"/>
              <a:lumOff val="40000"/>
            </a:schemeClr>
          </a:solidFill>
          <a:ln w="9525">
            <a:solidFill>
              <a:schemeClr val="tx1"/>
            </a:solidFill>
            <a:miter lim="800000"/>
            <a:headEnd/>
            <a:tailEnd/>
          </a:ln>
        </p:spPr>
        <p:txBody>
          <a:bodyPr wrap="none" anchor="ctr"/>
          <a:lstStyle/>
          <a:p>
            <a:pPr algn="ctr"/>
            <a:r>
              <a:rPr lang="en-US" sz="1400">
                <a:latin typeface="+mn-lt"/>
              </a:rPr>
              <a:t>0</a:t>
            </a:r>
          </a:p>
        </p:txBody>
      </p:sp>
      <p:sp>
        <p:nvSpPr>
          <p:cNvPr id="58" name="Rectangle 57"/>
          <p:cNvSpPr/>
          <p:nvPr/>
        </p:nvSpPr>
        <p:spPr bwMode="auto">
          <a:xfrm>
            <a:off x="8472263" y="2636912"/>
            <a:ext cx="648072" cy="288032"/>
          </a:xfrm>
          <a:prstGeom prst="rect">
            <a:avLst/>
          </a:prstGeom>
          <a:solidFill>
            <a:schemeClr val="accent5">
              <a:lumMod val="60000"/>
              <a:lumOff val="40000"/>
            </a:schemeClr>
          </a:solidFill>
          <a:ln w="9525">
            <a:solidFill>
              <a:schemeClr val="tx1"/>
            </a:solidFill>
            <a:miter lim="800000"/>
            <a:headEnd/>
            <a:tailEnd/>
          </a:ln>
        </p:spPr>
        <p:txBody>
          <a:bodyPr wrap="none" anchor="ctr"/>
          <a:lstStyle/>
          <a:p>
            <a:pPr algn="ctr"/>
            <a:r>
              <a:rPr lang="en-US" sz="1400">
                <a:latin typeface="+mn-lt"/>
              </a:rPr>
              <a:t>1</a:t>
            </a:r>
          </a:p>
        </p:txBody>
      </p:sp>
      <p:sp>
        <p:nvSpPr>
          <p:cNvPr id="59" name="Rectangle 58"/>
          <p:cNvSpPr/>
          <p:nvPr/>
        </p:nvSpPr>
        <p:spPr bwMode="auto">
          <a:xfrm>
            <a:off x="8472263" y="2924944"/>
            <a:ext cx="648072" cy="288032"/>
          </a:xfrm>
          <a:prstGeom prst="rect">
            <a:avLst/>
          </a:prstGeom>
          <a:solidFill>
            <a:schemeClr val="accent5">
              <a:lumMod val="60000"/>
              <a:lumOff val="40000"/>
            </a:schemeClr>
          </a:solidFill>
          <a:ln w="9525">
            <a:solidFill>
              <a:schemeClr val="tx1"/>
            </a:solidFill>
            <a:miter lim="800000"/>
            <a:headEnd/>
            <a:tailEnd/>
          </a:ln>
        </p:spPr>
        <p:txBody>
          <a:bodyPr wrap="none" anchor="ctr"/>
          <a:lstStyle/>
          <a:p>
            <a:pPr algn="ctr"/>
            <a:r>
              <a:rPr lang="en-US" sz="1400">
                <a:latin typeface="+mn-lt"/>
              </a:rPr>
              <a:t>2</a:t>
            </a:r>
          </a:p>
        </p:txBody>
      </p:sp>
      <p:sp>
        <p:nvSpPr>
          <p:cNvPr id="60" name="Rectangle 59"/>
          <p:cNvSpPr/>
          <p:nvPr/>
        </p:nvSpPr>
        <p:spPr bwMode="auto">
          <a:xfrm>
            <a:off x="8472263" y="3654960"/>
            <a:ext cx="648072" cy="288032"/>
          </a:xfrm>
          <a:prstGeom prst="rect">
            <a:avLst/>
          </a:prstGeom>
          <a:solidFill>
            <a:schemeClr val="accent5">
              <a:lumMod val="60000"/>
              <a:lumOff val="40000"/>
            </a:schemeClr>
          </a:solidFill>
          <a:ln w="9525">
            <a:solidFill>
              <a:schemeClr val="tx1"/>
            </a:solidFill>
            <a:miter lim="800000"/>
            <a:headEnd/>
            <a:tailEnd/>
          </a:ln>
        </p:spPr>
        <p:txBody>
          <a:bodyPr wrap="none" anchor="ctr"/>
          <a:lstStyle/>
          <a:p>
            <a:pPr algn="ctr"/>
            <a:r>
              <a:rPr lang="en-US" sz="1400">
                <a:latin typeface="+mn-lt"/>
              </a:rPr>
              <a:t>17</a:t>
            </a:r>
          </a:p>
        </p:txBody>
      </p:sp>
      <p:sp>
        <p:nvSpPr>
          <p:cNvPr id="61" name="Rectangle 60"/>
          <p:cNvSpPr/>
          <p:nvPr/>
        </p:nvSpPr>
        <p:spPr bwMode="auto">
          <a:xfrm>
            <a:off x="8472263" y="5789354"/>
            <a:ext cx="648072" cy="288032"/>
          </a:xfrm>
          <a:prstGeom prst="rect">
            <a:avLst/>
          </a:prstGeom>
          <a:solidFill>
            <a:schemeClr val="accent5">
              <a:lumMod val="60000"/>
              <a:lumOff val="40000"/>
            </a:schemeClr>
          </a:solidFill>
          <a:ln w="9525">
            <a:solidFill>
              <a:schemeClr val="tx1"/>
            </a:solidFill>
            <a:miter lim="800000"/>
            <a:headEnd/>
            <a:tailEnd/>
          </a:ln>
        </p:spPr>
        <p:txBody>
          <a:bodyPr wrap="none" anchor="ctr"/>
          <a:lstStyle/>
          <a:p>
            <a:pPr algn="ctr"/>
            <a:r>
              <a:rPr lang="en-US" sz="1400">
                <a:latin typeface="+mn-lt"/>
              </a:rPr>
              <a:t>2</a:t>
            </a:r>
            <a:r>
              <a:rPr lang="en-US" sz="1400" baseline="30000">
                <a:latin typeface="+mn-lt"/>
              </a:rPr>
              <a:t>P-n</a:t>
            </a:r>
            <a:r>
              <a:rPr lang="en-US" sz="1400">
                <a:latin typeface="+mn-lt"/>
              </a:rPr>
              <a:t>-1</a:t>
            </a:r>
          </a:p>
        </p:txBody>
      </p:sp>
      <p:cxnSp>
        <p:nvCxnSpPr>
          <p:cNvPr id="62" name="Straight Connector 61"/>
          <p:cNvCxnSpPr/>
          <p:nvPr/>
        </p:nvCxnSpPr>
        <p:spPr bwMode="auto">
          <a:xfrm>
            <a:off x="9120335" y="3212976"/>
            <a:ext cx="0" cy="441984"/>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63" name="Straight Connector 62"/>
          <p:cNvCxnSpPr/>
          <p:nvPr/>
        </p:nvCxnSpPr>
        <p:spPr bwMode="auto">
          <a:xfrm>
            <a:off x="8472263" y="3212976"/>
            <a:ext cx="0" cy="441984"/>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64" name="Straight Connector 63"/>
          <p:cNvCxnSpPr/>
          <p:nvPr/>
        </p:nvCxnSpPr>
        <p:spPr bwMode="auto">
          <a:xfrm>
            <a:off x="8472263" y="3793465"/>
            <a:ext cx="0" cy="649258"/>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65" name="Straight Connector 64"/>
          <p:cNvCxnSpPr>
            <a:endCxn id="66" idx="3"/>
          </p:cNvCxnSpPr>
          <p:nvPr/>
        </p:nvCxnSpPr>
        <p:spPr bwMode="auto">
          <a:xfrm>
            <a:off x="9120335" y="3950553"/>
            <a:ext cx="0" cy="636186"/>
          </a:xfrm>
          <a:prstGeom prst="line">
            <a:avLst/>
          </a:prstGeom>
          <a:solidFill>
            <a:schemeClr val="accent1"/>
          </a:solidFill>
          <a:ln w="9525" cap="flat" cmpd="sng" algn="ctr">
            <a:solidFill>
              <a:schemeClr val="tx1"/>
            </a:solidFill>
            <a:prstDash val="lgDash"/>
            <a:round/>
            <a:headEnd type="none" w="med" len="med"/>
            <a:tailEnd type="none" w="med" len="med"/>
          </a:ln>
          <a:effectLst/>
        </p:spPr>
      </p:cxnSp>
      <p:sp>
        <p:nvSpPr>
          <p:cNvPr id="66" name="Rectangle 65"/>
          <p:cNvSpPr/>
          <p:nvPr/>
        </p:nvSpPr>
        <p:spPr bwMode="auto">
          <a:xfrm>
            <a:off x="8472263" y="4442723"/>
            <a:ext cx="648072" cy="288032"/>
          </a:xfrm>
          <a:prstGeom prst="rect">
            <a:avLst/>
          </a:prstGeom>
          <a:solidFill>
            <a:schemeClr val="accent5">
              <a:lumMod val="60000"/>
              <a:lumOff val="40000"/>
            </a:schemeClr>
          </a:solidFill>
          <a:ln w="9525">
            <a:solidFill>
              <a:schemeClr val="tx1"/>
            </a:solidFill>
            <a:miter lim="800000"/>
            <a:headEnd/>
            <a:tailEnd/>
          </a:ln>
        </p:spPr>
        <p:txBody>
          <a:bodyPr wrap="none" anchor="ctr"/>
          <a:lstStyle/>
          <a:p>
            <a:pPr algn="ctr"/>
            <a:r>
              <a:rPr lang="en-US" sz="1400">
                <a:latin typeface="+mn-lt"/>
              </a:rPr>
              <a:t>222</a:t>
            </a:r>
          </a:p>
        </p:txBody>
      </p:sp>
      <p:sp>
        <p:nvSpPr>
          <p:cNvPr id="67" name="Rectangle 66"/>
          <p:cNvSpPr/>
          <p:nvPr/>
        </p:nvSpPr>
        <p:spPr bwMode="auto">
          <a:xfrm>
            <a:off x="8472263" y="4958110"/>
            <a:ext cx="648072" cy="288032"/>
          </a:xfrm>
          <a:prstGeom prst="rect">
            <a:avLst/>
          </a:prstGeom>
          <a:solidFill>
            <a:schemeClr val="accent5">
              <a:lumMod val="60000"/>
              <a:lumOff val="40000"/>
            </a:schemeClr>
          </a:solidFill>
          <a:ln w="9525">
            <a:solidFill>
              <a:schemeClr val="tx1"/>
            </a:solidFill>
            <a:miter lim="800000"/>
            <a:headEnd/>
            <a:tailEnd/>
          </a:ln>
        </p:spPr>
        <p:txBody>
          <a:bodyPr wrap="none" anchor="ctr"/>
          <a:lstStyle/>
          <a:p>
            <a:pPr algn="ctr"/>
            <a:r>
              <a:rPr lang="en-US" sz="1400">
                <a:latin typeface="+mn-lt"/>
              </a:rPr>
              <a:t>456</a:t>
            </a:r>
          </a:p>
        </p:txBody>
      </p:sp>
      <p:cxnSp>
        <p:nvCxnSpPr>
          <p:cNvPr id="69" name="Straight Connector 68"/>
          <p:cNvCxnSpPr/>
          <p:nvPr/>
        </p:nvCxnSpPr>
        <p:spPr bwMode="auto">
          <a:xfrm>
            <a:off x="8472263" y="5246142"/>
            <a:ext cx="0" cy="543212"/>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70" name="Straight Connector 69"/>
          <p:cNvCxnSpPr/>
          <p:nvPr/>
        </p:nvCxnSpPr>
        <p:spPr bwMode="auto">
          <a:xfrm>
            <a:off x="9120335" y="5246142"/>
            <a:ext cx="0" cy="543212"/>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71" name="Straight Connector 70"/>
          <p:cNvCxnSpPr/>
          <p:nvPr/>
        </p:nvCxnSpPr>
        <p:spPr bwMode="auto">
          <a:xfrm>
            <a:off x="9120335" y="4552940"/>
            <a:ext cx="0" cy="405170"/>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72" name="Straight Connector 71"/>
          <p:cNvCxnSpPr>
            <a:endCxn id="67" idx="1"/>
          </p:cNvCxnSpPr>
          <p:nvPr/>
        </p:nvCxnSpPr>
        <p:spPr bwMode="auto">
          <a:xfrm>
            <a:off x="8472263" y="4552940"/>
            <a:ext cx="0" cy="549186"/>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81" name="Straight Arrow Connector 80"/>
          <p:cNvCxnSpPr>
            <a:stCxn id="33" idx="3"/>
            <a:endCxn id="67" idx="1"/>
          </p:cNvCxnSpPr>
          <p:nvPr/>
        </p:nvCxnSpPr>
        <p:spPr bwMode="auto">
          <a:xfrm>
            <a:off x="5951985" y="3356992"/>
            <a:ext cx="2520279" cy="174513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3" name="Straight Arrow Connector 82"/>
          <p:cNvCxnSpPr>
            <a:stCxn id="41" idx="3"/>
            <a:endCxn id="66" idx="1"/>
          </p:cNvCxnSpPr>
          <p:nvPr/>
        </p:nvCxnSpPr>
        <p:spPr bwMode="auto">
          <a:xfrm flipV="1">
            <a:off x="5949970" y="4586739"/>
            <a:ext cx="2522293" cy="111141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5" name="Straight Arrow Connector 84"/>
          <p:cNvCxnSpPr>
            <a:stCxn id="39" idx="3"/>
            <a:endCxn id="60" idx="1"/>
          </p:cNvCxnSpPr>
          <p:nvPr/>
        </p:nvCxnSpPr>
        <p:spPr bwMode="auto">
          <a:xfrm flipV="1">
            <a:off x="5951985" y="3798976"/>
            <a:ext cx="2520279" cy="3219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86" name="Lightning Bolt 85"/>
          <p:cNvSpPr/>
          <p:nvPr/>
        </p:nvSpPr>
        <p:spPr bwMode="auto">
          <a:xfrm>
            <a:off x="5990150" y="4525306"/>
            <a:ext cx="569725" cy="576820"/>
          </a:xfrm>
          <a:prstGeom prst="lightningBolt">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87" name="TextBox 86"/>
          <p:cNvSpPr txBox="1"/>
          <p:nvPr/>
        </p:nvSpPr>
        <p:spPr>
          <a:xfrm>
            <a:off x="6351839" y="4588778"/>
            <a:ext cx="1112677" cy="369332"/>
          </a:xfrm>
          <a:prstGeom prst="rect">
            <a:avLst/>
          </a:prstGeom>
          <a:noFill/>
        </p:spPr>
        <p:txBody>
          <a:bodyPr wrap="none" rtlCol="0">
            <a:spAutoFit/>
          </a:bodyPr>
          <a:lstStyle/>
          <a:p>
            <a:r>
              <a:rPr lang="en-US">
                <a:latin typeface="+mn-lt"/>
              </a:rPr>
              <a:t>Page fault</a:t>
            </a:r>
          </a:p>
        </p:txBody>
      </p:sp>
      <p:sp>
        <p:nvSpPr>
          <p:cNvPr id="3" name="Date Placeholder 2"/>
          <p:cNvSpPr>
            <a:spLocks noGrp="1"/>
          </p:cNvSpPr>
          <p:nvPr>
            <p:ph type="dt" sz="half" idx="10"/>
          </p:nvPr>
        </p:nvSpPr>
        <p:spPr/>
        <p:txBody>
          <a:bodyPr/>
          <a:lstStyle/>
          <a:p>
            <a:r>
              <a:rPr lang="cs-CZ" altLang="en-US"/>
              <a:t>17.4.2025</a:t>
            </a:r>
            <a:endParaRPr lang="en-US" altLang="en-US"/>
          </a:p>
        </p:txBody>
      </p:sp>
      <p:sp>
        <p:nvSpPr>
          <p:cNvPr id="13" name="Slide Number Placeholder 12"/>
          <p:cNvSpPr>
            <a:spLocks noGrp="1"/>
          </p:cNvSpPr>
          <p:nvPr>
            <p:ph type="sldNum" sz="quarter" idx="12"/>
          </p:nvPr>
        </p:nvSpPr>
        <p:spPr/>
        <p:txBody>
          <a:bodyPr/>
          <a:lstStyle/>
          <a:p>
            <a:fld id="{F4A1145F-674A-4228-8958-0EA9769F5517}" type="slidenum">
              <a:rPr lang="en-US" altLang="en-US" smtClean="0"/>
              <a:pPr/>
              <a:t>69</a:t>
            </a:fld>
            <a:endParaRPr lang="en-US" altLang="en-US"/>
          </a:p>
        </p:txBody>
      </p:sp>
      <p:sp>
        <p:nvSpPr>
          <p:cNvPr id="27" name="TextBox 26"/>
          <p:cNvSpPr txBox="1"/>
          <p:nvPr/>
        </p:nvSpPr>
        <p:spPr>
          <a:xfrm>
            <a:off x="1798742" y="1632892"/>
            <a:ext cx="1321708" cy="369332"/>
          </a:xfrm>
          <a:prstGeom prst="rect">
            <a:avLst/>
          </a:prstGeom>
          <a:noFill/>
        </p:spPr>
        <p:txBody>
          <a:bodyPr wrap="none" rtlCol="0">
            <a:spAutoFit/>
          </a:bodyPr>
          <a:lstStyle/>
          <a:p>
            <a:r>
              <a:rPr lang="en-US" dirty="0"/>
              <a:t>VAS pages</a:t>
            </a:r>
          </a:p>
        </p:txBody>
      </p:sp>
      <p:sp>
        <p:nvSpPr>
          <p:cNvPr id="73" name="TextBox 72"/>
          <p:cNvSpPr txBox="1"/>
          <p:nvPr/>
        </p:nvSpPr>
        <p:spPr>
          <a:xfrm>
            <a:off x="4987480" y="1632892"/>
            <a:ext cx="1287532" cy="369332"/>
          </a:xfrm>
          <a:prstGeom prst="rect">
            <a:avLst/>
          </a:prstGeom>
          <a:noFill/>
        </p:spPr>
        <p:txBody>
          <a:bodyPr wrap="none" rtlCol="0">
            <a:spAutoFit/>
          </a:bodyPr>
          <a:lstStyle/>
          <a:p>
            <a:r>
              <a:rPr lang="en-US" dirty="0"/>
              <a:t>Page table</a:t>
            </a:r>
          </a:p>
        </p:txBody>
      </p:sp>
      <p:sp>
        <p:nvSpPr>
          <p:cNvPr id="74" name="TextBox 73"/>
          <p:cNvSpPr txBox="1"/>
          <p:nvPr/>
        </p:nvSpPr>
        <p:spPr>
          <a:xfrm>
            <a:off x="8095965" y="1689800"/>
            <a:ext cx="1398653" cy="369332"/>
          </a:xfrm>
          <a:prstGeom prst="rect">
            <a:avLst/>
          </a:prstGeom>
          <a:noFill/>
        </p:spPr>
        <p:txBody>
          <a:bodyPr wrap="none" rtlCol="0">
            <a:spAutoFit/>
          </a:bodyPr>
          <a:lstStyle/>
          <a:p>
            <a:r>
              <a:rPr lang="en-US" dirty="0"/>
              <a:t>PAS frames</a:t>
            </a:r>
          </a:p>
        </p:txBody>
      </p:sp>
    </p:spTree>
    <p:extLst>
      <p:ext uri="{BB962C8B-B14F-4D97-AF65-F5344CB8AC3E}">
        <p14:creationId xmlns:p14="http://schemas.microsoft.com/office/powerpoint/2010/main" val="397295484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Page table – problems</a:t>
            </a:r>
          </a:p>
        </p:txBody>
      </p:sp>
      <p:sp>
        <p:nvSpPr>
          <p:cNvPr id="3" name="Content Placeholder 2"/>
          <p:cNvSpPr>
            <a:spLocks noGrp="1"/>
          </p:cNvSpPr>
          <p:nvPr>
            <p:ph sz="half" idx="1"/>
          </p:nvPr>
        </p:nvSpPr>
        <p:spPr/>
        <p:txBody>
          <a:bodyPr>
            <a:normAutofit/>
          </a:bodyPr>
          <a:lstStyle/>
          <a:p>
            <a:r>
              <a:rPr lang="en-US" dirty="0"/>
              <a:t>Size</a:t>
            </a:r>
          </a:p>
          <a:p>
            <a:pPr lvl="1"/>
            <a:r>
              <a:rPr lang="en-US" dirty="0"/>
              <a:t>1-level page table, 32-bit VA/PA, 4k pages/frames (12 bits)</a:t>
            </a:r>
          </a:p>
          <a:p>
            <a:pPr lvl="2"/>
            <a:r>
              <a:rPr lang="en-US" dirty="0"/>
              <a:t>Size of the page table entry?</a:t>
            </a:r>
          </a:p>
          <a:p>
            <a:pPr lvl="2"/>
            <a:r>
              <a:rPr lang="en-US" dirty="0"/>
              <a:t>Size of the page table?</a:t>
            </a:r>
          </a:p>
          <a:p>
            <a:pPr lvl="1"/>
            <a:r>
              <a:rPr lang="en-US" dirty="0"/>
              <a:t>Do we really need the whole VA?</a:t>
            </a:r>
          </a:p>
          <a:p>
            <a:pPr lvl="1"/>
            <a:r>
              <a:rPr lang="en-US" dirty="0"/>
              <a:t>Multilevel page tables</a:t>
            </a:r>
          </a:p>
          <a:p>
            <a:pPr lvl="2"/>
            <a:r>
              <a:rPr lang="en-US" dirty="0"/>
              <a:t>1</a:t>
            </a:r>
            <a:r>
              <a:rPr lang="en-US" baseline="30000" dirty="0"/>
              <a:t>st</a:t>
            </a:r>
            <a:r>
              <a:rPr lang="en-US" dirty="0"/>
              <a:t> level always in memory</a:t>
            </a:r>
          </a:p>
          <a:p>
            <a:pPr lvl="2"/>
            <a:r>
              <a:rPr lang="en-US" dirty="0"/>
              <a:t>Individual tables on other levels may be missing (i.e., we are saving space)</a:t>
            </a:r>
          </a:p>
        </p:txBody>
      </p:sp>
      <p:sp>
        <p:nvSpPr>
          <p:cNvPr id="6" name="Content Placeholder 5"/>
          <p:cNvSpPr>
            <a:spLocks noGrp="1"/>
          </p:cNvSpPr>
          <p:nvPr>
            <p:ph sz="half" idx="2"/>
          </p:nvPr>
        </p:nvSpPr>
        <p:spPr/>
        <p:txBody>
          <a:bodyPr>
            <a:normAutofit/>
          </a:bodyPr>
          <a:lstStyle/>
          <a:p>
            <a:r>
              <a:rPr lang="en-US" dirty="0"/>
              <a:t>Speed</a:t>
            </a:r>
          </a:p>
          <a:p>
            <a:pPr lvl="1"/>
            <a:r>
              <a:rPr lang="en-US" dirty="0"/>
              <a:t>Each memory access from an instruction means at least one other memory access to the page table</a:t>
            </a:r>
          </a:p>
          <a:p>
            <a:pPr lvl="1"/>
            <a:r>
              <a:rPr lang="en-US" dirty="0"/>
              <a:t>TLB (Translation Lookaside Buffer)</a:t>
            </a:r>
          </a:p>
          <a:p>
            <a:pPr lvl="2"/>
            <a:r>
              <a:rPr lang="en-US" dirty="0"/>
              <a:t>Associative memory</a:t>
            </a:r>
          </a:p>
          <a:p>
            <a:pPr lvl="2"/>
            <a:r>
              <a:rPr lang="en-US" dirty="0"/>
              <a:t>Cache for translating page number to a frame number</a:t>
            </a:r>
          </a:p>
          <a:p>
            <a:pPr lvl="2"/>
            <a:r>
              <a:rPr lang="en-US" dirty="0"/>
              <a:t>0-level page tables (MIPS)</a:t>
            </a:r>
          </a:p>
          <a:p>
            <a:pPr marL="0" indent="0">
              <a:buNone/>
            </a:pPr>
            <a:endParaRPr lang="en-US" dirty="0"/>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70</a:t>
            </a:fld>
            <a:endParaRPr lang="en-US" altLang="en-US"/>
          </a:p>
        </p:txBody>
      </p:sp>
    </p:spTree>
    <p:extLst>
      <p:ext uri="{BB962C8B-B14F-4D97-AF65-F5344CB8AC3E}">
        <p14:creationId xmlns:p14="http://schemas.microsoft.com/office/powerpoint/2010/main" val="128592529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Page table – 2-level</a:t>
            </a:r>
          </a:p>
        </p:txBody>
      </p:sp>
      <p:sp>
        <p:nvSpPr>
          <p:cNvPr id="4" name="Rectangle 3"/>
          <p:cNvSpPr/>
          <p:nvPr/>
        </p:nvSpPr>
        <p:spPr bwMode="auto">
          <a:xfrm>
            <a:off x="2630806" y="2484096"/>
            <a:ext cx="2016224" cy="432048"/>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PT index 1</a:t>
            </a:r>
          </a:p>
        </p:txBody>
      </p:sp>
      <p:sp>
        <p:nvSpPr>
          <p:cNvPr id="5" name="Rectangle 4"/>
          <p:cNvSpPr/>
          <p:nvPr/>
        </p:nvSpPr>
        <p:spPr bwMode="auto">
          <a:xfrm>
            <a:off x="4647030" y="2484096"/>
            <a:ext cx="2016224" cy="432048"/>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PT index 2</a:t>
            </a:r>
          </a:p>
        </p:txBody>
      </p:sp>
      <p:sp>
        <p:nvSpPr>
          <p:cNvPr id="6" name="Rectangle 5"/>
          <p:cNvSpPr/>
          <p:nvPr/>
        </p:nvSpPr>
        <p:spPr bwMode="auto">
          <a:xfrm>
            <a:off x="6663460" y="2484096"/>
            <a:ext cx="1367946" cy="432048"/>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offset</a:t>
            </a:r>
          </a:p>
        </p:txBody>
      </p:sp>
      <p:sp>
        <p:nvSpPr>
          <p:cNvPr id="7" name="TextBox 6"/>
          <p:cNvSpPr txBox="1"/>
          <p:nvPr/>
        </p:nvSpPr>
        <p:spPr>
          <a:xfrm>
            <a:off x="4403172" y="1795953"/>
            <a:ext cx="1750607" cy="400110"/>
          </a:xfrm>
          <a:prstGeom prst="rect">
            <a:avLst/>
          </a:prstGeom>
          <a:noFill/>
        </p:spPr>
        <p:txBody>
          <a:bodyPr wrap="none" rtlCol="0">
            <a:spAutoFit/>
          </a:bodyPr>
          <a:lstStyle/>
          <a:p>
            <a:r>
              <a:rPr lang="en-US" sz="2000" dirty="0">
                <a:latin typeface="+mn-lt"/>
              </a:rPr>
              <a:t>Virtual address</a:t>
            </a:r>
          </a:p>
        </p:txBody>
      </p:sp>
      <p:sp>
        <p:nvSpPr>
          <p:cNvPr id="8" name="TextBox 7"/>
          <p:cNvSpPr txBox="1"/>
          <p:nvPr/>
        </p:nvSpPr>
        <p:spPr>
          <a:xfrm>
            <a:off x="7815588" y="2114764"/>
            <a:ext cx="312906" cy="369332"/>
          </a:xfrm>
          <a:prstGeom prst="rect">
            <a:avLst/>
          </a:prstGeom>
          <a:noFill/>
        </p:spPr>
        <p:txBody>
          <a:bodyPr wrap="none" rtlCol="0">
            <a:spAutoFit/>
          </a:bodyPr>
          <a:lstStyle/>
          <a:p>
            <a:r>
              <a:rPr lang="en-US">
                <a:latin typeface="+mn-lt"/>
              </a:rPr>
              <a:t>0</a:t>
            </a:r>
          </a:p>
        </p:txBody>
      </p:sp>
      <p:sp>
        <p:nvSpPr>
          <p:cNvPr id="9" name="TextBox 8"/>
          <p:cNvSpPr txBox="1"/>
          <p:nvPr/>
        </p:nvSpPr>
        <p:spPr>
          <a:xfrm>
            <a:off x="6566373" y="2114764"/>
            <a:ext cx="424027" cy="369332"/>
          </a:xfrm>
          <a:prstGeom prst="rect">
            <a:avLst/>
          </a:prstGeom>
          <a:noFill/>
        </p:spPr>
        <p:txBody>
          <a:bodyPr wrap="none" rtlCol="0">
            <a:spAutoFit/>
          </a:bodyPr>
          <a:lstStyle/>
          <a:p>
            <a:r>
              <a:rPr lang="en-US">
                <a:latin typeface="+mn-lt"/>
              </a:rPr>
              <a:t>11</a:t>
            </a:r>
          </a:p>
        </p:txBody>
      </p:sp>
      <p:sp>
        <p:nvSpPr>
          <p:cNvPr id="10" name="TextBox 9"/>
          <p:cNvSpPr txBox="1"/>
          <p:nvPr/>
        </p:nvSpPr>
        <p:spPr>
          <a:xfrm>
            <a:off x="4590265" y="2114764"/>
            <a:ext cx="418704" cy="369332"/>
          </a:xfrm>
          <a:prstGeom prst="rect">
            <a:avLst/>
          </a:prstGeom>
          <a:noFill/>
        </p:spPr>
        <p:txBody>
          <a:bodyPr wrap="none" rtlCol="0">
            <a:spAutoFit/>
          </a:bodyPr>
          <a:lstStyle/>
          <a:p>
            <a:r>
              <a:rPr lang="en-US">
                <a:latin typeface="+mn-lt"/>
              </a:rPr>
              <a:t>21</a:t>
            </a:r>
          </a:p>
        </p:txBody>
      </p:sp>
      <p:sp>
        <p:nvSpPr>
          <p:cNvPr id="11" name="TextBox 10"/>
          <p:cNvSpPr txBox="1"/>
          <p:nvPr/>
        </p:nvSpPr>
        <p:spPr>
          <a:xfrm>
            <a:off x="2534701" y="2114764"/>
            <a:ext cx="418704" cy="369332"/>
          </a:xfrm>
          <a:prstGeom prst="rect">
            <a:avLst/>
          </a:prstGeom>
          <a:noFill/>
        </p:spPr>
        <p:txBody>
          <a:bodyPr wrap="none" rtlCol="0">
            <a:spAutoFit/>
          </a:bodyPr>
          <a:lstStyle/>
          <a:p>
            <a:r>
              <a:rPr lang="en-US">
                <a:latin typeface="+mn-lt"/>
              </a:rPr>
              <a:t>31</a:t>
            </a:r>
          </a:p>
        </p:txBody>
      </p:sp>
      <p:sp>
        <p:nvSpPr>
          <p:cNvPr id="12" name="Rectangle 11"/>
          <p:cNvSpPr/>
          <p:nvPr/>
        </p:nvSpPr>
        <p:spPr bwMode="auto">
          <a:xfrm>
            <a:off x="4014201" y="3564216"/>
            <a:ext cx="1152128" cy="1728192"/>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13" name="Rectangle 12"/>
          <p:cNvSpPr/>
          <p:nvPr/>
        </p:nvSpPr>
        <p:spPr bwMode="auto">
          <a:xfrm>
            <a:off x="4014201" y="4284296"/>
            <a:ext cx="1152128" cy="288032"/>
          </a:xfrm>
          <a:prstGeom prst="rect">
            <a:avLst/>
          </a:prstGeom>
          <a:solidFill>
            <a:schemeClr val="accent5">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cxnSp>
        <p:nvCxnSpPr>
          <p:cNvPr id="15" name="Elbow Connector 14"/>
          <p:cNvCxnSpPr>
            <a:stCxn id="4" idx="2"/>
            <a:endCxn id="13" idx="1"/>
          </p:cNvCxnSpPr>
          <p:nvPr/>
        </p:nvCxnSpPr>
        <p:spPr bwMode="auto">
          <a:xfrm rot="16200000" flipH="1">
            <a:off x="3070475" y="3484587"/>
            <a:ext cx="1512168" cy="375283"/>
          </a:xfrm>
          <a:prstGeom prst="bentConnector2">
            <a:avLst/>
          </a:prstGeom>
          <a:solidFill>
            <a:schemeClr val="accent1"/>
          </a:solidFill>
          <a:ln w="9525" cap="flat" cmpd="sng" algn="ctr">
            <a:solidFill>
              <a:schemeClr val="tx1"/>
            </a:solidFill>
            <a:prstDash val="solid"/>
            <a:round/>
            <a:headEnd type="none" w="med" len="med"/>
            <a:tailEnd type="triangle"/>
          </a:ln>
          <a:effectLst/>
        </p:spPr>
      </p:cxnSp>
      <p:sp>
        <p:nvSpPr>
          <p:cNvPr id="18" name="TextBox 17"/>
          <p:cNvSpPr txBox="1"/>
          <p:nvPr/>
        </p:nvSpPr>
        <p:spPr>
          <a:xfrm>
            <a:off x="3551666" y="3046222"/>
            <a:ext cx="418704" cy="369332"/>
          </a:xfrm>
          <a:prstGeom prst="rect">
            <a:avLst/>
          </a:prstGeom>
          <a:noFill/>
        </p:spPr>
        <p:txBody>
          <a:bodyPr wrap="none" rtlCol="0">
            <a:spAutoFit/>
          </a:bodyPr>
          <a:lstStyle/>
          <a:p>
            <a:r>
              <a:rPr lang="en-US">
                <a:latin typeface="+mn-lt"/>
              </a:rPr>
              <a:t>10</a:t>
            </a:r>
          </a:p>
        </p:txBody>
      </p:sp>
      <p:sp>
        <p:nvSpPr>
          <p:cNvPr id="19" name="TextBox 18"/>
          <p:cNvSpPr txBox="1"/>
          <p:nvPr/>
        </p:nvSpPr>
        <p:spPr>
          <a:xfrm>
            <a:off x="4286336" y="3118230"/>
            <a:ext cx="531492" cy="369332"/>
          </a:xfrm>
          <a:prstGeom prst="rect">
            <a:avLst/>
          </a:prstGeom>
          <a:noFill/>
        </p:spPr>
        <p:txBody>
          <a:bodyPr wrap="none" rtlCol="0">
            <a:spAutoFit/>
          </a:bodyPr>
          <a:lstStyle/>
          <a:p>
            <a:r>
              <a:rPr lang="en-US">
                <a:latin typeface="+mn-lt"/>
              </a:rPr>
              <a:t>PT1</a:t>
            </a:r>
          </a:p>
        </p:txBody>
      </p:sp>
      <p:sp>
        <p:nvSpPr>
          <p:cNvPr id="20" name="Rectangle 19"/>
          <p:cNvSpPr/>
          <p:nvPr/>
        </p:nvSpPr>
        <p:spPr bwMode="auto">
          <a:xfrm>
            <a:off x="2395727" y="3420200"/>
            <a:ext cx="792088" cy="288032"/>
          </a:xfrm>
          <a:prstGeom prst="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a:latin typeface="+mn-lt"/>
              </a:rPr>
              <a:t>PTAR</a:t>
            </a:r>
          </a:p>
        </p:txBody>
      </p:sp>
      <p:cxnSp>
        <p:nvCxnSpPr>
          <p:cNvPr id="22" name="Straight Arrow Connector 21"/>
          <p:cNvCxnSpPr>
            <a:stCxn id="20" idx="3"/>
          </p:cNvCxnSpPr>
          <p:nvPr/>
        </p:nvCxnSpPr>
        <p:spPr bwMode="auto">
          <a:xfrm>
            <a:off x="3187815" y="3564216"/>
            <a:ext cx="82638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5" name="TextBox 24"/>
          <p:cNvSpPr txBox="1"/>
          <p:nvPr/>
        </p:nvSpPr>
        <p:spPr>
          <a:xfrm>
            <a:off x="3908666" y="5308799"/>
            <a:ext cx="1355949" cy="646331"/>
          </a:xfrm>
          <a:prstGeom prst="rect">
            <a:avLst/>
          </a:prstGeom>
          <a:noFill/>
        </p:spPr>
        <p:txBody>
          <a:bodyPr wrap="none" rtlCol="0">
            <a:spAutoFit/>
          </a:bodyPr>
          <a:lstStyle/>
          <a:p>
            <a:r>
              <a:rPr lang="en-US" dirty="0">
                <a:latin typeface="+mn-lt"/>
              </a:rPr>
              <a:t>4k</a:t>
            </a:r>
            <a:br>
              <a:rPr lang="en-US" dirty="0">
                <a:latin typeface="+mn-lt"/>
              </a:rPr>
            </a:br>
            <a:r>
              <a:rPr lang="en-US" dirty="0">
                <a:latin typeface="+mn-lt"/>
              </a:rPr>
              <a:t>1024 entries</a:t>
            </a:r>
          </a:p>
        </p:txBody>
      </p:sp>
      <p:sp>
        <p:nvSpPr>
          <p:cNvPr id="26" name="Rectangle 25"/>
          <p:cNvSpPr/>
          <p:nvPr/>
        </p:nvSpPr>
        <p:spPr bwMode="auto">
          <a:xfrm>
            <a:off x="6022130" y="3580606"/>
            <a:ext cx="1152128" cy="1728192"/>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27" name="Rectangle 26"/>
          <p:cNvSpPr/>
          <p:nvPr/>
        </p:nvSpPr>
        <p:spPr bwMode="auto">
          <a:xfrm>
            <a:off x="6022130" y="4749124"/>
            <a:ext cx="1152128" cy="288032"/>
          </a:xfrm>
          <a:prstGeom prst="rect">
            <a:avLst/>
          </a:prstGeom>
          <a:solidFill>
            <a:schemeClr val="accent5">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cxnSp>
        <p:nvCxnSpPr>
          <p:cNvPr id="28" name="Elbow Connector 27"/>
          <p:cNvCxnSpPr>
            <a:stCxn id="5" idx="2"/>
            <a:endCxn id="27" idx="1"/>
          </p:cNvCxnSpPr>
          <p:nvPr/>
        </p:nvCxnSpPr>
        <p:spPr bwMode="auto">
          <a:xfrm rot="16200000" flipH="1">
            <a:off x="4850138" y="3721148"/>
            <a:ext cx="1976996" cy="366988"/>
          </a:xfrm>
          <a:prstGeom prst="bentConnector2">
            <a:avLst/>
          </a:prstGeom>
          <a:solidFill>
            <a:schemeClr val="accent1"/>
          </a:solidFill>
          <a:ln w="9525" cap="flat" cmpd="sng" algn="ctr">
            <a:solidFill>
              <a:schemeClr val="tx1"/>
            </a:solidFill>
            <a:prstDash val="solid"/>
            <a:round/>
            <a:headEnd type="none" w="med" len="med"/>
            <a:tailEnd type="triangle"/>
          </a:ln>
          <a:effectLst/>
        </p:spPr>
      </p:cxnSp>
      <p:sp>
        <p:nvSpPr>
          <p:cNvPr id="29" name="TextBox 28"/>
          <p:cNvSpPr txBox="1"/>
          <p:nvPr/>
        </p:nvSpPr>
        <p:spPr>
          <a:xfrm>
            <a:off x="5559595" y="3062612"/>
            <a:ext cx="418704" cy="369332"/>
          </a:xfrm>
          <a:prstGeom prst="rect">
            <a:avLst/>
          </a:prstGeom>
          <a:noFill/>
        </p:spPr>
        <p:txBody>
          <a:bodyPr wrap="none" rtlCol="0">
            <a:spAutoFit/>
          </a:bodyPr>
          <a:lstStyle/>
          <a:p>
            <a:r>
              <a:rPr lang="en-US">
                <a:latin typeface="+mn-lt"/>
              </a:rPr>
              <a:t>10</a:t>
            </a:r>
          </a:p>
        </p:txBody>
      </p:sp>
      <p:sp>
        <p:nvSpPr>
          <p:cNvPr id="30" name="TextBox 29"/>
          <p:cNvSpPr txBox="1"/>
          <p:nvPr/>
        </p:nvSpPr>
        <p:spPr>
          <a:xfrm>
            <a:off x="6294265" y="3134620"/>
            <a:ext cx="531492" cy="369332"/>
          </a:xfrm>
          <a:prstGeom prst="rect">
            <a:avLst/>
          </a:prstGeom>
          <a:noFill/>
        </p:spPr>
        <p:txBody>
          <a:bodyPr wrap="none" rtlCol="0">
            <a:spAutoFit/>
          </a:bodyPr>
          <a:lstStyle/>
          <a:p>
            <a:r>
              <a:rPr lang="en-US">
                <a:latin typeface="+mn-lt"/>
              </a:rPr>
              <a:t>PT2</a:t>
            </a:r>
          </a:p>
        </p:txBody>
      </p:sp>
      <p:sp>
        <p:nvSpPr>
          <p:cNvPr id="31" name="TextBox 30"/>
          <p:cNvSpPr txBox="1"/>
          <p:nvPr/>
        </p:nvSpPr>
        <p:spPr>
          <a:xfrm>
            <a:off x="5916595" y="5325189"/>
            <a:ext cx="1355949" cy="646331"/>
          </a:xfrm>
          <a:prstGeom prst="rect">
            <a:avLst/>
          </a:prstGeom>
          <a:noFill/>
        </p:spPr>
        <p:txBody>
          <a:bodyPr wrap="none" rtlCol="0">
            <a:spAutoFit/>
          </a:bodyPr>
          <a:lstStyle/>
          <a:p>
            <a:r>
              <a:rPr lang="en-US">
                <a:latin typeface="+mn-lt"/>
              </a:rPr>
              <a:t>4k</a:t>
            </a:r>
            <a:br>
              <a:rPr lang="en-US">
                <a:latin typeface="+mn-lt"/>
              </a:rPr>
            </a:br>
            <a:r>
              <a:rPr lang="en-US">
                <a:latin typeface="+mn-lt"/>
              </a:rPr>
              <a:t>1024 entries</a:t>
            </a:r>
          </a:p>
        </p:txBody>
      </p:sp>
      <p:cxnSp>
        <p:nvCxnSpPr>
          <p:cNvPr id="35" name="Straight Arrow Connector 34"/>
          <p:cNvCxnSpPr>
            <a:stCxn id="13" idx="3"/>
          </p:cNvCxnSpPr>
          <p:nvPr/>
        </p:nvCxnSpPr>
        <p:spPr bwMode="auto">
          <a:xfrm flipV="1">
            <a:off x="5166330" y="3580606"/>
            <a:ext cx="855801" cy="84770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6" name="Rectangle 35"/>
          <p:cNvSpPr/>
          <p:nvPr/>
        </p:nvSpPr>
        <p:spPr bwMode="auto">
          <a:xfrm>
            <a:off x="8463660" y="3871862"/>
            <a:ext cx="1152128" cy="1112900"/>
          </a:xfrm>
          <a:prstGeom prst="rect">
            <a:avLst/>
          </a:prstGeom>
          <a:solidFill>
            <a:schemeClr val="accent5">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cxnSp>
        <p:nvCxnSpPr>
          <p:cNvPr id="38" name="Straight Arrow Connector 37"/>
          <p:cNvCxnSpPr>
            <a:stCxn id="27" idx="3"/>
          </p:cNvCxnSpPr>
          <p:nvPr/>
        </p:nvCxnSpPr>
        <p:spPr bwMode="auto">
          <a:xfrm flipV="1">
            <a:off x="7174258" y="3871862"/>
            <a:ext cx="1289402" cy="102127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0" name="Straight Connector 39"/>
          <p:cNvCxnSpPr/>
          <p:nvPr/>
        </p:nvCxnSpPr>
        <p:spPr bwMode="auto">
          <a:xfrm>
            <a:off x="8319644" y="4749124"/>
            <a:ext cx="1440160"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42" name="Straight Arrow Connector 41"/>
          <p:cNvCxnSpPr/>
          <p:nvPr/>
        </p:nvCxnSpPr>
        <p:spPr bwMode="auto">
          <a:xfrm>
            <a:off x="9111732" y="3871862"/>
            <a:ext cx="0" cy="877262"/>
          </a:xfrm>
          <a:prstGeom prst="straightConnector1">
            <a:avLst/>
          </a:prstGeom>
          <a:solidFill>
            <a:schemeClr val="accent1"/>
          </a:solidFill>
          <a:ln w="9525" cap="flat" cmpd="sng" algn="ctr">
            <a:solidFill>
              <a:schemeClr val="tx1"/>
            </a:solidFill>
            <a:prstDash val="solid"/>
            <a:round/>
            <a:headEnd type="triangle"/>
            <a:tailEnd type="triangle"/>
          </a:ln>
          <a:effectLst/>
        </p:spPr>
      </p:cxnSp>
      <p:sp>
        <p:nvSpPr>
          <p:cNvPr id="43" name="TextBox 42"/>
          <p:cNvSpPr txBox="1"/>
          <p:nvPr/>
        </p:nvSpPr>
        <p:spPr>
          <a:xfrm>
            <a:off x="9124321" y="4156606"/>
            <a:ext cx="469937" cy="307777"/>
          </a:xfrm>
          <a:prstGeom prst="rect">
            <a:avLst/>
          </a:prstGeom>
          <a:noFill/>
        </p:spPr>
        <p:txBody>
          <a:bodyPr wrap="none" rtlCol="0">
            <a:spAutoFit/>
          </a:bodyPr>
          <a:lstStyle/>
          <a:p>
            <a:r>
              <a:rPr lang="en-US" sz="1400">
                <a:latin typeface="+mn-lt"/>
              </a:rPr>
              <a:t>offs</a:t>
            </a:r>
          </a:p>
        </p:txBody>
      </p:sp>
      <p:sp>
        <p:nvSpPr>
          <p:cNvPr id="44" name="TextBox 43"/>
          <p:cNvSpPr txBox="1"/>
          <p:nvPr/>
        </p:nvSpPr>
        <p:spPr>
          <a:xfrm>
            <a:off x="8825563" y="5033866"/>
            <a:ext cx="405880" cy="369332"/>
          </a:xfrm>
          <a:prstGeom prst="rect">
            <a:avLst/>
          </a:prstGeom>
          <a:noFill/>
        </p:spPr>
        <p:txBody>
          <a:bodyPr wrap="none" rtlCol="0">
            <a:spAutoFit/>
          </a:bodyPr>
          <a:lstStyle/>
          <a:p>
            <a:r>
              <a:rPr lang="en-US">
                <a:latin typeface="+mn-lt"/>
              </a:rPr>
              <a:t>4k</a:t>
            </a:r>
          </a:p>
        </p:txBody>
      </p:sp>
      <p:sp>
        <p:nvSpPr>
          <p:cNvPr id="3" name="Date Placeholder 2"/>
          <p:cNvSpPr>
            <a:spLocks noGrp="1"/>
          </p:cNvSpPr>
          <p:nvPr>
            <p:ph type="dt" sz="half" idx="10"/>
          </p:nvPr>
        </p:nvSpPr>
        <p:spPr/>
        <p:txBody>
          <a:bodyPr/>
          <a:lstStyle/>
          <a:p>
            <a:r>
              <a:rPr lang="cs-CZ" altLang="en-US"/>
              <a:t>17.4.2025</a:t>
            </a:r>
            <a:endParaRPr lang="en-US" altLang="en-US"/>
          </a:p>
        </p:txBody>
      </p:sp>
      <p:sp>
        <p:nvSpPr>
          <p:cNvPr id="14" name="Slide Number Placeholder 13"/>
          <p:cNvSpPr>
            <a:spLocks noGrp="1"/>
          </p:cNvSpPr>
          <p:nvPr>
            <p:ph type="sldNum" sz="quarter" idx="12"/>
          </p:nvPr>
        </p:nvSpPr>
        <p:spPr/>
        <p:txBody>
          <a:bodyPr/>
          <a:lstStyle/>
          <a:p>
            <a:fld id="{F4A1145F-674A-4228-8958-0EA9769F5517}" type="slidenum">
              <a:rPr lang="en-US" altLang="en-US" smtClean="0"/>
              <a:pPr/>
              <a:t>71</a:t>
            </a:fld>
            <a:endParaRPr lang="en-US" altLang="en-US"/>
          </a:p>
        </p:txBody>
      </p:sp>
    </p:spTree>
    <p:extLst>
      <p:ext uri="{BB962C8B-B14F-4D97-AF65-F5344CB8AC3E}">
        <p14:creationId xmlns:p14="http://schemas.microsoft.com/office/powerpoint/2010/main" val="6846636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Example/Exercise</a:t>
            </a:r>
          </a:p>
        </p:txBody>
      </p:sp>
      <p:sp>
        <p:nvSpPr>
          <p:cNvPr id="6" name="Content Placeholder 5"/>
          <p:cNvSpPr>
            <a:spLocks noGrp="1"/>
          </p:cNvSpPr>
          <p:nvPr>
            <p:ph sz="half" idx="1"/>
          </p:nvPr>
        </p:nvSpPr>
        <p:spPr/>
        <p:txBody>
          <a:bodyPr>
            <a:normAutofit/>
          </a:bodyPr>
          <a:lstStyle/>
          <a:p>
            <a:r>
              <a:rPr lang="en-US" dirty="0"/>
              <a:t>Having the following code executed on IA-32</a:t>
            </a:r>
          </a:p>
          <a:p>
            <a:pPr lvl="1"/>
            <a:r>
              <a:rPr lang="en-US" dirty="0"/>
              <a:t>32bit addresses</a:t>
            </a:r>
          </a:p>
          <a:p>
            <a:pPr lvl="1"/>
            <a:r>
              <a:rPr lang="en-US" dirty="0"/>
              <a:t>2-level paging, 4 KiB pages</a:t>
            </a:r>
          </a:p>
          <a:p>
            <a:pPr lvl="1"/>
            <a:r>
              <a:rPr lang="en-US" b="1" dirty="0" err="1">
                <a:latin typeface="Courier New" panose="02070309020205020404" pitchFamily="49" charset="0"/>
                <a:cs typeface="Courier New" panose="02070309020205020404" pitchFamily="49" charset="0"/>
              </a:rPr>
              <a:t>sizeof</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int</a:t>
            </a:r>
            <a:r>
              <a:rPr lang="en-US" b="1" dirty="0">
                <a:latin typeface="Courier New" panose="02070309020205020404" pitchFamily="49" charset="0"/>
                <a:cs typeface="Courier New" panose="02070309020205020404" pitchFamily="49" charset="0"/>
              </a:rPr>
              <a:t>) == 4</a:t>
            </a:r>
          </a:p>
          <a:p>
            <a:pPr marL="0" indent="0">
              <a:buNone/>
            </a:pPr>
            <a:endParaRPr lang="en-US" sz="1000" b="1" dirty="0">
              <a:latin typeface="Courier New" panose="02070309020205020404" pitchFamily="49" charset="0"/>
              <a:cs typeface="Courier New" panose="02070309020205020404" pitchFamily="49" charset="0"/>
            </a:endParaRPr>
          </a:p>
          <a:p>
            <a:pPr marL="0" indent="0">
              <a:buNone/>
            </a:pPr>
            <a:r>
              <a:rPr lang="en-US" sz="2000" b="1" dirty="0" err="1">
                <a:solidFill>
                  <a:srgbClr val="0070C0"/>
                </a:solidFill>
                <a:latin typeface="Courier New" panose="02070309020205020404" pitchFamily="49" charset="0"/>
                <a:cs typeface="Courier New" panose="02070309020205020404" pitchFamily="49" charset="0"/>
              </a:rPr>
              <a:t>const</a:t>
            </a:r>
            <a:r>
              <a:rPr lang="en-US" sz="2000" b="1" dirty="0">
                <a:solidFill>
                  <a:srgbClr val="0070C0"/>
                </a:solidFill>
                <a:latin typeface="Courier New" panose="02070309020205020404" pitchFamily="49" charset="0"/>
                <a:cs typeface="Courier New" panose="02070309020205020404" pitchFamily="49" charset="0"/>
              </a:rPr>
              <a:t> </a:t>
            </a:r>
            <a:r>
              <a:rPr lang="en-US" sz="2000" b="1" dirty="0" err="1">
                <a:solidFill>
                  <a:srgbClr val="0070C0"/>
                </a:solidFill>
                <a:latin typeface="Courier New" panose="02070309020205020404" pitchFamily="49" charset="0"/>
                <a:cs typeface="Courier New" panose="02070309020205020404" pitchFamily="49" charset="0"/>
              </a:rPr>
              <a:t>int</a:t>
            </a:r>
            <a:r>
              <a:rPr lang="en-US" sz="2000" b="1" dirty="0">
                <a:latin typeface="Courier New" panose="02070309020205020404" pitchFamily="49" charset="0"/>
                <a:cs typeface="Courier New" panose="02070309020205020404" pitchFamily="49" charset="0"/>
              </a:rPr>
              <a:t>* data = …</a:t>
            </a:r>
          </a:p>
          <a:p>
            <a:pPr marL="0" indent="0">
              <a:buNone/>
            </a:pPr>
            <a:r>
              <a:rPr lang="en-US" sz="2000" b="1" dirty="0">
                <a:solidFill>
                  <a:srgbClr val="0070C0"/>
                </a:solidFill>
                <a:latin typeface="Courier New" panose="02070309020205020404" pitchFamily="49" charset="0"/>
                <a:cs typeface="Courier New" panose="02070309020205020404" pitchFamily="49" charset="0"/>
              </a:rPr>
              <a:t>long long</a:t>
            </a:r>
            <a:r>
              <a:rPr lang="en-US" sz="2000" b="1" dirty="0">
                <a:latin typeface="Courier New" panose="02070309020205020404" pitchFamily="49" charset="0"/>
                <a:cs typeface="Courier New" panose="02070309020205020404" pitchFamily="49" charset="0"/>
              </a:rPr>
              <a:t> sum = 0;</a:t>
            </a:r>
          </a:p>
          <a:p>
            <a:pPr marL="0" indent="0">
              <a:buNone/>
            </a:pPr>
            <a:r>
              <a:rPr lang="en-US" sz="2000" b="1" dirty="0">
                <a:solidFill>
                  <a:srgbClr val="0070C0"/>
                </a:solidFill>
                <a:latin typeface="Courier New" panose="02070309020205020404" pitchFamily="49" charset="0"/>
                <a:cs typeface="Courier New" panose="02070309020205020404" pitchFamily="49" charset="0"/>
              </a:rPr>
              <a:t>for</a:t>
            </a:r>
            <a:r>
              <a:rPr lang="en-US" sz="2000" b="1" dirty="0">
                <a:latin typeface="Courier New" panose="02070309020205020404" pitchFamily="49" charset="0"/>
                <a:cs typeface="Courier New" panose="02070309020205020404" pitchFamily="49" charset="0"/>
              </a:rPr>
              <a:t> (</a:t>
            </a:r>
            <a:r>
              <a:rPr lang="en-US" sz="2000" b="1" dirty="0" err="1">
                <a:solidFill>
                  <a:srgbClr val="0070C0"/>
                </a:solidFill>
                <a:latin typeface="Courier New" panose="02070309020205020404" pitchFamily="49" charset="0"/>
                <a:cs typeface="Courier New" panose="02070309020205020404" pitchFamily="49" charset="0"/>
              </a:rPr>
              <a:t>int</a:t>
            </a:r>
            <a:r>
              <a:rPr lang="en-US" sz="2000" b="1" dirty="0">
                <a:latin typeface="Courier New" panose="02070309020205020404" pitchFamily="49" charset="0"/>
                <a:cs typeface="Courier New" panose="02070309020205020404" pitchFamily="49" charset="0"/>
              </a:rPr>
              <a:t> </a:t>
            </a:r>
            <a:r>
              <a:rPr lang="en-US" sz="2000" b="1" dirty="0" err="1">
                <a:latin typeface="Courier New" panose="02070309020205020404" pitchFamily="49" charset="0"/>
                <a:cs typeface="Courier New" panose="02070309020205020404" pitchFamily="49" charset="0"/>
              </a:rPr>
              <a:t>i</a:t>
            </a:r>
            <a:r>
              <a:rPr lang="en-US" sz="2000" b="1" dirty="0">
                <a:latin typeface="Courier New" panose="02070309020205020404" pitchFamily="49" charset="0"/>
                <a:cs typeface="Courier New" panose="02070309020205020404" pitchFamily="49" charset="0"/>
              </a:rPr>
              <a:t> = 0; </a:t>
            </a:r>
            <a:r>
              <a:rPr lang="en-US" sz="2000" b="1" dirty="0" err="1">
                <a:latin typeface="Courier New" panose="02070309020205020404" pitchFamily="49" charset="0"/>
                <a:cs typeface="Courier New" panose="02070309020205020404" pitchFamily="49" charset="0"/>
              </a:rPr>
              <a:t>i</a:t>
            </a:r>
            <a:r>
              <a:rPr lang="en-US" sz="2000" b="1" dirty="0">
                <a:latin typeface="Courier New" panose="02070309020205020404" pitchFamily="49" charset="0"/>
                <a:cs typeface="Courier New" panose="02070309020205020404" pitchFamily="49" charset="0"/>
              </a:rPr>
              <a:t> &lt; 2000; ++</a:t>
            </a:r>
            <a:r>
              <a:rPr lang="en-US" sz="2000" b="1" dirty="0" err="1">
                <a:latin typeface="Courier New" panose="02070309020205020404" pitchFamily="49" charset="0"/>
                <a:cs typeface="Courier New" panose="02070309020205020404" pitchFamily="49" charset="0"/>
              </a:rPr>
              <a:t>i</a:t>
            </a:r>
            <a:r>
              <a:rPr lang="en-US" sz="2000" b="1" dirty="0">
                <a:latin typeface="Courier New" panose="02070309020205020404" pitchFamily="49" charset="0"/>
                <a:cs typeface="Courier New" panose="02070309020205020404" pitchFamily="49" charset="0"/>
              </a:rPr>
              <a:t>) {</a:t>
            </a:r>
          </a:p>
          <a:p>
            <a:pPr marL="0" indent="0">
              <a:buNone/>
            </a:pPr>
            <a:r>
              <a:rPr lang="en-US" sz="2000" b="1" dirty="0">
                <a:latin typeface="Courier New" panose="02070309020205020404" pitchFamily="49" charset="0"/>
                <a:cs typeface="Courier New" panose="02070309020205020404" pitchFamily="49" charset="0"/>
              </a:rPr>
              <a:t>  sum += data[</a:t>
            </a:r>
            <a:r>
              <a:rPr lang="en-US" sz="2000" b="1" dirty="0" err="1">
                <a:latin typeface="Courier New" panose="02070309020205020404" pitchFamily="49" charset="0"/>
                <a:cs typeface="Courier New" panose="02070309020205020404" pitchFamily="49" charset="0"/>
              </a:rPr>
              <a:t>i</a:t>
            </a:r>
            <a:r>
              <a:rPr lang="en-US" sz="2000" b="1" dirty="0">
                <a:latin typeface="Courier New" panose="02070309020205020404" pitchFamily="49" charset="0"/>
                <a:cs typeface="Courier New" panose="02070309020205020404" pitchFamily="49" charset="0"/>
              </a:rPr>
              <a:t>];</a:t>
            </a:r>
          </a:p>
          <a:p>
            <a:pPr marL="0" indent="0">
              <a:buNone/>
            </a:pPr>
            <a:r>
              <a:rPr lang="en-US" sz="2000" b="1" dirty="0">
                <a:latin typeface="Courier New" panose="02070309020205020404" pitchFamily="49" charset="0"/>
                <a:cs typeface="Courier New" panose="02070309020205020404" pitchFamily="49" charset="0"/>
              </a:rPr>
              <a:t>}</a:t>
            </a:r>
          </a:p>
        </p:txBody>
      </p:sp>
      <p:sp>
        <p:nvSpPr>
          <p:cNvPr id="7" name="Content Placeholder 6"/>
          <p:cNvSpPr>
            <a:spLocks noGrp="1"/>
          </p:cNvSpPr>
          <p:nvPr>
            <p:ph sz="half" idx="2"/>
          </p:nvPr>
        </p:nvSpPr>
        <p:spPr/>
        <p:txBody>
          <a:bodyPr>
            <a:normAutofit/>
          </a:bodyPr>
          <a:lstStyle/>
          <a:p>
            <a:r>
              <a:rPr lang="en-US" dirty="0"/>
              <a:t>Questions</a:t>
            </a:r>
          </a:p>
          <a:p>
            <a:pPr lvl="1"/>
            <a:r>
              <a:rPr lang="en-US" dirty="0"/>
              <a:t>How many (data) pages are read?</a:t>
            </a:r>
          </a:p>
          <a:p>
            <a:pPr lvl="1"/>
            <a:r>
              <a:rPr lang="en-US" dirty="0"/>
              <a:t>What is the minimal amount of page faults (optimistic scenario)</a:t>
            </a:r>
          </a:p>
          <a:p>
            <a:pPr lvl="1"/>
            <a:r>
              <a:rPr lang="en-US" dirty="0"/>
              <a:t>What is the maximal amount of page faults (pessimistic scenario)</a:t>
            </a:r>
          </a:p>
          <a:p>
            <a:pPr lvl="1"/>
            <a:r>
              <a:rPr lang="en-US" dirty="0"/>
              <a:t>How many </a:t>
            </a:r>
            <a:r>
              <a:rPr lang="en-US" b="1" dirty="0"/>
              <a:t>distinct</a:t>
            </a:r>
            <a:r>
              <a:rPr lang="en-US" dirty="0"/>
              <a:t> pages may cause a page fault in the worst case?</a:t>
            </a:r>
          </a:p>
          <a:p>
            <a:pPr lvl="2"/>
            <a:r>
              <a:rPr lang="en-US" dirty="0"/>
              <a:t>What if we copy the data?</a:t>
            </a:r>
          </a:p>
          <a:p>
            <a:pPr lvl="2"/>
            <a:r>
              <a:rPr lang="en-US" dirty="0"/>
              <a:t>What about the code?</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72</a:t>
            </a:fld>
            <a:endParaRPr lang="en-US" altLang="en-US"/>
          </a:p>
        </p:txBody>
      </p:sp>
    </p:spTree>
    <p:extLst>
      <p:ext uri="{BB962C8B-B14F-4D97-AF65-F5344CB8AC3E}">
        <p14:creationId xmlns:p14="http://schemas.microsoft.com/office/powerpoint/2010/main" val="412927361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80975" y="1581965"/>
            <a:ext cx="8435688" cy="5050556"/>
          </a:xfrm>
          <a:prstGeom prst="rect">
            <a:avLst/>
          </a:prstGeom>
        </p:spPr>
      </p:pic>
      <p:sp>
        <p:nvSpPr>
          <p:cNvPr id="2" name="Title 1"/>
          <p:cNvSpPr>
            <a:spLocks noGrp="1"/>
          </p:cNvSpPr>
          <p:nvPr>
            <p:ph type="title"/>
          </p:nvPr>
        </p:nvSpPr>
        <p:spPr/>
        <p:txBody>
          <a:bodyPr/>
          <a:lstStyle/>
          <a:p>
            <a:r>
              <a:rPr lang="en-US"/>
              <a:t>Page table – real AMD64 example</a:t>
            </a:r>
          </a:p>
        </p:txBody>
      </p:sp>
      <p:sp>
        <p:nvSpPr>
          <p:cNvPr id="3" name="Date Placeholder 2"/>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73</a:t>
            </a:fld>
            <a:endParaRPr lang="en-US" altLang="en-US"/>
          </a:p>
        </p:txBody>
      </p:sp>
    </p:spTree>
    <p:extLst>
      <p:ext uri="{BB962C8B-B14F-4D97-AF65-F5344CB8AC3E}">
        <p14:creationId xmlns:p14="http://schemas.microsoft.com/office/powerpoint/2010/main" val="32696110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Paging – address translation</a:t>
            </a:r>
          </a:p>
        </p:txBody>
      </p:sp>
      <p:sp>
        <p:nvSpPr>
          <p:cNvPr id="3" name="Content Placeholder 2"/>
          <p:cNvSpPr>
            <a:spLocks noGrp="1"/>
          </p:cNvSpPr>
          <p:nvPr>
            <p:ph sz="half" idx="1"/>
          </p:nvPr>
        </p:nvSpPr>
        <p:spPr>
          <a:xfrm>
            <a:off x="838200" y="1825625"/>
            <a:ext cx="5181600" cy="4455102"/>
          </a:xfrm>
        </p:spPr>
        <p:txBody>
          <a:bodyPr>
            <a:noAutofit/>
          </a:bodyPr>
          <a:lstStyle/>
          <a:p>
            <a:r>
              <a:rPr lang="en-US" dirty="0"/>
              <a:t>Steps for address translation</a:t>
            </a:r>
          </a:p>
          <a:p>
            <a:pPr lvl="1"/>
            <a:r>
              <a:rPr lang="en-US" dirty="0"/>
              <a:t>Take the page number from VA and keep offset (separately)</a:t>
            </a:r>
          </a:p>
          <a:p>
            <a:pPr lvl="1"/>
            <a:r>
              <a:rPr lang="en-US" dirty="0"/>
              <a:t>Check TLB for mapping</a:t>
            </a:r>
          </a:p>
          <a:p>
            <a:pPr lvl="2"/>
            <a:r>
              <a:rPr lang="en-US" dirty="0"/>
              <a:t>If exists, retrieve the frame number, otherwise continue</a:t>
            </a:r>
          </a:p>
          <a:p>
            <a:pPr lvl="1"/>
            <a:r>
              <a:rPr lang="en-US" dirty="0"/>
              <a:t>Go through the page table</a:t>
            </a:r>
          </a:p>
          <a:p>
            <a:pPr lvl="1"/>
            <a:r>
              <a:rPr lang="en-US" dirty="0"/>
              <a:t>Update A(</a:t>
            </a:r>
            <a:r>
              <a:rPr lang="en-US" dirty="0" err="1"/>
              <a:t>ccessed</a:t>
            </a:r>
            <a:r>
              <a:rPr lang="en-US" dirty="0"/>
              <a:t>) and D(</a:t>
            </a:r>
            <a:r>
              <a:rPr lang="en-US" dirty="0" err="1"/>
              <a:t>irty</a:t>
            </a:r>
            <a:r>
              <a:rPr lang="en-US" dirty="0"/>
              <a:t>) bits in page table/TLB</a:t>
            </a:r>
          </a:p>
          <a:p>
            <a:pPr lvl="1"/>
            <a:r>
              <a:rPr lang="en-US" dirty="0"/>
              <a:t>Assemble PA by concatenating the retrieved frame number and the original offset from VA</a:t>
            </a:r>
          </a:p>
        </p:txBody>
      </p:sp>
      <p:sp>
        <p:nvSpPr>
          <p:cNvPr id="6" name="Content Placeholder 5"/>
          <p:cNvSpPr>
            <a:spLocks noGrp="1"/>
          </p:cNvSpPr>
          <p:nvPr>
            <p:ph sz="half" idx="2"/>
          </p:nvPr>
        </p:nvSpPr>
        <p:spPr/>
        <p:txBody>
          <a:bodyPr>
            <a:normAutofit/>
          </a:bodyPr>
          <a:lstStyle/>
          <a:p>
            <a:pPr lvl="1"/>
            <a:r>
              <a:rPr lang="en-US" dirty="0"/>
              <a:t>Go through the page table</a:t>
            </a:r>
          </a:p>
          <a:p>
            <a:pPr lvl="2"/>
            <a:r>
              <a:rPr lang="en-US" dirty="0"/>
              <a:t>Divide page number into multiple PT indices</a:t>
            </a:r>
          </a:p>
          <a:p>
            <a:pPr lvl="2"/>
            <a:r>
              <a:rPr lang="en-US" dirty="0"/>
              <a:t>Index 1</a:t>
            </a:r>
            <a:r>
              <a:rPr lang="en-US" baseline="30000" dirty="0"/>
              <a:t>st</a:t>
            </a:r>
            <a:r>
              <a:rPr lang="en-US" dirty="0"/>
              <a:t> level PT</a:t>
            </a:r>
          </a:p>
          <a:p>
            <a:pPr lvl="3"/>
            <a:r>
              <a:rPr lang="en-US" dirty="0"/>
              <a:t>If there is no mapping for 2</a:t>
            </a:r>
            <a:r>
              <a:rPr lang="en-US" baseline="30000" dirty="0"/>
              <a:t>nd</a:t>
            </a:r>
            <a:r>
              <a:rPr lang="en-US" dirty="0"/>
              <a:t> level PT, raise page fault exception</a:t>
            </a:r>
          </a:p>
          <a:p>
            <a:pPr lvl="3"/>
            <a:r>
              <a:rPr lang="en-US" dirty="0"/>
              <a:t>Retrieve PA for 2</a:t>
            </a:r>
            <a:r>
              <a:rPr lang="en-US" baseline="30000" dirty="0"/>
              <a:t>nd</a:t>
            </a:r>
            <a:r>
              <a:rPr lang="en-US" dirty="0"/>
              <a:t> level PT and continue</a:t>
            </a:r>
          </a:p>
          <a:p>
            <a:pPr lvl="2"/>
            <a:r>
              <a:rPr lang="en-US" dirty="0"/>
              <a:t>Go through all levels of PTs</a:t>
            </a:r>
          </a:p>
          <a:p>
            <a:pPr lvl="3"/>
            <a:r>
              <a:rPr lang="en-US" dirty="0"/>
              <a:t>If there is no mapping in any PT level, raise page fault exception</a:t>
            </a:r>
          </a:p>
          <a:p>
            <a:pPr lvl="3"/>
            <a:r>
              <a:rPr lang="en-US" dirty="0"/>
              <a:t>If all PT levels are mapped, retrieve frame number</a:t>
            </a:r>
          </a:p>
          <a:p>
            <a:pPr lvl="2"/>
            <a:r>
              <a:rPr lang="en-US" dirty="0"/>
              <a:t>Save retrieved mapping to TLB</a:t>
            </a:r>
          </a:p>
          <a:p>
            <a:endParaRPr lang="en-US" dirty="0"/>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74</a:t>
            </a:fld>
            <a:endParaRPr lang="en-US" altLang="en-US" dirty="0"/>
          </a:p>
        </p:txBody>
      </p:sp>
      <p:cxnSp>
        <p:nvCxnSpPr>
          <p:cNvPr id="7" name="Straight Arrow Connector 6"/>
          <p:cNvCxnSpPr/>
          <p:nvPr/>
        </p:nvCxnSpPr>
        <p:spPr>
          <a:xfrm flipV="1">
            <a:off x="4939146" y="2068945"/>
            <a:ext cx="1775690" cy="2115129"/>
          </a:xfrm>
          <a:prstGeom prst="straightConnector1">
            <a:avLst/>
          </a:prstGeom>
          <a:ln>
            <a:solidFill>
              <a:schemeClr val="bg1">
                <a:lumMod val="85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bwMode="auto">
          <a:xfrm>
            <a:off x="4772641" y="5926743"/>
            <a:ext cx="1582352" cy="288032"/>
          </a:xfrm>
          <a:prstGeom prst="rect">
            <a:avLst/>
          </a:prstGeom>
          <a:solidFill>
            <a:schemeClr val="accent5">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f</a:t>
            </a:r>
          </a:p>
        </p:txBody>
      </p:sp>
      <p:sp>
        <p:nvSpPr>
          <p:cNvPr id="9" name="Rectangle 8"/>
          <p:cNvSpPr/>
          <p:nvPr/>
        </p:nvSpPr>
        <p:spPr bwMode="auto">
          <a:xfrm>
            <a:off x="6354993" y="5926743"/>
            <a:ext cx="648072" cy="288032"/>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offs</a:t>
            </a:r>
          </a:p>
        </p:txBody>
      </p:sp>
      <p:cxnSp>
        <p:nvCxnSpPr>
          <p:cNvPr id="10" name="Straight Arrow Connector 9"/>
          <p:cNvCxnSpPr>
            <a:endCxn id="8" idx="0"/>
          </p:cNvCxnSpPr>
          <p:nvPr/>
        </p:nvCxnSpPr>
        <p:spPr>
          <a:xfrm flipH="1">
            <a:off x="5563817" y="5312856"/>
            <a:ext cx="2106385" cy="613887"/>
          </a:xfrm>
          <a:prstGeom prst="straightConnector1">
            <a:avLst/>
          </a:prstGeom>
          <a:ln>
            <a:solidFill>
              <a:schemeClr val="bg1">
                <a:lumMod val="85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 name="Elbow Connector 13"/>
          <p:cNvCxnSpPr>
            <a:endCxn id="9" idx="0"/>
          </p:cNvCxnSpPr>
          <p:nvPr/>
        </p:nvCxnSpPr>
        <p:spPr>
          <a:xfrm rot="16200000" flipH="1">
            <a:off x="4421018" y="3668732"/>
            <a:ext cx="3097482" cy="1418540"/>
          </a:xfrm>
          <a:prstGeom prst="bentConnector3">
            <a:avLst>
              <a:gd name="adj1" fmla="val -12"/>
            </a:avLst>
          </a:prstGeom>
          <a:ln>
            <a:solidFill>
              <a:schemeClr val="bg1">
                <a:lumMod val="85000"/>
              </a:schemeClr>
            </a:solidFill>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97131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Paging – page fault exception handling</a:t>
            </a:r>
          </a:p>
        </p:txBody>
      </p:sp>
      <p:sp>
        <p:nvSpPr>
          <p:cNvPr id="3" name="Content Placeholder 2"/>
          <p:cNvSpPr>
            <a:spLocks noGrp="1"/>
          </p:cNvSpPr>
          <p:nvPr>
            <p:ph sz="half" idx="1"/>
          </p:nvPr>
        </p:nvSpPr>
        <p:spPr/>
        <p:txBody>
          <a:bodyPr>
            <a:normAutofit fontScale="85000" lnSpcReduction="20000"/>
          </a:bodyPr>
          <a:lstStyle/>
          <a:p>
            <a:r>
              <a:rPr lang="en-US" dirty="0"/>
              <a:t>An instruction raises the page fault exception</a:t>
            </a:r>
          </a:p>
          <a:p>
            <a:r>
              <a:rPr lang="en-US" dirty="0"/>
              <a:t>OS interrupt handler</a:t>
            </a:r>
          </a:p>
          <a:p>
            <a:r>
              <a:rPr lang="en-US" dirty="0"/>
              <a:t>Determine the cause of the fault</a:t>
            </a:r>
          </a:p>
          <a:p>
            <a:pPr lvl="1"/>
            <a:r>
              <a:rPr lang="en-US" dirty="0"/>
              <a:t>Unauthorized access</a:t>
            </a:r>
          </a:p>
          <a:p>
            <a:pPr lvl="2"/>
            <a:r>
              <a:rPr lang="en-US" dirty="0"/>
              <a:t>Out of allocated virtual space, store to R/O page, access to kernel memory, …</a:t>
            </a:r>
          </a:p>
          <a:p>
            <a:pPr lvl="1"/>
            <a:r>
              <a:rPr lang="en-US" dirty="0"/>
              <a:t>Valid address but not mapped</a:t>
            </a:r>
          </a:p>
          <a:p>
            <a:r>
              <a:rPr lang="en-US" dirty="0"/>
              <a:t>Create mapping</a:t>
            </a:r>
          </a:p>
          <a:p>
            <a:pPr lvl="1"/>
            <a:r>
              <a:rPr lang="en-US" dirty="0"/>
              <a:t>Find a free frame</a:t>
            </a:r>
          </a:p>
          <a:p>
            <a:pPr lvl="1"/>
            <a:r>
              <a:rPr lang="en-US" dirty="0"/>
              <a:t>Load content to the free frame</a:t>
            </a:r>
          </a:p>
          <a:p>
            <a:pPr lvl="1"/>
            <a:r>
              <a:rPr lang="en-US" dirty="0"/>
              <a:t>Construct/fill corresponding page tables</a:t>
            </a:r>
          </a:p>
          <a:p>
            <a:r>
              <a:rPr lang="en-US" dirty="0"/>
              <a:t>Return back from handler and retry the instruction</a:t>
            </a:r>
          </a:p>
        </p:txBody>
      </p:sp>
      <p:sp>
        <p:nvSpPr>
          <p:cNvPr id="6" name="Content Placeholder 5"/>
          <p:cNvSpPr>
            <a:spLocks noGrp="1"/>
          </p:cNvSpPr>
          <p:nvPr>
            <p:ph sz="half" idx="2"/>
          </p:nvPr>
        </p:nvSpPr>
        <p:spPr/>
        <p:txBody>
          <a:bodyPr>
            <a:normAutofit fontScale="85000" lnSpcReduction="20000"/>
          </a:bodyPr>
          <a:lstStyle/>
          <a:p>
            <a:r>
              <a:rPr lang="en-US" dirty="0"/>
              <a:t>Find a free frame</a:t>
            </a:r>
          </a:p>
          <a:p>
            <a:pPr lvl="1"/>
            <a:r>
              <a:rPr lang="en-US" dirty="0"/>
              <a:t>Either there is one unoccupied</a:t>
            </a:r>
          </a:p>
          <a:p>
            <a:pPr lvl="1"/>
            <a:r>
              <a:rPr lang="en-US" dirty="0"/>
              <a:t>Or find a victim (for swapping)</a:t>
            </a:r>
          </a:p>
          <a:p>
            <a:pPr lvl="2"/>
            <a:r>
              <a:rPr lang="en-US" dirty="0"/>
              <a:t>Page replacement algorithms</a:t>
            </a:r>
          </a:p>
          <a:p>
            <a:pPr lvl="2"/>
            <a:r>
              <a:rPr lang="en-US" dirty="0"/>
              <a:t>Save dirty victim frame</a:t>
            </a:r>
          </a:p>
          <a:p>
            <a:pPr lvl="2"/>
            <a:r>
              <a:rPr lang="en-US" dirty="0"/>
              <a:t>Remove mapping from TLB</a:t>
            </a:r>
          </a:p>
          <a:p>
            <a:pPr marL="0" indent="0">
              <a:buNone/>
            </a:pPr>
            <a:endParaRPr lang="en-US" dirty="0"/>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75</a:t>
            </a:fld>
            <a:endParaRPr lang="en-US" altLang="en-US"/>
          </a:p>
        </p:txBody>
      </p:sp>
      <p:cxnSp>
        <p:nvCxnSpPr>
          <p:cNvPr id="15" name="Straight Arrow Connector 14"/>
          <p:cNvCxnSpPr/>
          <p:nvPr/>
        </p:nvCxnSpPr>
        <p:spPr>
          <a:xfrm flipV="1">
            <a:off x="3581400" y="3244363"/>
            <a:ext cx="3188677" cy="1373819"/>
          </a:xfrm>
          <a:prstGeom prst="straightConnector1">
            <a:avLst/>
          </a:prstGeom>
          <a:ln>
            <a:solidFill>
              <a:schemeClr val="bg1">
                <a:lumMod val="85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7" name="Rounded Rectangular Callout 56">
            <a:extLst>
              <a:ext uri="{FF2B5EF4-FFF2-40B4-BE49-F238E27FC236}">
                <a16:creationId xmlns:a16="http://schemas.microsoft.com/office/drawing/2014/main" id="{064586A3-565A-AE0B-3174-26B91D08FB2F}"/>
              </a:ext>
            </a:extLst>
          </p:cNvPr>
          <p:cNvSpPr/>
          <p:nvPr/>
        </p:nvSpPr>
        <p:spPr>
          <a:xfrm>
            <a:off x="6274536" y="4132720"/>
            <a:ext cx="4074251" cy="1793295"/>
          </a:xfrm>
          <a:prstGeom prst="wedgeRoundRectCallout">
            <a:avLst>
              <a:gd name="adj1" fmla="val -86485"/>
              <a:gd name="adj2" fmla="val -57591"/>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r>
              <a:rPr lang="en-US" dirty="0"/>
              <a:t>For example:</a:t>
            </a:r>
          </a:p>
          <a:p>
            <a:pPr marL="285750" indent="-285750">
              <a:buFont typeface="Arial" panose="020B0604020202020204" pitchFamily="34" charset="0"/>
              <a:buChar char="•"/>
            </a:pPr>
            <a:r>
              <a:rPr lang="en-US" dirty="0"/>
              <a:t>Newly allocated memory, which is lazily assigned</a:t>
            </a:r>
          </a:p>
          <a:p>
            <a:pPr marL="285750" indent="-285750">
              <a:buFont typeface="Arial" panose="020B0604020202020204" pitchFamily="34" charset="0"/>
              <a:buChar char="•"/>
            </a:pPr>
            <a:r>
              <a:rPr lang="en-US" dirty="0"/>
              <a:t>A page that was swapped, but a copy exists in the persistent storage</a:t>
            </a:r>
          </a:p>
        </p:txBody>
      </p:sp>
    </p:spTree>
    <p:extLst>
      <p:ext uri="{BB962C8B-B14F-4D97-AF65-F5344CB8AC3E}">
        <p14:creationId xmlns:p14="http://schemas.microsoft.com/office/powerpoint/2010/main" val="383350335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Page replacement algorithms</a:t>
            </a:r>
          </a:p>
        </p:txBody>
      </p:sp>
      <p:sp>
        <p:nvSpPr>
          <p:cNvPr id="3" name="Content Placeholder 2"/>
          <p:cNvSpPr>
            <a:spLocks noGrp="1"/>
          </p:cNvSpPr>
          <p:nvPr>
            <p:ph idx="1"/>
          </p:nvPr>
        </p:nvSpPr>
        <p:spPr/>
        <p:txBody>
          <a:bodyPr>
            <a:normAutofit/>
          </a:bodyPr>
          <a:lstStyle/>
          <a:p>
            <a:r>
              <a:rPr lang="en-US" dirty="0"/>
              <a:t>Cache-replacement algorithms</a:t>
            </a:r>
          </a:p>
          <a:p>
            <a:pPr lvl="1"/>
            <a:r>
              <a:rPr lang="en-US" dirty="0"/>
              <a:t>In any situation, when you need to find a victim from a limited space</a:t>
            </a:r>
          </a:p>
          <a:p>
            <a:pPr lvl="1"/>
            <a:r>
              <a:rPr lang="en-US" dirty="0"/>
              <a:t>Frames, TLB, cache, …</a:t>
            </a:r>
          </a:p>
          <a:p>
            <a:r>
              <a:rPr lang="en-US" dirty="0"/>
              <a:t>Optimal page algorithm</a:t>
            </a:r>
          </a:p>
          <a:p>
            <a:pPr lvl="1"/>
            <a:r>
              <a:rPr lang="en-US" dirty="0"/>
              <a:t>Replace the page that will not be used for the longest period of time</a:t>
            </a:r>
          </a:p>
          <a:p>
            <a:pPr lvl="1"/>
            <a:r>
              <a:rPr lang="en-US" dirty="0"/>
              <a:t>Lowest page-fault rate</a:t>
            </a:r>
          </a:p>
          <a:p>
            <a:pPr lvl="1"/>
            <a:r>
              <a:rPr lang="en-US" dirty="0"/>
              <a:t>Theoretical, we do not have an oracle for foretelling the future</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76</a:t>
            </a:fld>
            <a:endParaRPr lang="en-US" altLang="en-US"/>
          </a:p>
        </p:txBody>
      </p:sp>
    </p:spTree>
    <p:extLst>
      <p:ext uri="{BB962C8B-B14F-4D97-AF65-F5344CB8AC3E}">
        <p14:creationId xmlns:p14="http://schemas.microsoft.com/office/powerpoint/2010/main" val="40800108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10237936" y="2875863"/>
            <a:ext cx="720080" cy="648072"/>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latin typeface="+mn-lt"/>
              </a:rPr>
              <a:t>1</a:t>
            </a:r>
          </a:p>
        </p:txBody>
      </p:sp>
      <p:sp>
        <p:nvSpPr>
          <p:cNvPr id="29" name="TextBox 28"/>
          <p:cNvSpPr txBox="1"/>
          <p:nvPr/>
        </p:nvSpPr>
        <p:spPr>
          <a:xfrm>
            <a:off x="10297249" y="3146817"/>
            <a:ext cx="550151" cy="369332"/>
          </a:xfrm>
          <a:prstGeom prst="rect">
            <a:avLst/>
          </a:prstGeom>
          <a:solidFill>
            <a:schemeClr val="accent1">
              <a:lumMod val="40000"/>
              <a:lumOff val="60000"/>
            </a:schemeClr>
          </a:solidFill>
        </p:spPr>
        <p:txBody>
          <a:bodyPr wrap="none" rtlCol="0">
            <a:spAutoFit/>
          </a:bodyPr>
          <a:lstStyle/>
          <a:p>
            <a:r>
              <a:rPr lang="en-US">
                <a:latin typeface="+mn-lt"/>
              </a:rPr>
              <a:t>A=0</a:t>
            </a:r>
          </a:p>
        </p:txBody>
      </p:sp>
      <p:sp>
        <p:nvSpPr>
          <p:cNvPr id="4" name="Rectangle 3"/>
          <p:cNvSpPr/>
          <p:nvPr/>
        </p:nvSpPr>
        <p:spPr bwMode="auto">
          <a:xfrm>
            <a:off x="9157814" y="2225127"/>
            <a:ext cx="720080" cy="648072"/>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latin typeface="+mn-lt"/>
              </a:rPr>
              <a:t>0</a:t>
            </a:r>
          </a:p>
        </p:txBody>
      </p:sp>
      <p:sp>
        <p:nvSpPr>
          <p:cNvPr id="28" name="TextBox 27"/>
          <p:cNvSpPr txBox="1"/>
          <p:nvPr/>
        </p:nvSpPr>
        <p:spPr>
          <a:xfrm>
            <a:off x="9217131" y="2503867"/>
            <a:ext cx="550151" cy="369332"/>
          </a:xfrm>
          <a:prstGeom prst="rect">
            <a:avLst/>
          </a:prstGeom>
          <a:solidFill>
            <a:schemeClr val="accent1">
              <a:lumMod val="40000"/>
              <a:lumOff val="60000"/>
            </a:schemeClr>
          </a:solidFill>
        </p:spPr>
        <p:txBody>
          <a:bodyPr wrap="none" rtlCol="0">
            <a:spAutoFit/>
          </a:bodyPr>
          <a:lstStyle/>
          <a:p>
            <a:r>
              <a:rPr lang="en-US">
                <a:latin typeface="+mn-lt"/>
              </a:rPr>
              <a:t>A=0</a:t>
            </a:r>
          </a:p>
        </p:txBody>
      </p:sp>
      <p:sp>
        <p:nvSpPr>
          <p:cNvPr id="2" name="Title 1"/>
          <p:cNvSpPr>
            <a:spLocks noGrp="1"/>
          </p:cNvSpPr>
          <p:nvPr>
            <p:ph type="title"/>
          </p:nvPr>
        </p:nvSpPr>
        <p:spPr/>
        <p:txBody>
          <a:bodyPr/>
          <a:lstStyle/>
          <a:p>
            <a:r>
              <a:rPr lang="en-US"/>
              <a:t>Page replacement algorithms</a:t>
            </a:r>
          </a:p>
        </p:txBody>
      </p:sp>
      <p:sp>
        <p:nvSpPr>
          <p:cNvPr id="3" name="Content Placeholder 2"/>
          <p:cNvSpPr>
            <a:spLocks noGrp="1"/>
          </p:cNvSpPr>
          <p:nvPr>
            <p:ph idx="1"/>
          </p:nvPr>
        </p:nvSpPr>
        <p:spPr>
          <a:xfrm>
            <a:off x="838200" y="1825625"/>
            <a:ext cx="6820139" cy="4351338"/>
          </a:xfrm>
        </p:spPr>
        <p:txBody>
          <a:bodyPr>
            <a:normAutofit/>
          </a:bodyPr>
          <a:lstStyle/>
          <a:p>
            <a:r>
              <a:rPr lang="en-US" dirty="0"/>
              <a:t>Clock</a:t>
            </a:r>
          </a:p>
          <a:p>
            <a:pPr lvl="1"/>
            <a:r>
              <a:rPr lang="en-US" dirty="0"/>
              <a:t>Frames organized in a circular manner</a:t>
            </a:r>
          </a:p>
          <a:p>
            <a:pPr lvl="1"/>
            <a:r>
              <a:rPr lang="en-US" dirty="0"/>
              <a:t>A clock hand points to the next frame to replace</a:t>
            </a:r>
          </a:p>
          <a:p>
            <a:pPr lvl="1"/>
            <a:r>
              <a:rPr lang="en-US" dirty="0"/>
              <a:t>Each page has A(</a:t>
            </a:r>
            <a:r>
              <a:rPr lang="en-US" dirty="0" err="1"/>
              <a:t>cessed</a:t>
            </a:r>
            <a:r>
              <a:rPr lang="en-US" dirty="0"/>
              <a:t>) bit</a:t>
            </a:r>
          </a:p>
          <a:p>
            <a:pPr lvl="2"/>
            <a:r>
              <a:rPr lang="en-US" dirty="0"/>
              <a:t>A is the accessed flag which is set to 1 whenever the page is touched (by HW)</a:t>
            </a:r>
          </a:p>
          <a:p>
            <a:pPr lvl="1"/>
            <a:r>
              <a:rPr lang="en-US" dirty="0"/>
              <a:t>If the frame has </a:t>
            </a:r>
            <a:r>
              <a:rPr lang="en-US" b="1" dirty="0">
                <a:latin typeface="Courier New" panose="02070309020205020404" pitchFamily="49" charset="0"/>
                <a:cs typeface="Courier New" panose="02070309020205020404" pitchFamily="49" charset="0"/>
              </a:rPr>
              <a:t>A != 0</a:t>
            </a:r>
            <a:r>
              <a:rPr lang="en-US" dirty="0"/>
              <a:t>, set </a:t>
            </a:r>
            <a:r>
              <a:rPr lang="en-US" b="1" dirty="0">
                <a:latin typeface="Courier New" panose="02070309020205020404" pitchFamily="49" charset="0"/>
                <a:cs typeface="Courier New" panose="02070309020205020404" pitchFamily="49" charset="0"/>
              </a:rPr>
              <a:t>A = 0</a:t>
            </a:r>
            <a:r>
              <a:rPr lang="en-US" dirty="0"/>
              <a:t> and advance the hand</a:t>
            </a:r>
          </a:p>
          <a:p>
            <a:pPr lvl="1"/>
            <a:r>
              <a:rPr lang="en-US" dirty="0"/>
              <a:t>If the frame has </a:t>
            </a:r>
            <a:r>
              <a:rPr lang="en-US" b="1" dirty="0">
                <a:latin typeface="Courier New" panose="02070309020205020404" pitchFamily="49" charset="0"/>
                <a:cs typeface="Courier New" panose="02070309020205020404" pitchFamily="49" charset="0"/>
              </a:rPr>
              <a:t>A == 0</a:t>
            </a:r>
            <a:r>
              <a:rPr lang="en-US" dirty="0"/>
              <a:t>, select this frame</a:t>
            </a:r>
          </a:p>
        </p:txBody>
      </p:sp>
      <p:sp>
        <p:nvSpPr>
          <p:cNvPr id="11" name="Date Placeholder 10"/>
          <p:cNvSpPr>
            <a:spLocks noGrp="1"/>
          </p:cNvSpPr>
          <p:nvPr>
            <p:ph type="dt" sz="half" idx="10"/>
          </p:nvPr>
        </p:nvSpPr>
        <p:spPr/>
        <p:txBody>
          <a:bodyPr/>
          <a:lstStyle/>
          <a:p>
            <a:r>
              <a:rPr lang="cs-CZ" altLang="en-US"/>
              <a:t>17.4.2025</a:t>
            </a:r>
            <a:endParaRPr lang="en-US" altLang="en-US"/>
          </a:p>
        </p:txBody>
      </p:sp>
      <p:sp>
        <p:nvSpPr>
          <p:cNvPr id="17" name="Slide Number Placeholder 16"/>
          <p:cNvSpPr>
            <a:spLocks noGrp="1"/>
          </p:cNvSpPr>
          <p:nvPr>
            <p:ph type="sldNum" sz="quarter" idx="12"/>
          </p:nvPr>
        </p:nvSpPr>
        <p:spPr/>
        <p:txBody>
          <a:bodyPr/>
          <a:lstStyle/>
          <a:p>
            <a:fld id="{F4A1145F-674A-4228-8958-0EA9769F5517}" type="slidenum">
              <a:rPr lang="en-US" altLang="en-US" smtClean="0"/>
              <a:pPr/>
              <a:t>77</a:t>
            </a:fld>
            <a:endParaRPr lang="en-US" altLang="en-US"/>
          </a:p>
        </p:txBody>
      </p:sp>
      <p:sp>
        <p:nvSpPr>
          <p:cNvPr id="6" name="Rectangle 5"/>
          <p:cNvSpPr/>
          <p:nvPr/>
        </p:nvSpPr>
        <p:spPr bwMode="auto">
          <a:xfrm>
            <a:off x="10237936" y="3877695"/>
            <a:ext cx="720080" cy="648072"/>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latin typeface="+mn-lt"/>
              </a:rPr>
              <a:t>2</a:t>
            </a:r>
          </a:p>
        </p:txBody>
      </p:sp>
      <p:sp>
        <p:nvSpPr>
          <p:cNvPr id="7" name="Rectangle 6"/>
          <p:cNvSpPr/>
          <p:nvPr/>
        </p:nvSpPr>
        <p:spPr bwMode="auto">
          <a:xfrm>
            <a:off x="9157816" y="4525767"/>
            <a:ext cx="720080" cy="648072"/>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latin typeface="+mn-lt"/>
              </a:rPr>
              <a:t>3</a:t>
            </a:r>
          </a:p>
        </p:txBody>
      </p:sp>
      <p:sp>
        <p:nvSpPr>
          <p:cNvPr id="8" name="Rectangle 7"/>
          <p:cNvSpPr/>
          <p:nvPr/>
        </p:nvSpPr>
        <p:spPr bwMode="auto">
          <a:xfrm>
            <a:off x="8077696" y="3881681"/>
            <a:ext cx="720080" cy="648072"/>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latin typeface="+mn-lt"/>
              </a:rPr>
              <a:t>4</a:t>
            </a:r>
          </a:p>
        </p:txBody>
      </p:sp>
      <p:sp>
        <p:nvSpPr>
          <p:cNvPr id="9" name="Rectangle 8"/>
          <p:cNvSpPr/>
          <p:nvPr/>
        </p:nvSpPr>
        <p:spPr bwMode="auto">
          <a:xfrm>
            <a:off x="8077696" y="2873199"/>
            <a:ext cx="720080" cy="648072"/>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latin typeface="+mn-lt"/>
              </a:rPr>
              <a:t>5</a:t>
            </a:r>
          </a:p>
        </p:txBody>
      </p:sp>
      <p:sp>
        <p:nvSpPr>
          <p:cNvPr id="10" name="TextBox 9"/>
          <p:cNvSpPr txBox="1"/>
          <p:nvPr/>
        </p:nvSpPr>
        <p:spPr>
          <a:xfrm>
            <a:off x="9217132" y="2505735"/>
            <a:ext cx="550151" cy="369332"/>
          </a:xfrm>
          <a:prstGeom prst="rect">
            <a:avLst/>
          </a:prstGeom>
          <a:solidFill>
            <a:schemeClr val="accent1">
              <a:lumMod val="40000"/>
              <a:lumOff val="60000"/>
            </a:schemeClr>
          </a:solidFill>
        </p:spPr>
        <p:txBody>
          <a:bodyPr wrap="none" rtlCol="0">
            <a:spAutoFit/>
          </a:bodyPr>
          <a:lstStyle/>
          <a:p>
            <a:r>
              <a:rPr lang="en-US">
                <a:latin typeface="+mn-lt"/>
              </a:rPr>
              <a:t>A=1</a:t>
            </a:r>
          </a:p>
        </p:txBody>
      </p:sp>
      <p:sp>
        <p:nvSpPr>
          <p:cNvPr id="12" name="TextBox 11"/>
          <p:cNvSpPr txBox="1"/>
          <p:nvPr/>
        </p:nvSpPr>
        <p:spPr>
          <a:xfrm>
            <a:off x="8137014" y="3147478"/>
            <a:ext cx="550151" cy="369332"/>
          </a:xfrm>
          <a:prstGeom prst="rect">
            <a:avLst/>
          </a:prstGeom>
          <a:solidFill>
            <a:schemeClr val="accent1">
              <a:lumMod val="40000"/>
              <a:lumOff val="60000"/>
            </a:schemeClr>
          </a:solidFill>
        </p:spPr>
        <p:txBody>
          <a:bodyPr wrap="none" rtlCol="0">
            <a:spAutoFit/>
          </a:bodyPr>
          <a:lstStyle/>
          <a:p>
            <a:r>
              <a:rPr lang="en-US">
                <a:latin typeface="+mn-lt"/>
              </a:rPr>
              <a:t>A=1</a:t>
            </a:r>
          </a:p>
        </p:txBody>
      </p:sp>
      <p:sp>
        <p:nvSpPr>
          <p:cNvPr id="13" name="TextBox 12"/>
          <p:cNvSpPr txBox="1"/>
          <p:nvPr/>
        </p:nvSpPr>
        <p:spPr>
          <a:xfrm>
            <a:off x="8137014" y="4151506"/>
            <a:ext cx="550151" cy="369332"/>
          </a:xfrm>
          <a:prstGeom prst="rect">
            <a:avLst/>
          </a:prstGeom>
          <a:solidFill>
            <a:schemeClr val="accent1">
              <a:lumMod val="40000"/>
              <a:lumOff val="60000"/>
            </a:schemeClr>
          </a:solidFill>
        </p:spPr>
        <p:txBody>
          <a:bodyPr wrap="none" rtlCol="0">
            <a:spAutoFit/>
          </a:bodyPr>
          <a:lstStyle/>
          <a:p>
            <a:r>
              <a:rPr lang="en-US">
                <a:latin typeface="+mn-lt"/>
              </a:rPr>
              <a:t>A=0</a:t>
            </a:r>
          </a:p>
        </p:txBody>
      </p:sp>
      <p:sp>
        <p:nvSpPr>
          <p:cNvPr id="14" name="TextBox 13"/>
          <p:cNvSpPr txBox="1"/>
          <p:nvPr/>
        </p:nvSpPr>
        <p:spPr>
          <a:xfrm>
            <a:off x="10299850" y="3154603"/>
            <a:ext cx="550151" cy="369332"/>
          </a:xfrm>
          <a:prstGeom prst="rect">
            <a:avLst/>
          </a:prstGeom>
          <a:solidFill>
            <a:schemeClr val="accent1">
              <a:lumMod val="40000"/>
              <a:lumOff val="60000"/>
            </a:schemeClr>
          </a:solidFill>
        </p:spPr>
        <p:txBody>
          <a:bodyPr wrap="none" rtlCol="0">
            <a:spAutoFit/>
          </a:bodyPr>
          <a:lstStyle/>
          <a:p>
            <a:r>
              <a:rPr lang="en-US">
                <a:latin typeface="+mn-lt"/>
              </a:rPr>
              <a:t>A=1</a:t>
            </a:r>
          </a:p>
        </p:txBody>
      </p:sp>
      <p:sp>
        <p:nvSpPr>
          <p:cNvPr id="15" name="TextBox 14"/>
          <p:cNvSpPr txBox="1"/>
          <p:nvPr/>
        </p:nvSpPr>
        <p:spPr>
          <a:xfrm>
            <a:off x="10297253" y="4151506"/>
            <a:ext cx="550151" cy="369332"/>
          </a:xfrm>
          <a:prstGeom prst="rect">
            <a:avLst/>
          </a:prstGeom>
          <a:solidFill>
            <a:schemeClr val="accent1">
              <a:lumMod val="40000"/>
              <a:lumOff val="60000"/>
            </a:schemeClr>
          </a:solidFill>
        </p:spPr>
        <p:txBody>
          <a:bodyPr wrap="none" rtlCol="0">
            <a:spAutoFit/>
          </a:bodyPr>
          <a:lstStyle/>
          <a:p>
            <a:r>
              <a:rPr lang="en-US">
                <a:latin typeface="+mn-lt"/>
              </a:rPr>
              <a:t>A=0</a:t>
            </a:r>
          </a:p>
        </p:txBody>
      </p:sp>
      <p:sp>
        <p:nvSpPr>
          <p:cNvPr id="16" name="TextBox 15"/>
          <p:cNvSpPr txBox="1"/>
          <p:nvPr/>
        </p:nvSpPr>
        <p:spPr>
          <a:xfrm>
            <a:off x="9217131" y="4804507"/>
            <a:ext cx="550151" cy="369332"/>
          </a:xfrm>
          <a:prstGeom prst="rect">
            <a:avLst/>
          </a:prstGeom>
          <a:solidFill>
            <a:schemeClr val="accent1">
              <a:lumMod val="40000"/>
              <a:lumOff val="60000"/>
            </a:schemeClr>
          </a:solidFill>
        </p:spPr>
        <p:txBody>
          <a:bodyPr wrap="none" rtlCol="0">
            <a:spAutoFit/>
          </a:bodyPr>
          <a:lstStyle/>
          <a:p>
            <a:r>
              <a:rPr lang="en-US">
                <a:latin typeface="+mn-lt"/>
              </a:rPr>
              <a:t>A=1</a:t>
            </a:r>
          </a:p>
        </p:txBody>
      </p:sp>
      <p:cxnSp>
        <p:nvCxnSpPr>
          <p:cNvPr id="18" name="Straight Arrow Connector 17"/>
          <p:cNvCxnSpPr>
            <a:endCxn id="10" idx="2"/>
          </p:cNvCxnSpPr>
          <p:nvPr/>
        </p:nvCxnSpPr>
        <p:spPr bwMode="auto">
          <a:xfrm flipH="1" flipV="1">
            <a:off x="9492208" y="2875067"/>
            <a:ext cx="25645" cy="787315"/>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21" name="Straight Arrow Connector 20"/>
          <p:cNvCxnSpPr>
            <a:endCxn id="5" idx="1"/>
          </p:cNvCxnSpPr>
          <p:nvPr/>
        </p:nvCxnSpPr>
        <p:spPr bwMode="auto">
          <a:xfrm flipV="1">
            <a:off x="9517854" y="3199900"/>
            <a:ext cx="720083" cy="462481"/>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22" name="Straight Arrow Connector 21"/>
          <p:cNvCxnSpPr>
            <a:endCxn id="6" idx="1"/>
          </p:cNvCxnSpPr>
          <p:nvPr/>
        </p:nvCxnSpPr>
        <p:spPr bwMode="auto">
          <a:xfrm>
            <a:off x="9517854" y="3662381"/>
            <a:ext cx="720082" cy="539351"/>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2329795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8"/>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xit"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21"/>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xit"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8" grpId="0" animBg="1"/>
      <p:bldP spid="10" grpId="0" animBg="1"/>
      <p:bldP spid="14"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Page replacement algorithms</a:t>
            </a:r>
          </a:p>
        </p:txBody>
      </p:sp>
      <p:sp>
        <p:nvSpPr>
          <p:cNvPr id="3" name="Content Placeholder 2"/>
          <p:cNvSpPr>
            <a:spLocks noGrp="1"/>
          </p:cNvSpPr>
          <p:nvPr>
            <p:ph idx="1"/>
          </p:nvPr>
        </p:nvSpPr>
        <p:spPr/>
        <p:txBody>
          <a:bodyPr/>
          <a:lstStyle/>
          <a:p>
            <a:r>
              <a:rPr lang="en-US" dirty="0"/>
              <a:t>NRU (Not Recently Used)</a:t>
            </a:r>
          </a:p>
          <a:p>
            <a:pPr lvl="1"/>
            <a:r>
              <a:rPr lang="en-US" dirty="0"/>
              <a:t>Each page has A(</a:t>
            </a:r>
            <a:r>
              <a:rPr lang="en-US" dirty="0" err="1"/>
              <a:t>ccessed</a:t>
            </a:r>
            <a:r>
              <a:rPr lang="en-US" dirty="0"/>
              <a:t>) and D(</a:t>
            </a:r>
            <a:r>
              <a:rPr lang="en-US" dirty="0" err="1"/>
              <a:t>irty</a:t>
            </a:r>
            <a:r>
              <a:rPr lang="en-US" dirty="0"/>
              <a:t>) bits</a:t>
            </a:r>
          </a:p>
          <a:p>
            <a:pPr lvl="1"/>
            <a:r>
              <a:rPr lang="en-US" dirty="0"/>
              <a:t>Clears A bits periodically (e.g., once a minute)</a:t>
            </a:r>
          </a:p>
          <a:p>
            <a:pPr lvl="2"/>
            <a:r>
              <a:rPr lang="en-US" dirty="0"/>
              <a:t>Bit D is not touched</a:t>
            </a:r>
          </a:p>
          <a:p>
            <a:pPr lvl="1"/>
            <a:r>
              <a:rPr lang="en-US" dirty="0"/>
              <a:t>Uses A and D bits to classify frames into four classes</a:t>
            </a:r>
          </a:p>
          <a:p>
            <a:pPr lvl="1"/>
            <a:r>
              <a:rPr lang="en-US" dirty="0"/>
              <a:t>Selects a random frame from the lowest non-empty class</a:t>
            </a:r>
          </a:p>
        </p:txBody>
      </p:sp>
      <p:graphicFrame>
        <p:nvGraphicFramePr>
          <p:cNvPr id="4" name="Table 3"/>
          <p:cNvGraphicFramePr>
            <a:graphicFrameLocks noGrp="1"/>
          </p:cNvGraphicFramePr>
          <p:nvPr>
            <p:extLst>
              <p:ext uri="{D42A27DB-BD31-4B8C-83A1-F6EECF244321}">
                <p14:modId xmlns:p14="http://schemas.microsoft.com/office/powerpoint/2010/main" val="532068512"/>
              </p:ext>
            </p:extLst>
          </p:nvPr>
        </p:nvGraphicFramePr>
        <p:xfrm>
          <a:off x="9520544" y="2295980"/>
          <a:ext cx="1728192" cy="1828800"/>
        </p:xfrm>
        <a:graphic>
          <a:graphicData uri="http://schemas.openxmlformats.org/drawingml/2006/table">
            <a:tbl>
              <a:tblPr firstRow="1" bandRow="1">
                <a:tableStyleId>{5C22544A-7EE6-4342-B048-85BDC9FD1C3A}</a:tableStyleId>
              </a:tblPr>
              <a:tblGrid>
                <a:gridCol w="864095">
                  <a:extLst>
                    <a:ext uri="{9D8B030D-6E8A-4147-A177-3AD203B41FA5}">
                      <a16:colId xmlns:a16="http://schemas.microsoft.com/office/drawing/2014/main" val="3635977818"/>
                    </a:ext>
                  </a:extLst>
                </a:gridCol>
                <a:gridCol w="432048">
                  <a:extLst>
                    <a:ext uri="{9D8B030D-6E8A-4147-A177-3AD203B41FA5}">
                      <a16:colId xmlns:a16="http://schemas.microsoft.com/office/drawing/2014/main" val="315252062"/>
                    </a:ext>
                  </a:extLst>
                </a:gridCol>
                <a:gridCol w="432049">
                  <a:extLst>
                    <a:ext uri="{9D8B030D-6E8A-4147-A177-3AD203B41FA5}">
                      <a16:colId xmlns:a16="http://schemas.microsoft.com/office/drawing/2014/main" val="562951922"/>
                    </a:ext>
                  </a:extLst>
                </a:gridCol>
              </a:tblGrid>
              <a:tr h="273630">
                <a:tc>
                  <a:txBody>
                    <a:bodyPr/>
                    <a:lstStyle/>
                    <a:p>
                      <a:r>
                        <a:rPr lang="en-US" dirty="0"/>
                        <a:t>Class</a:t>
                      </a:r>
                    </a:p>
                  </a:txBody>
                  <a:tcPr/>
                </a:tc>
                <a:tc>
                  <a:txBody>
                    <a:bodyPr/>
                    <a:lstStyle/>
                    <a:p>
                      <a:r>
                        <a:rPr lang="en-US"/>
                        <a:t>A</a:t>
                      </a:r>
                    </a:p>
                  </a:txBody>
                  <a:tcPr/>
                </a:tc>
                <a:tc>
                  <a:txBody>
                    <a:bodyPr/>
                    <a:lstStyle/>
                    <a:p>
                      <a:r>
                        <a:rPr lang="en-US"/>
                        <a:t>D</a:t>
                      </a:r>
                    </a:p>
                  </a:txBody>
                  <a:tcPr/>
                </a:tc>
                <a:extLst>
                  <a:ext uri="{0D108BD9-81ED-4DB2-BD59-A6C34878D82A}">
                    <a16:rowId xmlns:a16="http://schemas.microsoft.com/office/drawing/2014/main" val="265047638"/>
                  </a:ext>
                </a:extLst>
              </a:tr>
              <a:tr h="273630">
                <a:tc>
                  <a:txBody>
                    <a:bodyPr/>
                    <a:lstStyle/>
                    <a:p>
                      <a:r>
                        <a:rPr lang="en-US"/>
                        <a:t>0</a:t>
                      </a:r>
                    </a:p>
                  </a:txBody>
                  <a:tcPr/>
                </a:tc>
                <a:tc>
                  <a:txBody>
                    <a:bodyPr/>
                    <a:lstStyle/>
                    <a:p>
                      <a:r>
                        <a:rPr lang="en-US"/>
                        <a:t>0</a:t>
                      </a:r>
                    </a:p>
                  </a:txBody>
                  <a:tcPr/>
                </a:tc>
                <a:tc>
                  <a:txBody>
                    <a:bodyPr/>
                    <a:lstStyle/>
                    <a:p>
                      <a:r>
                        <a:rPr lang="en-US"/>
                        <a:t>0</a:t>
                      </a:r>
                    </a:p>
                  </a:txBody>
                  <a:tcPr/>
                </a:tc>
                <a:extLst>
                  <a:ext uri="{0D108BD9-81ED-4DB2-BD59-A6C34878D82A}">
                    <a16:rowId xmlns:a16="http://schemas.microsoft.com/office/drawing/2014/main" val="4160294298"/>
                  </a:ext>
                </a:extLst>
              </a:tr>
              <a:tr h="273630">
                <a:tc>
                  <a:txBody>
                    <a:bodyPr/>
                    <a:lstStyle/>
                    <a:p>
                      <a:r>
                        <a:rPr lang="en-US"/>
                        <a:t>1</a:t>
                      </a:r>
                    </a:p>
                  </a:txBody>
                  <a:tcPr/>
                </a:tc>
                <a:tc>
                  <a:txBody>
                    <a:bodyPr/>
                    <a:lstStyle/>
                    <a:p>
                      <a:r>
                        <a:rPr lang="en-US"/>
                        <a:t>0</a:t>
                      </a:r>
                    </a:p>
                  </a:txBody>
                  <a:tcPr/>
                </a:tc>
                <a:tc>
                  <a:txBody>
                    <a:bodyPr/>
                    <a:lstStyle/>
                    <a:p>
                      <a:r>
                        <a:rPr lang="en-US"/>
                        <a:t>1</a:t>
                      </a:r>
                    </a:p>
                  </a:txBody>
                  <a:tcPr/>
                </a:tc>
                <a:extLst>
                  <a:ext uri="{0D108BD9-81ED-4DB2-BD59-A6C34878D82A}">
                    <a16:rowId xmlns:a16="http://schemas.microsoft.com/office/drawing/2014/main" val="685405279"/>
                  </a:ext>
                </a:extLst>
              </a:tr>
              <a:tr h="273630">
                <a:tc>
                  <a:txBody>
                    <a:bodyPr/>
                    <a:lstStyle/>
                    <a:p>
                      <a:r>
                        <a:rPr lang="en-US"/>
                        <a:t>2</a:t>
                      </a:r>
                    </a:p>
                  </a:txBody>
                  <a:tcPr/>
                </a:tc>
                <a:tc>
                  <a:txBody>
                    <a:bodyPr/>
                    <a:lstStyle/>
                    <a:p>
                      <a:r>
                        <a:rPr lang="en-US"/>
                        <a:t>1</a:t>
                      </a:r>
                    </a:p>
                  </a:txBody>
                  <a:tcPr/>
                </a:tc>
                <a:tc>
                  <a:txBody>
                    <a:bodyPr/>
                    <a:lstStyle/>
                    <a:p>
                      <a:r>
                        <a:rPr lang="en-US"/>
                        <a:t>0</a:t>
                      </a:r>
                    </a:p>
                  </a:txBody>
                  <a:tcPr/>
                </a:tc>
                <a:extLst>
                  <a:ext uri="{0D108BD9-81ED-4DB2-BD59-A6C34878D82A}">
                    <a16:rowId xmlns:a16="http://schemas.microsoft.com/office/drawing/2014/main" val="1859503397"/>
                  </a:ext>
                </a:extLst>
              </a:tr>
              <a:tr h="273630">
                <a:tc>
                  <a:txBody>
                    <a:bodyPr/>
                    <a:lstStyle/>
                    <a:p>
                      <a:r>
                        <a:rPr lang="en-US"/>
                        <a:t>3</a:t>
                      </a:r>
                    </a:p>
                  </a:txBody>
                  <a:tcPr/>
                </a:tc>
                <a:tc>
                  <a:txBody>
                    <a:bodyPr/>
                    <a:lstStyle/>
                    <a:p>
                      <a:r>
                        <a:rPr lang="en-US"/>
                        <a:t>1</a:t>
                      </a:r>
                    </a:p>
                  </a:txBody>
                  <a:tcPr/>
                </a:tc>
                <a:tc>
                  <a:txBody>
                    <a:bodyPr/>
                    <a:lstStyle/>
                    <a:p>
                      <a:r>
                        <a:rPr lang="en-US" dirty="0"/>
                        <a:t>1</a:t>
                      </a:r>
                    </a:p>
                  </a:txBody>
                  <a:tcPr/>
                </a:tc>
                <a:extLst>
                  <a:ext uri="{0D108BD9-81ED-4DB2-BD59-A6C34878D82A}">
                    <a16:rowId xmlns:a16="http://schemas.microsoft.com/office/drawing/2014/main" val="1663828112"/>
                  </a:ext>
                </a:extLst>
              </a:tr>
            </a:tbl>
          </a:graphicData>
        </a:graphic>
      </p:graphicFrame>
      <p:sp>
        <p:nvSpPr>
          <p:cNvPr id="5" name="Date Placeholder 4"/>
          <p:cNvSpPr>
            <a:spLocks noGrp="1"/>
          </p:cNvSpPr>
          <p:nvPr>
            <p:ph type="dt" sz="half" idx="10"/>
          </p:nvPr>
        </p:nvSpPr>
        <p:spPr/>
        <p:txBody>
          <a:bodyPr/>
          <a:lstStyle/>
          <a:p>
            <a:r>
              <a:rPr lang="cs-CZ" altLang="en-US"/>
              <a:t>17.4.2025</a:t>
            </a:r>
            <a:endParaRPr lang="en-US" altLang="en-US"/>
          </a:p>
        </p:txBody>
      </p:sp>
      <p:sp>
        <p:nvSpPr>
          <p:cNvPr id="6" name="Slide Number Placeholder 5"/>
          <p:cNvSpPr>
            <a:spLocks noGrp="1"/>
          </p:cNvSpPr>
          <p:nvPr>
            <p:ph type="sldNum" sz="quarter" idx="12"/>
          </p:nvPr>
        </p:nvSpPr>
        <p:spPr/>
        <p:txBody>
          <a:bodyPr/>
          <a:lstStyle/>
          <a:p>
            <a:fld id="{F4A1145F-674A-4228-8958-0EA9769F5517}" type="slidenum">
              <a:rPr lang="en-US" altLang="en-US" smtClean="0"/>
              <a:pPr/>
              <a:t>78</a:t>
            </a:fld>
            <a:endParaRPr lang="en-US" altLang="en-US"/>
          </a:p>
        </p:txBody>
      </p:sp>
    </p:spTree>
    <p:extLst>
      <p:ext uri="{BB962C8B-B14F-4D97-AF65-F5344CB8AC3E}">
        <p14:creationId xmlns:p14="http://schemas.microsoft.com/office/powerpoint/2010/main" val="93458005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Page replacement algorithms</a:t>
            </a:r>
          </a:p>
        </p:txBody>
      </p:sp>
      <p:sp>
        <p:nvSpPr>
          <p:cNvPr id="3" name="Content Placeholder 2"/>
          <p:cNvSpPr>
            <a:spLocks noGrp="1"/>
          </p:cNvSpPr>
          <p:nvPr>
            <p:ph idx="1"/>
          </p:nvPr>
        </p:nvSpPr>
        <p:spPr/>
        <p:txBody>
          <a:bodyPr>
            <a:normAutofit/>
          </a:bodyPr>
          <a:lstStyle/>
          <a:p>
            <a:r>
              <a:rPr lang="en-US" dirty="0"/>
              <a:t>LRU (Least Recently Used)</a:t>
            </a:r>
          </a:p>
          <a:p>
            <a:pPr lvl="1"/>
            <a:r>
              <a:rPr lang="en-US" dirty="0"/>
              <a:t>Uses the recent past as a prediction of the near future</a:t>
            </a:r>
          </a:p>
          <a:p>
            <a:pPr lvl="1"/>
            <a:r>
              <a:rPr lang="en-US" dirty="0"/>
              <a:t>Replaces the page that has not been referenced for the longest time</a:t>
            </a:r>
          </a:p>
          <a:p>
            <a:pPr lvl="1"/>
            <a:r>
              <a:rPr lang="en-US" dirty="0"/>
              <a:t>Existing HW implementations</a:t>
            </a:r>
          </a:p>
          <a:p>
            <a:pPr lvl="2"/>
            <a:r>
              <a:rPr lang="en-US" dirty="0"/>
              <a:t>Cache</a:t>
            </a:r>
          </a:p>
          <a:p>
            <a:pPr lvl="2"/>
            <a:r>
              <a:rPr lang="en-US" dirty="0"/>
              <a:t>Bit matrix</a:t>
            </a:r>
          </a:p>
          <a:p>
            <a:pPr lvl="1"/>
            <a:r>
              <a:rPr lang="en-US" dirty="0"/>
              <a:t>SW implementation</a:t>
            </a:r>
          </a:p>
          <a:p>
            <a:pPr lvl="2"/>
            <a:r>
              <a:rPr lang="en-US" dirty="0"/>
              <a:t>Move-to-front algorithm</a:t>
            </a:r>
          </a:p>
          <a:p>
            <a:pPr lvl="3"/>
            <a:r>
              <a:rPr lang="en-US" dirty="0"/>
              <a:t>Can be implemented by linked list or heap data structure</a:t>
            </a:r>
          </a:p>
          <a:p>
            <a:pPr lvl="2"/>
            <a:r>
              <a:rPr lang="en-US" dirty="0"/>
              <a:t>Too complicated and space consuming</a:t>
            </a:r>
          </a:p>
          <a:p>
            <a:pPr lvl="2"/>
            <a:r>
              <a:rPr lang="en-US" dirty="0"/>
              <a:t>Approximation algorithms exist</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79</a:t>
            </a:fld>
            <a:endParaRPr lang="en-US" altLang="en-US"/>
          </a:p>
        </p:txBody>
      </p:sp>
    </p:spTree>
    <p:extLst>
      <p:ext uri="{BB962C8B-B14F-4D97-AF65-F5344CB8AC3E}">
        <p14:creationId xmlns:p14="http://schemas.microsoft.com/office/powerpoint/2010/main" val="127009358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Page replacement algorithms</a:t>
            </a:r>
          </a:p>
        </p:txBody>
      </p:sp>
      <p:sp>
        <p:nvSpPr>
          <p:cNvPr id="3" name="Content Placeholder 2"/>
          <p:cNvSpPr>
            <a:spLocks noGrp="1"/>
          </p:cNvSpPr>
          <p:nvPr>
            <p:ph idx="1"/>
          </p:nvPr>
        </p:nvSpPr>
        <p:spPr/>
        <p:txBody>
          <a:bodyPr>
            <a:normAutofit/>
          </a:bodyPr>
          <a:lstStyle/>
          <a:p>
            <a:r>
              <a:rPr lang="en-US" dirty="0"/>
              <a:t>NFU (Not Frequently Use)</a:t>
            </a:r>
          </a:p>
          <a:p>
            <a:pPr lvl="1"/>
            <a:r>
              <a:rPr lang="en-US" dirty="0"/>
              <a:t>Rough approximation of LRU</a:t>
            </a:r>
          </a:p>
          <a:p>
            <a:pPr lvl="1"/>
            <a:r>
              <a:rPr lang="en-US" dirty="0"/>
              <a:t>Each frame has a counter (typically small, several bits)</a:t>
            </a:r>
          </a:p>
          <a:p>
            <a:pPr lvl="1"/>
            <a:r>
              <a:rPr lang="en-US" dirty="0"/>
              <a:t>Periodically scan page table and increase the counter for a frames with </a:t>
            </a:r>
            <a:r>
              <a:rPr lang="en-US" b="1" dirty="0">
                <a:latin typeface="Courier New" panose="02070309020205020404" pitchFamily="49" charset="0"/>
                <a:cs typeface="Courier New" panose="02070309020205020404" pitchFamily="49" charset="0"/>
              </a:rPr>
              <a:t>A==1</a:t>
            </a:r>
          </a:p>
          <a:p>
            <a:pPr lvl="2"/>
            <a:r>
              <a:rPr lang="en-US" dirty="0"/>
              <a:t>Always clear A</a:t>
            </a:r>
          </a:p>
          <a:p>
            <a:pPr lvl="1"/>
            <a:r>
              <a:rPr lang="en-US" dirty="0"/>
              <a:t>Select the frame with lowest counter</a:t>
            </a:r>
          </a:p>
          <a:p>
            <a:pPr lvl="1"/>
            <a:r>
              <a:rPr lang="en-US" dirty="0"/>
              <a:t>Problems</a:t>
            </a:r>
          </a:p>
          <a:p>
            <a:pPr lvl="2"/>
            <a:r>
              <a:rPr lang="en-US" dirty="0"/>
              <a:t>Newly occupied frames may be swapped before they get used</a:t>
            </a:r>
          </a:p>
          <a:p>
            <a:pPr lvl="2"/>
            <a:r>
              <a:rPr lang="en-US" dirty="0"/>
              <a:t>Frames that were previously heavy used will never be selected</a:t>
            </a:r>
          </a:p>
          <a:p>
            <a:pPr lvl="1"/>
            <a:r>
              <a:rPr lang="en-US" dirty="0"/>
              <a:t>Aging</a:t>
            </a:r>
          </a:p>
          <a:p>
            <a:pPr lvl="2"/>
            <a:r>
              <a:rPr lang="en-US" dirty="0"/>
              <a:t>Periodically divide counters by 2 (i.e., shift by 1)</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80</a:t>
            </a:fld>
            <a:endParaRPr lang="en-US" altLang="en-US"/>
          </a:p>
        </p:txBody>
      </p:sp>
    </p:spTree>
    <p:extLst>
      <p:ext uri="{BB962C8B-B14F-4D97-AF65-F5344CB8AC3E}">
        <p14:creationId xmlns:p14="http://schemas.microsoft.com/office/powerpoint/2010/main" val="154288389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Advanced paging</a:t>
            </a:r>
          </a:p>
        </p:txBody>
      </p:sp>
      <p:sp>
        <p:nvSpPr>
          <p:cNvPr id="3" name="Content Placeholder 2"/>
          <p:cNvSpPr>
            <a:spLocks noGrp="1"/>
          </p:cNvSpPr>
          <p:nvPr>
            <p:ph idx="1"/>
          </p:nvPr>
        </p:nvSpPr>
        <p:spPr>
          <a:xfrm>
            <a:off x="838200" y="1825625"/>
            <a:ext cx="10515600" cy="2129497"/>
          </a:xfrm>
        </p:spPr>
        <p:txBody>
          <a:bodyPr>
            <a:normAutofit fontScale="85000" lnSpcReduction="20000"/>
          </a:bodyPr>
          <a:lstStyle/>
          <a:p>
            <a:r>
              <a:rPr lang="en-US" dirty="0"/>
              <a:t>Shared memory</a:t>
            </a:r>
          </a:p>
          <a:p>
            <a:pPr lvl="1"/>
            <a:r>
              <a:rPr lang="en-US" dirty="0"/>
              <a:t>Part of a virtual memory space shared amongst processes</a:t>
            </a:r>
          </a:p>
          <a:p>
            <a:pPr lvl="2"/>
            <a:r>
              <a:rPr lang="en-US" dirty="0"/>
              <a:t>The block is probably placed on different starting virtual address</a:t>
            </a:r>
          </a:p>
          <a:p>
            <a:r>
              <a:rPr lang="en-US" dirty="0"/>
              <a:t>Memory-mapped files</a:t>
            </a:r>
          </a:p>
          <a:p>
            <a:pPr lvl="1"/>
            <a:r>
              <a:rPr lang="en-US" dirty="0"/>
              <a:t>File as a backing store for paging</a:t>
            </a:r>
          </a:p>
          <a:p>
            <a:pPr lvl="1"/>
            <a:r>
              <a:rPr lang="en-US" dirty="0"/>
              <a:t>Direct access to the file content using CPU instructions</a:t>
            </a:r>
          </a:p>
          <a:p>
            <a:pPr lvl="1"/>
            <a:r>
              <a:rPr lang="en-US" dirty="0"/>
              <a:t>Problems with file size and with appending data</a:t>
            </a:r>
          </a:p>
        </p:txBody>
      </p:sp>
      <p:sp>
        <p:nvSpPr>
          <p:cNvPr id="7" name="Date Placeholder 6"/>
          <p:cNvSpPr>
            <a:spLocks noGrp="1"/>
          </p:cNvSpPr>
          <p:nvPr>
            <p:ph type="dt" sz="half" idx="10"/>
          </p:nvPr>
        </p:nvSpPr>
        <p:spPr/>
        <p:txBody>
          <a:bodyPr/>
          <a:lstStyle/>
          <a:p>
            <a:r>
              <a:rPr lang="cs-CZ" altLang="en-US"/>
              <a:t>17.4.2025</a:t>
            </a:r>
            <a:endParaRPr lang="en-US" altLang="en-US"/>
          </a:p>
        </p:txBody>
      </p:sp>
      <p:sp>
        <p:nvSpPr>
          <p:cNvPr id="8" name="Slide Number Placeholder 7"/>
          <p:cNvSpPr>
            <a:spLocks noGrp="1"/>
          </p:cNvSpPr>
          <p:nvPr>
            <p:ph type="sldNum" sz="quarter" idx="12"/>
          </p:nvPr>
        </p:nvSpPr>
        <p:spPr/>
        <p:txBody>
          <a:bodyPr/>
          <a:lstStyle/>
          <a:p>
            <a:fld id="{F4A1145F-674A-4228-8958-0EA9769F5517}" type="slidenum">
              <a:rPr lang="en-US" altLang="en-US" smtClean="0"/>
              <a:pPr/>
              <a:t>81</a:t>
            </a:fld>
            <a:endParaRPr lang="en-US" altLang="en-US"/>
          </a:p>
        </p:txBody>
      </p:sp>
      <p:sp>
        <p:nvSpPr>
          <p:cNvPr id="4" name="Rectangle 3"/>
          <p:cNvSpPr/>
          <p:nvPr/>
        </p:nvSpPr>
        <p:spPr bwMode="auto">
          <a:xfrm>
            <a:off x="2135560" y="4437112"/>
            <a:ext cx="648072" cy="1800200"/>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5" name="TextBox 4"/>
          <p:cNvSpPr txBox="1"/>
          <p:nvPr/>
        </p:nvSpPr>
        <p:spPr>
          <a:xfrm>
            <a:off x="2080871" y="3991126"/>
            <a:ext cx="661143" cy="369332"/>
          </a:xfrm>
          <a:prstGeom prst="rect">
            <a:avLst/>
          </a:prstGeom>
          <a:noFill/>
        </p:spPr>
        <p:txBody>
          <a:bodyPr wrap="none" rtlCol="0">
            <a:spAutoFit/>
          </a:bodyPr>
          <a:lstStyle/>
          <a:p>
            <a:r>
              <a:rPr lang="en-US">
                <a:latin typeface="+mn-lt"/>
              </a:rPr>
              <a:t>VAS1</a:t>
            </a:r>
          </a:p>
        </p:txBody>
      </p:sp>
      <p:sp>
        <p:nvSpPr>
          <p:cNvPr id="6" name="Rectangle 5"/>
          <p:cNvSpPr/>
          <p:nvPr/>
        </p:nvSpPr>
        <p:spPr bwMode="auto">
          <a:xfrm>
            <a:off x="2135560" y="4941168"/>
            <a:ext cx="648072" cy="504056"/>
          </a:xfrm>
          <a:prstGeom prst="rect">
            <a:avLst/>
          </a:prstGeom>
          <a:solidFill>
            <a:schemeClr val="accent6"/>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cxnSp>
        <p:nvCxnSpPr>
          <p:cNvPr id="11" name="Straight Connector 10"/>
          <p:cNvCxnSpPr/>
          <p:nvPr/>
        </p:nvCxnSpPr>
        <p:spPr bwMode="auto">
          <a:xfrm>
            <a:off x="1981200" y="5229200"/>
            <a:ext cx="874440"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sp>
        <p:nvSpPr>
          <p:cNvPr id="12" name="Rectangle 11"/>
          <p:cNvSpPr/>
          <p:nvPr/>
        </p:nvSpPr>
        <p:spPr bwMode="auto">
          <a:xfrm>
            <a:off x="3719736" y="4725144"/>
            <a:ext cx="648072" cy="1224136"/>
          </a:xfrm>
          <a:prstGeom prst="rect">
            <a:avLst/>
          </a:prstGeom>
          <a:solidFill>
            <a:schemeClr val="accent5">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13" name="TextBox 12"/>
          <p:cNvSpPr txBox="1"/>
          <p:nvPr/>
        </p:nvSpPr>
        <p:spPr>
          <a:xfrm>
            <a:off x="3729167" y="4340180"/>
            <a:ext cx="525144" cy="369332"/>
          </a:xfrm>
          <a:prstGeom prst="rect">
            <a:avLst/>
          </a:prstGeom>
          <a:noFill/>
        </p:spPr>
        <p:txBody>
          <a:bodyPr wrap="none" rtlCol="0">
            <a:spAutoFit/>
          </a:bodyPr>
          <a:lstStyle/>
          <a:p>
            <a:r>
              <a:rPr lang="en-US">
                <a:latin typeface="+mn-lt"/>
              </a:rPr>
              <a:t>PAS</a:t>
            </a:r>
          </a:p>
        </p:txBody>
      </p:sp>
      <p:sp>
        <p:nvSpPr>
          <p:cNvPr id="17" name="Rectangle 16"/>
          <p:cNvSpPr/>
          <p:nvPr/>
        </p:nvSpPr>
        <p:spPr bwMode="auto">
          <a:xfrm>
            <a:off x="3071664" y="5139190"/>
            <a:ext cx="432048" cy="378042"/>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cxnSp>
        <p:nvCxnSpPr>
          <p:cNvPr id="19" name="Straight Connector 18"/>
          <p:cNvCxnSpPr/>
          <p:nvPr/>
        </p:nvCxnSpPr>
        <p:spPr bwMode="auto">
          <a:xfrm>
            <a:off x="2135560" y="5157192"/>
            <a:ext cx="64807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1" name="Straight Connector 20"/>
          <p:cNvCxnSpPr/>
          <p:nvPr/>
        </p:nvCxnSpPr>
        <p:spPr bwMode="auto">
          <a:xfrm>
            <a:off x="2135560" y="5301208"/>
            <a:ext cx="64807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6" name="Straight Arrow Connector 25"/>
          <p:cNvCxnSpPr>
            <a:stCxn id="6" idx="3"/>
            <a:endCxn id="17" idx="1"/>
          </p:cNvCxnSpPr>
          <p:nvPr/>
        </p:nvCxnSpPr>
        <p:spPr bwMode="auto">
          <a:xfrm>
            <a:off x="2783632" y="5193197"/>
            <a:ext cx="288032" cy="13501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2" name="Rectangle 31"/>
          <p:cNvSpPr/>
          <p:nvPr/>
        </p:nvSpPr>
        <p:spPr bwMode="auto">
          <a:xfrm>
            <a:off x="3719736" y="5517232"/>
            <a:ext cx="648072" cy="144016"/>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cxnSp>
        <p:nvCxnSpPr>
          <p:cNvPr id="34" name="Straight Arrow Connector 33"/>
          <p:cNvCxnSpPr>
            <a:stCxn id="17" idx="3"/>
            <a:endCxn id="32" idx="1"/>
          </p:cNvCxnSpPr>
          <p:nvPr/>
        </p:nvCxnSpPr>
        <p:spPr bwMode="auto">
          <a:xfrm>
            <a:off x="3503712" y="5328212"/>
            <a:ext cx="216024" cy="26102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5" name="TextBox 34"/>
          <p:cNvSpPr txBox="1"/>
          <p:nvPr/>
        </p:nvSpPr>
        <p:spPr>
          <a:xfrm>
            <a:off x="2999657" y="4751857"/>
            <a:ext cx="531492" cy="369332"/>
          </a:xfrm>
          <a:prstGeom prst="rect">
            <a:avLst/>
          </a:prstGeom>
          <a:noFill/>
        </p:spPr>
        <p:txBody>
          <a:bodyPr wrap="none" rtlCol="0">
            <a:spAutoFit/>
          </a:bodyPr>
          <a:lstStyle/>
          <a:p>
            <a:r>
              <a:rPr lang="en-US">
                <a:latin typeface="+mn-lt"/>
              </a:rPr>
              <a:t>PT1</a:t>
            </a:r>
          </a:p>
        </p:txBody>
      </p:sp>
      <p:sp>
        <p:nvSpPr>
          <p:cNvPr id="36" name="Rectangle 35"/>
          <p:cNvSpPr/>
          <p:nvPr/>
        </p:nvSpPr>
        <p:spPr bwMode="auto">
          <a:xfrm>
            <a:off x="5303911" y="4437112"/>
            <a:ext cx="648072" cy="1800200"/>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37" name="TextBox 36"/>
          <p:cNvSpPr txBox="1"/>
          <p:nvPr/>
        </p:nvSpPr>
        <p:spPr>
          <a:xfrm>
            <a:off x="5249222" y="3991126"/>
            <a:ext cx="661143" cy="369332"/>
          </a:xfrm>
          <a:prstGeom prst="rect">
            <a:avLst/>
          </a:prstGeom>
          <a:noFill/>
        </p:spPr>
        <p:txBody>
          <a:bodyPr wrap="none" rtlCol="0">
            <a:spAutoFit/>
          </a:bodyPr>
          <a:lstStyle/>
          <a:p>
            <a:r>
              <a:rPr lang="en-US">
                <a:latin typeface="+mn-lt"/>
              </a:rPr>
              <a:t>VAS2</a:t>
            </a:r>
          </a:p>
        </p:txBody>
      </p:sp>
      <p:sp>
        <p:nvSpPr>
          <p:cNvPr id="38" name="Rectangle 37"/>
          <p:cNvSpPr/>
          <p:nvPr/>
        </p:nvSpPr>
        <p:spPr bwMode="auto">
          <a:xfrm>
            <a:off x="5303911" y="5517232"/>
            <a:ext cx="648072" cy="504056"/>
          </a:xfrm>
          <a:prstGeom prst="rect">
            <a:avLst/>
          </a:prstGeom>
          <a:solidFill>
            <a:schemeClr val="accent6"/>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cxnSp>
        <p:nvCxnSpPr>
          <p:cNvPr id="39" name="Straight Connector 38"/>
          <p:cNvCxnSpPr/>
          <p:nvPr/>
        </p:nvCxnSpPr>
        <p:spPr bwMode="auto">
          <a:xfrm>
            <a:off x="5169556" y="5805264"/>
            <a:ext cx="874440"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40" name="Straight Connector 39"/>
          <p:cNvCxnSpPr/>
          <p:nvPr/>
        </p:nvCxnSpPr>
        <p:spPr bwMode="auto">
          <a:xfrm>
            <a:off x="5303911" y="5733256"/>
            <a:ext cx="64807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1" name="Straight Connector 40"/>
          <p:cNvCxnSpPr/>
          <p:nvPr/>
        </p:nvCxnSpPr>
        <p:spPr bwMode="auto">
          <a:xfrm>
            <a:off x="5303911" y="5877272"/>
            <a:ext cx="64807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3" name="Rectangle 42"/>
          <p:cNvSpPr/>
          <p:nvPr/>
        </p:nvSpPr>
        <p:spPr bwMode="auto">
          <a:xfrm>
            <a:off x="4603153" y="5139190"/>
            <a:ext cx="432048" cy="378042"/>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44" name="TextBox 43"/>
          <p:cNvSpPr txBox="1"/>
          <p:nvPr/>
        </p:nvSpPr>
        <p:spPr>
          <a:xfrm>
            <a:off x="4531146" y="4751857"/>
            <a:ext cx="531492" cy="369332"/>
          </a:xfrm>
          <a:prstGeom prst="rect">
            <a:avLst/>
          </a:prstGeom>
          <a:noFill/>
        </p:spPr>
        <p:txBody>
          <a:bodyPr wrap="none" rtlCol="0">
            <a:spAutoFit/>
          </a:bodyPr>
          <a:lstStyle/>
          <a:p>
            <a:r>
              <a:rPr lang="en-US">
                <a:latin typeface="+mn-lt"/>
              </a:rPr>
              <a:t>PT2</a:t>
            </a:r>
          </a:p>
        </p:txBody>
      </p:sp>
      <p:cxnSp>
        <p:nvCxnSpPr>
          <p:cNvPr id="46" name="Straight Arrow Connector 45"/>
          <p:cNvCxnSpPr>
            <a:stCxn id="43" idx="1"/>
            <a:endCxn id="32" idx="3"/>
          </p:cNvCxnSpPr>
          <p:nvPr/>
        </p:nvCxnSpPr>
        <p:spPr bwMode="auto">
          <a:xfrm flipH="1">
            <a:off x="4367809" y="5328212"/>
            <a:ext cx="235345" cy="26102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8" name="Straight Arrow Connector 47"/>
          <p:cNvCxnSpPr>
            <a:stCxn id="38" idx="1"/>
            <a:endCxn id="43" idx="3"/>
          </p:cNvCxnSpPr>
          <p:nvPr/>
        </p:nvCxnSpPr>
        <p:spPr bwMode="auto">
          <a:xfrm flipH="1" flipV="1">
            <a:off x="5035201" y="5328212"/>
            <a:ext cx="268710" cy="44104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9" name="Rectangle 48"/>
          <p:cNvSpPr/>
          <p:nvPr/>
        </p:nvSpPr>
        <p:spPr bwMode="auto">
          <a:xfrm>
            <a:off x="9616767" y="4257092"/>
            <a:ext cx="648072" cy="1800200"/>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50" name="TextBox 49"/>
          <p:cNvSpPr txBox="1"/>
          <p:nvPr/>
        </p:nvSpPr>
        <p:spPr>
          <a:xfrm>
            <a:off x="9659310" y="3820398"/>
            <a:ext cx="544123" cy="369332"/>
          </a:xfrm>
          <a:prstGeom prst="rect">
            <a:avLst/>
          </a:prstGeom>
          <a:noFill/>
        </p:spPr>
        <p:txBody>
          <a:bodyPr wrap="none" rtlCol="0">
            <a:spAutoFit/>
          </a:bodyPr>
          <a:lstStyle/>
          <a:p>
            <a:r>
              <a:rPr lang="en-US" dirty="0">
                <a:latin typeface="+mn-lt"/>
              </a:rPr>
              <a:t>VAS</a:t>
            </a:r>
          </a:p>
        </p:txBody>
      </p:sp>
      <p:sp>
        <p:nvSpPr>
          <p:cNvPr id="51" name="Rectangle 50"/>
          <p:cNvSpPr/>
          <p:nvPr/>
        </p:nvSpPr>
        <p:spPr bwMode="auto">
          <a:xfrm>
            <a:off x="9616767" y="4761148"/>
            <a:ext cx="648072" cy="504056"/>
          </a:xfrm>
          <a:prstGeom prst="rect">
            <a:avLst/>
          </a:prstGeom>
          <a:solidFill>
            <a:schemeClr val="accent6"/>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cxnSp>
        <p:nvCxnSpPr>
          <p:cNvPr id="52" name="Straight Connector 51"/>
          <p:cNvCxnSpPr/>
          <p:nvPr/>
        </p:nvCxnSpPr>
        <p:spPr bwMode="auto">
          <a:xfrm>
            <a:off x="9494152" y="5048012"/>
            <a:ext cx="874440"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53" name="Straight Connector 52"/>
          <p:cNvCxnSpPr/>
          <p:nvPr/>
        </p:nvCxnSpPr>
        <p:spPr bwMode="auto">
          <a:xfrm>
            <a:off x="9616767" y="4977172"/>
            <a:ext cx="64807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4" name="Straight Connector 53"/>
          <p:cNvCxnSpPr/>
          <p:nvPr/>
        </p:nvCxnSpPr>
        <p:spPr bwMode="auto">
          <a:xfrm>
            <a:off x="9616767" y="5121188"/>
            <a:ext cx="64807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62" name="Rectangle 61"/>
          <p:cNvSpPr/>
          <p:nvPr/>
        </p:nvSpPr>
        <p:spPr bwMode="auto">
          <a:xfrm>
            <a:off x="8208876" y="3969060"/>
            <a:ext cx="648072" cy="2448272"/>
          </a:xfrm>
          <a:prstGeom prst="rect">
            <a:avLst/>
          </a:prstGeom>
          <a:solidFill>
            <a:schemeClr val="accent4">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63" name="TextBox 62"/>
          <p:cNvSpPr txBox="1"/>
          <p:nvPr/>
        </p:nvSpPr>
        <p:spPr>
          <a:xfrm>
            <a:off x="8254631" y="3585762"/>
            <a:ext cx="511679" cy="369332"/>
          </a:xfrm>
          <a:prstGeom prst="rect">
            <a:avLst/>
          </a:prstGeom>
          <a:noFill/>
        </p:spPr>
        <p:txBody>
          <a:bodyPr wrap="none" rtlCol="0">
            <a:spAutoFit/>
          </a:bodyPr>
          <a:lstStyle/>
          <a:p>
            <a:r>
              <a:rPr lang="en-US">
                <a:latin typeface="+mn-lt"/>
              </a:rPr>
              <a:t>File</a:t>
            </a:r>
          </a:p>
        </p:txBody>
      </p:sp>
      <p:sp>
        <p:nvSpPr>
          <p:cNvPr id="65" name="Rectangle 64"/>
          <p:cNvSpPr/>
          <p:nvPr/>
        </p:nvSpPr>
        <p:spPr bwMode="auto">
          <a:xfrm>
            <a:off x="8208876" y="4319809"/>
            <a:ext cx="648072" cy="504056"/>
          </a:xfrm>
          <a:prstGeom prst="rect">
            <a:avLst/>
          </a:prstGeom>
          <a:solidFill>
            <a:schemeClr val="accent6"/>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cxnSp>
        <p:nvCxnSpPr>
          <p:cNvPr id="66" name="Straight Connector 65"/>
          <p:cNvCxnSpPr/>
          <p:nvPr/>
        </p:nvCxnSpPr>
        <p:spPr bwMode="auto">
          <a:xfrm>
            <a:off x="8086261" y="4606673"/>
            <a:ext cx="874440"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67" name="Straight Connector 66"/>
          <p:cNvCxnSpPr/>
          <p:nvPr/>
        </p:nvCxnSpPr>
        <p:spPr bwMode="auto">
          <a:xfrm>
            <a:off x="8208876" y="4535833"/>
            <a:ext cx="64807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8" name="Straight Connector 67"/>
          <p:cNvCxnSpPr/>
          <p:nvPr/>
        </p:nvCxnSpPr>
        <p:spPr bwMode="auto">
          <a:xfrm>
            <a:off x="8208876" y="4679849"/>
            <a:ext cx="64807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0" name="Straight Connector 69"/>
          <p:cNvCxnSpPr/>
          <p:nvPr/>
        </p:nvCxnSpPr>
        <p:spPr bwMode="auto">
          <a:xfrm>
            <a:off x="8856949" y="4319810"/>
            <a:ext cx="759819" cy="441339"/>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72" name="Straight Connector 71"/>
          <p:cNvCxnSpPr/>
          <p:nvPr/>
        </p:nvCxnSpPr>
        <p:spPr bwMode="auto">
          <a:xfrm>
            <a:off x="8856949" y="4820361"/>
            <a:ext cx="759819" cy="440783"/>
          </a:xfrm>
          <a:prstGeom prst="line">
            <a:avLst/>
          </a:prstGeom>
          <a:solidFill>
            <a:schemeClr val="accent1"/>
          </a:solidFill>
          <a:ln w="9525" cap="flat" cmpd="sng" algn="ctr">
            <a:solidFill>
              <a:schemeClr val="tx1"/>
            </a:solidFill>
            <a:prstDash val="lgDash"/>
            <a:round/>
            <a:headEnd type="none" w="med" len="med"/>
            <a:tailEnd type="none" w="med" len="med"/>
          </a:ln>
          <a:effectLst/>
        </p:spPr>
      </p:cxnSp>
    </p:spTree>
    <p:extLst>
      <p:ext uri="{BB962C8B-B14F-4D97-AF65-F5344CB8AC3E}">
        <p14:creationId xmlns:p14="http://schemas.microsoft.com/office/powerpoint/2010/main" val="306867101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Virtual machine and containers</a:t>
            </a:r>
          </a:p>
        </p:txBody>
      </p:sp>
      <p:sp>
        <p:nvSpPr>
          <p:cNvPr id="3" name="Content Placeholder 2"/>
          <p:cNvSpPr>
            <a:spLocks noGrp="1"/>
          </p:cNvSpPr>
          <p:nvPr>
            <p:ph idx="1"/>
          </p:nvPr>
        </p:nvSpPr>
        <p:spPr/>
        <p:txBody>
          <a:bodyPr>
            <a:normAutofit fontScale="92500" lnSpcReduction="20000"/>
          </a:bodyPr>
          <a:lstStyle/>
          <a:p>
            <a:r>
              <a:rPr lang="en-US" dirty="0"/>
              <a:t>VM = Emulation of a computer system</a:t>
            </a:r>
          </a:p>
          <a:p>
            <a:pPr lvl="1"/>
            <a:r>
              <a:rPr lang="en-US" dirty="0"/>
              <a:t>Full virtualization</a:t>
            </a:r>
          </a:p>
          <a:p>
            <a:pPr lvl="2"/>
            <a:r>
              <a:rPr lang="en-US" dirty="0"/>
              <a:t>Substitute for a real machine, allows execution of entire OS</a:t>
            </a:r>
          </a:p>
          <a:p>
            <a:pPr lvl="2"/>
            <a:r>
              <a:rPr lang="en-US" dirty="0"/>
              <a:t>Hypervisor shares real HW, native execution, virtual HW</a:t>
            </a:r>
          </a:p>
          <a:p>
            <a:pPr lvl="2"/>
            <a:r>
              <a:rPr lang="en-US" dirty="0"/>
              <a:t>Isolation, encapsulation, compatibility</a:t>
            </a:r>
          </a:p>
          <a:p>
            <a:pPr lvl="1"/>
            <a:r>
              <a:rPr lang="en-US" dirty="0"/>
              <a:t>Process VM</a:t>
            </a:r>
          </a:p>
          <a:p>
            <a:pPr lvl="2"/>
            <a:r>
              <a:rPr lang="en-US" dirty="0"/>
              <a:t>Runs as an application inside OS</a:t>
            </a:r>
          </a:p>
          <a:p>
            <a:pPr lvl="2"/>
            <a:r>
              <a:rPr lang="en-US" dirty="0"/>
              <a:t>Provides platform-independent programming environment</a:t>
            </a:r>
          </a:p>
          <a:p>
            <a:pPr lvl="3"/>
            <a:r>
              <a:rPr lang="en-US" dirty="0"/>
              <a:t>Abstract machine (instructions, memory, registers, …)</a:t>
            </a:r>
          </a:p>
          <a:p>
            <a:pPr lvl="3"/>
            <a:r>
              <a:rPr lang="en-US" dirty="0"/>
              <a:t>Java VM, .NET CLR</a:t>
            </a:r>
          </a:p>
          <a:p>
            <a:pPr lvl="2"/>
            <a:r>
              <a:rPr lang="en-US" dirty="0"/>
              <a:t>Slow execution</a:t>
            </a:r>
          </a:p>
          <a:p>
            <a:pPr lvl="3"/>
            <a:r>
              <a:rPr lang="en-US" dirty="0"/>
              <a:t>JIT, AOT</a:t>
            </a:r>
          </a:p>
          <a:p>
            <a:r>
              <a:rPr lang="en-US" dirty="0"/>
              <a:t>Container = OS-level virtualization</a:t>
            </a:r>
          </a:p>
          <a:p>
            <a:pPr lvl="1"/>
            <a:r>
              <a:rPr lang="en-US" dirty="0"/>
              <a:t>OS kernel allows existence of multiple isolated user space instances</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82</a:t>
            </a:fld>
            <a:endParaRPr lang="en-US" altLang="en-US"/>
          </a:p>
        </p:txBody>
      </p:sp>
    </p:spTree>
    <p:extLst>
      <p:ext uri="{BB962C8B-B14F-4D97-AF65-F5344CB8AC3E}">
        <p14:creationId xmlns:p14="http://schemas.microsoft.com/office/powerpoint/2010/main" val="344289357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Physical machine</a:t>
            </a:r>
            <a:endParaRPr lang="cs-CZ"/>
          </a:p>
        </p:txBody>
      </p:sp>
      <p:sp>
        <p:nvSpPr>
          <p:cNvPr id="3" name="Content Placeholder 2"/>
          <p:cNvSpPr>
            <a:spLocks noGrp="1"/>
          </p:cNvSpPr>
          <p:nvPr>
            <p:ph idx="1"/>
          </p:nvPr>
        </p:nvSpPr>
        <p:spPr>
          <a:xfrm>
            <a:off x="6890327" y="1988841"/>
            <a:ext cx="4463473" cy="4142084"/>
          </a:xfrm>
        </p:spPr>
        <p:txBody>
          <a:bodyPr/>
          <a:lstStyle/>
          <a:p>
            <a:r>
              <a:rPr lang="en-US" dirty="0"/>
              <a:t>Physical HW</a:t>
            </a:r>
          </a:p>
          <a:p>
            <a:pPr lvl="1"/>
            <a:r>
              <a:rPr lang="en-US" dirty="0"/>
              <a:t>CPU, RAM, disks, I/O</a:t>
            </a:r>
          </a:p>
          <a:p>
            <a:pPr lvl="1"/>
            <a:r>
              <a:rPr lang="en-US" dirty="0"/>
              <a:t>Underutilized HW</a:t>
            </a:r>
          </a:p>
          <a:p>
            <a:r>
              <a:rPr lang="en-US" dirty="0"/>
              <a:t>SW</a:t>
            </a:r>
          </a:p>
          <a:p>
            <a:pPr lvl="1"/>
            <a:r>
              <a:rPr lang="en-US" dirty="0"/>
              <a:t>Single active OS</a:t>
            </a:r>
          </a:p>
          <a:p>
            <a:pPr lvl="1"/>
            <a:r>
              <a:rPr lang="en-US" dirty="0"/>
              <a:t>OS controls HW</a:t>
            </a:r>
            <a:endParaRPr lang="cs-CZ" dirty="0"/>
          </a:p>
        </p:txBody>
      </p:sp>
      <p:pic>
        <p:nvPicPr>
          <p:cNvPr id="20482" name="Picture 2"/>
          <p:cNvPicPr>
            <a:picLocks noChangeAspect="1" noChangeArrowheads="1"/>
          </p:cNvPicPr>
          <p:nvPr/>
        </p:nvPicPr>
        <p:blipFill>
          <a:blip r:embed="rId2" cstate="print"/>
          <a:srcRect/>
          <a:stretch>
            <a:fillRect/>
          </a:stretch>
        </p:blipFill>
        <p:spPr bwMode="auto">
          <a:xfrm>
            <a:off x="1360078" y="1988841"/>
            <a:ext cx="4442643" cy="3567007"/>
          </a:xfrm>
          <a:prstGeom prst="rect">
            <a:avLst/>
          </a:prstGeom>
          <a:noFill/>
          <a:ln w="9525">
            <a:noFill/>
            <a:miter lim="800000"/>
            <a:headEnd/>
            <a:tailEnd/>
          </a:ln>
        </p:spPr>
      </p:pic>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83</a:t>
            </a:fld>
            <a:endParaRPr lang="en-US" altLang="en-US"/>
          </a:p>
        </p:txBody>
      </p:sp>
    </p:spTree>
    <p:extLst>
      <p:ext uri="{BB962C8B-B14F-4D97-AF65-F5344CB8AC3E}">
        <p14:creationId xmlns:p14="http://schemas.microsoft.com/office/powerpoint/2010/main" val="254671750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Virtual machine</a:t>
            </a:r>
            <a:endParaRPr lang="cs-CZ"/>
          </a:p>
        </p:txBody>
      </p:sp>
      <p:sp>
        <p:nvSpPr>
          <p:cNvPr id="3" name="Content Placeholder 2"/>
          <p:cNvSpPr>
            <a:spLocks noGrp="1"/>
          </p:cNvSpPr>
          <p:nvPr>
            <p:ph idx="1"/>
          </p:nvPr>
        </p:nvSpPr>
        <p:spPr>
          <a:xfrm>
            <a:off x="6354618" y="1719263"/>
            <a:ext cx="4999182" cy="4411662"/>
          </a:xfrm>
        </p:spPr>
        <p:txBody>
          <a:bodyPr>
            <a:normAutofit lnSpcReduction="10000"/>
          </a:bodyPr>
          <a:lstStyle/>
          <a:p>
            <a:r>
              <a:rPr lang="en-US" dirty="0"/>
              <a:t>HW-level abstraction</a:t>
            </a:r>
          </a:p>
          <a:p>
            <a:pPr lvl="1"/>
            <a:r>
              <a:rPr lang="en-US" dirty="0"/>
              <a:t>Virtual HW: CPU, RAM, disks, I/O</a:t>
            </a:r>
          </a:p>
          <a:p>
            <a:r>
              <a:rPr lang="en-US" dirty="0"/>
              <a:t>Virtualization SW</a:t>
            </a:r>
          </a:p>
          <a:p>
            <a:pPr lvl="1"/>
            <a:r>
              <a:rPr lang="en-US" dirty="0"/>
              <a:t>Decouples HW and OS</a:t>
            </a:r>
          </a:p>
          <a:p>
            <a:pPr lvl="1"/>
            <a:r>
              <a:rPr lang="en-US" dirty="0"/>
              <a:t>Multiplexes physical HW across multiple guest VMs</a:t>
            </a:r>
          </a:p>
          <a:p>
            <a:pPr lvl="1"/>
            <a:r>
              <a:rPr lang="en-US" dirty="0"/>
              <a:t>Strong isolation between VMs</a:t>
            </a:r>
          </a:p>
          <a:p>
            <a:pPr lvl="1"/>
            <a:r>
              <a:rPr lang="en-US" dirty="0"/>
              <a:t>Manages physical resources, improves utilization</a:t>
            </a:r>
          </a:p>
          <a:p>
            <a:pPr lvl="1"/>
            <a:r>
              <a:rPr lang="en-US" dirty="0"/>
              <a:t>Encapsulation – VM represented as a set of files, can be easily distributed</a:t>
            </a:r>
            <a:endParaRPr lang="cs-CZ" dirty="0"/>
          </a:p>
        </p:txBody>
      </p:sp>
      <p:pic>
        <p:nvPicPr>
          <p:cNvPr id="21506" name="Picture 2"/>
          <p:cNvPicPr>
            <a:picLocks noChangeAspect="1" noChangeArrowheads="1"/>
          </p:cNvPicPr>
          <p:nvPr/>
        </p:nvPicPr>
        <p:blipFill>
          <a:blip r:embed="rId2" cstate="print"/>
          <a:srcRect/>
          <a:stretch>
            <a:fillRect/>
          </a:stretch>
        </p:blipFill>
        <p:spPr bwMode="auto">
          <a:xfrm>
            <a:off x="1557877" y="1854060"/>
            <a:ext cx="4047046" cy="3816424"/>
          </a:xfrm>
          <a:prstGeom prst="rect">
            <a:avLst/>
          </a:prstGeom>
          <a:noFill/>
          <a:ln w="9525">
            <a:noFill/>
            <a:miter lim="800000"/>
            <a:headEnd/>
            <a:tailEnd/>
          </a:ln>
        </p:spPr>
      </p:pic>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84</a:t>
            </a:fld>
            <a:endParaRPr lang="en-US" altLang="en-US"/>
          </a:p>
        </p:txBody>
      </p:sp>
    </p:spTree>
    <p:extLst>
      <p:ext uri="{BB962C8B-B14F-4D97-AF65-F5344CB8AC3E}">
        <p14:creationId xmlns:p14="http://schemas.microsoft.com/office/powerpoint/2010/main" val="160982292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Discussion</a:t>
            </a:r>
          </a:p>
        </p:txBody>
      </p:sp>
      <p:sp>
        <p:nvSpPr>
          <p:cNvPr id="4" name="Date Placeholder 3"/>
          <p:cNvSpPr>
            <a:spLocks noGrp="1"/>
          </p:cNvSpPr>
          <p:nvPr>
            <p:ph type="dt" sz="half" idx="10"/>
          </p:nvPr>
        </p:nvSpPr>
        <p:spPr/>
        <p:txBody>
          <a:bodyPr/>
          <a:lstStyle/>
          <a:p>
            <a:r>
              <a:rPr lang="cs-CZ" altLang="en-US"/>
              <a:t>17.4.2025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85</a:t>
            </a:fld>
            <a:endParaRPr lang="en-US" altLang="en-US"/>
          </a:p>
        </p:txBody>
      </p:sp>
      <p:pic>
        <p:nvPicPr>
          <p:cNvPr id="6" name="Picture 7" descr="http://www.peirnet.net/moodle/file.php/1/face_question_mark.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1439" y="1865610"/>
            <a:ext cx="4315817" cy="4315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7208177"/>
      </p:ext>
    </p:extLst>
  </p:cSld>
  <p:clrMapOvr>
    <a:masterClrMapping/>
  </p:clrMapOvr>
</p:sld>
</file>

<file path=ppt/theme/theme1.xml><?xml version="1.0" encoding="utf-8"?>
<a:theme xmlns:a="http://schemas.openxmlformats.org/drawingml/2006/main" name="kuba">
  <a:themeElements>
    <a:clrScheme name="kuba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kub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kuba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kuba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kuba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kuba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kuba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kuba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kuba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kuba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kuba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kuba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slides-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lides-theme" id="{B506BBAE-7B29-471E-98D8-11EBE1E364B1}" vid="{D89F9550-F518-42A1-84C0-A3FA72197ECD}"/>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F672D1A12B65B47AC1B61537578BD28" ma:contentTypeVersion="12" ma:contentTypeDescription="Create a new document." ma:contentTypeScope="" ma:versionID="5a82d84582cde9052097bd1b0cc75dba">
  <xsd:schema xmlns:xsd="http://www.w3.org/2001/XMLSchema" xmlns:xs="http://www.w3.org/2001/XMLSchema" xmlns:p="http://schemas.microsoft.com/office/2006/metadata/properties" xmlns:ns2="1c0ec0c6-5c42-41c6-8024-9200e69c8a29" xmlns:ns3="2fd21476-4047-415c-8b38-5026f9093e44" targetNamespace="http://schemas.microsoft.com/office/2006/metadata/properties" ma:root="true" ma:fieldsID="3fcc552a00055e6511e078b2ffb69500" ns2:_="" ns3:_="">
    <xsd:import namespace="1c0ec0c6-5c42-41c6-8024-9200e69c8a29"/>
    <xsd:import namespace="2fd21476-4047-415c-8b38-5026f9093e4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ObjectDetectorVersions" minOccurs="0"/>
                <xsd:element ref="ns2:MediaServiceSearchPropertie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0ec0c6-5c42-41c6-8024-9200e69c8a2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fd21476-4047-415c-8b38-5026f9093e4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9855139-8BAF-4B8D-9AA1-34319BD61955}">
  <ds:schemaRefs>
    <ds:schemaRef ds:uri="http://purl.org/dc/terms/"/>
    <ds:schemaRef ds:uri="1c0ec0c6-5c42-41c6-8024-9200e69c8a29"/>
    <ds:schemaRef ds:uri="http://schemas.microsoft.com/office/2006/metadata/properties"/>
    <ds:schemaRef ds:uri="http://schemas.openxmlformats.org/package/2006/metadata/core-properties"/>
    <ds:schemaRef ds:uri="http://www.w3.org/XML/1998/namespace"/>
    <ds:schemaRef ds:uri="http://purl.org/dc/dcmitype/"/>
    <ds:schemaRef ds:uri="http://schemas.microsoft.com/office/2006/documentManagement/types"/>
    <ds:schemaRef ds:uri="http://purl.org/dc/elements/1.1/"/>
    <ds:schemaRef ds:uri="http://schemas.microsoft.com/office/infopath/2007/PartnerControls"/>
    <ds:schemaRef ds:uri="2fd21476-4047-415c-8b38-5026f9093e44"/>
  </ds:schemaRefs>
</ds:datastoreItem>
</file>

<file path=customXml/itemProps2.xml><?xml version="1.0" encoding="utf-8"?>
<ds:datastoreItem xmlns:ds="http://schemas.openxmlformats.org/officeDocument/2006/customXml" ds:itemID="{10E2CCF7-1CDC-4681-85C0-A382C85C306E}">
  <ds:schemaRefs>
    <ds:schemaRef ds:uri="http://schemas.microsoft.com/sharepoint/v3/contenttype/forms"/>
  </ds:schemaRefs>
</ds:datastoreItem>
</file>

<file path=customXml/itemProps3.xml><?xml version="1.0" encoding="utf-8"?>
<ds:datastoreItem xmlns:ds="http://schemas.openxmlformats.org/officeDocument/2006/customXml" ds:itemID="{50DB3BFC-C05B-4D66-8B2E-E7037B35B2F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c0ec0c6-5c42-41c6-8024-9200e69c8a29"/>
    <ds:schemaRef ds:uri="2fd21476-4047-415c-8b38-5026f9093e4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7389</TotalTime>
  <Words>7734</Words>
  <Application>Microsoft Office PowerPoint</Application>
  <PresentationFormat>Širokoúhlá obrazovka</PresentationFormat>
  <Paragraphs>1559</Paragraphs>
  <Slides>85</Slides>
  <Notes>28</Notes>
  <HiddenSlides>0</HiddenSlides>
  <MMClips>0</MMClips>
  <ScaleCrop>false</ScaleCrop>
  <HeadingPairs>
    <vt:vector size="6" baseType="variant">
      <vt:variant>
        <vt:lpstr>Použitá písma</vt:lpstr>
      </vt:variant>
      <vt:variant>
        <vt:i4>5</vt:i4>
      </vt:variant>
      <vt:variant>
        <vt:lpstr>Motiv</vt:lpstr>
      </vt:variant>
      <vt:variant>
        <vt:i4>2</vt:i4>
      </vt:variant>
      <vt:variant>
        <vt:lpstr>Nadpisy snímků</vt:lpstr>
      </vt:variant>
      <vt:variant>
        <vt:i4>85</vt:i4>
      </vt:variant>
    </vt:vector>
  </HeadingPairs>
  <TitlesOfParts>
    <vt:vector size="92" baseType="lpstr">
      <vt:lpstr>Wingdings</vt:lpstr>
      <vt:lpstr>Calibri Light</vt:lpstr>
      <vt:lpstr>Arial</vt:lpstr>
      <vt:lpstr>Calibri</vt:lpstr>
      <vt:lpstr>Courier New</vt:lpstr>
      <vt:lpstr>kuba</vt:lpstr>
      <vt:lpstr>slides-theme</vt:lpstr>
      <vt:lpstr>Operating Systems</vt:lpstr>
      <vt:lpstr>Yaghob to Kruliš: No more kitten memes or you’re dead…</vt:lpstr>
      <vt:lpstr>Operating system – role</vt:lpstr>
      <vt:lpstr>CPU modes</vt:lpstr>
      <vt:lpstr>Kernel mode example</vt:lpstr>
      <vt:lpstr>Strace example</vt:lpstr>
      <vt:lpstr>Architecture – monolithic</vt:lpstr>
      <vt:lpstr>Architecture – layered</vt:lpstr>
      <vt:lpstr>Architecture – microkernel</vt:lpstr>
      <vt:lpstr>Linux kernel architecture</vt:lpstr>
      <vt:lpstr>Windows kernel architecture</vt:lpstr>
      <vt:lpstr>Devices</vt:lpstr>
      <vt:lpstr>Devices topology</vt:lpstr>
      <vt:lpstr>Device communication</vt:lpstr>
      <vt:lpstr>Device handling</vt:lpstr>
      <vt:lpstr>Example – PIO disk handling</vt:lpstr>
      <vt:lpstr>Device intercommunication</vt:lpstr>
      <vt:lpstr>Interrupt types</vt:lpstr>
      <vt:lpstr>x86 Exceptions</vt:lpstr>
      <vt:lpstr>Interrupt request handling</vt:lpstr>
      <vt:lpstr>Processing</vt:lpstr>
      <vt:lpstr>Process vs. Thread</vt:lpstr>
      <vt:lpstr>Creating a process</vt:lpstr>
      <vt:lpstr>Parent-child process relation</vt:lpstr>
      <vt:lpstr>Creating a thread</vt:lpstr>
      <vt:lpstr>Processing</vt:lpstr>
      <vt:lpstr>Processing</vt:lpstr>
      <vt:lpstr>Real-time scheduling</vt:lpstr>
      <vt:lpstr>Unit of scheduling state</vt:lpstr>
      <vt:lpstr>Multitasking</vt:lpstr>
      <vt:lpstr>Scheduling</vt:lpstr>
      <vt:lpstr>Scheduling – priority</vt:lpstr>
      <vt:lpstr>Scheduling</vt:lpstr>
      <vt:lpstr>Scheduling algorithms – non-preemptive</vt:lpstr>
      <vt:lpstr>Scheduling algorithms – preemptive</vt:lpstr>
      <vt:lpstr>Scheduling algorithms – preemptive</vt:lpstr>
      <vt:lpstr>Scheduling algorithms - preemptive</vt:lpstr>
      <vt:lpstr>Inter-Process Communication</vt:lpstr>
      <vt:lpstr>File</vt:lpstr>
      <vt:lpstr>File operations</vt:lpstr>
      <vt:lpstr>File operations</vt:lpstr>
      <vt:lpstr>File attributes</vt:lpstr>
      <vt:lpstr>File directory</vt:lpstr>
      <vt:lpstr>File directory example</vt:lpstr>
      <vt:lpstr>File storage</vt:lpstr>
      <vt:lpstr>File links</vt:lpstr>
      <vt:lpstr>File system</vt:lpstr>
      <vt:lpstr>FAT</vt:lpstr>
      <vt:lpstr>Ext2</vt:lpstr>
      <vt:lpstr>Ext2</vt:lpstr>
      <vt:lpstr>Hard disc mechanics</vt:lpstr>
      <vt:lpstr>Disk scheduling algorithms</vt:lpstr>
      <vt:lpstr>Disk scheduling algorithms</vt:lpstr>
      <vt:lpstr>Disk scheduling algorithms</vt:lpstr>
      <vt:lpstr>Disk scheduling algorithms</vt:lpstr>
      <vt:lpstr>Disk scheduling algorithms</vt:lpstr>
      <vt:lpstr>Disk scheduling algorithms</vt:lpstr>
      <vt:lpstr>Solid state disk</vt:lpstr>
      <vt:lpstr>Solid state disk</vt:lpstr>
      <vt:lpstr>Solid state disk</vt:lpstr>
      <vt:lpstr>File system(s) on HDD(s)</vt:lpstr>
      <vt:lpstr>Virtual memory</vt:lpstr>
      <vt:lpstr>Virtual memory</vt:lpstr>
      <vt:lpstr>Virtual memory</vt:lpstr>
      <vt:lpstr>Segmentation</vt:lpstr>
      <vt:lpstr>Segmentation</vt:lpstr>
      <vt:lpstr>Paging</vt:lpstr>
      <vt:lpstr>Paging</vt:lpstr>
      <vt:lpstr>Page table – 1-level</vt:lpstr>
      <vt:lpstr>Page table – problems</vt:lpstr>
      <vt:lpstr>Page table – 2-level</vt:lpstr>
      <vt:lpstr>Example/Exercise</vt:lpstr>
      <vt:lpstr>Page table – real AMD64 example</vt:lpstr>
      <vt:lpstr>Paging – address translation</vt:lpstr>
      <vt:lpstr>Paging – page fault exception handling</vt:lpstr>
      <vt:lpstr>Page replacement algorithms</vt:lpstr>
      <vt:lpstr>Page replacement algorithms</vt:lpstr>
      <vt:lpstr>Page replacement algorithms</vt:lpstr>
      <vt:lpstr>Page replacement algorithms</vt:lpstr>
      <vt:lpstr>Page replacement algorithms</vt:lpstr>
      <vt:lpstr>Advanced paging</vt:lpstr>
      <vt:lpstr>Virtual machine and containers</vt:lpstr>
      <vt:lpstr>Physical machine</vt:lpstr>
      <vt:lpstr>Virtual machine</vt:lpstr>
      <vt:lpstr>Discussion</vt:lpstr>
    </vt:vector>
  </TitlesOfParts>
  <Company>Ulita, KSI, MFF UK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Principy překladačů</dc:title>
  <dc:creator>Jakub Yaghob</dc:creator>
  <cp:lastModifiedBy>Petr Ježek</cp:lastModifiedBy>
  <cp:revision>213</cp:revision>
  <dcterms:created xsi:type="dcterms:W3CDTF">2005-09-28T09:53:52Z</dcterms:created>
  <dcterms:modified xsi:type="dcterms:W3CDTF">2025-06-05T12:33:10Z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0x010100CF672D1A12B65B47AC1B61537578BD28</vt:lpwstr>
  </property>
</Properties>
</file>