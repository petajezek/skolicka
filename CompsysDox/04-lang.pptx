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4"/>
    <p:sldMasterId id="2147483661" r:id="rId5"/>
  </p:sldMasterIdLst>
  <p:notesMasterIdLst>
    <p:notesMasterId r:id="rId37"/>
  </p:notesMasterIdLst>
  <p:sldIdLst>
    <p:sldId id="256" r:id="rId6"/>
    <p:sldId id="257" r:id="rId7"/>
    <p:sldId id="260" r:id="rId8"/>
    <p:sldId id="259" r:id="rId9"/>
    <p:sldId id="261" r:id="rId10"/>
    <p:sldId id="284" r:id="rId11"/>
    <p:sldId id="285" r:id="rId12"/>
    <p:sldId id="262" r:id="rId13"/>
    <p:sldId id="280" r:id="rId14"/>
    <p:sldId id="281" r:id="rId15"/>
    <p:sldId id="282" r:id="rId16"/>
    <p:sldId id="283" r:id="rId17"/>
    <p:sldId id="263" r:id="rId18"/>
    <p:sldId id="264" r:id="rId19"/>
    <p:sldId id="286" r:id="rId20"/>
    <p:sldId id="287" r:id="rId21"/>
    <p:sldId id="289" r:id="rId22"/>
    <p:sldId id="288" r:id="rId23"/>
    <p:sldId id="274" r:id="rId24"/>
    <p:sldId id="266" r:id="rId25"/>
    <p:sldId id="267" r:id="rId26"/>
    <p:sldId id="268" r:id="rId27"/>
    <p:sldId id="269" r:id="rId28"/>
    <p:sldId id="270" r:id="rId29"/>
    <p:sldId id="271" r:id="rId30"/>
    <p:sldId id="272" r:id="rId31"/>
    <p:sldId id="273" r:id="rId32"/>
    <p:sldId id="276" r:id="rId33"/>
    <p:sldId id="277" r:id="rId34"/>
    <p:sldId id="278" r:id="rId35"/>
    <p:sldId id="279" r:id="rId3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DB528E2A-7987-42E7-8D84-6B2D74558830}">
          <p14:sldIdLst>
            <p14:sldId id="256"/>
            <p14:sldId id="257"/>
            <p14:sldId id="260"/>
            <p14:sldId id="259"/>
            <p14:sldId id="261"/>
            <p14:sldId id="284"/>
            <p14:sldId id="285"/>
            <p14:sldId id="262"/>
            <p14:sldId id="280"/>
            <p14:sldId id="281"/>
            <p14:sldId id="282"/>
            <p14:sldId id="283"/>
            <p14:sldId id="263"/>
            <p14:sldId id="264"/>
            <p14:sldId id="286"/>
            <p14:sldId id="287"/>
            <p14:sldId id="289"/>
            <p14:sldId id="288"/>
            <p14:sldId id="274"/>
            <p14:sldId id="266"/>
            <p14:sldId id="267"/>
            <p14:sldId id="268"/>
            <p14:sldId id="269"/>
            <p14:sldId id="270"/>
            <p14:sldId id="271"/>
            <p14:sldId id="272"/>
            <p14:sldId id="273"/>
            <p14:sldId id="276"/>
            <p14:sldId id="277"/>
            <p14:sldId id="278"/>
            <p14:sldId id="2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BBEB"/>
    <a:srgbClr val="FF00FF"/>
    <a:srgbClr val="33CC33"/>
    <a:srgbClr val="CC66FF"/>
    <a:srgbClr val="0066FF"/>
    <a:srgbClr val="9966FF"/>
    <a:srgbClr val="6666FF"/>
    <a:srgbClr val="666699"/>
    <a:srgbClr val="00CC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C259F4-037C-4069-927D-4B6650CC00B7}" v="1" dt="2025-03-27T12:41:41.1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70" autoAdjust="0"/>
  </p:normalViewPr>
  <p:slideViewPr>
    <p:cSldViewPr>
      <p:cViewPr varScale="1">
        <p:scale>
          <a:sx n="62" d="100"/>
          <a:sy n="62" d="100"/>
        </p:scale>
        <p:origin x="1459" y="53"/>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819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C042EEA-9F9B-4B91-B52A-073E94FB90D8}" type="slidenum">
              <a:rPr lang="en-US"/>
              <a:pPr/>
              <a:t>‹#›</a:t>
            </a:fld>
            <a:endParaRPr lang="en-US"/>
          </a:p>
        </p:txBody>
      </p:sp>
    </p:spTree>
    <p:extLst>
      <p:ext uri="{BB962C8B-B14F-4D97-AF65-F5344CB8AC3E}">
        <p14:creationId xmlns:p14="http://schemas.microsoft.com/office/powerpoint/2010/main" val="2419327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2</a:t>
            </a:fld>
            <a:endParaRPr lang="en-US"/>
          </a:p>
        </p:txBody>
      </p:sp>
    </p:spTree>
    <p:extLst>
      <p:ext uri="{BB962C8B-B14F-4D97-AF65-F5344CB8AC3E}">
        <p14:creationId xmlns:p14="http://schemas.microsoft.com/office/powerpoint/2010/main" val="824492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Courier New" panose="02070309020205020404" pitchFamily="49" charset="0"/>
                <a:cs typeface="Courier New" panose="02070309020205020404" pitchFamily="49" charset="0"/>
              </a:rPr>
              <a:t>The</a:t>
            </a:r>
            <a:r>
              <a:rPr lang="en-US" b="0" baseline="0" dirty="0">
                <a:latin typeface="Courier New" panose="02070309020205020404" pitchFamily="49" charset="0"/>
                <a:cs typeface="Courier New" panose="02070309020205020404" pitchFamily="49" charset="0"/>
              </a:rPr>
              <a:t> same with GCC:</a:t>
            </a:r>
            <a:endParaRPr lang="en-US" b="0" dirty="0">
              <a:latin typeface="Courier New" panose="02070309020205020404" pitchFamily="49" charset="0"/>
              <a:cs typeface="Courier New" panose="02070309020205020404" pitchFamily="49" charset="0"/>
            </a:endParaRPr>
          </a:p>
          <a:p>
            <a:r>
              <a:rPr lang="en-US" b="0" dirty="0">
                <a:latin typeface="Courier New" panose="02070309020205020404" pitchFamily="49" charset="0"/>
                <a:cs typeface="Courier New" panose="02070309020205020404" pitchFamily="49" charset="0"/>
              </a:rPr>
              <a:t>g++ -E -o ./hello.cc ./hello.cpp</a:t>
            </a:r>
            <a:endParaRPr lang="cs-CZ" b="0" dirty="0">
              <a:latin typeface="Courier New" panose="02070309020205020404" pitchFamily="49" charset="0"/>
              <a:cs typeface="Courier New" panose="02070309020205020404" pitchFamily="49" charset="0"/>
            </a:endParaRPr>
          </a:p>
          <a:p>
            <a:r>
              <a:rPr lang="en-US" b="0" dirty="0">
                <a:latin typeface="Courier New" panose="02070309020205020404" pitchFamily="49" charset="0"/>
                <a:cs typeface="Courier New" panose="02070309020205020404" pitchFamily="49" charset="0"/>
              </a:rPr>
              <a:t>g++ -S -o ./</a:t>
            </a:r>
            <a:r>
              <a:rPr lang="en-US" b="0" dirty="0" err="1">
                <a:latin typeface="Courier New" panose="02070309020205020404" pitchFamily="49" charset="0"/>
                <a:cs typeface="Courier New" panose="02070309020205020404" pitchFamily="49" charset="0"/>
              </a:rPr>
              <a:t>hello.s</a:t>
            </a:r>
            <a:r>
              <a:rPr lang="en-US" b="0" dirty="0">
                <a:latin typeface="Courier New" panose="02070309020205020404" pitchFamily="49" charset="0"/>
                <a:cs typeface="Courier New" panose="02070309020205020404" pitchFamily="49" charset="0"/>
              </a:rPr>
              <a:t> ./hello.cpp</a:t>
            </a:r>
            <a:endParaRPr lang="cs-CZ" b="0" dirty="0">
              <a:latin typeface="Courier New" panose="02070309020205020404" pitchFamily="49" charset="0"/>
              <a:cs typeface="Courier New" panose="02070309020205020404" pitchFamily="49" charset="0"/>
            </a:endParaRPr>
          </a:p>
          <a:p>
            <a:r>
              <a:rPr lang="en-US" b="0" dirty="0">
                <a:latin typeface="Courier New" panose="02070309020205020404" pitchFamily="49" charset="0"/>
                <a:cs typeface="Courier New" panose="02070309020205020404" pitchFamily="49" charset="0"/>
              </a:rPr>
              <a:t>g++ -c -o ./hello.obj ./hello.cpp</a:t>
            </a:r>
            <a:endParaRPr lang="cs-CZ" b="0" dirty="0">
              <a:latin typeface="Courier New" panose="02070309020205020404" pitchFamily="49" charset="0"/>
              <a:cs typeface="Courier New" panose="02070309020205020404" pitchFamily="49" charset="0"/>
            </a:endParaRPr>
          </a:p>
          <a:p>
            <a:pPr marL="0" marR="0" lvl="1" indent="0" algn="l" defTabSz="914400" rtl="0" eaLnBrk="1" fontAlgn="base" latinLnBrk="0" hangingPunct="1">
              <a:lnSpc>
                <a:spcPct val="100000"/>
              </a:lnSpc>
              <a:spcBef>
                <a:spcPct val="30000"/>
              </a:spcBef>
              <a:spcAft>
                <a:spcPct val="0"/>
              </a:spcAft>
              <a:buClrTx/>
              <a:buSzTx/>
              <a:buFontTx/>
              <a:buNone/>
              <a:tabLst/>
              <a:defRPr/>
            </a:pPr>
            <a:r>
              <a:rPr lang="en-US" b="0" dirty="0">
                <a:latin typeface="Courier New" panose="02070309020205020404" pitchFamily="49" charset="0"/>
                <a:cs typeface="Courier New" panose="02070309020205020404" pitchFamily="49" charset="0"/>
              </a:rPr>
              <a:t>g++ -o ./hello ./hello.cpp</a:t>
            </a:r>
            <a:endParaRPr lang="en-US" b="0" dirty="0"/>
          </a:p>
          <a:p>
            <a:endParaRPr lang="en-US" b="0"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7</a:t>
            </a:fld>
            <a:endParaRPr lang="en-US"/>
          </a:p>
        </p:txBody>
      </p:sp>
    </p:spTree>
    <p:extLst>
      <p:ext uri="{BB962C8B-B14F-4D97-AF65-F5344CB8AC3E}">
        <p14:creationId xmlns:p14="http://schemas.microsoft.com/office/powerpoint/2010/main" val="231220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Linux, static libraries have extension .a (instead of .lib)</a:t>
            </a:r>
            <a:endParaRPr lang="cs-CZ" dirty="0"/>
          </a:p>
        </p:txBody>
      </p:sp>
      <p:sp>
        <p:nvSpPr>
          <p:cNvPr id="4" name="Slide Number Placeholder 3"/>
          <p:cNvSpPr>
            <a:spLocks noGrp="1"/>
          </p:cNvSpPr>
          <p:nvPr>
            <p:ph type="sldNum" sz="quarter" idx="5"/>
          </p:nvPr>
        </p:nvSpPr>
        <p:spPr/>
        <p:txBody>
          <a:bodyPr/>
          <a:lstStyle/>
          <a:p>
            <a:fld id="{8C042EEA-9F9B-4B91-B52A-073E94FB90D8}" type="slidenum">
              <a:rPr lang="en-US" smtClean="0"/>
              <a:pPr/>
              <a:t>11</a:t>
            </a:fld>
            <a:endParaRPr lang="en-US"/>
          </a:p>
        </p:txBody>
      </p:sp>
    </p:spTree>
    <p:extLst>
      <p:ext uri="{BB962C8B-B14F-4D97-AF65-F5344CB8AC3E}">
        <p14:creationId xmlns:p14="http://schemas.microsoft.com/office/powerpoint/2010/main" val="3092374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Linux, dynamic libraries use extension .so</a:t>
            </a:r>
            <a:endParaRPr lang="cs-CZ" dirty="0"/>
          </a:p>
        </p:txBody>
      </p:sp>
      <p:sp>
        <p:nvSpPr>
          <p:cNvPr id="4" name="Slide Number Placeholder 3"/>
          <p:cNvSpPr>
            <a:spLocks noGrp="1"/>
          </p:cNvSpPr>
          <p:nvPr>
            <p:ph type="sldNum" sz="quarter" idx="5"/>
          </p:nvPr>
        </p:nvSpPr>
        <p:spPr/>
        <p:txBody>
          <a:bodyPr/>
          <a:lstStyle/>
          <a:p>
            <a:fld id="{8C042EEA-9F9B-4B91-B52A-073E94FB90D8}" type="slidenum">
              <a:rPr lang="en-US" smtClean="0"/>
              <a:pPr/>
              <a:t>12</a:t>
            </a:fld>
            <a:endParaRPr lang="en-US"/>
          </a:p>
        </p:txBody>
      </p:sp>
    </p:spTree>
    <p:extLst>
      <p:ext uri="{BB962C8B-B14F-4D97-AF65-F5344CB8AC3E}">
        <p14:creationId xmlns:p14="http://schemas.microsoft.com/office/powerpoint/2010/main" val="2750258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Btw. x86</a:t>
            </a:r>
            <a:r>
              <a:rPr lang="en-US" baseline="0" dirty="0"/>
              <a:t> arch typically has heap and stack swapped (stack is “growing” towards lower addresses).</a:t>
            </a:r>
          </a:p>
          <a:p>
            <a:endParaRPr lang="en-US" baseline="0" dirty="0"/>
          </a:p>
          <a:p>
            <a:r>
              <a:rPr lang="en-US" baseline="0" dirty="0"/>
              <a:t>Initialized static data – similar to constants, but writeable.</a:t>
            </a:r>
          </a:p>
          <a:p>
            <a:r>
              <a:rPr lang="en-US" baseline="0" dirty="0"/>
              <a:t>Uninitialized static data are defined by size only (runtime allocates it and initialized by zeroes).</a:t>
            </a:r>
          </a:p>
          <a:p>
            <a:endParaRPr lang="en-US" baseline="0" dirty="0"/>
          </a:p>
          <a:p>
            <a:r>
              <a:rPr lang="en-US" baseline="0" dirty="0"/>
              <a:t>Note that if one stack of one thread overflows, it starts overwriting stack of another thread. Runtime typically prevents that by placing a “trap” (not initialized virtual memory page) just before each stack, so the program fails (is killed by OS) when the stack overflows.</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13</a:t>
            </a:fld>
            <a:endParaRPr lang="en-US"/>
          </a:p>
        </p:txBody>
      </p:sp>
    </p:spTree>
    <p:extLst>
      <p:ext uri="{BB962C8B-B14F-4D97-AF65-F5344CB8AC3E}">
        <p14:creationId xmlns:p14="http://schemas.microsoft.com/office/powerpoint/2010/main" val="1776685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COFF = Common Object File Format https://en.wikipedia.org/wiki/COFF</a:t>
            </a:r>
          </a:p>
          <a:p>
            <a:endParaRPr lang="en-US" dirty="0"/>
          </a:p>
          <a:p>
            <a:r>
              <a:rPr lang="en-US" dirty="0"/>
              <a:t>On</a:t>
            </a:r>
            <a:r>
              <a:rPr lang="en-US" baseline="0" dirty="0"/>
              <a:t> Linux, you can experiment with </a:t>
            </a:r>
            <a:r>
              <a:rPr lang="en-US" baseline="0" dirty="0" err="1"/>
              <a:t>objdump</a:t>
            </a:r>
            <a:r>
              <a:rPr lang="en-US" baseline="0" dirty="0"/>
              <a:t> tool which provides similar services for ELF object files. However, we have decided to stick with COFF and dumpbin since GNU tools use awkward notation for x86 instructions and it gets somewhat confusing (when we will get to disassembly illustration).</a:t>
            </a:r>
          </a:p>
          <a:p>
            <a:endParaRPr lang="en-US" baseline="0" dirty="0"/>
          </a:p>
          <a:p>
            <a:r>
              <a:rPr lang="cs-CZ" dirty="0"/>
              <a:t>.</a:t>
            </a:r>
            <a:r>
              <a:rPr lang="en-US" dirty="0"/>
              <a:t>text: </a:t>
            </a:r>
            <a:r>
              <a:rPr lang="en-US" dirty="0" err="1"/>
              <a:t>codesegment</a:t>
            </a:r>
            <a:r>
              <a:rPr lang="en-US" dirty="0"/>
              <a:t> (think functions); there can be multiple of those when enabling function sections or when </a:t>
            </a:r>
            <a:r>
              <a:rPr lang="en-US" dirty="0" err="1"/>
              <a:t>comdat</a:t>
            </a:r>
            <a:r>
              <a:rPr lang="en-US" dirty="0"/>
              <a:t> is involved (for example templates)</a:t>
            </a:r>
          </a:p>
          <a:p>
            <a:endParaRPr lang="en-US" dirty="0"/>
          </a:p>
          <a:p>
            <a:r>
              <a:rPr lang="en-US" dirty="0"/>
              <a:t>.data: </a:t>
            </a:r>
            <a:r>
              <a:rPr lang="en-US" dirty="0" err="1"/>
              <a:t>datasegment</a:t>
            </a:r>
            <a:r>
              <a:rPr lang="en-US" dirty="0"/>
              <a:t> (think global vars); there can be multiple of those when enabling data sections or when </a:t>
            </a:r>
            <a:r>
              <a:rPr lang="en-US" dirty="0" err="1"/>
              <a:t>comdat</a:t>
            </a:r>
            <a:r>
              <a:rPr lang="en-US" dirty="0"/>
              <a:t> is involved (for example templates)</a:t>
            </a:r>
          </a:p>
          <a:p>
            <a:endParaRPr lang="en-US" dirty="0"/>
          </a:p>
          <a:p>
            <a:r>
              <a:rPr lang="en-US" dirty="0"/>
              <a:t>.</a:t>
            </a:r>
            <a:r>
              <a:rPr lang="en-US" dirty="0" err="1"/>
              <a:t>bss</a:t>
            </a:r>
            <a:r>
              <a:rPr lang="en-US" dirty="0"/>
              <a:t>: </a:t>
            </a:r>
            <a:r>
              <a:rPr lang="en-US" dirty="0" err="1"/>
              <a:t>datasegment</a:t>
            </a:r>
            <a:r>
              <a:rPr lang="en-US" dirty="0"/>
              <a:t> initialized to zeros (not present above); there can be multiple of those when enabling data sections or when </a:t>
            </a:r>
            <a:r>
              <a:rPr lang="en-US" dirty="0" err="1"/>
              <a:t>comdat</a:t>
            </a:r>
            <a:r>
              <a:rPr lang="en-US" dirty="0"/>
              <a:t> is involved (for example templates)</a:t>
            </a:r>
          </a:p>
          <a:p>
            <a:endParaRPr lang="en-US" dirty="0"/>
          </a:p>
          <a:p>
            <a:r>
              <a:rPr lang="en-US" dirty="0"/>
              <a:t>.debug: Debug info; like others, there can be multiple of these when function sections are involved.</a:t>
            </a:r>
          </a:p>
          <a:p>
            <a:endParaRPr lang="en-US" dirty="0"/>
          </a:p>
          <a:p>
            <a:r>
              <a:rPr lang="en-US" dirty="0"/>
              <a:t>.</a:t>
            </a:r>
            <a:r>
              <a:rPr lang="en-US" dirty="0" err="1"/>
              <a:t>pdata</a:t>
            </a:r>
            <a:r>
              <a:rPr lang="en-US" dirty="0"/>
              <a:t>: for x86_64, this is the "exception info" for a method, it defines the start/end of a function, and a pointer to the unwind info (see .</a:t>
            </a:r>
            <a:r>
              <a:rPr lang="en-US" dirty="0" err="1"/>
              <a:t>xdata</a:t>
            </a:r>
            <a:r>
              <a:rPr lang="en-US" dirty="0"/>
              <a:t>); inside object files this is duplicated per function</a:t>
            </a:r>
          </a:p>
          <a:p>
            <a:endParaRPr lang="en-US" dirty="0"/>
          </a:p>
          <a:p>
            <a:r>
              <a:rPr lang="en-US" dirty="0"/>
              <a:t>.</a:t>
            </a:r>
            <a:r>
              <a:rPr lang="en-US" dirty="0" err="1"/>
              <a:t>xdata</a:t>
            </a:r>
            <a:r>
              <a:rPr lang="en-US" dirty="0"/>
              <a:t>: for x86_64; this is the unwind info part that </a:t>
            </a:r>
            <a:r>
              <a:rPr lang="en-US" dirty="0" err="1"/>
              <a:t>pdata</a:t>
            </a:r>
            <a:r>
              <a:rPr lang="en-US" dirty="0"/>
              <a:t> points to. It contains where the exception handler of a function is, and what to do to unwind it when an exception occurs</a:t>
            </a:r>
            <a:endParaRPr lang="cs-CZ" dirty="0"/>
          </a:p>
          <a:p>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15</a:t>
            </a:fld>
            <a:endParaRPr lang="en-US"/>
          </a:p>
        </p:txBody>
      </p:sp>
    </p:spTree>
    <p:extLst>
      <p:ext uri="{BB962C8B-B14F-4D97-AF65-F5344CB8AC3E}">
        <p14:creationId xmlns:p14="http://schemas.microsoft.com/office/powerpoint/2010/main" val="3797122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 part is necessary</a:t>
            </a:r>
            <a:r>
              <a:rPr lang="en-US" baseline="0" dirty="0"/>
              <a:t> so that we can properly return from the function call.</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20</a:t>
            </a:fld>
            <a:endParaRPr lang="en-US"/>
          </a:p>
        </p:txBody>
      </p:sp>
    </p:spTree>
    <p:extLst>
      <p:ext uri="{BB962C8B-B14F-4D97-AF65-F5344CB8AC3E}">
        <p14:creationId xmlns:p14="http://schemas.microsoft.com/office/powerpoint/2010/main" val="218299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manglin</a:t>
            </a:r>
            <a:r>
              <a:rPr lang="en-US" baseline="0" dirty="0"/>
              <a:t>g is necessary to make modern languages (C++) compatible with linker (which is a pretty old technology). Original linker did not take into account that there might be (class) methods or function overloading.</a:t>
            </a:r>
            <a:endParaRPr lang="en-US" dirty="0"/>
          </a:p>
        </p:txBody>
      </p:sp>
      <p:sp>
        <p:nvSpPr>
          <p:cNvPr id="4" name="Slide Number Placeholder 3"/>
          <p:cNvSpPr>
            <a:spLocks noGrp="1"/>
          </p:cNvSpPr>
          <p:nvPr>
            <p:ph type="sldNum" sz="quarter" idx="10"/>
          </p:nvPr>
        </p:nvSpPr>
        <p:spPr/>
        <p:txBody>
          <a:bodyPr/>
          <a:lstStyle/>
          <a:p>
            <a:fld id="{8C042EEA-9F9B-4B91-B52A-073E94FB90D8}" type="slidenum">
              <a:rPr lang="en-US" smtClean="0"/>
              <a:pPr/>
              <a:t>22</a:t>
            </a:fld>
            <a:endParaRPr lang="en-US"/>
          </a:p>
        </p:txBody>
      </p:sp>
    </p:spTree>
    <p:extLst>
      <p:ext uri="{BB962C8B-B14F-4D97-AF65-F5344CB8AC3E}">
        <p14:creationId xmlns:p14="http://schemas.microsoft.com/office/powerpoint/2010/main" val="40137272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Line 2"/>
          <p:cNvSpPr>
            <a:spLocks noChangeShapeType="1"/>
          </p:cNvSpPr>
          <p:nvPr/>
        </p:nvSpPr>
        <p:spPr bwMode="auto">
          <a:xfrm>
            <a:off x="9753600" y="1066800"/>
            <a:ext cx="0" cy="4495800"/>
          </a:xfrm>
          <a:prstGeom prst="line">
            <a:avLst/>
          </a:prstGeom>
          <a:noFill/>
          <a:ln w="9525">
            <a:solidFill>
              <a:schemeClr val="tx1"/>
            </a:solidFill>
            <a:round/>
            <a:headEnd/>
            <a:tailEnd/>
          </a:ln>
          <a:effectLst/>
        </p:spPr>
        <p:txBody>
          <a:bodyPr/>
          <a:lstStyle/>
          <a:p>
            <a:endParaRPr lang="cs-CZ"/>
          </a:p>
        </p:txBody>
      </p:sp>
      <p:sp>
        <p:nvSpPr>
          <p:cNvPr id="5123" name="Rectangle 3"/>
          <p:cNvSpPr>
            <a:spLocks noGrp="1" noChangeArrowheads="1"/>
          </p:cNvSpPr>
          <p:nvPr>
            <p:ph type="ctrTitle"/>
          </p:nvPr>
        </p:nvSpPr>
        <p:spPr>
          <a:xfrm>
            <a:off x="421217" y="466725"/>
            <a:ext cx="9042400" cy="2133600"/>
          </a:xfrm>
        </p:spPr>
        <p:txBody>
          <a:bodyPr/>
          <a:lstStyle>
            <a:lvl1pPr algn="r">
              <a:defRPr sz="4800"/>
            </a:lvl1pPr>
          </a:lstStyle>
          <a:p>
            <a:r>
              <a:rPr lang="en-US" altLang="en-US"/>
              <a:t>Click to edit Master title style</a:t>
            </a:r>
          </a:p>
        </p:txBody>
      </p:sp>
      <p:sp>
        <p:nvSpPr>
          <p:cNvPr id="5124" name="Rectangle 4"/>
          <p:cNvSpPr>
            <a:spLocks noGrp="1" noChangeArrowheads="1"/>
          </p:cNvSpPr>
          <p:nvPr>
            <p:ph type="subTitle" idx="1"/>
          </p:nvPr>
        </p:nvSpPr>
        <p:spPr>
          <a:xfrm>
            <a:off x="1132417" y="3049588"/>
            <a:ext cx="83312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5125" name="Rectangle 5"/>
          <p:cNvSpPr>
            <a:spLocks noGrp="1" noChangeArrowheads="1"/>
          </p:cNvSpPr>
          <p:nvPr>
            <p:ph type="dt" sz="half" idx="2"/>
          </p:nvPr>
        </p:nvSpPr>
        <p:spPr/>
        <p:txBody>
          <a:bodyPr/>
          <a:lstStyle>
            <a:lvl1pPr>
              <a:defRPr/>
            </a:lvl1pPr>
          </a:lstStyle>
          <a:p>
            <a:r>
              <a:rPr lang="cs-CZ" altLang="en-US"/>
              <a:t>26.3.2025</a:t>
            </a:r>
            <a:endParaRPr lang="en-US" altLang="en-US"/>
          </a:p>
        </p:txBody>
      </p:sp>
      <p:sp>
        <p:nvSpPr>
          <p:cNvPr id="5126" name="Rectangle 6"/>
          <p:cNvSpPr>
            <a:spLocks noGrp="1" noChangeArrowheads="1"/>
          </p:cNvSpPr>
          <p:nvPr>
            <p:ph type="ftr" sz="quarter" idx="3"/>
          </p:nvPr>
        </p:nvSpPr>
        <p:spPr/>
        <p:txBody>
          <a:bodyPr/>
          <a:lstStyle>
            <a:lvl1pPr>
              <a:defRPr/>
            </a:lvl1pPr>
          </a:lstStyle>
          <a:p>
            <a:endParaRPr lang="en-US" altLang="en-US"/>
          </a:p>
        </p:txBody>
      </p:sp>
      <p:sp>
        <p:nvSpPr>
          <p:cNvPr id="5127" name="Rectangle 7"/>
          <p:cNvSpPr>
            <a:spLocks noGrp="1" noChangeArrowheads="1"/>
          </p:cNvSpPr>
          <p:nvPr>
            <p:ph type="sldNum" sz="quarter" idx="4"/>
          </p:nvPr>
        </p:nvSpPr>
        <p:spPr/>
        <p:txBody>
          <a:bodyPr/>
          <a:lstStyle>
            <a:lvl1pPr>
              <a:defRPr/>
            </a:lvl1pPr>
          </a:lstStyle>
          <a:p>
            <a:fld id="{2A4750BA-B163-4F11-8356-C4353F13CE09}" type="slidenum">
              <a:rPr lang="en-US" altLang="en-US"/>
              <a:pPr/>
              <a:t>‹#›</a:t>
            </a:fld>
            <a:endParaRPr lang="en-US" altLang="en-US"/>
          </a:p>
        </p:txBody>
      </p:sp>
      <p:sp>
        <p:nvSpPr>
          <p:cNvPr id="5128" name="Line 8"/>
          <p:cNvSpPr>
            <a:spLocks noChangeShapeType="1"/>
          </p:cNvSpPr>
          <p:nvPr/>
        </p:nvSpPr>
        <p:spPr bwMode="auto">
          <a:xfrm>
            <a:off x="406400" y="2819400"/>
            <a:ext cx="10972800" cy="0"/>
          </a:xfrm>
          <a:prstGeom prst="line">
            <a:avLst/>
          </a:prstGeom>
          <a:noFill/>
          <a:ln w="6350">
            <a:solidFill>
              <a:schemeClr val="tx1"/>
            </a:solidFill>
            <a:round/>
            <a:headEnd/>
            <a:tailEnd/>
          </a:ln>
          <a:effectLst/>
        </p:spPr>
        <p:txBody>
          <a:bodyPr/>
          <a:lstStyle/>
          <a:p>
            <a:endParaRPr lang="cs-CZ"/>
          </a:p>
        </p:txBody>
      </p:sp>
      <p:pic>
        <p:nvPicPr>
          <p:cNvPr id="5129" name="Picture 9" descr="b2e2lirt[1]"/>
          <p:cNvPicPr>
            <a:picLocks noChangeAspect="1" noChangeArrowheads="1"/>
          </p:cNvPicPr>
          <p:nvPr/>
        </p:nvPicPr>
        <p:blipFill>
          <a:blip r:embed="rId2" cstate="print"/>
          <a:srcRect/>
          <a:stretch>
            <a:fillRect/>
          </a:stretch>
        </p:blipFill>
        <p:spPr bwMode="auto">
          <a:xfrm>
            <a:off x="9791700" y="3392489"/>
            <a:ext cx="2245784" cy="140652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26.3.2025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F4A1145F-674A-4228-8958-0EA9769F5517}"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cs-CZ"/>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cs-CZ" altLang="en-US"/>
              <a:t>26.3.2025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EFA15E1F-5AFB-40EA-923D-A2EB4D767C82}"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Content Placeholder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Content Placeholder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5" name="Date Placeholder 4"/>
          <p:cNvSpPr>
            <a:spLocks noGrp="1"/>
          </p:cNvSpPr>
          <p:nvPr>
            <p:ph type="dt" sz="half" idx="10"/>
          </p:nvPr>
        </p:nvSpPr>
        <p:spPr/>
        <p:txBody>
          <a:bodyPr/>
          <a:lstStyle>
            <a:lvl1pPr>
              <a:defRPr/>
            </a:lvl1pPr>
          </a:lstStyle>
          <a:p>
            <a:r>
              <a:rPr lang="cs-CZ" altLang="en-US"/>
              <a:t>26.3.2025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169EAE92-5121-41FC-8DEC-DA73929E0C34}"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cs-CZ"/>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7" name="Date Placeholder 6"/>
          <p:cNvSpPr>
            <a:spLocks noGrp="1"/>
          </p:cNvSpPr>
          <p:nvPr>
            <p:ph type="dt" sz="half" idx="10"/>
          </p:nvPr>
        </p:nvSpPr>
        <p:spPr/>
        <p:txBody>
          <a:bodyPr/>
          <a:lstStyle>
            <a:lvl1pPr>
              <a:defRPr/>
            </a:lvl1pPr>
          </a:lstStyle>
          <a:p>
            <a:r>
              <a:rPr lang="cs-CZ" altLang="en-US"/>
              <a:t>26.3.2025</a:t>
            </a:r>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B8EB1BA9-04F9-4DBA-8B88-0BF71DD220AD}"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Date Placeholder 2"/>
          <p:cNvSpPr>
            <a:spLocks noGrp="1"/>
          </p:cNvSpPr>
          <p:nvPr>
            <p:ph type="dt" sz="half" idx="10"/>
          </p:nvPr>
        </p:nvSpPr>
        <p:spPr/>
        <p:txBody>
          <a:bodyPr/>
          <a:lstStyle>
            <a:lvl1pPr>
              <a:defRPr/>
            </a:lvl1pPr>
          </a:lstStyle>
          <a:p>
            <a:r>
              <a:rPr lang="cs-CZ" altLang="en-US"/>
              <a:t>26.3.2025</a:t>
            </a:r>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A3CB23DE-87E9-44C4-9125-F99647402680}"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cs-CZ" altLang="en-US"/>
              <a:t>26.3.2025</a:t>
            </a:r>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779B49DB-207B-4B04-AB13-3224BA24FB53}"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endParaRPr lang="cs-CZ"/>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cs-CZ" altLang="en-US"/>
              <a:t>26.3.2025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B16FF626-F1DE-4CAB-AC6F-3C9C63F3BC9B}"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endParaRPr lang="cs-CZ"/>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cs-CZ" altLang="en-US"/>
              <a:t>26.3.2025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2A5FCAB0-4CDF-4FD1-8C9D-AF93D5E31F18}"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26.3.2025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944E42D6-9DD4-4165-BDB0-13B2B843F0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cs-CZ"/>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26.3.2025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3B17C8BE-C614-485F-9B20-1471ABF7C6AE}" type="slidenum">
              <a:rPr lang="en-US" altLang="en-US"/>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12192000" cy="2420888"/>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Cloud Callout 6"/>
          <p:cNvSpPr/>
          <p:nvPr/>
        </p:nvSpPr>
        <p:spPr>
          <a:xfrm>
            <a:off x="9926595" y="404664"/>
            <a:ext cx="1944216" cy="1584176"/>
          </a:xfrm>
          <a:prstGeom prst="cloudCallout">
            <a:avLst>
              <a:gd name="adj1" fmla="val -72589"/>
              <a:gd name="adj2" fmla="val 67149"/>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Picture 9" descr="b2e2lirt[1]"/>
          <p:cNvPicPr>
            <a:picLocks noChangeAspect="1" noChangeArrowheads="1"/>
          </p:cNvPicPr>
          <p:nvPr/>
        </p:nvPicPr>
        <p:blipFill>
          <a:blip r:embed="rId2" cstate="print"/>
          <a:srcRect/>
          <a:stretch>
            <a:fillRect/>
          </a:stretch>
        </p:blipFill>
        <p:spPr bwMode="auto">
          <a:xfrm>
            <a:off x="10416480" y="683778"/>
            <a:ext cx="1050425" cy="877169"/>
          </a:xfrm>
          <a:prstGeom prst="rect">
            <a:avLst/>
          </a:prstGeom>
          <a:noFill/>
        </p:spPr>
      </p:pic>
    </p:spTree>
    <p:extLst>
      <p:ext uri="{BB962C8B-B14F-4D97-AF65-F5344CB8AC3E}">
        <p14:creationId xmlns:p14="http://schemas.microsoft.com/office/powerpoint/2010/main" val="3719101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a:t>
            </a:fld>
            <a:endParaRPr lang="en-US" altLang="en-US"/>
          </a:p>
        </p:txBody>
      </p:sp>
    </p:spTree>
    <p:extLst>
      <p:ext uri="{BB962C8B-B14F-4D97-AF65-F5344CB8AC3E}">
        <p14:creationId xmlns:p14="http://schemas.microsoft.com/office/powerpoint/2010/main" val="3826430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EFA15E1F-5AFB-40EA-923D-A2EB4D767C82}" type="slidenum">
              <a:rPr lang="en-US" altLang="en-US" smtClean="0"/>
              <a:pPr/>
              <a:t>‹#›</a:t>
            </a:fld>
            <a:endParaRPr lang="en-US" altLang="en-US"/>
          </a:p>
        </p:txBody>
      </p:sp>
    </p:spTree>
    <p:extLst>
      <p:ext uri="{BB962C8B-B14F-4D97-AF65-F5344CB8AC3E}">
        <p14:creationId xmlns:p14="http://schemas.microsoft.com/office/powerpoint/2010/main" val="3449705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169EAE92-5121-41FC-8DEC-DA73929E0C34}" type="slidenum">
              <a:rPr lang="en-US" altLang="en-US" smtClean="0"/>
              <a:pPr/>
              <a:t>‹#›</a:t>
            </a:fld>
            <a:endParaRPr lang="en-US" altLang="en-US"/>
          </a:p>
        </p:txBody>
      </p:sp>
    </p:spTree>
    <p:extLst>
      <p:ext uri="{BB962C8B-B14F-4D97-AF65-F5344CB8AC3E}">
        <p14:creationId xmlns:p14="http://schemas.microsoft.com/office/powerpoint/2010/main" val="2176091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cs-CZ" altLang="en-US"/>
              <a:t>26.3.2025</a:t>
            </a:r>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B8EB1BA9-04F9-4DBA-8B88-0BF71DD220AD}" type="slidenum">
              <a:rPr lang="en-US" altLang="en-US" smtClean="0"/>
              <a:pPr/>
              <a:t>‹#›</a:t>
            </a:fld>
            <a:endParaRPr lang="en-US" altLang="en-US"/>
          </a:p>
        </p:txBody>
      </p:sp>
    </p:spTree>
    <p:extLst>
      <p:ext uri="{BB962C8B-B14F-4D97-AF65-F5344CB8AC3E}">
        <p14:creationId xmlns:p14="http://schemas.microsoft.com/office/powerpoint/2010/main" val="4171703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cs-CZ" altLang="en-US"/>
              <a:t>26.3.2025</a:t>
            </a:r>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A3CB23DE-87E9-44C4-9125-F99647402680}" type="slidenum">
              <a:rPr lang="en-US" altLang="en-US" smtClean="0"/>
              <a:pPr/>
              <a:t>‹#›</a:t>
            </a:fld>
            <a:endParaRPr lang="en-US" altLang="en-US"/>
          </a:p>
        </p:txBody>
      </p:sp>
    </p:spTree>
    <p:extLst>
      <p:ext uri="{BB962C8B-B14F-4D97-AF65-F5344CB8AC3E}">
        <p14:creationId xmlns:p14="http://schemas.microsoft.com/office/powerpoint/2010/main" val="33303900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cs-CZ" altLang="en-US"/>
              <a:t>26.3.2025</a:t>
            </a:r>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779B49DB-207B-4B04-AB13-3224BA24FB53}" type="slidenum">
              <a:rPr lang="en-US" altLang="en-US" smtClean="0"/>
              <a:pPr/>
              <a:t>‹#›</a:t>
            </a:fld>
            <a:endParaRPr lang="en-US" altLang="en-US"/>
          </a:p>
        </p:txBody>
      </p:sp>
    </p:spTree>
    <p:extLst>
      <p:ext uri="{BB962C8B-B14F-4D97-AF65-F5344CB8AC3E}">
        <p14:creationId xmlns:p14="http://schemas.microsoft.com/office/powerpoint/2010/main" val="327437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B16FF626-F1DE-4CAB-AC6F-3C9C63F3BC9B}" type="slidenum">
              <a:rPr lang="en-US" altLang="en-US" smtClean="0"/>
              <a:pPr/>
              <a:t>‹#›</a:t>
            </a:fld>
            <a:endParaRPr lang="en-US" altLang="en-US"/>
          </a:p>
        </p:txBody>
      </p:sp>
    </p:spTree>
    <p:extLst>
      <p:ext uri="{BB962C8B-B14F-4D97-AF65-F5344CB8AC3E}">
        <p14:creationId xmlns:p14="http://schemas.microsoft.com/office/powerpoint/2010/main" val="3322189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2A5FCAB0-4CDF-4FD1-8C9D-AF93D5E31F18}" type="slidenum">
              <a:rPr lang="en-US" altLang="en-US" smtClean="0"/>
              <a:pPr/>
              <a:t>‹#›</a:t>
            </a:fld>
            <a:endParaRPr lang="en-US" altLang="en-US"/>
          </a:p>
        </p:txBody>
      </p:sp>
    </p:spTree>
    <p:extLst>
      <p:ext uri="{BB962C8B-B14F-4D97-AF65-F5344CB8AC3E}">
        <p14:creationId xmlns:p14="http://schemas.microsoft.com/office/powerpoint/2010/main" val="243606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44E42D6-9DD4-4165-BDB0-13B2B843F046}" type="slidenum">
              <a:rPr lang="en-US" altLang="en-US" smtClean="0"/>
              <a:pPr/>
              <a:t>‹#›</a:t>
            </a:fld>
            <a:endParaRPr lang="en-US" altLang="en-US"/>
          </a:p>
        </p:txBody>
      </p:sp>
    </p:spTree>
    <p:extLst>
      <p:ext uri="{BB962C8B-B14F-4D97-AF65-F5344CB8AC3E}">
        <p14:creationId xmlns:p14="http://schemas.microsoft.com/office/powerpoint/2010/main" val="3965261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3B17C8BE-C614-485F-9B20-1471ABF7C6AE}" type="slidenum">
              <a:rPr lang="en-US" altLang="en-US" smtClean="0"/>
              <a:pPr/>
              <a:t>‹#›</a:t>
            </a:fld>
            <a:endParaRPr lang="en-US" altLang="en-US"/>
          </a:p>
        </p:txBody>
      </p:sp>
    </p:spTree>
    <p:extLst>
      <p:ext uri="{BB962C8B-B14F-4D97-AF65-F5344CB8AC3E}">
        <p14:creationId xmlns:p14="http://schemas.microsoft.com/office/powerpoint/2010/main" val="117225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w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Line 2"/>
          <p:cNvSpPr>
            <a:spLocks noChangeShapeType="1"/>
          </p:cNvSpPr>
          <p:nvPr/>
        </p:nvSpPr>
        <p:spPr bwMode="auto">
          <a:xfrm>
            <a:off x="10617200" y="152400"/>
            <a:ext cx="0" cy="1524000"/>
          </a:xfrm>
          <a:prstGeom prst="line">
            <a:avLst/>
          </a:prstGeom>
          <a:noFill/>
          <a:ln w="9525">
            <a:solidFill>
              <a:schemeClr val="tx1"/>
            </a:solidFill>
            <a:round/>
            <a:headEnd/>
            <a:tailEnd/>
          </a:ln>
          <a:effectLst/>
        </p:spPr>
        <p:txBody>
          <a:bodyPr/>
          <a:lstStyle/>
          <a:p>
            <a:endParaRPr lang="cs-CZ"/>
          </a:p>
        </p:txBody>
      </p:sp>
      <p:sp>
        <p:nvSpPr>
          <p:cNvPr id="4099" name="Rectangle 3"/>
          <p:cNvSpPr>
            <a:spLocks noGrp="1" noChangeArrowheads="1"/>
          </p:cNvSpPr>
          <p:nvPr>
            <p:ph type="title"/>
          </p:nvPr>
        </p:nvSpPr>
        <p:spPr bwMode="auto">
          <a:xfrm>
            <a:off x="609600" y="122238"/>
            <a:ext cx="10058400" cy="1295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100"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1" name="Rectangle 5"/>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r>
              <a:rPr lang="cs-CZ" altLang="en-US"/>
              <a:t>26.3.2025</a:t>
            </a:r>
            <a:endParaRPr lang="en-US" altLang="en-US"/>
          </a:p>
        </p:txBody>
      </p:sp>
      <p:sp>
        <p:nvSpPr>
          <p:cNvPr id="4102" name="Rectangle 6"/>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endParaRPr lang="en-US" altLang="en-US"/>
          </a:p>
        </p:txBody>
      </p:sp>
      <p:sp>
        <p:nvSpPr>
          <p:cNvPr id="4103" name="Rectangle 7"/>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AD280EE7-F64F-4308-BA6A-AA907C3209A3}" type="slidenum">
              <a:rPr lang="en-US" altLang="en-US"/>
              <a:pPr/>
              <a:t>‹#›</a:t>
            </a:fld>
            <a:endParaRPr lang="en-US" altLang="en-US"/>
          </a:p>
        </p:txBody>
      </p:sp>
      <p:sp>
        <p:nvSpPr>
          <p:cNvPr id="4104" name="Rectangle 8"/>
          <p:cNvSpPr>
            <a:spLocks noChangeArrowheads="1"/>
          </p:cNvSpPr>
          <p:nvPr/>
        </p:nvSpPr>
        <p:spPr bwMode="auto">
          <a:xfrm>
            <a:off x="0" y="2372797"/>
            <a:ext cx="184731" cy="369332"/>
          </a:xfrm>
          <a:prstGeom prst="rect">
            <a:avLst/>
          </a:prstGeom>
          <a:noFill/>
          <a:ln w="9525">
            <a:noFill/>
            <a:miter lim="800000"/>
            <a:headEnd/>
            <a:tailEnd/>
          </a:ln>
          <a:effectLst/>
        </p:spPr>
        <p:txBody>
          <a:bodyPr wrap="none" anchor="ctr">
            <a:spAutoFit/>
          </a:bodyPr>
          <a:lstStyle/>
          <a:p>
            <a:endParaRPr lang="cs-CZ"/>
          </a:p>
        </p:txBody>
      </p:sp>
      <p:pic>
        <p:nvPicPr>
          <p:cNvPr id="4105" name="Picture 9" descr="b2e2lirt[1]"/>
          <p:cNvPicPr>
            <a:picLocks noChangeAspect="1" noChangeArrowheads="1"/>
          </p:cNvPicPr>
          <p:nvPr/>
        </p:nvPicPr>
        <p:blipFill>
          <a:blip r:embed="rId13" cstate="print"/>
          <a:srcRect/>
          <a:stretch>
            <a:fillRect/>
          </a:stretch>
        </p:blipFill>
        <p:spPr bwMode="auto">
          <a:xfrm>
            <a:off x="10706101" y="115888"/>
            <a:ext cx="1485900" cy="931862"/>
          </a:xfrm>
          <a:prstGeom prst="rect">
            <a:avLst/>
          </a:prstGeom>
          <a:noFill/>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charset="0"/>
        </a:defRPr>
      </a:lvl2pPr>
      <a:lvl3pPr algn="l" rtl="0" fontAlgn="base">
        <a:spcBef>
          <a:spcPct val="0"/>
        </a:spcBef>
        <a:spcAft>
          <a:spcPct val="0"/>
        </a:spcAft>
        <a:defRPr sz="3900" b="1">
          <a:solidFill>
            <a:schemeClr val="tx2"/>
          </a:solidFill>
          <a:latin typeface="Arial" charset="0"/>
        </a:defRPr>
      </a:lvl3pPr>
      <a:lvl4pPr algn="l" rtl="0" fontAlgn="base">
        <a:spcBef>
          <a:spcPct val="0"/>
        </a:spcBef>
        <a:spcAft>
          <a:spcPct val="0"/>
        </a:spcAft>
        <a:defRPr sz="3900" b="1">
          <a:solidFill>
            <a:schemeClr val="tx2"/>
          </a:solidFill>
          <a:latin typeface="Arial" charset="0"/>
        </a:defRPr>
      </a:lvl4pPr>
      <a:lvl5pPr algn="l" rtl="0" fontAlgn="base">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9722296"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ltLang="en-US"/>
              <a:t>26.3.2025</a:t>
            </a:r>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80EE7-F64F-4308-BA6A-AA907C3209A3}" type="slidenum">
              <a:rPr lang="en-US" altLang="en-US" smtClean="0"/>
              <a:pPr/>
              <a:t>‹#›</a:t>
            </a:fld>
            <a:endParaRPr lang="en-US" altLang="en-US"/>
          </a:p>
        </p:txBody>
      </p:sp>
      <p:pic>
        <p:nvPicPr>
          <p:cNvPr id="7" name="Picture 9" descr="b2e2lirt[1]"/>
          <p:cNvPicPr>
            <a:picLocks noChangeAspect="1" noChangeArrowheads="1"/>
          </p:cNvPicPr>
          <p:nvPr/>
        </p:nvPicPr>
        <p:blipFill>
          <a:blip r:embed="rId13" cstate="print"/>
          <a:srcRect/>
          <a:stretch>
            <a:fillRect/>
          </a:stretch>
        </p:blipFill>
        <p:spPr bwMode="auto">
          <a:xfrm>
            <a:off x="10704512" y="476672"/>
            <a:ext cx="1050425" cy="877169"/>
          </a:xfrm>
          <a:prstGeom prst="rect">
            <a:avLst/>
          </a:prstGeom>
          <a:noFill/>
        </p:spPr>
      </p:pic>
      <p:cxnSp>
        <p:nvCxnSpPr>
          <p:cNvPr id="8" name="Straight Connector 7"/>
          <p:cNvCxnSpPr/>
          <p:nvPr/>
        </p:nvCxnSpPr>
        <p:spPr>
          <a:xfrm flipH="1">
            <a:off x="838200" y="1484784"/>
            <a:ext cx="10874424" cy="0"/>
          </a:xfrm>
          <a:prstGeom prst="line">
            <a:avLst/>
          </a:prstGeom>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401896441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www.ksi.mff.cuni.cz/teaching/nswi170-web/pages/examples/04-preprocessor"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www.ksi.mff.cuni.cz/teaching/nswi170-web/pages/examples/04-as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dirty="0"/>
              <a:t>Programming Languages</a:t>
            </a:r>
          </a:p>
        </p:txBody>
      </p:sp>
      <p:sp>
        <p:nvSpPr>
          <p:cNvPr id="2051" name="Rectangle 3"/>
          <p:cNvSpPr>
            <a:spLocks noGrp="1" noChangeArrowheads="1"/>
          </p:cNvSpPr>
          <p:nvPr>
            <p:ph type="subTitle" idx="1"/>
          </p:nvPr>
        </p:nvSpPr>
        <p:spPr/>
        <p:txBody>
          <a:bodyPr>
            <a:normAutofit/>
          </a:bodyPr>
          <a:lstStyle/>
          <a:p>
            <a:r>
              <a:rPr lang="en-US" dirty="0"/>
              <a:t>NSWI170 Computer Systems</a:t>
            </a:r>
            <a:endParaRPr lang="cs-CZ" dirty="0"/>
          </a:p>
          <a:p>
            <a:endParaRPr lang="cs-CZ" dirty="0"/>
          </a:p>
          <a:p>
            <a:r>
              <a:rPr lang="cs-CZ" dirty="0"/>
              <a:t>Jakub </a:t>
            </a:r>
            <a:r>
              <a:rPr lang="cs-CZ" dirty="0" err="1"/>
              <a:t>Yaghob</a:t>
            </a:r>
            <a:r>
              <a:rPr lang="en-US" dirty="0"/>
              <a:t>, Martin </a:t>
            </a:r>
            <a:r>
              <a:rPr lang="en-US" dirty="0" err="1"/>
              <a:t>Kruli</a:t>
            </a:r>
            <a:r>
              <a:rPr lang="cs-CZ" dirty="0"/>
              <a:t>š</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Naïve view of a compiler</a:t>
            </a:r>
          </a:p>
        </p:txBody>
      </p:sp>
      <p:sp>
        <p:nvSpPr>
          <p:cNvPr id="4" name="Rectangle 3"/>
          <p:cNvSpPr/>
          <p:nvPr/>
        </p:nvSpPr>
        <p:spPr bwMode="auto">
          <a:xfrm>
            <a:off x="1969234" y="2515828"/>
            <a:ext cx="1656183" cy="18002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r>
              <a:rPr lang="en-US" dirty="0"/>
              <a:t>Source code in my favorite programming language</a:t>
            </a:r>
          </a:p>
        </p:txBody>
      </p:sp>
      <p:sp>
        <p:nvSpPr>
          <p:cNvPr id="7" name="Rectangle 6"/>
          <p:cNvSpPr/>
          <p:nvPr/>
        </p:nvSpPr>
        <p:spPr bwMode="auto">
          <a:xfrm>
            <a:off x="4367808" y="2119784"/>
            <a:ext cx="3384376" cy="2592288"/>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3200" dirty="0">
                <a:solidFill>
                  <a:schemeClr val="accent3"/>
                </a:solidFill>
              </a:rPr>
              <a:t>The compiler</a:t>
            </a:r>
          </a:p>
        </p:txBody>
      </p:sp>
      <p:sp>
        <p:nvSpPr>
          <p:cNvPr id="8" name="Rectangle 7"/>
          <p:cNvSpPr/>
          <p:nvPr/>
        </p:nvSpPr>
        <p:spPr bwMode="auto">
          <a:xfrm>
            <a:off x="8494576" y="2515828"/>
            <a:ext cx="1584176" cy="180020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dirty="0"/>
              <a:t>Executable for my favorite operating system (and CPU arch.)</a:t>
            </a:r>
          </a:p>
        </p:txBody>
      </p:sp>
      <p:cxnSp>
        <p:nvCxnSpPr>
          <p:cNvPr id="10" name="Straight Arrow Connector 9"/>
          <p:cNvCxnSpPr>
            <a:stCxn id="4" idx="3"/>
            <a:endCxn id="7" idx="1"/>
          </p:cNvCxnSpPr>
          <p:nvPr/>
        </p:nvCxnSpPr>
        <p:spPr bwMode="auto">
          <a:xfrm>
            <a:off x="3625416" y="3415928"/>
            <a:ext cx="74239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Straight Arrow Connector 11"/>
          <p:cNvCxnSpPr>
            <a:stCxn id="7" idx="3"/>
            <a:endCxn id="8" idx="1"/>
          </p:cNvCxnSpPr>
          <p:nvPr/>
        </p:nvCxnSpPr>
        <p:spPr bwMode="auto">
          <a:xfrm>
            <a:off x="7752184" y="3415928"/>
            <a:ext cx="74239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Rectangle 15"/>
          <p:cNvSpPr/>
          <p:nvPr/>
        </p:nvSpPr>
        <p:spPr bwMode="auto">
          <a:xfrm>
            <a:off x="4943872" y="5288136"/>
            <a:ext cx="2232248" cy="64807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Error messages</a:t>
            </a:r>
          </a:p>
        </p:txBody>
      </p:sp>
      <p:cxnSp>
        <p:nvCxnSpPr>
          <p:cNvPr id="18" name="Straight Arrow Connector 17"/>
          <p:cNvCxnSpPr>
            <a:stCxn id="7" idx="2"/>
            <a:endCxn id="16" idx="0"/>
          </p:cNvCxnSpPr>
          <p:nvPr/>
        </p:nvCxnSpPr>
        <p:spPr bwMode="auto">
          <a:xfrm>
            <a:off x="6059996" y="4712072"/>
            <a:ext cx="0" cy="5760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Date Placeholder 2"/>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a:t>
            </a:fld>
            <a:endParaRPr lang="en-US" altLang="en-US"/>
          </a:p>
        </p:txBody>
      </p:sp>
    </p:spTree>
    <p:extLst>
      <p:ext uri="{BB962C8B-B14F-4D97-AF65-F5344CB8AC3E}">
        <p14:creationId xmlns:p14="http://schemas.microsoft.com/office/powerpoint/2010/main" val="1741044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view of a compiler</a:t>
            </a:r>
          </a:p>
        </p:txBody>
      </p:sp>
      <p:sp>
        <p:nvSpPr>
          <p:cNvPr id="3" name="Content Placeholder 2"/>
          <p:cNvSpPr>
            <a:spLocks noGrp="1"/>
          </p:cNvSpPr>
          <p:nvPr>
            <p:ph idx="1"/>
          </p:nvPr>
        </p:nvSpPr>
        <p:spPr/>
        <p:txBody>
          <a:bodyPr>
            <a:normAutofit/>
          </a:bodyPr>
          <a:lstStyle/>
          <a:p>
            <a:r>
              <a:rPr lang="en-US" dirty="0"/>
              <a:t>Example from the course Compiler Principles</a:t>
            </a:r>
          </a:p>
          <a:p>
            <a:pPr lvl="1"/>
            <a:r>
              <a:rPr lang="en-US" dirty="0"/>
              <a:t>Let us have an input language L</a:t>
            </a:r>
            <a:r>
              <a:rPr lang="en-US" baseline="-25000" dirty="0"/>
              <a:t>in</a:t>
            </a:r>
            <a:r>
              <a:rPr lang="en-US" dirty="0"/>
              <a:t> generated by a grammar G</a:t>
            </a:r>
            <a:r>
              <a:rPr lang="en-US" baseline="-25000" dirty="0"/>
              <a:t>in</a:t>
            </a:r>
          </a:p>
          <a:p>
            <a:pPr lvl="1"/>
            <a:r>
              <a:rPr lang="en-US" dirty="0"/>
              <a:t>Let us have an output language L</a:t>
            </a:r>
            <a:r>
              <a:rPr lang="en-US" baseline="-25000" dirty="0"/>
              <a:t>out</a:t>
            </a:r>
            <a:r>
              <a:rPr lang="en-US" dirty="0"/>
              <a:t> generated by a grammar G</a:t>
            </a:r>
            <a:r>
              <a:rPr lang="en-US" baseline="-25000" dirty="0"/>
              <a:t>out</a:t>
            </a:r>
            <a:r>
              <a:rPr lang="en-US" dirty="0"/>
              <a:t> or accepted by an automaton </a:t>
            </a:r>
            <a:r>
              <a:rPr lang="en-US" dirty="0" err="1"/>
              <a:t>A</a:t>
            </a:r>
            <a:r>
              <a:rPr lang="en-US" baseline="-25000" dirty="0" err="1"/>
              <a:t>out</a:t>
            </a:r>
            <a:endParaRPr lang="en-US" baseline="-25000" dirty="0"/>
          </a:p>
          <a:p>
            <a:pPr lvl="1"/>
            <a:r>
              <a:rPr lang="en-US" dirty="0"/>
              <a:t>The compiler is a mapping </a:t>
            </a:r>
            <a:r>
              <a:rPr lang="en-US" dirty="0" err="1"/>
              <a:t>L</a:t>
            </a:r>
            <a:r>
              <a:rPr lang="en-US" baseline="-25000" dirty="0" err="1"/>
              <a:t>in</a:t>
            </a:r>
            <a:r>
              <a:rPr lang="en-US" dirty="0" err="1"/>
              <a:t>→L</a:t>
            </a:r>
            <a:r>
              <a:rPr lang="en-US" baseline="-25000" dirty="0" err="1"/>
              <a:t>out</a:t>
            </a:r>
            <a:r>
              <a:rPr lang="en-US" dirty="0"/>
              <a:t>, where for all w</a:t>
            </a:r>
            <a:r>
              <a:rPr lang="en-US" baseline="-25000" dirty="0"/>
              <a:t>in</a:t>
            </a:r>
            <a:r>
              <a:rPr lang="en-US" dirty="0"/>
              <a:t> in L</a:t>
            </a:r>
            <a:r>
              <a:rPr lang="en-US" baseline="-25000" dirty="0"/>
              <a:t>in</a:t>
            </a:r>
            <a:r>
              <a:rPr lang="en-US" dirty="0"/>
              <a:t> exist </a:t>
            </a:r>
            <a:r>
              <a:rPr lang="en-US" dirty="0" err="1"/>
              <a:t>w</a:t>
            </a:r>
            <a:r>
              <a:rPr lang="en-US" baseline="-25000" dirty="0" err="1"/>
              <a:t>out</a:t>
            </a:r>
            <a:r>
              <a:rPr lang="en-US" dirty="0"/>
              <a:t> in L</a:t>
            </a:r>
            <a:r>
              <a:rPr lang="en-US" baseline="-25000" dirty="0"/>
              <a:t>out</a:t>
            </a:r>
            <a:r>
              <a:rPr lang="en-US" dirty="0"/>
              <a:t>. The mapping does not exist for  w</a:t>
            </a:r>
            <a:r>
              <a:rPr lang="en-US" baseline="-25000" dirty="0"/>
              <a:t>in,</a:t>
            </a:r>
            <a:r>
              <a:rPr lang="en-US" dirty="0"/>
              <a:t> not in L</a:t>
            </a:r>
            <a:r>
              <a:rPr lang="en-US" baseline="-25000" dirty="0"/>
              <a:t>in</a:t>
            </a:r>
          </a:p>
          <a:p>
            <a:r>
              <a:rPr lang="en-US" dirty="0"/>
              <a:t>Do not worry!</a:t>
            </a:r>
          </a:p>
          <a:p>
            <a:pPr lvl="1"/>
            <a:r>
              <a:rPr lang="en-US" dirty="0"/>
              <a:t>You will learn this in the Automata and Grammars (NTIN071) course (obligatory) and then Compiler Principles (NSWI098) course (elective)</a:t>
            </a:r>
          </a:p>
          <a:p>
            <a:endParaRPr lang="en-US" dirty="0"/>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a:t>
            </a:fld>
            <a:endParaRPr lang="en-US" altLang="en-US"/>
          </a:p>
        </p:txBody>
      </p:sp>
    </p:spTree>
    <p:extLst>
      <p:ext uri="{BB962C8B-B14F-4D97-AF65-F5344CB8AC3E}">
        <p14:creationId xmlns:p14="http://schemas.microsoft.com/office/powerpoint/2010/main" val="3707125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Naïve understanding of a grammar</a:t>
            </a:r>
          </a:p>
        </p:txBody>
      </p:sp>
      <p:sp>
        <p:nvSpPr>
          <p:cNvPr id="3" name="Content Placeholder 2"/>
          <p:cNvSpPr>
            <a:spLocks noGrp="1"/>
          </p:cNvSpPr>
          <p:nvPr>
            <p:ph idx="1"/>
          </p:nvPr>
        </p:nvSpPr>
        <p:spPr/>
        <p:txBody>
          <a:bodyPr/>
          <a:lstStyle/>
          <a:p>
            <a:r>
              <a:rPr lang="en-US" dirty="0"/>
              <a:t>Formal description of a language</a:t>
            </a:r>
          </a:p>
          <a:p>
            <a:pPr lvl="1"/>
            <a:r>
              <a:rPr lang="en-US" dirty="0"/>
              <a:t>Rules</a:t>
            </a:r>
          </a:p>
          <a:p>
            <a:pPr lvl="1"/>
            <a:r>
              <a:rPr lang="en-US" dirty="0"/>
              <a:t>Lexical elements</a:t>
            </a:r>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4</a:t>
            </a:fld>
            <a:endParaRPr lang="en-US" altLang="en-US"/>
          </a:p>
        </p:txBody>
      </p:sp>
      <p:sp>
        <p:nvSpPr>
          <p:cNvPr id="4" name="Content Placeholder 3"/>
          <p:cNvSpPr>
            <a:spLocks noGrp="1"/>
          </p:cNvSpPr>
          <p:nvPr>
            <p:ph sz="half" idx="4294967295"/>
          </p:nvPr>
        </p:nvSpPr>
        <p:spPr>
          <a:xfrm>
            <a:off x="1553592" y="3566357"/>
            <a:ext cx="8291512" cy="1800200"/>
          </a:xfrm>
        </p:spPr>
        <p:txBody>
          <a:bodyPr>
            <a:normAutofit/>
          </a:bodyPr>
          <a:lstStyle/>
          <a:p>
            <a:pPr marL="0" indent="0">
              <a:buNone/>
            </a:pPr>
            <a:r>
              <a:rPr lang="en-US" sz="2000" i="1" dirty="0"/>
              <a:t>iteration-statement</a:t>
            </a:r>
            <a:r>
              <a:rPr lang="en-US" sz="2000" dirty="0"/>
              <a:t>:</a:t>
            </a:r>
          </a:p>
          <a:p>
            <a:pPr marL="720000" indent="0">
              <a:buNone/>
            </a:pPr>
            <a:r>
              <a:rPr lang="en-US" sz="2000" b="1" dirty="0"/>
              <a:t>while ( </a:t>
            </a:r>
            <a:r>
              <a:rPr lang="en-US" sz="2000" i="1" dirty="0"/>
              <a:t>expression</a:t>
            </a:r>
            <a:r>
              <a:rPr lang="en-US" sz="2000" dirty="0"/>
              <a:t> </a:t>
            </a:r>
            <a:r>
              <a:rPr lang="en-US" sz="2000" b="1" dirty="0"/>
              <a:t>) </a:t>
            </a:r>
            <a:r>
              <a:rPr lang="en-US" sz="2000" i="1" dirty="0"/>
              <a:t>statement</a:t>
            </a:r>
          </a:p>
          <a:p>
            <a:pPr marL="720000" indent="0">
              <a:buNone/>
            </a:pPr>
            <a:r>
              <a:rPr lang="en-US" sz="2000" b="1" dirty="0"/>
              <a:t>do </a:t>
            </a:r>
            <a:r>
              <a:rPr lang="en-US" sz="2000" i="1" dirty="0"/>
              <a:t>statement</a:t>
            </a:r>
            <a:r>
              <a:rPr lang="en-US" sz="2000" dirty="0"/>
              <a:t> </a:t>
            </a:r>
            <a:r>
              <a:rPr lang="en-US" sz="2000" b="1" dirty="0"/>
              <a:t>while ( </a:t>
            </a:r>
            <a:r>
              <a:rPr lang="en-US" sz="2000" i="1" dirty="0"/>
              <a:t>expression</a:t>
            </a:r>
            <a:r>
              <a:rPr lang="en-US" sz="2000" dirty="0"/>
              <a:t> </a:t>
            </a:r>
            <a:r>
              <a:rPr lang="en-US" sz="2000" b="1" dirty="0"/>
              <a:t>) ;</a:t>
            </a:r>
          </a:p>
          <a:p>
            <a:pPr marL="720000" indent="0">
              <a:buNone/>
            </a:pPr>
            <a:r>
              <a:rPr lang="en-US" sz="2000" b="1" dirty="0"/>
              <a:t>for ( </a:t>
            </a:r>
            <a:r>
              <a:rPr lang="en-US" sz="2000" i="1" dirty="0" err="1"/>
              <a:t>expression</a:t>
            </a:r>
            <a:r>
              <a:rPr lang="en-US" sz="2000" baseline="-25000" dirty="0" err="1"/>
              <a:t>opt</a:t>
            </a:r>
            <a:r>
              <a:rPr lang="en-US" sz="2000" dirty="0"/>
              <a:t> </a:t>
            </a:r>
            <a:r>
              <a:rPr lang="en-US" sz="2000" b="1" dirty="0"/>
              <a:t>; </a:t>
            </a:r>
            <a:r>
              <a:rPr lang="en-US" sz="2000" i="1" dirty="0" err="1"/>
              <a:t>expression</a:t>
            </a:r>
            <a:r>
              <a:rPr lang="en-US" sz="2000" baseline="-25000" dirty="0" err="1"/>
              <a:t>opt</a:t>
            </a:r>
            <a:r>
              <a:rPr lang="en-US" sz="2000" dirty="0"/>
              <a:t> </a:t>
            </a:r>
            <a:r>
              <a:rPr lang="en-US" sz="2000" b="1" dirty="0"/>
              <a:t>; </a:t>
            </a:r>
            <a:r>
              <a:rPr lang="en-US" sz="2000" i="1" dirty="0" err="1"/>
              <a:t>expression</a:t>
            </a:r>
            <a:r>
              <a:rPr lang="en-US" sz="2000" baseline="-25000" dirty="0" err="1"/>
              <a:t>opt</a:t>
            </a:r>
            <a:r>
              <a:rPr lang="en-US" sz="2000" dirty="0"/>
              <a:t> </a:t>
            </a:r>
            <a:r>
              <a:rPr lang="en-US" sz="2000" b="1" dirty="0"/>
              <a:t>) </a:t>
            </a:r>
            <a:r>
              <a:rPr lang="en-US" sz="2000" i="1" dirty="0"/>
              <a:t>statement</a:t>
            </a:r>
          </a:p>
        </p:txBody>
      </p:sp>
    </p:spTree>
    <p:extLst>
      <p:ext uri="{BB962C8B-B14F-4D97-AF65-F5344CB8AC3E}">
        <p14:creationId xmlns:p14="http://schemas.microsoft.com/office/powerpoint/2010/main" val="760676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More practical view of a translation</a:t>
            </a:r>
          </a:p>
        </p:txBody>
      </p:sp>
      <p:sp>
        <p:nvSpPr>
          <p:cNvPr id="7" name="Rectangle 4"/>
          <p:cNvSpPr>
            <a:spLocks noChangeArrowheads="1"/>
          </p:cNvSpPr>
          <p:nvPr/>
        </p:nvSpPr>
        <p:spPr bwMode="auto">
          <a:xfrm>
            <a:off x="3489004" y="2493219"/>
            <a:ext cx="1439166"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Preprocessor</a:t>
            </a:r>
          </a:p>
        </p:txBody>
      </p:sp>
      <p:sp>
        <p:nvSpPr>
          <p:cNvPr id="8" name="Rectangle 5"/>
          <p:cNvSpPr>
            <a:spLocks noChangeArrowheads="1"/>
          </p:cNvSpPr>
          <p:nvPr/>
        </p:nvSpPr>
        <p:spPr bwMode="auto">
          <a:xfrm>
            <a:off x="6944993" y="2493219"/>
            <a:ext cx="1366837"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Compiler</a:t>
            </a:r>
            <a:endParaRPr lang="cs-CZ" dirty="0"/>
          </a:p>
        </p:txBody>
      </p:sp>
      <p:sp>
        <p:nvSpPr>
          <p:cNvPr id="9" name="Rectangle 6"/>
          <p:cNvSpPr>
            <a:spLocks noChangeArrowheads="1"/>
          </p:cNvSpPr>
          <p:nvPr/>
        </p:nvSpPr>
        <p:spPr bwMode="auto">
          <a:xfrm>
            <a:off x="6873554" y="5085607"/>
            <a:ext cx="1366838"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Assembler</a:t>
            </a:r>
          </a:p>
        </p:txBody>
      </p:sp>
      <p:sp>
        <p:nvSpPr>
          <p:cNvPr id="10" name="Rectangle 7"/>
          <p:cNvSpPr>
            <a:spLocks noChangeArrowheads="1"/>
          </p:cNvSpPr>
          <p:nvPr/>
        </p:nvSpPr>
        <p:spPr bwMode="auto">
          <a:xfrm>
            <a:off x="3343997" y="5085607"/>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Linker</a:t>
            </a:r>
          </a:p>
        </p:txBody>
      </p:sp>
      <p:sp>
        <p:nvSpPr>
          <p:cNvPr id="11" name="Line 8"/>
          <p:cNvSpPr>
            <a:spLocks noChangeShapeType="1"/>
          </p:cNvSpPr>
          <p:nvPr/>
        </p:nvSpPr>
        <p:spPr bwMode="auto">
          <a:xfrm flipV="1">
            <a:off x="4928170" y="2780556"/>
            <a:ext cx="505522" cy="0"/>
          </a:xfrm>
          <a:prstGeom prst="line">
            <a:avLst/>
          </a:prstGeom>
          <a:noFill/>
          <a:ln w="9525">
            <a:solidFill>
              <a:schemeClr val="tx1"/>
            </a:solidFill>
            <a:round/>
            <a:headEnd/>
            <a:tailEnd type="triangle" w="med" len="med"/>
          </a:ln>
          <a:effectLst/>
        </p:spPr>
        <p:txBody>
          <a:bodyPr wrap="none"/>
          <a:lstStyle/>
          <a:p>
            <a:endParaRPr lang="cs-CZ"/>
          </a:p>
        </p:txBody>
      </p:sp>
      <p:sp>
        <p:nvSpPr>
          <p:cNvPr id="12" name="Line 9"/>
          <p:cNvSpPr>
            <a:spLocks noChangeShapeType="1"/>
          </p:cNvSpPr>
          <p:nvPr/>
        </p:nvSpPr>
        <p:spPr bwMode="auto">
          <a:xfrm>
            <a:off x="7592692" y="4366468"/>
            <a:ext cx="0" cy="719138"/>
          </a:xfrm>
          <a:prstGeom prst="line">
            <a:avLst/>
          </a:prstGeom>
          <a:noFill/>
          <a:ln w="9525">
            <a:solidFill>
              <a:schemeClr val="tx1"/>
            </a:solidFill>
            <a:round/>
            <a:headEnd/>
            <a:tailEnd type="triangle" w="med" len="med"/>
          </a:ln>
          <a:effectLst/>
        </p:spPr>
        <p:txBody>
          <a:bodyPr wrap="none"/>
          <a:lstStyle/>
          <a:p>
            <a:endParaRPr lang="cs-CZ"/>
          </a:p>
        </p:txBody>
      </p:sp>
      <p:sp>
        <p:nvSpPr>
          <p:cNvPr id="13" name="Line 10"/>
          <p:cNvSpPr>
            <a:spLocks noChangeShapeType="1"/>
          </p:cNvSpPr>
          <p:nvPr/>
        </p:nvSpPr>
        <p:spPr bwMode="auto">
          <a:xfrm flipH="1">
            <a:off x="6225854" y="5374531"/>
            <a:ext cx="647700" cy="0"/>
          </a:xfrm>
          <a:prstGeom prst="line">
            <a:avLst/>
          </a:prstGeom>
          <a:noFill/>
          <a:ln w="9525">
            <a:solidFill>
              <a:schemeClr val="tx1"/>
            </a:solidFill>
            <a:round/>
            <a:headEnd/>
            <a:tailEnd type="triangle" w="med" len="med"/>
          </a:ln>
          <a:effectLst/>
        </p:spPr>
        <p:txBody>
          <a:bodyPr wrap="none"/>
          <a:lstStyle/>
          <a:p>
            <a:endParaRPr lang="cs-CZ"/>
          </a:p>
        </p:txBody>
      </p:sp>
      <p:sp>
        <p:nvSpPr>
          <p:cNvPr id="14" name="AutoShape 12"/>
          <p:cNvSpPr>
            <a:spLocks noChangeArrowheads="1"/>
          </p:cNvSpPr>
          <p:nvPr/>
        </p:nvSpPr>
        <p:spPr bwMode="auto">
          <a:xfrm>
            <a:off x="3596509" y="3562450"/>
            <a:ext cx="1223265" cy="1079500"/>
          </a:xfrm>
          <a:prstGeom prst="flowChartMultidocumen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a:t>Libraries</a:t>
            </a:r>
            <a:br>
              <a:rPr lang="en-US" dirty="0"/>
            </a:br>
            <a:r>
              <a:rPr lang="en-US" dirty="0"/>
              <a:t>Objects</a:t>
            </a:r>
            <a:endParaRPr lang="cs-CZ" dirty="0"/>
          </a:p>
        </p:txBody>
      </p:sp>
      <p:sp>
        <p:nvSpPr>
          <p:cNvPr id="15" name="Line 13"/>
          <p:cNvSpPr>
            <a:spLocks noChangeShapeType="1"/>
          </p:cNvSpPr>
          <p:nvPr/>
        </p:nvSpPr>
        <p:spPr bwMode="auto">
          <a:xfrm>
            <a:off x="4208142" y="4580782"/>
            <a:ext cx="0" cy="504825"/>
          </a:xfrm>
          <a:prstGeom prst="line">
            <a:avLst/>
          </a:prstGeom>
          <a:noFill/>
          <a:ln w="9525">
            <a:solidFill>
              <a:schemeClr val="tx1"/>
            </a:solidFill>
            <a:round/>
            <a:headEnd/>
            <a:tailEnd type="triangle" w="med" len="med"/>
          </a:ln>
          <a:effectLst/>
        </p:spPr>
        <p:txBody>
          <a:bodyPr wrap="none"/>
          <a:lstStyle/>
          <a:p>
            <a:endParaRPr lang="cs-CZ"/>
          </a:p>
        </p:txBody>
      </p:sp>
      <p:sp>
        <p:nvSpPr>
          <p:cNvPr id="16" name="AutoShape 15"/>
          <p:cNvSpPr>
            <a:spLocks noChangeArrowheads="1"/>
          </p:cNvSpPr>
          <p:nvPr/>
        </p:nvSpPr>
        <p:spPr bwMode="auto">
          <a:xfrm>
            <a:off x="1543428" y="2452738"/>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a:t>Source</a:t>
            </a:r>
            <a:br>
              <a:rPr lang="en-US" dirty="0"/>
            </a:br>
            <a:r>
              <a:rPr lang="en-US" dirty="0"/>
              <a:t>code</a:t>
            </a:r>
            <a:endParaRPr lang="cs-CZ" dirty="0"/>
          </a:p>
        </p:txBody>
      </p:sp>
      <p:sp>
        <p:nvSpPr>
          <p:cNvPr id="17" name="Line 16"/>
          <p:cNvSpPr>
            <a:spLocks noChangeShapeType="1"/>
          </p:cNvSpPr>
          <p:nvPr/>
        </p:nvSpPr>
        <p:spPr bwMode="auto">
          <a:xfrm>
            <a:off x="2768280" y="2780556"/>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18" name="AutoShape 17"/>
          <p:cNvSpPr>
            <a:spLocks noChangeArrowheads="1"/>
          </p:cNvSpPr>
          <p:nvPr/>
        </p:nvSpPr>
        <p:spPr bwMode="auto">
          <a:xfrm>
            <a:off x="5397180" y="2421781"/>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.pp</a:t>
            </a:r>
          </a:p>
        </p:txBody>
      </p:sp>
      <p:sp>
        <p:nvSpPr>
          <p:cNvPr id="19" name="Line 19"/>
          <p:cNvSpPr>
            <a:spLocks noChangeShapeType="1"/>
          </p:cNvSpPr>
          <p:nvPr/>
        </p:nvSpPr>
        <p:spPr bwMode="auto">
          <a:xfrm>
            <a:off x="6225854" y="2780557"/>
            <a:ext cx="719138" cy="1587"/>
          </a:xfrm>
          <a:prstGeom prst="line">
            <a:avLst/>
          </a:prstGeom>
          <a:noFill/>
          <a:ln w="9525">
            <a:solidFill>
              <a:schemeClr val="tx1"/>
            </a:solidFill>
            <a:round/>
            <a:headEnd/>
            <a:tailEnd type="triangle" w="med" len="med"/>
          </a:ln>
          <a:effectLst/>
        </p:spPr>
        <p:txBody>
          <a:bodyPr wrap="none"/>
          <a:lstStyle/>
          <a:p>
            <a:endParaRPr lang="cs-CZ"/>
          </a:p>
        </p:txBody>
      </p:sp>
      <p:sp>
        <p:nvSpPr>
          <p:cNvPr id="20" name="AutoShape 20"/>
          <p:cNvSpPr>
            <a:spLocks noChangeArrowheads="1"/>
          </p:cNvSpPr>
          <p:nvPr/>
        </p:nvSpPr>
        <p:spPr bwMode="auto">
          <a:xfrm>
            <a:off x="7089455" y="3717181"/>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.asm</a:t>
            </a:r>
          </a:p>
        </p:txBody>
      </p:sp>
      <p:sp>
        <p:nvSpPr>
          <p:cNvPr id="21" name="Line 21"/>
          <p:cNvSpPr>
            <a:spLocks noChangeShapeType="1"/>
          </p:cNvSpPr>
          <p:nvPr/>
        </p:nvSpPr>
        <p:spPr bwMode="auto">
          <a:xfrm>
            <a:off x="7594279" y="2998043"/>
            <a:ext cx="0" cy="719138"/>
          </a:xfrm>
          <a:prstGeom prst="line">
            <a:avLst/>
          </a:prstGeom>
          <a:noFill/>
          <a:ln w="9525">
            <a:solidFill>
              <a:schemeClr val="tx1"/>
            </a:solidFill>
            <a:round/>
            <a:headEnd/>
            <a:tailEnd type="triangle" w="med" len="med"/>
          </a:ln>
          <a:effectLst/>
        </p:spPr>
        <p:txBody>
          <a:bodyPr wrap="none"/>
          <a:lstStyle/>
          <a:p>
            <a:endParaRPr lang="cs-CZ"/>
          </a:p>
        </p:txBody>
      </p:sp>
      <p:sp>
        <p:nvSpPr>
          <p:cNvPr id="22" name="AutoShape 22"/>
          <p:cNvSpPr>
            <a:spLocks noChangeArrowheads="1"/>
          </p:cNvSpPr>
          <p:nvPr/>
        </p:nvSpPr>
        <p:spPr bwMode="auto">
          <a:xfrm>
            <a:off x="5397180" y="5014168"/>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.obj</a:t>
            </a:r>
          </a:p>
        </p:txBody>
      </p:sp>
      <p:sp>
        <p:nvSpPr>
          <p:cNvPr id="23" name="Line 23"/>
          <p:cNvSpPr>
            <a:spLocks noChangeShapeType="1"/>
          </p:cNvSpPr>
          <p:nvPr/>
        </p:nvSpPr>
        <p:spPr bwMode="auto">
          <a:xfrm flipH="1">
            <a:off x="4928171" y="5372943"/>
            <a:ext cx="505521" cy="0"/>
          </a:xfrm>
          <a:prstGeom prst="line">
            <a:avLst/>
          </a:prstGeom>
          <a:noFill/>
          <a:ln w="9525">
            <a:solidFill>
              <a:schemeClr val="tx1"/>
            </a:solidFill>
            <a:round/>
            <a:headEnd/>
            <a:tailEnd type="triangle" w="med" len="med"/>
          </a:ln>
          <a:effectLst/>
        </p:spPr>
        <p:txBody>
          <a:bodyPr wrap="none"/>
          <a:lstStyle/>
          <a:p>
            <a:endParaRPr lang="cs-CZ"/>
          </a:p>
        </p:txBody>
      </p:sp>
      <p:sp>
        <p:nvSpPr>
          <p:cNvPr id="24" name="AutoShape 24"/>
          <p:cNvSpPr>
            <a:spLocks noChangeArrowheads="1"/>
          </p:cNvSpPr>
          <p:nvPr/>
        </p:nvSpPr>
        <p:spPr bwMode="auto">
          <a:xfrm>
            <a:off x="1420784" y="4973072"/>
            <a:ext cx="1366839" cy="864146"/>
          </a:xfrm>
          <a:prstGeom prst="flowChartDocument">
            <a:avLst/>
          </a:prstGeom>
          <a:solidFill>
            <a:srgbClr val="FFC000"/>
          </a:solidFill>
          <a:ln w="9525">
            <a:solidFill>
              <a:schemeClr val="tx1"/>
            </a:solidFill>
            <a:miter lim="800000"/>
            <a:headEnd/>
            <a:tailEnd/>
          </a:ln>
          <a:effectLst/>
        </p:spPr>
        <p:txBody>
          <a:bodyPr wrap="none" anchor="ctr"/>
          <a:lstStyle/>
          <a:p>
            <a:pPr algn="ctr"/>
            <a:r>
              <a:rPr lang="en-US" dirty="0"/>
              <a:t>Executable</a:t>
            </a:r>
            <a:br>
              <a:rPr lang="en-US" dirty="0"/>
            </a:br>
            <a:r>
              <a:rPr lang="en-US" dirty="0"/>
              <a:t>code</a:t>
            </a:r>
            <a:endParaRPr lang="cs-CZ" dirty="0"/>
          </a:p>
        </p:txBody>
      </p:sp>
      <p:sp>
        <p:nvSpPr>
          <p:cNvPr id="25" name="Line 25"/>
          <p:cNvSpPr>
            <a:spLocks noChangeShapeType="1"/>
          </p:cNvSpPr>
          <p:nvPr/>
        </p:nvSpPr>
        <p:spPr bwMode="auto">
          <a:xfrm flipH="1" flipV="1">
            <a:off x="2768279" y="5372943"/>
            <a:ext cx="575717" cy="0"/>
          </a:xfrm>
          <a:prstGeom prst="line">
            <a:avLst/>
          </a:prstGeom>
          <a:noFill/>
          <a:ln w="9525">
            <a:solidFill>
              <a:schemeClr val="tx1"/>
            </a:solidFill>
            <a:round/>
            <a:headEnd/>
            <a:tailEnd type="triangle" w="med" len="med"/>
          </a:ln>
          <a:effectLst/>
        </p:spPr>
        <p:txBody>
          <a:bodyPr wrap="none"/>
          <a:lstStyle/>
          <a:p>
            <a:endParaRPr lang="cs-CZ"/>
          </a:p>
        </p:txBody>
      </p:sp>
      <p:sp>
        <p:nvSpPr>
          <p:cNvPr id="26" name="AutoShape 26"/>
          <p:cNvSpPr>
            <a:spLocks noChangeArrowheads="1"/>
          </p:cNvSpPr>
          <p:nvPr/>
        </p:nvSpPr>
        <p:spPr bwMode="auto">
          <a:xfrm>
            <a:off x="9207283" y="2061480"/>
            <a:ext cx="1657753" cy="1368301"/>
          </a:xfrm>
          <a:prstGeom prst="flowChartMultidocument">
            <a:avLst/>
          </a:prstGeom>
          <a:solidFill>
            <a:schemeClr val="accent6">
              <a:lumMod val="20000"/>
              <a:lumOff val="80000"/>
            </a:schemeClr>
          </a:solidFill>
          <a:ln w="9525">
            <a:solidFill>
              <a:schemeClr val="tx1"/>
            </a:solidFill>
            <a:miter lim="800000"/>
            <a:headEnd/>
            <a:tailEnd/>
          </a:ln>
          <a:effectLst/>
        </p:spPr>
        <p:txBody>
          <a:bodyPr wrap="none" anchor="ctr"/>
          <a:lstStyle/>
          <a:p>
            <a:pPr algn="ctr"/>
            <a:r>
              <a:rPr lang="en-US" dirty="0"/>
              <a:t>Interface</a:t>
            </a:r>
            <a:br>
              <a:rPr lang="en-US" dirty="0"/>
            </a:br>
            <a:r>
              <a:rPr lang="en-US" dirty="0"/>
              <a:t>(lib headers)</a:t>
            </a:r>
            <a:endParaRPr lang="cs-CZ" dirty="0"/>
          </a:p>
        </p:txBody>
      </p:sp>
      <p:sp>
        <p:nvSpPr>
          <p:cNvPr id="27" name="Line 27"/>
          <p:cNvSpPr>
            <a:spLocks noChangeShapeType="1"/>
          </p:cNvSpPr>
          <p:nvPr/>
        </p:nvSpPr>
        <p:spPr bwMode="auto">
          <a:xfrm rot="5400000">
            <a:off x="8761886" y="2295575"/>
            <a:ext cx="0" cy="900113"/>
          </a:xfrm>
          <a:prstGeom prst="line">
            <a:avLst/>
          </a:prstGeom>
          <a:noFill/>
          <a:ln w="9525">
            <a:solidFill>
              <a:schemeClr val="tx1"/>
            </a:solidFill>
            <a:round/>
            <a:headEnd/>
            <a:tailEnd type="triangle" w="med" len="med"/>
          </a:ln>
          <a:effectLst/>
        </p:spPr>
        <p:txBody>
          <a:bodyPr wrap="none"/>
          <a:lstStyle/>
          <a:p>
            <a:endParaRPr lang="cs-CZ"/>
          </a:p>
        </p:txBody>
      </p:sp>
      <p:sp>
        <p:nvSpPr>
          <p:cNvPr id="28" name="Freeform 30"/>
          <p:cNvSpPr>
            <a:spLocks/>
          </p:cNvSpPr>
          <p:nvPr/>
        </p:nvSpPr>
        <p:spPr bwMode="auto">
          <a:xfrm>
            <a:off x="3200080" y="2132856"/>
            <a:ext cx="5400675" cy="3744912"/>
          </a:xfrm>
          <a:custGeom>
            <a:avLst/>
            <a:gdLst/>
            <a:ahLst/>
            <a:cxnLst>
              <a:cxn ang="0">
                <a:pos x="0" y="0"/>
              </a:cxn>
              <a:cxn ang="0">
                <a:pos x="3402" y="0"/>
              </a:cxn>
              <a:cxn ang="0">
                <a:pos x="3402" y="2359"/>
              </a:cxn>
              <a:cxn ang="0">
                <a:pos x="2132" y="2359"/>
              </a:cxn>
              <a:cxn ang="0">
                <a:pos x="2132" y="771"/>
              </a:cxn>
              <a:cxn ang="0">
                <a:pos x="0" y="771"/>
              </a:cxn>
              <a:cxn ang="0">
                <a:pos x="0" y="0"/>
              </a:cxn>
            </a:cxnLst>
            <a:rect l="0" t="0" r="r" b="b"/>
            <a:pathLst>
              <a:path w="3402" h="2359">
                <a:moveTo>
                  <a:pt x="0" y="0"/>
                </a:moveTo>
                <a:lnTo>
                  <a:pt x="3402" y="0"/>
                </a:lnTo>
                <a:lnTo>
                  <a:pt x="3402" y="2359"/>
                </a:lnTo>
                <a:lnTo>
                  <a:pt x="2132" y="2359"/>
                </a:lnTo>
                <a:lnTo>
                  <a:pt x="2132" y="771"/>
                </a:lnTo>
                <a:lnTo>
                  <a:pt x="0" y="771"/>
                </a:lnTo>
                <a:lnTo>
                  <a:pt x="0" y="0"/>
                </a:lnTo>
                <a:close/>
              </a:path>
            </a:pathLst>
          </a:custGeom>
          <a:noFill/>
          <a:ln w="38100" cap="flat">
            <a:solidFill>
              <a:srgbClr val="FF0000"/>
            </a:solidFill>
            <a:prstDash val="lgDash"/>
            <a:round/>
            <a:headEnd/>
            <a:tailEnd/>
          </a:ln>
          <a:effectLst/>
        </p:spPr>
        <p:txBody>
          <a:bodyPr wrap="none"/>
          <a:lstStyle/>
          <a:p>
            <a:endParaRPr lang="cs-CZ"/>
          </a:p>
        </p:txBody>
      </p:sp>
      <p:sp>
        <p:nvSpPr>
          <p:cNvPr id="2" name="Date Placeholder 1"/>
          <p:cNvSpPr>
            <a:spLocks noGrp="1"/>
          </p:cNvSpPr>
          <p:nvPr>
            <p:ph type="dt" sz="half" idx="10"/>
          </p:nvPr>
        </p:nvSpPr>
        <p:spPr/>
        <p:txBody>
          <a:bodyPr/>
          <a:lstStyle/>
          <a:p>
            <a:r>
              <a:rPr lang="cs-CZ" altLang="en-US"/>
              <a:t>26.3.2025</a:t>
            </a:r>
            <a:endParaRPr lang="en-US" altLang="en-US"/>
          </a:p>
        </p:txBody>
      </p:sp>
      <p:sp>
        <p:nvSpPr>
          <p:cNvPr id="3" name="Slide Number Placeholder 2"/>
          <p:cNvSpPr>
            <a:spLocks noGrp="1"/>
          </p:cNvSpPr>
          <p:nvPr>
            <p:ph type="sldNum" sz="quarter" idx="12"/>
          </p:nvPr>
        </p:nvSpPr>
        <p:spPr/>
        <p:txBody>
          <a:bodyPr/>
          <a:lstStyle/>
          <a:p>
            <a:fld id="{F4A1145F-674A-4228-8958-0EA9769F5517}" type="slidenum">
              <a:rPr lang="en-US" altLang="en-US" smtClean="0"/>
              <a:pPr/>
              <a:t>5</a:t>
            </a:fld>
            <a:endParaRPr lang="en-US" altLang="en-US"/>
          </a:p>
        </p:txBody>
      </p:sp>
      <p:sp>
        <p:nvSpPr>
          <p:cNvPr id="4" name="Rounded Rectangular Callout 3"/>
          <p:cNvSpPr/>
          <p:nvPr/>
        </p:nvSpPr>
        <p:spPr>
          <a:xfrm>
            <a:off x="9085092" y="3858545"/>
            <a:ext cx="2288581" cy="1296144"/>
          </a:xfrm>
          <a:prstGeom prst="wedgeRoundRectCallout">
            <a:avLst>
              <a:gd name="adj1" fmla="val -68779"/>
              <a:gd name="adj2" fmla="val -24081"/>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This is typically done by one execution of the compiler</a:t>
            </a:r>
          </a:p>
        </p:txBody>
      </p:sp>
    </p:spTree>
    <p:extLst>
      <p:ext uri="{BB962C8B-B14F-4D97-AF65-F5344CB8AC3E}">
        <p14:creationId xmlns:p14="http://schemas.microsoft.com/office/powerpoint/2010/main" val="173012168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7248128" y="1683470"/>
            <a:ext cx="4464496" cy="4553842"/>
          </a:xfrm>
        </p:spPr>
        <p:txBody>
          <a:bodyPr>
            <a:noAutofit/>
          </a:bodyPr>
          <a:lstStyle/>
          <a:p>
            <a:pPr marL="0" indent="0">
              <a:buNone/>
            </a:pPr>
            <a:r>
              <a:rPr lang="en-US" i="1" dirty="0" err="1">
                <a:solidFill>
                  <a:schemeClr val="tx1">
                    <a:lumMod val="50000"/>
                    <a:lumOff val="50000"/>
                  </a:schemeClr>
                </a:solidFill>
              </a:rPr>
              <a:t>display.h</a:t>
            </a:r>
            <a:endParaRPr lang="en-US" i="1" dirty="0">
              <a:solidFill>
                <a:schemeClr val="tx1">
                  <a:lumMod val="50000"/>
                  <a:lumOff val="50000"/>
                </a:schemeClr>
              </a:solidFill>
            </a:endParaRPr>
          </a:p>
          <a:p>
            <a:pPr marL="0" indent="0">
              <a:buNone/>
            </a:pPr>
            <a:r>
              <a:rPr lang="en-US" sz="2000" b="1" dirty="0">
                <a:solidFill>
                  <a:srgbClr val="C00000"/>
                </a:solidFill>
                <a:latin typeface="Courier New" panose="02070309020205020404" pitchFamily="49" charset="0"/>
                <a:cs typeface="Courier New" panose="02070309020205020404" pitchFamily="49" charset="0"/>
              </a:rPr>
              <a:t>#ifndef _DISPLAY_LIB</a:t>
            </a:r>
          </a:p>
          <a:p>
            <a:pPr marL="0" indent="0">
              <a:buNone/>
            </a:pPr>
            <a:r>
              <a:rPr lang="en-US" sz="2000" b="1" dirty="0">
                <a:solidFill>
                  <a:srgbClr val="C00000"/>
                </a:solidFill>
                <a:latin typeface="Courier New" panose="02070309020205020404" pitchFamily="49" charset="0"/>
                <a:cs typeface="Courier New" panose="02070309020205020404" pitchFamily="49" charset="0"/>
              </a:rPr>
              <a:t>#define _DISPLAY_LIB</a:t>
            </a:r>
          </a:p>
          <a:p>
            <a:pPr marL="0" indent="0">
              <a:buNone/>
            </a:pPr>
            <a:r>
              <a:rPr lang="en-US" sz="2000" b="1" dirty="0">
                <a:solidFill>
                  <a:srgbClr val="0070C0"/>
                </a:solidFill>
                <a:latin typeface="Courier New" panose="02070309020205020404" pitchFamily="49" charset="0"/>
                <a:cs typeface="Courier New" panose="02070309020205020404" pitchFamily="49" charset="0"/>
              </a:rPr>
              <a:t>void</a:t>
            </a:r>
            <a:r>
              <a:rPr lang="en-US" sz="2000" b="1" dirty="0">
                <a:latin typeface="Courier New" panose="02070309020205020404" pitchFamily="49" charset="0"/>
                <a:cs typeface="Courier New" panose="02070309020205020404" pitchFamily="49" charset="0"/>
              </a:rPr>
              <a:t> </a:t>
            </a:r>
            <a:r>
              <a:rPr lang="en-US" sz="2000" b="1" dirty="0">
                <a:solidFill>
                  <a:srgbClr val="00B050"/>
                </a:solidFill>
                <a:latin typeface="Courier New" panose="02070309020205020404" pitchFamily="49" charset="0"/>
                <a:cs typeface="Courier New" panose="02070309020205020404" pitchFamily="49" charset="0"/>
              </a:rPr>
              <a:t>show</a:t>
            </a:r>
            <a:r>
              <a:rPr lang="en-US" sz="2000" b="1" dirty="0">
                <a:latin typeface="Courier New" panose="02070309020205020404" pitchFamily="49" charset="0"/>
                <a:cs typeface="Courier New" panose="02070309020205020404" pitchFamily="49" charset="0"/>
              </a:rPr>
              <a:t>(</a:t>
            </a:r>
            <a:r>
              <a:rPr lang="en-US" sz="2000" b="1" dirty="0">
                <a:solidFill>
                  <a:srgbClr val="0070C0"/>
                </a:solidFill>
                <a:latin typeface="Courier New" panose="02070309020205020404" pitchFamily="49" charset="0"/>
                <a:cs typeface="Courier New" panose="02070309020205020404" pitchFamily="49" charset="0"/>
              </a:rPr>
              <a:t>const char</a:t>
            </a:r>
            <a:r>
              <a:rPr lang="en-US" sz="2000" b="1" dirty="0">
                <a:latin typeface="Courier New" panose="02070309020205020404" pitchFamily="49" charset="0"/>
                <a:cs typeface="Courier New" panose="02070309020205020404" pitchFamily="49" charset="0"/>
              </a:rPr>
              <a:t>* msg);</a:t>
            </a:r>
          </a:p>
          <a:p>
            <a:pPr marL="0" indent="0">
              <a:buNone/>
            </a:pPr>
            <a:r>
              <a:rPr lang="en-US" sz="2000" b="1" dirty="0">
                <a:solidFill>
                  <a:srgbClr val="C00000"/>
                </a:solidFill>
                <a:latin typeface="Courier New" panose="02070309020205020404" pitchFamily="49" charset="0"/>
                <a:cs typeface="Courier New" panose="02070309020205020404" pitchFamily="49" charset="0"/>
              </a:rPr>
              <a:t>#</a:t>
            </a:r>
            <a:r>
              <a:rPr lang="en-US" sz="2000" b="1" dirty="0" err="1">
                <a:solidFill>
                  <a:srgbClr val="C00000"/>
                </a:solidFill>
                <a:latin typeface="Courier New" panose="02070309020205020404" pitchFamily="49" charset="0"/>
                <a:cs typeface="Courier New" panose="02070309020205020404" pitchFamily="49" charset="0"/>
              </a:rPr>
              <a:t>endif</a:t>
            </a:r>
            <a:endParaRPr lang="en-US" sz="2000" b="1" dirty="0">
              <a:solidFill>
                <a:srgbClr val="C00000"/>
              </a:solidFill>
              <a:latin typeface="Courier New" panose="02070309020205020404" pitchFamily="49" charset="0"/>
              <a:cs typeface="Courier New" panose="02070309020205020404" pitchFamily="49" charset="0"/>
            </a:endParaRPr>
          </a:p>
          <a:p>
            <a:pPr marL="0" indent="0">
              <a:buNone/>
            </a:pPr>
            <a:endParaRPr lang="cs-CZ" sz="1000" dirty="0">
              <a:cs typeface="Courier New" panose="02070309020205020404" pitchFamily="49" charset="0"/>
            </a:endParaRPr>
          </a:p>
          <a:p>
            <a:pPr marL="0" indent="0">
              <a:buNone/>
            </a:pPr>
            <a:r>
              <a:rPr lang="en-US" i="1" dirty="0">
                <a:solidFill>
                  <a:schemeClr val="tx1">
                    <a:lumMod val="50000"/>
                    <a:lumOff val="50000"/>
                  </a:schemeClr>
                </a:solidFill>
                <a:cs typeface="Courier New" panose="02070309020205020404" pitchFamily="49" charset="0"/>
              </a:rPr>
              <a:t>display.cpp</a:t>
            </a:r>
          </a:p>
          <a:p>
            <a:pPr marL="0" indent="0">
              <a:buNone/>
            </a:pPr>
            <a:r>
              <a:rPr lang="en-US" sz="2000" b="1" dirty="0">
                <a:solidFill>
                  <a:srgbClr val="0070C0"/>
                </a:solidFill>
                <a:latin typeface="Courier New" panose="02070309020205020404" pitchFamily="49" charset="0"/>
                <a:cs typeface="Courier New" panose="02070309020205020404" pitchFamily="49" charset="0"/>
              </a:rPr>
              <a:t>void</a:t>
            </a:r>
            <a:r>
              <a:rPr lang="en-US" sz="2000" b="1" dirty="0">
                <a:latin typeface="Courier New" panose="02070309020205020404" pitchFamily="49" charset="0"/>
                <a:cs typeface="Courier New" panose="02070309020205020404" pitchFamily="49" charset="0"/>
              </a:rPr>
              <a:t> </a:t>
            </a:r>
            <a:r>
              <a:rPr lang="en-US" sz="2000" b="1" dirty="0">
                <a:solidFill>
                  <a:srgbClr val="00B050"/>
                </a:solidFill>
                <a:latin typeface="Courier New" panose="02070309020205020404" pitchFamily="49" charset="0"/>
                <a:cs typeface="Courier New" panose="02070309020205020404" pitchFamily="49" charset="0"/>
              </a:rPr>
              <a:t>show</a:t>
            </a:r>
            <a:r>
              <a:rPr lang="en-US" sz="2000" b="1" dirty="0">
                <a:latin typeface="Courier New" panose="02070309020205020404" pitchFamily="49" charset="0"/>
                <a:cs typeface="Courier New" panose="02070309020205020404" pitchFamily="49" charset="0"/>
              </a:rPr>
              <a:t>(</a:t>
            </a:r>
            <a:r>
              <a:rPr lang="en-US" sz="2000" b="1" dirty="0">
                <a:solidFill>
                  <a:srgbClr val="0070C0"/>
                </a:solidFill>
                <a:latin typeface="Courier New" panose="02070309020205020404" pitchFamily="49" charset="0"/>
                <a:cs typeface="Courier New" panose="02070309020205020404" pitchFamily="49" charset="0"/>
              </a:rPr>
              <a:t>const char</a:t>
            </a:r>
            <a:r>
              <a:rPr lang="en-US" sz="2000" b="1" dirty="0">
                <a:latin typeface="Courier New" panose="02070309020205020404" pitchFamily="49" charset="0"/>
                <a:cs typeface="Courier New" panose="02070309020205020404" pitchFamily="49" charset="0"/>
              </a:rPr>
              <a:t>* msg)</a:t>
            </a:r>
          </a:p>
          <a:p>
            <a:pPr marL="0" indent="0">
              <a:buNone/>
            </a:pPr>
            <a:r>
              <a:rPr lang="en-US" sz="2000" b="1" dirty="0">
                <a:latin typeface="Courier New" panose="02070309020205020404" pitchFamily="49" charset="0"/>
                <a:cs typeface="Courier New" panose="02070309020205020404" pitchFamily="49" charset="0"/>
              </a:rPr>
              <a:t>{</a:t>
            </a:r>
          </a:p>
          <a:p>
            <a:pPr marL="0" indent="0">
              <a:buNone/>
            </a:pPr>
            <a:r>
              <a:rPr lang="en-US" sz="2000" b="1" dirty="0">
                <a:latin typeface="Courier New" panose="02070309020205020404" pitchFamily="49" charset="0"/>
                <a:cs typeface="Courier New" panose="02070309020205020404" pitchFamily="49" charset="0"/>
              </a:rPr>
              <a:t>    // </a:t>
            </a:r>
            <a:r>
              <a:rPr lang="cs-CZ" sz="2000" b="1" dirty="0">
                <a:latin typeface="Courier New" panose="02070309020205020404" pitchFamily="49" charset="0"/>
                <a:cs typeface="Courier New" panose="02070309020205020404" pitchFamily="49" charset="0"/>
              </a:rPr>
              <a:t>...</a:t>
            </a:r>
            <a:endParaRPr lang="en-US" sz="2000" b="1" dirty="0">
              <a:latin typeface="Courier New" panose="02070309020205020404" pitchFamily="49" charset="0"/>
              <a:cs typeface="Courier New" panose="02070309020205020404" pitchFamily="49" charset="0"/>
            </a:endParaRPr>
          </a:p>
          <a:p>
            <a:pPr marL="0" indent="0">
              <a:buNone/>
            </a:pPr>
            <a:r>
              <a:rPr lang="en-US" sz="2000" b="1" dirty="0">
                <a:latin typeface="Courier New" panose="02070309020205020404" pitchFamily="49" charset="0"/>
                <a:cs typeface="Courier New" panose="02070309020205020404" pitchFamily="49" charset="0"/>
              </a:rPr>
              <a:t>}</a:t>
            </a:r>
          </a:p>
          <a:p>
            <a:pPr marL="0" indent="0">
              <a:buNone/>
            </a:pPr>
            <a:endParaRPr lang="en-US" sz="2000" dirty="0">
              <a:cs typeface="Courier New" panose="02070309020205020404" pitchFamily="49" charset="0"/>
            </a:endParaRP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6</a:t>
            </a:fld>
            <a:endParaRPr lang="en-US" altLang="en-US"/>
          </a:p>
        </p:txBody>
      </p:sp>
      <p:sp>
        <p:nvSpPr>
          <p:cNvPr id="7" name="Content Placeholder 2"/>
          <p:cNvSpPr txBox="1">
            <a:spLocks/>
          </p:cNvSpPr>
          <p:nvPr/>
        </p:nvSpPr>
        <p:spPr>
          <a:xfrm>
            <a:off x="990600" y="1978024"/>
            <a:ext cx="5977880" cy="44116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dirty="0"/>
              <a:t>Translation step by step</a:t>
            </a:r>
          </a:p>
          <a:p>
            <a:pPr marL="0" indent="0" fontAlgn="auto">
              <a:spcAft>
                <a:spcPts val="0"/>
              </a:spcAft>
              <a:buFont typeface="Arial" panose="020B0604020202020204" pitchFamily="34" charset="0"/>
              <a:buNone/>
            </a:pPr>
            <a:endParaRPr lang="en-US" sz="1000" dirty="0"/>
          </a:p>
          <a:p>
            <a:pPr marL="0" indent="0" fontAlgn="auto">
              <a:spcAft>
                <a:spcPts val="0"/>
              </a:spcAft>
              <a:buFont typeface="Arial" panose="020B0604020202020204" pitchFamily="34" charset="0"/>
              <a:buNone/>
            </a:pPr>
            <a:r>
              <a:rPr lang="en-US" sz="2000" b="1" dirty="0">
                <a:solidFill>
                  <a:srgbClr val="C00000"/>
                </a:solidFill>
                <a:latin typeface="Courier New" panose="02070309020205020404" pitchFamily="49" charset="0"/>
                <a:cs typeface="Courier New" panose="02070309020205020404" pitchFamily="49" charset="0"/>
              </a:rPr>
              <a:t>#include "</a:t>
            </a:r>
            <a:r>
              <a:rPr lang="en-US" sz="2000" b="1" dirty="0" err="1">
                <a:solidFill>
                  <a:srgbClr val="C00000"/>
                </a:solidFill>
                <a:latin typeface="Courier New" panose="02070309020205020404" pitchFamily="49" charset="0"/>
                <a:cs typeface="Courier New" panose="02070309020205020404" pitchFamily="49" charset="0"/>
              </a:rPr>
              <a:t>display.h</a:t>
            </a:r>
            <a:r>
              <a:rPr lang="en-US" sz="2000" b="1" dirty="0">
                <a:solidFill>
                  <a:srgbClr val="C00000"/>
                </a:solidFill>
                <a:latin typeface="Courier New" panose="02070309020205020404" pitchFamily="49" charset="0"/>
                <a:cs typeface="Courier New" panose="02070309020205020404" pitchFamily="49" charset="0"/>
              </a:rPr>
              <a:t>"</a:t>
            </a:r>
          </a:p>
          <a:p>
            <a:pPr marL="0" indent="0" fontAlgn="auto">
              <a:spcAft>
                <a:spcPts val="0"/>
              </a:spcAft>
              <a:buFont typeface="Arial" panose="020B0604020202020204" pitchFamily="34" charset="0"/>
              <a:buNone/>
            </a:pPr>
            <a:endParaRPr lang="en-US" sz="2000" b="1" dirty="0">
              <a:latin typeface="Courier New" panose="02070309020205020404" pitchFamily="49" charset="0"/>
              <a:cs typeface="Courier New" panose="02070309020205020404" pitchFamily="49" charset="0"/>
            </a:endParaRPr>
          </a:p>
          <a:p>
            <a:pPr marL="0" indent="0" fontAlgn="auto">
              <a:spcAft>
                <a:spcPts val="0"/>
              </a:spcAft>
              <a:buFont typeface="Arial" panose="020B0604020202020204" pitchFamily="34" charset="0"/>
              <a:buNone/>
            </a:pPr>
            <a:r>
              <a:rPr lang="en-US" sz="2000" b="1" dirty="0" err="1">
                <a:solidFill>
                  <a:srgbClr val="0070C0"/>
                </a:solidFill>
                <a:latin typeface="Courier New" panose="02070309020205020404" pitchFamily="49" charset="0"/>
                <a:cs typeface="Courier New" panose="02070309020205020404" pitchFamily="49" charset="0"/>
              </a:rPr>
              <a:t>const</a:t>
            </a:r>
            <a:r>
              <a:rPr lang="en-US" sz="2000" b="1" dirty="0">
                <a:solidFill>
                  <a:srgbClr val="0070C0"/>
                </a:solidFill>
                <a:latin typeface="Courier New" panose="02070309020205020404" pitchFamily="49" charset="0"/>
                <a:cs typeface="Courier New" panose="02070309020205020404" pitchFamily="49" charset="0"/>
              </a:rPr>
              <a:t> char</a:t>
            </a:r>
            <a:r>
              <a:rPr lang="en-US" sz="2000" b="1" dirty="0">
                <a:latin typeface="Courier New" panose="02070309020205020404" pitchFamily="49" charset="0"/>
                <a:cs typeface="Courier New" panose="02070309020205020404" pitchFamily="49" charset="0"/>
              </a:rPr>
              <a:t>* message = "Hello world\n";</a:t>
            </a:r>
          </a:p>
          <a:p>
            <a:pPr marL="0" indent="0" fontAlgn="auto">
              <a:spcAft>
                <a:spcPts val="0"/>
              </a:spcAft>
              <a:buFont typeface="Arial" panose="020B0604020202020204" pitchFamily="34" charset="0"/>
              <a:buNone/>
            </a:pPr>
            <a:r>
              <a:rPr lang="en-US" sz="2000" b="1" dirty="0" err="1">
                <a:solidFill>
                  <a:srgbClr val="0070C0"/>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main()</a:t>
            </a:r>
          </a:p>
          <a:p>
            <a:pPr marL="0" indent="0" fontAlgn="auto">
              <a:spcAft>
                <a:spcPts val="0"/>
              </a:spcAft>
              <a:buFont typeface="Arial" panose="020B0604020202020204" pitchFamily="34" charset="0"/>
              <a:buNone/>
            </a:pPr>
            <a:r>
              <a:rPr lang="en-US" sz="2000" b="1" dirty="0">
                <a:latin typeface="Courier New" panose="02070309020205020404" pitchFamily="49" charset="0"/>
                <a:cs typeface="Courier New" panose="02070309020205020404" pitchFamily="49" charset="0"/>
              </a:rPr>
              <a:t>{</a:t>
            </a:r>
          </a:p>
          <a:p>
            <a:pPr marL="0" indent="0" fontAlgn="auto">
              <a:spcAft>
                <a:spcPts val="0"/>
              </a:spcAft>
              <a:buFont typeface="Arial" panose="020B0604020202020204" pitchFamily="34" charset="0"/>
              <a:buNone/>
            </a:pPr>
            <a:r>
              <a:rPr lang="en-US" sz="2000" b="1" dirty="0">
                <a:latin typeface="Courier New" panose="02070309020205020404" pitchFamily="49" charset="0"/>
                <a:cs typeface="Courier New" panose="02070309020205020404" pitchFamily="49" charset="0"/>
              </a:rPr>
              <a:t>    </a:t>
            </a:r>
            <a:r>
              <a:rPr lang="en-US" sz="2000" b="1" dirty="0">
                <a:solidFill>
                  <a:srgbClr val="00B050"/>
                </a:solidFill>
                <a:latin typeface="Courier New" panose="02070309020205020404" pitchFamily="49" charset="0"/>
                <a:cs typeface="Courier New" panose="02070309020205020404" pitchFamily="49" charset="0"/>
              </a:rPr>
              <a:t>show</a:t>
            </a:r>
            <a:r>
              <a:rPr lang="en-US" sz="2000" b="1" dirty="0">
                <a:latin typeface="Courier New" panose="02070309020205020404" pitchFamily="49" charset="0"/>
                <a:cs typeface="Courier New" panose="02070309020205020404" pitchFamily="49" charset="0"/>
              </a:rPr>
              <a:t>(message);</a:t>
            </a:r>
          </a:p>
          <a:p>
            <a:pPr marL="0" indent="0" fontAlgn="auto">
              <a:spcAft>
                <a:spcPts val="0"/>
              </a:spcAft>
              <a:buFont typeface="Arial" panose="020B0604020202020204" pitchFamily="34" charset="0"/>
              <a:buNone/>
            </a:pPr>
            <a:r>
              <a:rPr lang="en-US" sz="2000" b="1" dirty="0">
                <a:latin typeface="Courier New" panose="02070309020205020404" pitchFamily="49" charset="0"/>
                <a:cs typeface="Courier New" panose="02070309020205020404" pitchFamily="49" charset="0"/>
              </a:rPr>
              <a:t>    </a:t>
            </a:r>
            <a:r>
              <a:rPr lang="en-US" sz="2000" b="1" dirty="0">
                <a:solidFill>
                  <a:srgbClr val="0070C0"/>
                </a:solidFill>
                <a:latin typeface="Courier New" panose="02070309020205020404" pitchFamily="49" charset="0"/>
                <a:cs typeface="Courier New" panose="02070309020205020404" pitchFamily="49" charset="0"/>
              </a:rPr>
              <a:t>return</a:t>
            </a:r>
            <a:r>
              <a:rPr lang="en-US" sz="2000" b="1" dirty="0">
                <a:latin typeface="Courier New" panose="02070309020205020404" pitchFamily="49" charset="0"/>
                <a:cs typeface="Courier New" panose="02070309020205020404" pitchFamily="49" charset="0"/>
              </a:rPr>
              <a:t> 0;</a:t>
            </a:r>
          </a:p>
          <a:p>
            <a:pPr marL="0" indent="0" fontAlgn="auto">
              <a:spcAft>
                <a:spcPts val="0"/>
              </a:spcAft>
              <a:buFont typeface="Arial" panose="020B0604020202020204" pitchFamily="34" charset="0"/>
              <a:buNone/>
            </a:pPr>
            <a:r>
              <a:rPr lang="en-US" sz="20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90544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r>
              <a:rPr lang="en-US" dirty="0"/>
              <a:t>Preprocessor (MSVC)</a:t>
            </a:r>
          </a:p>
          <a:p>
            <a:pPr marL="457200" lvl="1" indent="0">
              <a:buNone/>
            </a:pPr>
            <a:r>
              <a:rPr lang="en-US" b="1" dirty="0">
                <a:latin typeface="Courier New" panose="02070309020205020404" pitchFamily="49" charset="0"/>
                <a:cs typeface="Courier New" panose="02070309020205020404" pitchFamily="49" charset="0"/>
              </a:rPr>
              <a:t>CL /P ./</a:t>
            </a:r>
            <a:r>
              <a:rPr lang="cs-CZ" b="1" dirty="0" err="1">
                <a:latin typeface="Courier New" panose="02070309020205020404" pitchFamily="49" charset="0"/>
                <a:cs typeface="Courier New" panose="02070309020205020404" pitchFamily="49" charset="0"/>
              </a:rPr>
              <a:t>hello</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cpp</a:t>
            </a:r>
            <a:r>
              <a:rPr lang="en-US" b="1" dirty="0">
                <a:latin typeface="Courier New" panose="02070309020205020404" pitchFamily="49" charset="0"/>
                <a:cs typeface="Courier New" panose="02070309020205020404" pitchFamily="49" charset="0"/>
              </a:rPr>
              <a:t>	</a:t>
            </a:r>
            <a:r>
              <a:rPr lang="en-US" dirty="0"/>
              <a:t>			(</a:t>
            </a:r>
            <a:r>
              <a:rPr lang="en-US" dirty="0">
                <a:hlinkClick r:id="rId3"/>
              </a:rPr>
              <a:t>the result</a:t>
            </a:r>
            <a:r>
              <a:rPr lang="en-US" dirty="0"/>
              <a:t>)</a:t>
            </a:r>
          </a:p>
          <a:p>
            <a:pPr marL="457200" lvl="1" indent="0">
              <a:buNone/>
            </a:pPr>
            <a:endParaRPr lang="en-US" sz="1200" dirty="0"/>
          </a:p>
          <a:p>
            <a:r>
              <a:rPr lang="en-US" dirty="0"/>
              <a:t>Compiler</a:t>
            </a:r>
          </a:p>
          <a:p>
            <a:pPr marL="457200" lvl="1" indent="0">
              <a:buNone/>
            </a:pPr>
            <a:r>
              <a:rPr lang="en-US" b="1" dirty="0">
                <a:latin typeface="Courier New" panose="02070309020205020404" pitchFamily="49" charset="0"/>
                <a:cs typeface="Courier New" panose="02070309020205020404" pitchFamily="49" charset="0"/>
              </a:rPr>
              <a:t>CL /FA output.asm hello.cpp	</a:t>
            </a:r>
            <a:r>
              <a:rPr lang="en-US" dirty="0"/>
              <a:t>	(</a:t>
            </a:r>
            <a:r>
              <a:rPr lang="en-US" dirty="0">
                <a:hlinkClick r:id="rId4"/>
              </a:rPr>
              <a:t>the results</a:t>
            </a:r>
            <a:r>
              <a:rPr lang="en-US" dirty="0"/>
              <a:t>)</a:t>
            </a:r>
          </a:p>
          <a:p>
            <a:pPr marL="457200" lvl="1" indent="0">
              <a:buNone/>
            </a:pPr>
            <a:endParaRPr lang="en-US" sz="1200" dirty="0"/>
          </a:p>
          <a:p>
            <a:r>
              <a:rPr lang="en-US" dirty="0"/>
              <a:t>Assembler</a:t>
            </a:r>
          </a:p>
          <a:p>
            <a:pPr marL="457200" lvl="1" indent="0">
              <a:buNone/>
            </a:pPr>
            <a:r>
              <a:rPr lang="en-US" b="1" dirty="0">
                <a:latin typeface="Courier New" panose="02070309020205020404" pitchFamily="49" charset="0"/>
                <a:cs typeface="Courier New" panose="02070309020205020404" pitchFamily="49" charset="0"/>
              </a:rPr>
              <a:t>CL /c ./hello.cpp</a:t>
            </a:r>
          </a:p>
          <a:p>
            <a:pPr marL="457200" lvl="1" indent="0">
              <a:buNone/>
            </a:pPr>
            <a:endParaRPr lang="en-US" sz="1200" dirty="0"/>
          </a:p>
          <a:p>
            <a:r>
              <a:rPr lang="en-US" dirty="0"/>
              <a:t>The full compilation – you already know</a:t>
            </a: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7</a:t>
            </a:fld>
            <a:endParaRPr lang="en-US" altLang="en-US" dirty="0"/>
          </a:p>
        </p:txBody>
      </p:sp>
      <p:sp>
        <p:nvSpPr>
          <p:cNvPr id="7" name="Rounded Rectangular Callout 6"/>
          <p:cNvSpPr/>
          <p:nvPr/>
        </p:nvSpPr>
        <p:spPr>
          <a:xfrm>
            <a:off x="6312024" y="4149080"/>
            <a:ext cx="3744416" cy="938607"/>
          </a:xfrm>
          <a:prstGeom prst="wedgeRoundRectCallout">
            <a:avLst>
              <a:gd name="adj1" fmla="val -93595"/>
              <a:gd name="adj2" fmla="val 12452"/>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Will create </a:t>
            </a:r>
            <a:r>
              <a:rPr lang="en-US" b="1" dirty="0">
                <a:latin typeface="Courier New" panose="02070309020205020404" pitchFamily="49" charset="0"/>
                <a:cs typeface="Courier New" panose="02070309020205020404" pitchFamily="49" charset="0"/>
              </a:rPr>
              <a:t>hello.obj</a:t>
            </a:r>
            <a:r>
              <a:rPr lang="en-US" dirty="0"/>
              <a:t> object file</a:t>
            </a:r>
            <a:br>
              <a:rPr lang="en-US" dirty="0"/>
            </a:br>
            <a:r>
              <a:rPr lang="en-US" dirty="0"/>
              <a:t>(will be explained later)</a:t>
            </a:r>
          </a:p>
        </p:txBody>
      </p:sp>
    </p:spTree>
    <p:extLst>
      <p:ext uri="{BB962C8B-B14F-4D97-AF65-F5344CB8AC3E}">
        <p14:creationId xmlns:p14="http://schemas.microsoft.com/office/powerpoint/2010/main" val="315368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Linker/librarian/loader</a:t>
            </a:r>
          </a:p>
        </p:txBody>
      </p:sp>
      <p:sp>
        <p:nvSpPr>
          <p:cNvPr id="3" name="Content Placeholder 2"/>
          <p:cNvSpPr>
            <a:spLocks noGrp="1"/>
          </p:cNvSpPr>
          <p:nvPr>
            <p:ph idx="1"/>
          </p:nvPr>
        </p:nvSpPr>
        <p:spPr/>
        <p:txBody>
          <a:bodyPr>
            <a:noAutofit/>
          </a:bodyPr>
          <a:lstStyle/>
          <a:p>
            <a:r>
              <a:rPr lang="en-US" dirty="0"/>
              <a:t>Library</a:t>
            </a:r>
          </a:p>
          <a:p>
            <a:pPr lvl="1"/>
            <a:r>
              <a:rPr lang="en-US" dirty="0"/>
              <a:t>A collection of compiled source modules and other resources (in one file)</a:t>
            </a:r>
          </a:p>
          <a:p>
            <a:pPr lvl="1"/>
            <a:r>
              <a:rPr lang="en-US" dirty="0"/>
              <a:t>Static linking (.lib, .a) vs. dynamic linking (.</a:t>
            </a:r>
            <a:r>
              <a:rPr lang="en-US" dirty="0" err="1"/>
              <a:t>dll</a:t>
            </a:r>
            <a:r>
              <a:rPr lang="en-US" dirty="0"/>
              <a:t>, .so)</a:t>
            </a:r>
          </a:p>
          <a:p>
            <a:r>
              <a:rPr lang="en-US" dirty="0"/>
              <a:t>Linking</a:t>
            </a:r>
          </a:p>
          <a:p>
            <a:pPr lvl="1"/>
            <a:r>
              <a:rPr lang="en-US" dirty="0"/>
              <a:t>Integrating the results of the different translations and libraries together into one executable for a given OS</a:t>
            </a:r>
          </a:p>
          <a:p>
            <a:pPr lvl="1"/>
            <a:r>
              <a:rPr lang="en-US" dirty="0"/>
              <a:t>Relocations, position-independent code</a:t>
            </a:r>
          </a:p>
          <a:p>
            <a:r>
              <a:rPr lang="en-US" dirty="0"/>
              <a:t>Loader</a:t>
            </a:r>
          </a:p>
          <a:p>
            <a:pPr lvl="1"/>
            <a:r>
              <a:rPr lang="en-US" dirty="0"/>
              <a:t>Part of OS, loads the executable into memory (and its dynamically linked libs)</a:t>
            </a:r>
          </a:p>
          <a:p>
            <a:pPr lvl="1"/>
            <a:r>
              <a:rPr lang="en-US" dirty="0"/>
              <a:t>Relocations again</a:t>
            </a: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8</a:t>
            </a:fld>
            <a:endParaRPr lang="en-US" altLang="en-US"/>
          </a:p>
        </p:txBody>
      </p:sp>
    </p:spTree>
    <p:extLst>
      <p:ext uri="{BB962C8B-B14F-4D97-AF65-F5344CB8AC3E}">
        <p14:creationId xmlns:p14="http://schemas.microsoft.com/office/powerpoint/2010/main" val="1908716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Library example</a:t>
            </a:r>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chor="t">
            <a:noAutofit/>
          </a:bodyPr>
          <a:lstStyle/>
          <a:p>
            <a:pPr marL="0" indent="0">
              <a:buNone/>
            </a:pPr>
            <a:r>
              <a:rPr lang="en-US" sz="1800" b="1" dirty="0">
                <a:solidFill>
                  <a:schemeClr val="bg1">
                    <a:lumMod val="50000"/>
                  </a:schemeClr>
                </a:solidFill>
                <a:latin typeface="Courier New" panose="02070309020205020404" pitchFamily="49" charset="0"/>
                <a:cs typeface="Courier New" panose="02070309020205020404" pitchFamily="49" charset="0"/>
              </a:rPr>
              <a:t>// </a:t>
            </a:r>
            <a:r>
              <a:rPr lang="en-US" sz="1800" b="1" dirty="0" err="1">
                <a:solidFill>
                  <a:schemeClr val="bg1">
                    <a:lumMod val="50000"/>
                  </a:schemeClr>
                </a:solidFill>
                <a:latin typeface="Courier New" panose="02070309020205020404" pitchFamily="49" charset="0"/>
                <a:cs typeface="Courier New" panose="02070309020205020404" pitchFamily="49" charset="0"/>
              </a:rPr>
              <a:t>mylibrary.h</a:t>
            </a:r>
            <a:endParaRPr lang="en-US" sz="1800" b="1" dirty="0">
              <a:solidFill>
                <a:schemeClr val="bg1">
                  <a:lumMod val="50000"/>
                </a:schemeClr>
              </a:solidFill>
              <a:latin typeface="Courier New" panose="02070309020205020404" pitchFamily="49" charset="0"/>
              <a:cs typeface="Courier New" panose="02070309020205020404" pitchFamily="49" charset="0"/>
            </a:endParaRPr>
          </a:p>
          <a:p>
            <a:pPr marL="0" indent="0">
              <a:buNone/>
            </a:pPr>
            <a:r>
              <a:rPr lang="en-US" sz="1800" b="1" dirty="0">
                <a:solidFill>
                  <a:srgbClr val="C00000"/>
                </a:solidFill>
                <a:latin typeface="Courier New" panose="02070309020205020404" pitchFamily="49" charset="0"/>
                <a:cs typeface="Courier New" panose="02070309020205020404" pitchFamily="49" charset="0"/>
              </a:rPr>
              <a:t>extern</a:t>
            </a:r>
            <a:r>
              <a:rPr lang="en-US" sz="1800" b="1" dirty="0">
                <a:latin typeface="Courier New" panose="02070309020205020404" pitchFamily="49" charset="0"/>
                <a:cs typeface="Courier New" panose="02070309020205020404" pitchFamily="49" charset="0"/>
              </a:rPr>
              <a:t> </a:t>
            </a: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var;</a:t>
            </a:r>
          </a:p>
          <a:p>
            <a:pPr marL="0" indent="0">
              <a:buNone/>
            </a:pPr>
            <a:r>
              <a:rPr lang="en-US" sz="1800" b="1" dirty="0">
                <a:solidFill>
                  <a:srgbClr val="C00000"/>
                </a:solidFill>
                <a:latin typeface="Courier New" panose="02070309020205020404" pitchFamily="49" charset="0"/>
                <a:ea typeface="+mn-lt"/>
                <a:cs typeface="Courier New" panose="02070309020205020404" pitchFamily="49" charset="0"/>
              </a:rPr>
              <a:t>extern</a:t>
            </a:r>
            <a:r>
              <a:rPr lang="en-US" sz="1800" b="1" dirty="0">
                <a:latin typeface="Courier New" panose="02070309020205020404" pitchFamily="49" charset="0"/>
                <a:ea typeface="+mn-lt"/>
                <a:cs typeface="Courier New" panose="02070309020205020404" pitchFamily="49" charset="0"/>
              </a:rPr>
              <a:t> </a:t>
            </a:r>
            <a:r>
              <a:rPr lang="en-US" sz="1800" b="1" dirty="0">
                <a:solidFill>
                  <a:srgbClr val="0070C0"/>
                </a:solidFill>
                <a:latin typeface="Courier New" panose="02070309020205020404" pitchFamily="49" charset="0"/>
                <a:ea typeface="+mn-lt"/>
                <a:cs typeface="Courier New" panose="02070309020205020404" pitchFamily="49" charset="0"/>
              </a:rPr>
              <a:t>int</a:t>
            </a:r>
            <a:r>
              <a:rPr lang="en-US" sz="1800" b="1" dirty="0">
                <a:latin typeface="Courier New" panose="02070309020205020404" pitchFamily="49" charset="0"/>
                <a:ea typeface="+mn-lt"/>
                <a:cs typeface="Courier New" panose="02070309020205020404" pitchFamily="49" charset="0"/>
              </a:rPr>
              <a:t> open(</a:t>
            </a:r>
            <a:r>
              <a:rPr lang="en-US" sz="1800" b="1" dirty="0">
                <a:solidFill>
                  <a:srgbClr val="0070C0"/>
                </a:solidFill>
                <a:latin typeface="Courier New" panose="02070309020205020404" pitchFamily="49" charset="0"/>
                <a:ea typeface="+mn-lt"/>
                <a:cs typeface="Courier New" panose="02070309020205020404" pitchFamily="49" charset="0"/>
              </a:rPr>
              <a:t>const char</a:t>
            </a:r>
            <a:r>
              <a:rPr lang="en-US" sz="1800" b="1" dirty="0">
                <a:latin typeface="Courier New" panose="02070309020205020404" pitchFamily="49" charset="0"/>
                <a:ea typeface="+mn-lt"/>
                <a:cs typeface="Courier New" panose="02070309020205020404" pitchFamily="49" charset="0"/>
              </a:rPr>
              <a:t> *name);</a:t>
            </a:r>
          </a:p>
          <a:p>
            <a:pPr marL="0" indent="0">
              <a:buNone/>
            </a:pPr>
            <a:r>
              <a:rPr lang="en-US" sz="1800" b="1" dirty="0">
                <a:solidFill>
                  <a:srgbClr val="C00000"/>
                </a:solidFill>
                <a:latin typeface="Courier New" panose="02070309020205020404" pitchFamily="49" charset="0"/>
                <a:cs typeface="Courier New" panose="02070309020205020404" pitchFamily="49" charset="0"/>
              </a:rPr>
              <a:t>extern</a:t>
            </a:r>
            <a:r>
              <a:rPr lang="en-US" sz="1800" b="1" dirty="0">
                <a:latin typeface="Courier New" panose="02070309020205020404" pitchFamily="49" charset="0"/>
                <a:cs typeface="Courier New" panose="02070309020205020404" pitchFamily="49" charset="0"/>
              </a:rPr>
              <a:t> </a:t>
            </a:r>
            <a:r>
              <a:rPr lang="en-US" sz="1800" b="1" dirty="0" err="1">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read(</a:t>
            </a:r>
            <a:r>
              <a:rPr lang="en-US" sz="1800" b="1" dirty="0" err="1">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f, </a:t>
            </a:r>
            <a:r>
              <a:rPr lang="en-US" sz="1800" b="1" dirty="0" err="1">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size,</a:t>
            </a:r>
            <a:br>
              <a:rPr lang="en-US" sz="1800" b="1" dirty="0">
                <a:latin typeface="Courier New" panose="02070309020205020404" pitchFamily="49" charset="0"/>
                <a:cs typeface="Courier New" panose="02070309020205020404" pitchFamily="49" charset="0"/>
              </a:rPr>
            </a:br>
            <a:r>
              <a:rPr lang="en-US" sz="1800" b="1" dirty="0">
                <a:latin typeface="Courier New" panose="02070309020205020404" pitchFamily="49" charset="0"/>
                <a:cs typeface="Courier New" panose="02070309020205020404" pitchFamily="49" charset="0"/>
              </a:rPr>
              <a:t>                </a:t>
            </a:r>
            <a:r>
              <a:rPr lang="en-US" sz="1800" b="1" dirty="0">
                <a:solidFill>
                  <a:srgbClr val="0070C0"/>
                </a:solidFill>
                <a:latin typeface="Courier New" panose="02070309020205020404" pitchFamily="49" charset="0"/>
                <a:cs typeface="Courier New" panose="02070309020205020404" pitchFamily="49" charset="0"/>
              </a:rPr>
              <a:t>void</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buf</a:t>
            </a:r>
            <a:r>
              <a:rPr lang="en-US" sz="1800" b="1" dirty="0">
                <a:latin typeface="Courier New" panose="02070309020205020404" pitchFamily="49" charset="0"/>
                <a:cs typeface="Courier New" panose="02070309020205020404" pitchFamily="49" charset="0"/>
              </a:rPr>
              <a:t>);</a:t>
            </a:r>
          </a:p>
          <a:p>
            <a:pPr marL="0" indent="0">
              <a:buNone/>
            </a:pPr>
            <a:endParaRPr lang="en-US" sz="1200" b="1" dirty="0">
              <a:latin typeface="Courier New" panose="02070309020205020404" pitchFamily="49" charset="0"/>
              <a:cs typeface="Courier New" panose="02070309020205020404" pitchFamily="49" charset="0"/>
            </a:endParaRPr>
          </a:p>
          <a:p>
            <a:pPr marL="0" indent="0">
              <a:buNone/>
            </a:pPr>
            <a:r>
              <a:rPr lang="en-US" sz="1800" b="1" dirty="0">
                <a:solidFill>
                  <a:schemeClr val="bg1">
                    <a:lumMod val="50000"/>
                  </a:schemeClr>
                </a:solidFill>
                <a:latin typeface="Courier New" panose="02070309020205020404" pitchFamily="49" charset="0"/>
                <a:cs typeface="Courier New" panose="02070309020205020404" pitchFamily="49" charset="0"/>
              </a:rPr>
              <a:t>// </a:t>
            </a:r>
            <a:r>
              <a:rPr lang="en-US" sz="1800" b="1" dirty="0" err="1">
                <a:solidFill>
                  <a:schemeClr val="bg1">
                    <a:lumMod val="50000"/>
                  </a:schemeClr>
                </a:solidFill>
                <a:latin typeface="Courier New" panose="02070309020205020404" pitchFamily="49" charset="0"/>
                <a:cs typeface="Courier New" panose="02070309020205020404" pitchFamily="49" charset="0"/>
              </a:rPr>
              <a:t>mylibrary.c</a:t>
            </a:r>
            <a:endParaRPr lang="en-US" sz="1800" b="1" dirty="0">
              <a:solidFill>
                <a:schemeClr val="bg1">
                  <a:lumMod val="50000"/>
                </a:schemeClr>
              </a:solidFill>
              <a:latin typeface="Courier New" panose="02070309020205020404" pitchFamily="49" charset="0"/>
              <a:cs typeface="Courier New" panose="02070309020205020404" pitchFamily="49" charset="0"/>
            </a:endParaRPr>
          </a:p>
          <a:p>
            <a:pPr marL="0" indent="0">
              <a:buNone/>
            </a:pPr>
            <a:r>
              <a:rPr lang="en-US" sz="1800" b="1" dirty="0">
                <a:latin typeface="Courier New" panose="02070309020205020404" pitchFamily="49" charset="0"/>
                <a:cs typeface="Courier New" panose="02070309020205020404" pitchFamily="49" charset="0"/>
              </a:rPr>
              <a:t>#include &lt;</a:t>
            </a:r>
            <a:r>
              <a:rPr lang="en-US" sz="1800" b="1" dirty="0" err="1">
                <a:latin typeface="Courier New" panose="02070309020205020404" pitchFamily="49" charset="0"/>
                <a:cs typeface="Courier New" panose="02070309020205020404" pitchFamily="49" charset="0"/>
              </a:rPr>
              <a:t>mylibrary.h</a:t>
            </a:r>
            <a:r>
              <a:rPr lang="en-US" sz="1800" b="1" dirty="0">
                <a:latin typeface="Courier New" panose="02070309020205020404" pitchFamily="49" charset="0"/>
                <a:cs typeface="Courier New" panose="02070309020205020404" pitchFamily="49" charset="0"/>
              </a:rPr>
              <a:t>&gt;</a:t>
            </a:r>
          </a:p>
          <a:p>
            <a:pPr marL="0" indent="0">
              <a:buNone/>
            </a:pPr>
            <a:r>
              <a:rPr lang="en-US" sz="1800" b="1" dirty="0" err="1">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var = 8;</a:t>
            </a:r>
          </a:p>
          <a:p>
            <a:pPr marL="0" indent="0">
              <a:buNone/>
            </a:pPr>
            <a:r>
              <a:rPr lang="en-US" sz="1800" b="1" dirty="0">
                <a:solidFill>
                  <a:srgbClr val="0070C0"/>
                </a:solidFill>
                <a:latin typeface="Courier New" panose="02070309020205020404" pitchFamily="49" charset="0"/>
                <a:ea typeface="+mn-lt"/>
                <a:cs typeface="Courier New" panose="02070309020205020404" pitchFamily="49" charset="0"/>
              </a:rPr>
              <a:t>int</a:t>
            </a:r>
            <a:r>
              <a:rPr lang="en-US" sz="1800" b="1" dirty="0">
                <a:latin typeface="Courier New" panose="02070309020205020404" pitchFamily="49" charset="0"/>
                <a:ea typeface="+mn-lt"/>
                <a:cs typeface="Courier New" panose="02070309020205020404" pitchFamily="49" charset="0"/>
              </a:rPr>
              <a:t> open(</a:t>
            </a:r>
            <a:r>
              <a:rPr lang="en-US" sz="1800" b="1" dirty="0">
                <a:solidFill>
                  <a:srgbClr val="0070C0"/>
                </a:solidFill>
                <a:latin typeface="Courier New" panose="02070309020205020404" pitchFamily="49" charset="0"/>
                <a:ea typeface="+mn-lt"/>
                <a:cs typeface="Courier New" panose="02070309020205020404" pitchFamily="49" charset="0"/>
              </a:rPr>
              <a:t>const char</a:t>
            </a:r>
            <a:r>
              <a:rPr lang="en-US" sz="1800" b="1" dirty="0">
                <a:latin typeface="Courier New" panose="02070309020205020404" pitchFamily="49" charset="0"/>
                <a:ea typeface="+mn-lt"/>
                <a:cs typeface="Courier New" panose="02070309020205020404" pitchFamily="49" charset="0"/>
              </a:rPr>
              <a:t> *name) { ... }</a:t>
            </a:r>
          </a:p>
          <a:p>
            <a:pPr marL="0" indent="0">
              <a:buNone/>
            </a:pP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read(</a:t>
            </a: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f, </a:t>
            </a: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size, </a:t>
            </a:r>
            <a:r>
              <a:rPr lang="en-US" sz="1800" b="1" dirty="0">
                <a:solidFill>
                  <a:srgbClr val="0070C0"/>
                </a:solidFill>
                <a:latin typeface="Courier New" panose="02070309020205020404" pitchFamily="49" charset="0"/>
                <a:cs typeface="Courier New" panose="02070309020205020404" pitchFamily="49" charset="0"/>
              </a:rPr>
              <a:t>void</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buf</a:t>
            </a:r>
            <a:r>
              <a:rPr lang="en-US" sz="1800" b="1" dirty="0">
                <a:latin typeface="Courier New" panose="02070309020205020404" pitchFamily="49" charset="0"/>
                <a:cs typeface="Courier New" panose="02070309020205020404" pitchFamily="49" charset="0"/>
              </a:rPr>
              <a:t>) { ... }</a:t>
            </a:r>
          </a:p>
        </p:txBody>
      </p:sp>
      <p:sp>
        <p:nvSpPr>
          <p:cNvPr id="6" name="Content Placeholder 5"/>
          <p:cNvSpPr>
            <a:spLocks noGrp="1"/>
          </p:cNvSpPr>
          <p:nvPr>
            <p:ph sz="half" idx="2"/>
          </p:nvPr>
        </p:nvSpPr>
        <p:spPr>
          <a:xfrm>
            <a:off x="6600056" y="1825625"/>
            <a:ext cx="4753744" cy="4351338"/>
          </a:xfrm>
        </p:spPr>
        <p:txBody>
          <a:bodyPr vert="horz" lIns="91440" tIns="45720" rIns="91440" bIns="45720" rtlCol="0" anchor="t">
            <a:normAutofit/>
          </a:bodyPr>
          <a:lstStyle/>
          <a:p>
            <a:pPr marL="0" indent="0">
              <a:buNone/>
            </a:pPr>
            <a:r>
              <a:rPr lang="en-US" sz="1800" b="1" dirty="0">
                <a:solidFill>
                  <a:schemeClr val="bg1">
                    <a:lumMod val="50000"/>
                  </a:schemeClr>
                </a:solidFill>
                <a:latin typeface="Courier New" panose="02070309020205020404" pitchFamily="49" charset="0"/>
                <a:cs typeface="Courier New" panose="02070309020205020404" pitchFamily="49" charset="0"/>
              </a:rPr>
              <a:t>// </a:t>
            </a:r>
            <a:r>
              <a:rPr lang="en-US" sz="1800" b="1" dirty="0" err="1">
                <a:solidFill>
                  <a:schemeClr val="bg1">
                    <a:lumMod val="50000"/>
                  </a:schemeClr>
                </a:solidFill>
                <a:latin typeface="Courier New" panose="02070309020205020404" pitchFamily="49" charset="0"/>
                <a:cs typeface="Courier New" panose="02070309020205020404" pitchFamily="49" charset="0"/>
              </a:rPr>
              <a:t>myapp.c</a:t>
            </a:r>
            <a:endParaRPr lang="en-US" sz="1800" b="1" dirty="0">
              <a:solidFill>
                <a:schemeClr val="bg1">
                  <a:lumMod val="50000"/>
                </a:schemeClr>
              </a:solidFill>
              <a:latin typeface="Courier New" panose="02070309020205020404" pitchFamily="49" charset="0"/>
              <a:cs typeface="Courier New" panose="02070309020205020404" pitchFamily="49" charset="0"/>
            </a:endParaRPr>
          </a:p>
          <a:p>
            <a:pPr marL="0" indent="0">
              <a:buNone/>
            </a:pPr>
            <a:r>
              <a:rPr lang="en-US" sz="1800" b="1" dirty="0">
                <a:solidFill>
                  <a:srgbClr val="C00000"/>
                </a:solidFill>
                <a:latin typeface="Courier New" panose="02070309020205020404" pitchFamily="49" charset="0"/>
                <a:cs typeface="Courier New" panose="02070309020205020404" pitchFamily="49" charset="0"/>
              </a:rPr>
              <a:t>#include &lt;</a:t>
            </a:r>
            <a:r>
              <a:rPr lang="en-US" sz="1800" b="1" dirty="0" err="1">
                <a:solidFill>
                  <a:srgbClr val="C00000"/>
                </a:solidFill>
                <a:latin typeface="Courier New" panose="02070309020205020404" pitchFamily="49" charset="0"/>
                <a:cs typeface="Courier New" panose="02070309020205020404" pitchFamily="49" charset="0"/>
              </a:rPr>
              <a:t>mylibrary.h</a:t>
            </a:r>
            <a:r>
              <a:rPr lang="en-US" sz="1800" b="1" dirty="0">
                <a:solidFill>
                  <a:srgbClr val="C00000"/>
                </a:solidFill>
                <a:latin typeface="Courier New" panose="02070309020205020404" pitchFamily="49" charset="0"/>
                <a:cs typeface="Courier New" panose="02070309020205020404" pitchFamily="49" charset="0"/>
              </a:rPr>
              <a:t>&gt;</a:t>
            </a:r>
          </a:p>
          <a:p>
            <a:pPr marL="0" indent="0">
              <a:buNone/>
            </a:pPr>
            <a:endParaRPr lang="en-US" sz="1800" b="1" dirty="0">
              <a:solidFill>
                <a:schemeClr val="bg1">
                  <a:lumMod val="50000"/>
                </a:schemeClr>
              </a:solidFill>
              <a:latin typeface="Courier New" panose="02070309020205020404" pitchFamily="49" charset="0"/>
              <a:cs typeface="Courier New" panose="02070309020205020404" pitchFamily="49" charset="0"/>
            </a:endParaRPr>
          </a:p>
          <a:p>
            <a:pPr marL="0" indent="0">
              <a:buNone/>
            </a:pPr>
            <a:endParaRPr lang="en-US" sz="1800" b="1" dirty="0">
              <a:solidFill>
                <a:schemeClr val="bg1">
                  <a:lumMod val="50000"/>
                </a:schemeClr>
              </a:solidFill>
              <a:latin typeface="Courier New" panose="02070309020205020404" pitchFamily="49" charset="0"/>
              <a:cs typeface="Courier New" panose="02070309020205020404" pitchFamily="49" charset="0"/>
            </a:endParaRPr>
          </a:p>
          <a:p>
            <a:pPr marL="0" indent="0">
              <a:buNone/>
            </a:pPr>
            <a:endParaRPr lang="en-US" sz="1800" b="1" dirty="0">
              <a:solidFill>
                <a:schemeClr val="bg1">
                  <a:lumMod val="50000"/>
                </a:schemeClr>
              </a:solidFill>
              <a:latin typeface="Courier New" panose="02070309020205020404" pitchFamily="49" charset="0"/>
              <a:cs typeface="Courier New" panose="02070309020205020404" pitchFamily="49" charset="0"/>
            </a:endParaRPr>
          </a:p>
          <a:p>
            <a:pPr marL="0" indent="0">
              <a:buNone/>
            </a:pP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main(</a:t>
            </a: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argc</a:t>
            </a:r>
            <a:r>
              <a:rPr lang="en-US" sz="1800" b="1" dirty="0">
                <a:latin typeface="Courier New" panose="02070309020205020404" pitchFamily="49" charset="0"/>
                <a:cs typeface="Courier New" panose="02070309020205020404" pitchFamily="49" charset="0"/>
              </a:rPr>
              <a:t>, </a:t>
            </a:r>
            <a:r>
              <a:rPr lang="en-US" sz="1800" b="1" dirty="0">
                <a:solidFill>
                  <a:srgbClr val="0070C0"/>
                </a:solidFill>
                <a:latin typeface="Courier New" panose="02070309020205020404" pitchFamily="49" charset="0"/>
                <a:cs typeface="Courier New" panose="02070309020205020404" pitchFamily="49" charset="0"/>
              </a:rPr>
              <a:t>char</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argv</a:t>
            </a:r>
            <a:r>
              <a:rPr lang="en-US" sz="1800" b="1" dirty="0">
                <a:latin typeface="Courier New" panose="02070309020205020404" pitchFamily="49" charset="0"/>
                <a:cs typeface="Courier New" panose="02070309020205020404" pitchFamily="49" charset="0"/>
              </a:rPr>
              <a:t>) {</a:t>
            </a:r>
          </a:p>
          <a:p>
            <a:pPr marL="0" indent="0">
              <a:buNone/>
            </a:pPr>
            <a:r>
              <a:rPr lang="en-US" sz="1800" b="1" dirty="0">
                <a:latin typeface="Courier New" panose="02070309020205020404" pitchFamily="49" charset="0"/>
                <a:cs typeface="Courier New" panose="02070309020205020404" pitchFamily="49" charset="0"/>
              </a:rPr>
              <a:t>  </a:t>
            </a:r>
            <a:r>
              <a:rPr lang="en-US" sz="1800" b="1" dirty="0">
                <a:solidFill>
                  <a:srgbClr val="0070C0"/>
                </a:solidFill>
                <a:latin typeface="Courier New" panose="02070309020205020404" pitchFamily="49" charset="0"/>
                <a:cs typeface="Courier New" panose="02070309020205020404" pitchFamily="49" charset="0"/>
              </a:rPr>
              <a:t>char</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buf</a:t>
            </a:r>
            <a:r>
              <a:rPr lang="en-US" sz="1800" b="1" dirty="0">
                <a:latin typeface="Courier New" panose="02070309020205020404" pitchFamily="49" charset="0"/>
                <a:cs typeface="Courier New" panose="02070309020205020404" pitchFamily="49" charset="0"/>
              </a:rPr>
              <a:t>[10];</a:t>
            </a:r>
          </a:p>
          <a:p>
            <a:pPr marL="0" indent="0">
              <a:buNone/>
            </a:pPr>
            <a:r>
              <a:rPr lang="en-US" sz="1800" b="1" dirty="0">
                <a:latin typeface="Courier New" panose="02070309020205020404" pitchFamily="49" charset="0"/>
                <a:cs typeface="Courier New" panose="02070309020205020404" pitchFamily="49" charset="0"/>
              </a:rPr>
              <a:t>  </a:t>
            </a: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file = </a:t>
            </a:r>
            <a:r>
              <a:rPr lang="en-US" sz="1800" b="1" dirty="0">
                <a:solidFill>
                  <a:srgbClr val="C00000"/>
                </a:solidFill>
                <a:latin typeface="Courier New" panose="02070309020205020404" pitchFamily="49" charset="0"/>
                <a:cs typeface="Courier New" panose="02070309020205020404" pitchFamily="49" charset="0"/>
              </a:rPr>
              <a:t>open</a:t>
            </a:r>
            <a:r>
              <a:rPr lang="en-US" sz="1800" b="1" dirty="0">
                <a:latin typeface="Courier New" panose="02070309020205020404" pitchFamily="49" charset="0"/>
                <a:cs typeface="Courier New" panose="02070309020205020404" pitchFamily="49" charset="0"/>
              </a:rPr>
              <a:t>("myfile.txt");</a:t>
            </a:r>
          </a:p>
          <a:p>
            <a:pPr marL="0" indent="0">
              <a:buNone/>
            </a:pPr>
            <a:r>
              <a:rPr lang="en-US" sz="1800" b="1" dirty="0">
                <a:latin typeface="Courier New" panose="02070309020205020404" pitchFamily="49" charset="0"/>
                <a:cs typeface="Courier New" panose="02070309020205020404" pitchFamily="49" charset="0"/>
              </a:rPr>
              <a:t>  </a:t>
            </a:r>
            <a:r>
              <a:rPr lang="en-US" sz="1800" b="1" dirty="0">
                <a:solidFill>
                  <a:srgbClr val="0070C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err = </a:t>
            </a:r>
            <a:r>
              <a:rPr lang="en-US" sz="1800" b="1" dirty="0">
                <a:solidFill>
                  <a:srgbClr val="C00000"/>
                </a:solidFill>
                <a:latin typeface="Courier New" panose="02070309020205020404" pitchFamily="49" charset="0"/>
                <a:cs typeface="Courier New" panose="02070309020205020404" pitchFamily="49" charset="0"/>
              </a:rPr>
              <a:t>read</a:t>
            </a:r>
            <a:r>
              <a:rPr lang="en-US" sz="1800" b="1" dirty="0">
                <a:latin typeface="Courier New" panose="02070309020205020404" pitchFamily="49" charset="0"/>
                <a:cs typeface="Courier New" panose="02070309020205020404" pitchFamily="49" charset="0"/>
              </a:rPr>
              <a:t>(file, 10, </a:t>
            </a:r>
            <a:r>
              <a:rPr lang="en-US" sz="1800" b="1" dirty="0" err="1">
                <a:latin typeface="Courier New" panose="02070309020205020404" pitchFamily="49" charset="0"/>
                <a:cs typeface="Courier New" panose="02070309020205020404" pitchFamily="49" charset="0"/>
              </a:rPr>
              <a:t>buf</a:t>
            </a:r>
            <a:r>
              <a:rPr lang="en-US" sz="1800" b="1" dirty="0">
                <a:latin typeface="Courier New" panose="02070309020205020404" pitchFamily="49" charset="0"/>
                <a:cs typeface="Courier New" panose="02070309020205020404" pitchFamily="49" charset="0"/>
              </a:rPr>
              <a:t>);</a:t>
            </a:r>
          </a:p>
          <a:p>
            <a:pPr marL="0" indent="0">
              <a:buNone/>
            </a:pPr>
            <a:r>
              <a:rPr lang="en-US" sz="1800" b="1" dirty="0">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r>
              <a:rPr lang="cs-CZ" altLang="en-US"/>
              <a:t>26.3.2025</a:t>
            </a:r>
            <a:endParaRPr lang="en-US" altLang="en-US" dirty="0"/>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9</a:t>
            </a:fld>
            <a:endParaRPr lang="en-US" altLang="en-US"/>
          </a:p>
        </p:txBody>
      </p:sp>
      <p:grpSp>
        <p:nvGrpSpPr>
          <p:cNvPr id="14" name="Group 13"/>
          <p:cNvGrpSpPr/>
          <p:nvPr/>
        </p:nvGrpSpPr>
        <p:grpSpPr>
          <a:xfrm>
            <a:off x="3071664" y="1827308"/>
            <a:ext cx="3528392" cy="521572"/>
            <a:chOff x="3071664" y="1827308"/>
            <a:chExt cx="3528392" cy="521572"/>
          </a:xfrm>
        </p:grpSpPr>
        <p:cxnSp>
          <p:nvCxnSpPr>
            <p:cNvPr id="8" name="Straight Arrow Connector 7"/>
            <p:cNvCxnSpPr/>
            <p:nvPr/>
          </p:nvCxnSpPr>
          <p:spPr>
            <a:xfrm>
              <a:off x="3071664" y="2060848"/>
              <a:ext cx="3528392" cy="288032"/>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p:cNvSpPr txBox="1"/>
            <p:nvPr/>
          </p:nvSpPr>
          <p:spPr>
            <a:xfrm rot="277650">
              <a:off x="4196710" y="1827308"/>
              <a:ext cx="1278299" cy="338554"/>
            </a:xfrm>
            <a:prstGeom prst="rect">
              <a:avLst/>
            </a:prstGeom>
            <a:noFill/>
          </p:spPr>
          <p:txBody>
            <a:bodyPr wrap="none" rtlCol="0">
              <a:spAutoFit/>
            </a:bodyPr>
            <a:lstStyle/>
            <a:p>
              <a:r>
                <a:rPr lang="en-US" sz="1600" dirty="0">
                  <a:latin typeface="+mn-lt"/>
                </a:rPr>
                <a:t>Preprocessor</a:t>
              </a:r>
            </a:p>
          </p:txBody>
        </p:sp>
      </p:grpSp>
      <p:grpSp>
        <p:nvGrpSpPr>
          <p:cNvPr id="10" name="Group 9"/>
          <p:cNvGrpSpPr/>
          <p:nvPr/>
        </p:nvGrpSpPr>
        <p:grpSpPr>
          <a:xfrm>
            <a:off x="4511824" y="4555867"/>
            <a:ext cx="3888432" cy="529317"/>
            <a:chOff x="4511824" y="4555867"/>
            <a:chExt cx="3888432" cy="529317"/>
          </a:xfrm>
        </p:grpSpPr>
        <p:cxnSp>
          <p:nvCxnSpPr>
            <p:cNvPr id="11" name="Straight Arrow Connector 10"/>
            <p:cNvCxnSpPr/>
            <p:nvPr/>
          </p:nvCxnSpPr>
          <p:spPr>
            <a:xfrm flipV="1">
              <a:off x="4511824" y="4725144"/>
              <a:ext cx="3888432" cy="360040"/>
            </a:xfrm>
            <a:prstGeom prst="straightConnector1">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12"/>
            <p:cNvSpPr txBox="1"/>
            <p:nvPr/>
          </p:nvSpPr>
          <p:spPr>
            <a:xfrm rot="21252762">
              <a:off x="5369717" y="4555867"/>
              <a:ext cx="1300164" cy="338554"/>
            </a:xfrm>
            <a:prstGeom prst="rect">
              <a:avLst/>
            </a:prstGeom>
            <a:noFill/>
          </p:spPr>
          <p:txBody>
            <a:bodyPr wrap="none" rtlCol="0">
              <a:spAutoFit/>
            </a:bodyPr>
            <a:lstStyle/>
            <a:p>
              <a:r>
                <a:rPr lang="en-US" sz="1600" dirty="0">
                  <a:latin typeface="+mn-lt"/>
                </a:rPr>
                <a:t>Linker/loader</a:t>
              </a:r>
            </a:p>
          </p:txBody>
        </p:sp>
      </p:grpSp>
    </p:spTree>
    <p:extLst>
      <p:ext uri="{BB962C8B-B14F-4D97-AF65-F5344CB8AC3E}">
        <p14:creationId xmlns:p14="http://schemas.microsoft.com/office/powerpoint/2010/main" val="330401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Library example compilation</a:t>
            </a:r>
          </a:p>
        </p:txBody>
      </p:sp>
      <p:sp>
        <p:nvSpPr>
          <p:cNvPr id="7" name="Content Placeholder 6"/>
          <p:cNvSpPr>
            <a:spLocks noGrp="1"/>
          </p:cNvSpPr>
          <p:nvPr>
            <p:ph idx="1"/>
          </p:nvPr>
        </p:nvSpPr>
        <p:spPr/>
        <p:txBody>
          <a:bodyPr/>
          <a:lstStyle/>
          <a:p>
            <a:r>
              <a:rPr lang="en-US" dirty="0"/>
              <a:t>Compiling as one project</a:t>
            </a:r>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10</a:t>
            </a:fld>
            <a:endParaRPr lang="en-US" altLang="en-US"/>
          </a:p>
        </p:txBody>
      </p:sp>
      <p:sp>
        <p:nvSpPr>
          <p:cNvPr id="8" name="AutoShape 22"/>
          <p:cNvSpPr>
            <a:spLocks noChangeArrowheads="1"/>
          </p:cNvSpPr>
          <p:nvPr/>
        </p:nvSpPr>
        <p:spPr bwMode="auto">
          <a:xfrm>
            <a:off x="5705427" y="5186370"/>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.obj</a:t>
            </a:r>
          </a:p>
        </p:txBody>
      </p:sp>
      <p:sp>
        <p:nvSpPr>
          <p:cNvPr id="9" name="Rectangle 7"/>
          <p:cNvSpPr>
            <a:spLocks noChangeArrowheads="1"/>
          </p:cNvSpPr>
          <p:nvPr/>
        </p:nvSpPr>
        <p:spPr bwMode="auto">
          <a:xfrm>
            <a:off x="7334843" y="4001666"/>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Linker</a:t>
            </a:r>
          </a:p>
        </p:txBody>
      </p:sp>
      <p:sp>
        <p:nvSpPr>
          <p:cNvPr id="10" name="AutoShape 24"/>
          <p:cNvSpPr>
            <a:spLocks noChangeArrowheads="1"/>
          </p:cNvSpPr>
          <p:nvPr/>
        </p:nvSpPr>
        <p:spPr bwMode="auto">
          <a:xfrm>
            <a:off x="9639743" y="3822005"/>
            <a:ext cx="1366839" cy="864146"/>
          </a:xfrm>
          <a:prstGeom prst="flowChartDocument">
            <a:avLst/>
          </a:prstGeom>
          <a:solidFill>
            <a:srgbClr val="FFC000"/>
          </a:solidFill>
          <a:ln w="9525">
            <a:solidFill>
              <a:schemeClr val="tx1"/>
            </a:solidFill>
            <a:miter lim="800000"/>
            <a:headEnd/>
            <a:tailEnd/>
          </a:ln>
          <a:effectLst/>
        </p:spPr>
        <p:txBody>
          <a:bodyPr wrap="none" anchor="ctr"/>
          <a:lstStyle/>
          <a:p>
            <a:pPr algn="ctr"/>
            <a:r>
              <a:rPr lang="en-US" dirty="0"/>
              <a:t>Executable</a:t>
            </a:r>
            <a:br>
              <a:rPr lang="en-US" dirty="0"/>
            </a:br>
            <a:r>
              <a:rPr lang="en-US" dirty="0"/>
              <a:t>code</a:t>
            </a:r>
            <a:endParaRPr lang="cs-CZ" dirty="0"/>
          </a:p>
        </p:txBody>
      </p:sp>
      <p:sp>
        <p:nvSpPr>
          <p:cNvPr id="11" name="AutoShape 15"/>
          <p:cNvSpPr>
            <a:spLocks noChangeArrowheads="1"/>
          </p:cNvSpPr>
          <p:nvPr/>
        </p:nvSpPr>
        <p:spPr bwMode="auto">
          <a:xfrm>
            <a:off x="1558135" y="2705523"/>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mylibrary.c</a:t>
            </a:r>
            <a:endParaRPr lang="cs-CZ" dirty="0"/>
          </a:p>
        </p:txBody>
      </p:sp>
      <p:sp>
        <p:nvSpPr>
          <p:cNvPr id="12" name="Line 16"/>
          <p:cNvSpPr>
            <a:spLocks noChangeShapeType="1"/>
          </p:cNvSpPr>
          <p:nvPr/>
        </p:nvSpPr>
        <p:spPr bwMode="auto">
          <a:xfrm>
            <a:off x="2782987" y="3033341"/>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13" name="AutoShape 15"/>
          <p:cNvSpPr>
            <a:spLocks noChangeArrowheads="1"/>
          </p:cNvSpPr>
          <p:nvPr/>
        </p:nvSpPr>
        <p:spPr bwMode="auto">
          <a:xfrm>
            <a:off x="1558135" y="5186370"/>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myapp.c</a:t>
            </a:r>
            <a:endParaRPr lang="cs-CZ" dirty="0"/>
          </a:p>
        </p:txBody>
      </p:sp>
      <p:sp>
        <p:nvSpPr>
          <p:cNvPr id="14" name="AutoShape 15"/>
          <p:cNvSpPr>
            <a:spLocks noChangeArrowheads="1"/>
          </p:cNvSpPr>
          <p:nvPr/>
        </p:nvSpPr>
        <p:spPr bwMode="auto">
          <a:xfrm>
            <a:off x="1558135" y="3588073"/>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mylibrary.h</a:t>
            </a:r>
            <a:endParaRPr lang="cs-CZ" dirty="0"/>
          </a:p>
        </p:txBody>
      </p:sp>
      <p:sp>
        <p:nvSpPr>
          <p:cNvPr id="15" name="Rectangle 7"/>
          <p:cNvSpPr>
            <a:spLocks noChangeArrowheads="1"/>
          </p:cNvSpPr>
          <p:nvPr/>
        </p:nvSpPr>
        <p:spPr bwMode="auto">
          <a:xfrm>
            <a:off x="3503712" y="2780928"/>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Compiler</a:t>
            </a:r>
          </a:p>
        </p:txBody>
      </p:sp>
      <p:sp>
        <p:nvSpPr>
          <p:cNvPr id="17" name="AutoShape 22"/>
          <p:cNvSpPr>
            <a:spLocks noChangeArrowheads="1"/>
          </p:cNvSpPr>
          <p:nvPr/>
        </p:nvSpPr>
        <p:spPr bwMode="auto">
          <a:xfrm>
            <a:off x="5707396" y="2709490"/>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.obj</a:t>
            </a:r>
          </a:p>
        </p:txBody>
      </p:sp>
      <p:sp>
        <p:nvSpPr>
          <p:cNvPr id="18" name="Line 16"/>
          <p:cNvSpPr>
            <a:spLocks noChangeShapeType="1"/>
          </p:cNvSpPr>
          <p:nvPr/>
        </p:nvSpPr>
        <p:spPr bwMode="auto">
          <a:xfrm>
            <a:off x="5078023" y="303334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19" name="Line 16"/>
          <p:cNvSpPr>
            <a:spLocks noChangeShapeType="1"/>
          </p:cNvSpPr>
          <p:nvPr/>
        </p:nvSpPr>
        <p:spPr bwMode="auto">
          <a:xfrm>
            <a:off x="8919018" y="4254078"/>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0" name="Rectangle 7"/>
          <p:cNvSpPr>
            <a:spLocks noChangeArrowheads="1"/>
          </p:cNvSpPr>
          <p:nvPr/>
        </p:nvSpPr>
        <p:spPr bwMode="auto">
          <a:xfrm>
            <a:off x="3507651" y="5248647"/>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Compiler</a:t>
            </a:r>
          </a:p>
        </p:txBody>
      </p:sp>
      <p:sp>
        <p:nvSpPr>
          <p:cNvPr id="21" name="Line 16"/>
          <p:cNvSpPr>
            <a:spLocks noChangeShapeType="1"/>
          </p:cNvSpPr>
          <p:nvPr/>
        </p:nvSpPr>
        <p:spPr bwMode="auto">
          <a:xfrm>
            <a:off x="2782987" y="5501059"/>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2" name="Line 16"/>
          <p:cNvSpPr>
            <a:spLocks noChangeShapeType="1"/>
          </p:cNvSpPr>
          <p:nvPr/>
        </p:nvSpPr>
        <p:spPr bwMode="auto">
          <a:xfrm>
            <a:off x="5087887" y="5501059"/>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3" name="Line 16"/>
          <p:cNvSpPr>
            <a:spLocks noChangeShapeType="1"/>
          </p:cNvSpPr>
          <p:nvPr/>
        </p:nvSpPr>
        <p:spPr bwMode="auto">
          <a:xfrm>
            <a:off x="2782987" y="4257403"/>
            <a:ext cx="720355" cy="991244"/>
          </a:xfrm>
          <a:prstGeom prst="line">
            <a:avLst/>
          </a:prstGeom>
          <a:noFill/>
          <a:ln w="9525">
            <a:solidFill>
              <a:schemeClr val="tx1"/>
            </a:solidFill>
            <a:round/>
            <a:headEnd/>
            <a:tailEnd type="triangle" w="med" len="med"/>
          </a:ln>
          <a:effectLst/>
        </p:spPr>
        <p:txBody>
          <a:bodyPr wrap="none"/>
          <a:lstStyle/>
          <a:p>
            <a:endParaRPr lang="cs-CZ"/>
          </a:p>
        </p:txBody>
      </p:sp>
      <p:sp>
        <p:nvSpPr>
          <p:cNvPr id="24" name="Line 16"/>
          <p:cNvSpPr>
            <a:spLocks noChangeShapeType="1"/>
          </p:cNvSpPr>
          <p:nvPr/>
        </p:nvSpPr>
        <p:spPr bwMode="auto">
          <a:xfrm>
            <a:off x="6545138" y="3045931"/>
            <a:ext cx="789705" cy="942339"/>
          </a:xfrm>
          <a:prstGeom prst="line">
            <a:avLst/>
          </a:prstGeom>
          <a:noFill/>
          <a:ln w="9525">
            <a:solidFill>
              <a:schemeClr val="tx1"/>
            </a:solidFill>
            <a:round/>
            <a:headEnd/>
            <a:tailEnd type="triangle" w="med" len="med"/>
          </a:ln>
          <a:effectLst/>
        </p:spPr>
        <p:txBody>
          <a:bodyPr wrap="none"/>
          <a:lstStyle/>
          <a:p>
            <a:endParaRPr lang="cs-CZ"/>
          </a:p>
        </p:txBody>
      </p:sp>
      <p:sp>
        <p:nvSpPr>
          <p:cNvPr id="25" name="Line 16"/>
          <p:cNvSpPr>
            <a:spLocks noChangeShapeType="1"/>
          </p:cNvSpPr>
          <p:nvPr/>
        </p:nvSpPr>
        <p:spPr bwMode="auto">
          <a:xfrm flipV="1">
            <a:off x="6642052" y="4519886"/>
            <a:ext cx="692791" cy="666482"/>
          </a:xfrm>
          <a:prstGeom prst="line">
            <a:avLst/>
          </a:prstGeom>
          <a:noFill/>
          <a:ln w="9525">
            <a:solidFill>
              <a:schemeClr val="tx1"/>
            </a:solidFill>
            <a:round/>
            <a:headEnd/>
            <a:tailEnd type="triangle" w="med" len="med"/>
          </a:ln>
          <a:effectLst/>
        </p:spPr>
        <p:txBody>
          <a:bodyPr wrap="none"/>
          <a:lstStyle/>
          <a:p>
            <a:endParaRPr lang="cs-CZ"/>
          </a:p>
        </p:txBody>
      </p:sp>
      <p:sp>
        <p:nvSpPr>
          <p:cNvPr id="26" name="Rounded Rectangular Callout 25"/>
          <p:cNvSpPr/>
          <p:nvPr/>
        </p:nvSpPr>
        <p:spPr>
          <a:xfrm>
            <a:off x="5159896" y="1800723"/>
            <a:ext cx="3956689" cy="556714"/>
          </a:xfrm>
          <a:prstGeom prst="wedgeRoundRectCallout">
            <a:avLst>
              <a:gd name="adj1" fmla="val -51727"/>
              <a:gd name="adj2" fmla="val 12103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Including preprocessor and assembler</a:t>
            </a:r>
          </a:p>
        </p:txBody>
      </p:sp>
      <p:sp>
        <p:nvSpPr>
          <p:cNvPr id="27" name="Line 16"/>
          <p:cNvSpPr>
            <a:spLocks noChangeShapeType="1"/>
          </p:cNvSpPr>
          <p:nvPr/>
        </p:nvSpPr>
        <p:spPr bwMode="auto">
          <a:xfrm flipV="1">
            <a:off x="2782617" y="3285753"/>
            <a:ext cx="719935" cy="302320"/>
          </a:xfrm>
          <a:prstGeom prst="line">
            <a:avLst/>
          </a:prstGeom>
          <a:noFill/>
          <a:ln w="9525">
            <a:solidFill>
              <a:schemeClr val="tx1"/>
            </a:solidFill>
            <a:round/>
            <a:headEnd/>
            <a:tailEnd type="triangle" w="med" len="med"/>
          </a:ln>
          <a:effectLst/>
        </p:spPr>
        <p:txBody>
          <a:bodyPr wrap="none"/>
          <a:lstStyle/>
          <a:p>
            <a:endParaRPr lang="cs-CZ"/>
          </a:p>
        </p:txBody>
      </p:sp>
      <p:sp>
        <p:nvSpPr>
          <p:cNvPr id="28" name="Rounded Rectangular Callout 27"/>
          <p:cNvSpPr/>
          <p:nvPr/>
        </p:nvSpPr>
        <p:spPr>
          <a:xfrm>
            <a:off x="3360964" y="3709244"/>
            <a:ext cx="2151856" cy="556714"/>
          </a:xfrm>
          <a:prstGeom prst="wedgeRoundRectCallout">
            <a:avLst>
              <a:gd name="adj1" fmla="val -55976"/>
              <a:gd name="adj2" fmla="val -9547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Interface checking</a:t>
            </a:r>
          </a:p>
        </p:txBody>
      </p:sp>
    </p:spTree>
    <p:extLst>
      <p:ext uri="{BB962C8B-B14F-4D97-AF65-F5344CB8AC3E}">
        <p14:creationId xmlns:p14="http://schemas.microsoft.com/office/powerpoint/2010/main" val="2618257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Library example compilation</a:t>
            </a:r>
          </a:p>
        </p:txBody>
      </p:sp>
      <p:sp>
        <p:nvSpPr>
          <p:cNvPr id="7" name="Content Placeholder 6"/>
          <p:cNvSpPr>
            <a:spLocks noGrp="1"/>
          </p:cNvSpPr>
          <p:nvPr>
            <p:ph idx="1"/>
          </p:nvPr>
        </p:nvSpPr>
        <p:spPr/>
        <p:txBody>
          <a:bodyPr/>
          <a:lstStyle/>
          <a:p>
            <a:r>
              <a:rPr lang="en-US" dirty="0"/>
              <a:t>Compiling separately, linking as static library</a:t>
            </a:r>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11</a:t>
            </a:fld>
            <a:endParaRPr lang="en-US" altLang="en-US"/>
          </a:p>
        </p:txBody>
      </p:sp>
      <p:sp>
        <p:nvSpPr>
          <p:cNvPr id="8" name="AutoShape 22"/>
          <p:cNvSpPr>
            <a:spLocks noChangeArrowheads="1"/>
          </p:cNvSpPr>
          <p:nvPr/>
        </p:nvSpPr>
        <p:spPr bwMode="auto">
          <a:xfrm>
            <a:off x="5705427" y="5186370"/>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.obj</a:t>
            </a:r>
          </a:p>
        </p:txBody>
      </p:sp>
      <p:sp>
        <p:nvSpPr>
          <p:cNvPr id="9" name="Rectangle 7"/>
          <p:cNvSpPr>
            <a:spLocks noChangeArrowheads="1"/>
          </p:cNvSpPr>
          <p:nvPr/>
        </p:nvSpPr>
        <p:spPr bwMode="auto">
          <a:xfrm>
            <a:off x="7293911" y="5243093"/>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Linker</a:t>
            </a:r>
          </a:p>
        </p:txBody>
      </p:sp>
      <p:sp>
        <p:nvSpPr>
          <p:cNvPr id="10" name="AutoShape 24"/>
          <p:cNvSpPr>
            <a:spLocks noChangeArrowheads="1"/>
          </p:cNvSpPr>
          <p:nvPr/>
        </p:nvSpPr>
        <p:spPr bwMode="auto">
          <a:xfrm>
            <a:off x="9614991" y="5078147"/>
            <a:ext cx="1366839" cy="864146"/>
          </a:xfrm>
          <a:prstGeom prst="flowChartDocument">
            <a:avLst/>
          </a:prstGeom>
          <a:solidFill>
            <a:srgbClr val="FFC000"/>
          </a:solidFill>
          <a:ln w="9525">
            <a:solidFill>
              <a:schemeClr val="tx1"/>
            </a:solidFill>
            <a:miter lim="800000"/>
            <a:headEnd/>
            <a:tailEnd/>
          </a:ln>
          <a:effectLst/>
        </p:spPr>
        <p:txBody>
          <a:bodyPr wrap="none" anchor="ctr"/>
          <a:lstStyle/>
          <a:p>
            <a:pPr algn="ctr"/>
            <a:r>
              <a:rPr lang="en-US" dirty="0"/>
              <a:t>Executable</a:t>
            </a:r>
            <a:br>
              <a:rPr lang="en-US" dirty="0"/>
            </a:br>
            <a:r>
              <a:rPr lang="en-US" dirty="0"/>
              <a:t>code</a:t>
            </a:r>
            <a:endParaRPr lang="cs-CZ" dirty="0"/>
          </a:p>
        </p:txBody>
      </p:sp>
      <p:sp>
        <p:nvSpPr>
          <p:cNvPr id="11" name="AutoShape 15"/>
          <p:cNvSpPr>
            <a:spLocks noChangeArrowheads="1"/>
          </p:cNvSpPr>
          <p:nvPr/>
        </p:nvSpPr>
        <p:spPr bwMode="auto">
          <a:xfrm>
            <a:off x="1558135" y="2705523"/>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mylibrary.c</a:t>
            </a:r>
            <a:endParaRPr lang="cs-CZ" dirty="0"/>
          </a:p>
        </p:txBody>
      </p:sp>
      <p:sp>
        <p:nvSpPr>
          <p:cNvPr id="12" name="Line 16"/>
          <p:cNvSpPr>
            <a:spLocks noChangeShapeType="1"/>
          </p:cNvSpPr>
          <p:nvPr/>
        </p:nvSpPr>
        <p:spPr bwMode="auto">
          <a:xfrm>
            <a:off x="2782987" y="3033341"/>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13" name="AutoShape 15"/>
          <p:cNvSpPr>
            <a:spLocks noChangeArrowheads="1"/>
          </p:cNvSpPr>
          <p:nvPr/>
        </p:nvSpPr>
        <p:spPr bwMode="auto">
          <a:xfrm>
            <a:off x="1558135" y="5186370"/>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myapp.c</a:t>
            </a:r>
            <a:endParaRPr lang="cs-CZ" dirty="0"/>
          </a:p>
        </p:txBody>
      </p:sp>
      <p:sp>
        <p:nvSpPr>
          <p:cNvPr id="14" name="AutoShape 15"/>
          <p:cNvSpPr>
            <a:spLocks noChangeArrowheads="1"/>
          </p:cNvSpPr>
          <p:nvPr/>
        </p:nvSpPr>
        <p:spPr bwMode="auto">
          <a:xfrm>
            <a:off x="1558135" y="3588073"/>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mylibrary.h</a:t>
            </a:r>
            <a:endParaRPr lang="cs-CZ" dirty="0"/>
          </a:p>
        </p:txBody>
      </p:sp>
      <p:sp>
        <p:nvSpPr>
          <p:cNvPr id="15" name="Rectangle 7"/>
          <p:cNvSpPr>
            <a:spLocks noChangeArrowheads="1"/>
          </p:cNvSpPr>
          <p:nvPr/>
        </p:nvSpPr>
        <p:spPr bwMode="auto">
          <a:xfrm>
            <a:off x="3503712" y="2780928"/>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Compiler</a:t>
            </a:r>
          </a:p>
        </p:txBody>
      </p:sp>
      <p:sp>
        <p:nvSpPr>
          <p:cNvPr id="17" name="AutoShape 22"/>
          <p:cNvSpPr>
            <a:spLocks noChangeArrowheads="1"/>
          </p:cNvSpPr>
          <p:nvPr/>
        </p:nvSpPr>
        <p:spPr bwMode="auto">
          <a:xfrm>
            <a:off x="5707396" y="2709490"/>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.obj</a:t>
            </a:r>
          </a:p>
        </p:txBody>
      </p:sp>
      <p:sp>
        <p:nvSpPr>
          <p:cNvPr id="18" name="Line 16"/>
          <p:cNvSpPr>
            <a:spLocks noChangeShapeType="1"/>
          </p:cNvSpPr>
          <p:nvPr/>
        </p:nvSpPr>
        <p:spPr bwMode="auto">
          <a:xfrm>
            <a:off x="5078023" y="303334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19" name="Line 16"/>
          <p:cNvSpPr>
            <a:spLocks noChangeShapeType="1"/>
          </p:cNvSpPr>
          <p:nvPr/>
        </p:nvSpPr>
        <p:spPr bwMode="auto">
          <a:xfrm>
            <a:off x="8894266" y="551022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0" name="Rectangle 7"/>
          <p:cNvSpPr>
            <a:spLocks noChangeArrowheads="1"/>
          </p:cNvSpPr>
          <p:nvPr/>
        </p:nvSpPr>
        <p:spPr bwMode="auto">
          <a:xfrm>
            <a:off x="3507651" y="5248647"/>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Compiler</a:t>
            </a:r>
          </a:p>
        </p:txBody>
      </p:sp>
      <p:sp>
        <p:nvSpPr>
          <p:cNvPr id="21" name="Line 16"/>
          <p:cNvSpPr>
            <a:spLocks noChangeShapeType="1"/>
          </p:cNvSpPr>
          <p:nvPr/>
        </p:nvSpPr>
        <p:spPr bwMode="auto">
          <a:xfrm>
            <a:off x="2782987" y="5501059"/>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2" name="Line 16"/>
          <p:cNvSpPr>
            <a:spLocks noChangeShapeType="1"/>
          </p:cNvSpPr>
          <p:nvPr/>
        </p:nvSpPr>
        <p:spPr bwMode="auto">
          <a:xfrm>
            <a:off x="5087887" y="5501059"/>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3" name="Line 16"/>
          <p:cNvSpPr>
            <a:spLocks noChangeShapeType="1"/>
          </p:cNvSpPr>
          <p:nvPr/>
        </p:nvSpPr>
        <p:spPr bwMode="auto">
          <a:xfrm>
            <a:off x="2782987" y="4257403"/>
            <a:ext cx="720355" cy="991244"/>
          </a:xfrm>
          <a:prstGeom prst="line">
            <a:avLst/>
          </a:prstGeom>
          <a:noFill/>
          <a:ln w="9525">
            <a:solidFill>
              <a:schemeClr val="tx1"/>
            </a:solidFill>
            <a:round/>
            <a:headEnd/>
            <a:tailEnd type="triangle" w="med" len="med"/>
          </a:ln>
          <a:effectLst/>
        </p:spPr>
        <p:txBody>
          <a:bodyPr wrap="none"/>
          <a:lstStyle/>
          <a:p>
            <a:endParaRPr lang="cs-CZ"/>
          </a:p>
        </p:txBody>
      </p:sp>
      <p:sp>
        <p:nvSpPr>
          <p:cNvPr id="27" name="Rectangle 7"/>
          <p:cNvSpPr>
            <a:spLocks noChangeArrowheads="1"/>
          </p:cNvSpPr>
          <p:nvPr/>
        </p:nvSpPr>
        <p:spPr bwMode="auto">
          <a:xfrm>
            <a:off x="7299337" y="2780927"/>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Linker</a:t>
            </a:r>
          </a:p>
        </p:txBody>
      </p:sp>
      <p:sp>
        <p:nvSpPr>
          <p:cNvPr id="28" name="Line 16"/>
          <p:cNvSpPr>
            <a:spLocks noChangeShapeType="1"/>
          </p:cNvSpPr>
          <p:nvPr/>
        </p:nvSpPr>
        <p:spPr bwMode="auto">
          <a:xfrm>
            <a:off x="6577245" y="303423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9" name="AutoShape 22"/>
          <p:cNvSpPr>
            <a:spLocks noChangeArrowheads="1"/>
          </p:cNvSpPr>
          <p:nvPr/>
        </p:nvSpPr>
        <p:spPr bwMode="auto">
          <a:xfrm>
            <a:off x="7617685" y="3940572"/>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en-US" dirty="0"/>
              <a:t>.lib</a:t>
            </a:r>
            <a:endParaRPr lang="cs-CZ" dirty="0"/>
          </a:p>
        </p:txBody>
      </p:sp>
      <p:sp>
        <p:nvSpPr>
          <p:cNvPr id="31" name="Line 16"/>
          <p:cNvSpPr>
            <a:spLocks noChangeShapeType="1"/>
          </p:cNvSpPr>
          <p:nvPr/>
        </p:nvSpPr>
        <p:spPr bwMode="auto">
          <a:xfrm>
            <a:off x="6577244" y="551022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32" name="Line 16"/>
          <p:cNvSpPr>
            <a:spLocks noChangeShapeType="1"/>
          </p:cNvSpPr>
          <p:nvPr/>
        </p:nvSpPr>
        <p:spPr bwMode="auto">
          <a:xfrm flipH="1">
            <a:off x="8112222" y="3285753"/>
            <a:ext cx="1" cy="654820"/>
          </a:xfrm>
          <a:prstGeom prst="line">
            <a:avLst/>
          </a:prstGeom>
          <a:noFill/>
          <a:ln w="9525">
            <a:solidFill>
              <a:schemeClr val="tx1"/>
            </a:solidFill>
            <a:round/>
            <a:headEnd/>
            <a:tailEnd type="triangle" w="med" len="med"/>
          </a:ln>
          <a:effectLst/>
        </p:spPr>
        <p:txBody>
          <a:bodyPr wrap="none"/>
          <a:lstStyle/>
          <a:p>
            <a:endParaRPr lang="cs-CZ"/>
          </a:p>
        </p:txBody>
      </p:sp>
      <p:sp>
        <p:nvSpPr>
          <p:cNvPr id="33" name="Line 16"/>
          <p:cNvSpPr>
            <a:spLocks noChangeShapeType="1"/>
          </p:cNvSpPr>
          <p:nvPr/>
        </p:nvSpPr>
        <p:spPr bwMode="auto">
          <a:xfrm flipH="1">
            <a:off x="8112222" y="4588272"/>
            <a:ext cx="1" cy="654820"/>
          </a:xfrm>
          <a:prstGeom prst="line">
            <a:avLst/>
          </a:prstGeom>
          <a:noFill/>
          <a:ln w="9525">
            <a:solidFill>
              <a:schemeClr val="tx1"/>
            </a:solidFill>
            <a:round/>
            <a:headEnd/>
            <a:tailEnd type="triangle" w="med" len="med"/>
          </a:ln>
          <a:effectLst/>
        </p:spPr>
        <p:txBody>
          <a:bodyPr wrap="none"/>
          <a:lstStyle/>
          <a:p>
            <a:endParaRPr lang="cs-CZ"/>
          </a:p>
        </p:txBody>
      </p:sp>
      <p:sp>
        <p:nvSpPr>
          <p:cNvPr id="34" name="Rounded Rectangular Callout 33"/>
          <p:cNvSpPr/>
          <p:nvPr/>
        </p:nvSpPr>
        <p:spPr>
          <a:xfrm>
            <a:off x="9048847" y="3549387"/>
            <a:ext cx="2457789" cy="800817"/>
          </a:xfrm>
          <a:prstGeom prst="wedgeRoundRectCallout">
            <a:avLst>
              <a:gd name="adj1" fmla="val -68704"/>
              <a:gd name="adj2" fmla="val -91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Compiled just once, distributed as library</a:t>
            </a:r>
          </a:p>
        </p:txBody>
      </p:sp>
      <p:sp>
        <p:nvSpPr>
          <p:cNvPr id="30" name="Line 16"/>
          <p:cNvSpPr>
            <a:spLocks noChangeShapeType="1"/>
          </p:cNvSpPr>
          <p:nvPr/>
        </p:nvSpPr>
        <p:spPr bwMode="auto">
          <a:xfrm flipV="1">
            <a:off x="2782617" y="3285753"/>
            <a:ext cx="719935" cy="302320"/>
          </a:xfrm>
          <a:prstGeom prst="line">
            <a:avLst/>
          </a:prstGeom>
          <a:noFill/>
          <a:ln w="9525">
            <a:solidFill>
              <a:schemeClr val="tx1"/>
            </a:solidFill>
            <a:round/>
            <a:headEnd/>
            <a:tailEnd type="triangle" w="med" len="med"/>
          </a:ln>
          <a:effectLst/>
        </p:spPr>
        <p:txBody>
          <a:bodyPr wrap="none"/>
          <a:lstStyle/>
          <a:p>
            <a:endParaRPr lang="cs-CZ"/>
          </a:p>
        </p:txBody>
      </p:sp>
    </p:spTree>
    <p:extLst>
      <p:ext uri="{BB962C8B-B14F-4D97-AF65-F5344CB8AC3E}">
        <p14:creationId xmlns:p14="http://schemas.microsoft.com/office/powerpoint/2010/main" val="2134841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Library example compilation</a:t>
            </a:r>
          </a:p>
        </p:txBody>
      </p:sp>
      <p:sp>
        <p:nvSpPr>
          <p:cNvPr id="7" name="Content Placeholder 6"/>
          <p:cNvSpPr>
            <a:spLocks noGrp="1"/>
          </p:cNvSpPr>
          <p:nvPr>
            <p:ph idx="1"/>
          </p:nvPr>
        </p:nvSpPr>
        <p:spPr/>
        <p:txBody>
          <a:bodyPr/>
          <a:lstStyle/>
          <a:p>
            <a:r>
              <a:rPr lang="en-US" dirty="0"/>
              <a:t>Compiling separately, linking as dynamic library</a:t>
            </a:r>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12</a:t>
            </a:fld>
            <a:endParaRPr lang="en-US" altLang="en-US"/>
          </a:p>
        </p:txBody>
      </p:sp>
      <p:sp>
        <p:nvSpPr>
          <p:cNvPr id="8" name="AutoShape 22"/>
          <p:cNvSpPr>
            <a:spLocks noChangeArrowheads="1"/>
          </p:cNvSpPr>
          <p:nvPr/>
        </p:nvSpPr>
        <p:spPr bwMode="auto">
          <a:xfrm>
            <a:off x="5705427" y="5186370"/>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.obj</a:t>
            </a:r>
          </a:p>
        </p:txBody>
      </p:sp>
      <p:sp>
        <p:nvSpPr>
          <p:cNvPr id="9" name="Rectangle 7"/>
          <p:cNvSpPr>
            <a:spLocks noChangeArrowheads="1"/>
          </p:cNvSpPr>
          <p:nvPr/>
        </p:nvSpPr>
        <p:spPr bwMode="auto">
          <a:xfrm>
            <a:off x="7293911" y="5243093"/>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Linker</a:t>
            </a:r>
          </a:p>
        </p:txBody>
      </p:sp>
      <p:sp>
        <p:nvSpPr>
          <p:cNvPr id="10" name="AutoShape 24"/>
          <p:cNvSpPr>
            <a:spLocks noChangeArrowheads="1"/>
          </p:cNvSpPr>
          <p:nvPr/>
        </p:nvSpPr>
        <p:spPr bwMode="auto">
          <a:xfrm>
            <a:off x="9614991" y="5078147"/>
            <a:ext cx="1366839" cy="864146"/>
          </a:xfrm>
          <a:prstGeom prst="flowChartDocument">
            <a:avLst/>
          </a:prstGeom>
          <a:solidFill>
            <a:srgbClr val="FFC000"/>
          </a:solidFill>
          <a:ln w="9525">
            <a:solidFill>
              <a:schemeClr val="tx1"/>
            </a:solidFill>
            <a:miter lim="800000"/>
            <a:headEnd/>
            <a:tailEnd/>
          </a:ln>
          <a:effectLst/>
        </p:spPr>
        <p:txBody>
          <a:bodyPr wrap="none" anchor="ctr"/>
          <a:lstStyle/>
          <a:p>
            <a:pPr algn="ctr"/>
            <a:r>
              <a:rPr lang="en-US" dirty="0"/>
              <a:t>Executable</a:t>
            </a:r>
            <a:br>
              <a:rPr lang="en-US" dirty="0"/>
            </a:br>
            <a:r>
              <a:rPr lang="en-US" dirty="0"/>
              <a:t>code</a:t>
            </a:r>
            <a:endParaRPr lang="cs-CZ" dirty="0"/>
          </a:p>
        </p:txBody>
      </p:sp>
      <p:sp>
        <p:nvSpPr>
          <p:cNvPr id="11" name="AutoShape 15"/>
          <p:cNvSpPr>
            <a:spLocks noChangeArrowheads="1"/>
          </p:cNvSpPr>
          <p:nvPr/>
        </p:nvSpPr>
        <p:spPr bwMode="auto">
          <a:xfrm>
            <a:off x="1558135" y="2705523"/>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mylibrary.c</a:t>
            </a:r>
            <a:endParaRPr lang="cs-CZ" dirty="0"/>
          </a:p>
        </p:txBody>
      </p:sp>
      <p:sp>
        <p:nvSpPr>
          <p:cNvPr id="12" name="Line 16"/>
          <p:cNvSpPr>
            <a:spLocks noChangeShapeType="1"/>
          </p:cNvSpPr>
          <p:nvPr/>
        </p:nvSpPr>
        <p:spPr bwMode="auto">
          <a:xfrm>
            <a:off x="2782987" y="3033341"/>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13" name="AutoShape 15"/>
          <p:cNvSpPr>
            <a:spLocks noChangeArrowheads="1"/>
          </p:cNvSpPr>
          <p:nvPr/>
        </p:nvSpPr>
        <p:spPr bwMode="auto">
          <a:xfrm>
            <a:off x="1558135" y="5186370"/>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myapp.c</a:t>
            </a:r>
            <a:endParaRPr lang="cs-CZ" dirty="0"/>
          </a:p>
        </p:txBody>
      </p:sp>
      <p:sp>
        <p:nvSpPr>
          <p:cNvPr id="14" name="AutoShape 15"/>
          <p:cNvSpPr>
            <a:spLocks noChangeArrowheads="1"/>
          </p:cNvSpPr>
          <p:nvPr/>
        </p:nvSpPr>
        <p:spPr bwMode="auto">
          <a:xfrm>
            <a:off x="1558135" y="3588073"/>
            <a:ext cx="1224482" cy="827186"/>
          </a:xfrm>
          <a:prstGeom prst="flowChartDocumen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dirty="0" err="1"/>
              <a:t>mylibrary.h</a:t>
            </a:r>
            <a:endParaRPr lang="cs-CZ" dirty="0"/>
          </a:p>
        </p:txBody>
      </p:sp>
      <p:sp>
        <p:nvSpPr>
          <p:cNvPr id="15" name="Rectangle 7"/>
          <p:cNvSpPr>
            <a:spLocks noChangeArrowheads="1"/>
          </p:cNvSpPr>
          <p:nvPr/>
        </p:nvSpPr>
        <p:spPr bwMode="auto">
          <a:xfrm>
            <a:off x="3503712" y="2780928"/>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Compiler</a:t>
            </a:r>
          </a:p>
        </p:txBody>
      </p:sp>
      <p:sp>
        <p:nvSpPr>
          <p:cNvPr id="17" name="AutoShape 22"/>
          <p:cNvSpPr>
            <a:spLocks noChangeArrowheads="1"/>
          </p:cNvSpPr>
          <p:nvPr/>
        </p:nvSpPr>
        <p:spPr bwMode="auto">
          <a:xfrm>
            <a:off x="5707396" y="2709490"/>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cs-CZ"/>
              <a:t>.obj</a:t>
            </a:r>
          </a:p>
        </p:txBody>
      </p:sp>
      <p:sp>
        <p:nvSpPr>
          <p:cNvPr id="18" name="Line 16"/>
          <p:cNvSpPr>
            <a:spLocks noChangeShapeType="1"/>
          </p:cNvSpPr>
          <p:nvPr/>
        </p:nvSpPr>
        <p:spPr bwMode="auto">
          <a:xfrm>
            <a:off x="5078023" y="303334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19" name="Line 16"/>
          <p:cNvSpPr>
            <a:spLocks noChangeShapeType="1"/>
          </p:cNvSpPr>
          <p:nvPr/>
        </p:nvSpPr>
        <p:spPr bwMode="auto">
          <a:xfrm>
            <a:off x="8894266" y="551022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0" name="Rectangle 7"/>
          <p:cNvSpPr>
            <a:spLocks noChangeArrowheads="1"/>
          </p:cNvSpPr>
          <p:nvPr/>
        </p:nvSpPr>
        <p:spPr bwMode="auto">
          <a:xfrm>
            <a:off x="3507651" y="5248647"/>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Compiler</a:t>
            </a:r>
          </a:p>
        </p:txBody>
      </p:sp>
      <p:sp>
        <p:nvSpPr>
          <p:cNvPr id="21" name="Line 16"/>
          <p:cNvSpPr>
            <a:spLocks noChangeShapeType="1"/>
          </p:cNvSpPr>
          <p:nvPr/>
        </p:nvSpPr>
        <p:spPr bwMode="auto">
          <a:xfrm>
            <a:off x="2782987" y="5501059"/>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2" name="Line 16"/>
          <p:cNvSpPr>
            <a:spLocks noChangeShapeType="1"/>
          </p:cNvSpPr>
          <p:nvPr/>
        </p:nvSpPr>
        <p:spPr bwMode="auto">
          <a:xfrm>
            <a:off x="5087887" y="5501059"/>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3" name="Line 16"/>
          <p:cNvSpPr>
            <a:spLocks noChangeShapeType="1"/>
          </p:cNvSpPr>
          <p:nvPr/>
        </p:nvSpPr>
        <p:spPr bwMode="auto">
          <a:xfrm>
            <a:off x="2782987" y="4257403"/>
            <a:ext cx="720355" cy="991244"/>
          </a:xfrm>
          <a:prstGeom prst="line">
            <a:avLst/>
          </a:prstGeom>
          <a:noFill/>
          <a:ln w="9525">
            <a:solidFill>
              <a:schemeClr val="tx1"/>
            </a:solidFill>
            <a:round/>
            <a:headEnd/>
            <a:tailEnd type="triangle" w="med" len="med"/>
          </a:ln>
          <a:effectLst/>
        </p:spPr>
        <p:txBody>
          <a:bodyPr wrap="none"/>
          <a:lstStyle/>
          <a:p>
            <a:endParaRPr lang="cs-CZ"/>
          </a:p>
        </p:txBody>
      </p:sp>
      <p:sp>
        <p:nvSpPr>
          <p:cNvPr id="27" name="Rectangle 7"/>
          <p:cNvSpPr>
            <a:spLocks noChangeArrowheads="1"/>
          </p:cNvSpPr>
          <p:nvPr/>
        </p:nvSpPr>
        <p:spPr bwMode="auto">
          <a:xfrm>
            <a:off x="7299337" y="2780927"/>
            <a:ext cx="1584175" cy="504825"/>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a:r>
              <a:rPr lang="en-US" dirty="0"/>
              <a:t>Linker</a:t>
            </a:r>
          </a:p>
        </p:txBody>
      </p:sp>
      <p:sp>
        <p:nvSpPr>
          <p:cNvPr id="28" name="Line 16"/>
          <p:cNvSpPr>
            <a:spLocks noChangeShapeType="1"/>
          </p:cNvSpPr>
          <p:nvPr/>
        </p:nvSpPr>
        <p:spPr bwMode="auto">
          <a:xfrm>
            <a:off x="6577245" y="303423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29" name="AutoShape 22"/>
          <p:cNvSpPr>
            <a:spLocks noChangeArrowheads="1"/>
          </p:cNvSpPr>
          <p:nvPr/>
        </p:nvSpPr>
        <p:spPr bwMode="auto">
          <a:xfrm>
            <a:off x="9538828" y="2709490"/>
            <a:ext cx="936625" cy="647700"/>
          </a:xfrm>
          <a:prstGeom prst="flowChartInputOutput">
            <a:avLst/>
          </a:prstGeom>
          <a:solidFill>
            <a:schemeClr val="tx2">
              <a:lumMod val="20000"/>
              <a:lumOff val="80000"/>
            </a:schemeClr>
          </a:solidFill>
          <a:ln w="9525">
            <a:solidFill>
              <a:schemeClr val="tx1"/>
            </a:solidFill>
            <a:miter lim="800000"/>
            <a:headEnd/>
            <a:tailEnd/>
          </a:ln>
          <a:effectLst/>
        </p:spPr>
        <p:txBody>
          <a:bodyPr wrap="none" anchor="ctr"/>
          <a:lstStyle/>
          <a:p>
            <a:pPr algn="ctr"/>
            <a:r>
              <a:rPr lang="en-US" dirty="0"/>
              <a:t>.</a:t>
            </a:r>
            <a:r>
              <a:rPr lang="en-US" dirty="0" err="1"/>
              <a:t>dll</a:t>
            </a:r>
            <a:endParaRPr lang="cs-CZ" dirty="0"/>
          </a:p>
        </p:txBody>
      </p:sp>
      <p:sp>
        <p:nvSpPr>
          <p:cNvPr id="31" name="Line 16"/>
          <p:cNvSpPr>
            <a:spLocks noChangeShapeType="1"/>
          </p:cNvSpPr>
          <p:nvPr/>
        </p:nvSpPr>
        <p:spPr bwMode="auto">
          <a:xfrm>
            <a:off x="6577244" y="5510220"/>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30" name="Line 16"/>
          <p:cNvSpPr>
            <a:spLocks noChangeShapeType="1"/>
          </p:cNvSpPr>
          <p:nvPr/>
        </p:nvSpPr>
        <p:spPr bwMode="auto">
          <a:xfrm>
            <a:off x="8878086" y="3033339"/>
            <a:ext cx="720725" cy="0"/>
          </a:xfrm>
          <a:prstGeom prst="line">
            <a:avLst/>
          </a:prstGeom>
          <a:noFill/>
          <a:ln w="9525">
            <a:solidFill>
              <a:schemeClr val="tx1"/>
            </a:solidFill>
            <a:round/>
            <a:headEnd/>
            <a:tailEnd type="triangle" w="med" len="med"/>
          </a:ln>
          <a:effectLst/>
        </p:spPr>
        <p:txBody>
          <a:bodyPr wrap="none"/>
          <a:lstStyle/>
          <a:p>
            <a:endParaRPr lang="cs-CZ"/>
          </a:p>
        </p:txBody>
      </p:sp>
      <p:sp>
        <p:nvSpPr>
          <p:cNvPr id="35" name="Line 16"/>
          <p:cNvSpPr>
            <a:spLocks noChangeShapeType="1"/>
          </p:cNvSpPr>
          <p:nvPr/>
        </p:nvSpPr>
        <p:spPr bwMode="auto">
          <a:xfrm flipH="1">
            <a:off x="8112224" y="3357189"/>
            <a:ext cx="1426604" cy="1891458"/>
          </a:xfrm>
          <a:prstGeom prst="line">
            <a:avLst/>
          </a:prstGeom>
          <a:noFill/>
          <a:ln w="9525">
            <a:solidFill>
              <a:schemeClr val="tx1"/>
            </a:solidFill>
            <a:round/>
            <a:headEnd/>
            <a:tailEnd type="triangle" w="med" len="med"/>
          </a:ln>
          <a:effectLst/>
        </p:spPr>
        <p:txBody>
          <a:bodyPr wrap="none"/>
          <a:lstStyle/>
          <a:p>
            <a:endParaRPr lang="cs-CZ"/>
          </a:p>
        </p:txBody>
      </p:sp>
      <p:sp>
        <p:nvSpPr>
          <p:cNvPr id="3" name="Oval 2"/>
          <p:cNvSpPr/>
          <p:nvPr/>
        </p:nvSpPr>
        <p:spPr>
          <a:xfrm>
            <a:off x="9330636" y="3939779"/>
            <a:ext cx="1935547" cy="72627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Running app</a:t>
            </a:r>
          </a:p>
        </p:txBody>
      </p:sp>
      <p:sp>
        <p:nvSpPr>
          <p:cNvPr id="36" name="Line 16"/>
          <p:cNvSpPr>
            <a:spLocks noChangeShapeType="1"/>
          </p:cNvSpPr>
          <p:nvPr/>
        </p:nvSpPr>
        <p:spPr bwMode="auto">
          <a:xfrm>
            <a:off x="9912424" y="3357188"/>
            <a:ext cx="360040" cy="582591"/>
          </a:xfrm>
          <a:prstGeom prst="line">
            <a:avLst/>
          </a:prstGeom>
          <a:noFill/>
          <a:ln w="9525">
            <a:solidFill>
              <a:schemeClr val="tx1"/>
            </a:solidFill>
            <a:round/>
            <a:headEnd/>
            <a:tailEnd type="triangle" w="med" len="med"/>
          </a:ln>
          <a:effectLst/>
        </p:spPr>
        <p:txBody>
          <a:bodyPr wrap="none"/>
          <a:lstStyle/>
          <a:p>
            <a:endParaRPr lang="cs-CZ"/>
          </a:p>
        </p:txBody>
      </p:sp>
      <p:sp>
        <p:nvSpPr>
          <p:cNvPr id="37" name="Line 16"/>
          <p:cNvSpPr>
            <a:spLocks noChangeShapeType="1"/>
          </p:cNvSpPr>
          <p:nvPr/>
        </p:nvSpPr>
        <p:spPr bwMode="auto">
          <a:xfrm flipV="1">
            <a:off x="10272464" y="4666057"/>
            <a:ext cx="0" cy="412089"/>
          </a:xfrm>
          <a:prstGeom prst="line">
            <a:avLst/>
          </a:prstGeom>
          <a:noFill/>
          <a:ln w="9525">
            <a:solidFill>
              <a:schemeClr val="tx1"/>
            </a:solidFill>
            <a:round/>
            <a:headEnd/>
            <a:tailEnd type="triangle" w="med" len="med"/>
          </a:ln>
          <a:effectLst/>
        </p:spPr>
        <p:txBody>
          <a:bodyPr wrap="none"/>
          <a:lstStyle/>
          <a:p>
            <a:endParaRPr lang="cs-CZ"/>
          </a:p>
        </p:txBody>
      </p:sp>
      <p:sp>
        <p:nvSpPr>
          <p:cNvPr id="32" name="Line 16"/>
          <p:cNvSpPr>
            <a:spLocks noChangeShapeType="1"/>
          </p:cNvSpPr>
          <p:nvPr/>
        </p:nvSpPr>
        <p:spPr bwMode="auto">
          <a:xfrm flipV="1">
            <a:off x="2782617" y="3285753"/>
            <a:ext cx="719935" cy="302320"/>
          </a:xfrm>
          <a:prstGeom prst="line">
            <a:avLst/>
          </a:prstGeom>
          <a:noFill/>
          <a:ln w="9525">
            <a:solidFill>
              <a:schemeClr val="tx1"/>
            </a:solidFill>
            <a:round/>
            <a:headEnd/>
            <a:tailEnd type="triangle" w="med" len="med"/>
          </a:ln>
          <a:effectLst/>
        </p:spPr>
        <p:txBody>
          <a:bodyPr wrap="none"/>
          <a:lstStyle/>
          <a:p>
            <a:endParaRPr lang="cs-CZ"/>
          </a:p>
        </p:txBody>
      </p:sp>
    </p:spTree>
    <p:extLst>
      <p:ext uri="{BB962C8B-B14F-4D97-AF65-F5344CB8AC3E}">
        <p14:creationId xmlns:p14="http://schemas.microsoft.com/office/powerpoint/2010/main" val="2384947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organization</a:t>
            </a:r>
          </a:p>
        </p:txBody>
      </p:sp>
      <p:sp>
        <p:nvSpPr>
          <p:cNvPr id="28" name="Content Placeholder 27"/>
          <p:cNvSpPr>
            <a:spLocks noGrp="1"/>
          </p:cNvSpPr>
          <p:nvPr>
            <p:ph idx="1"/>
          </p:nvPr>
        </p:nvSpPr>
        <p:spPr/>
        <p:txBody>
          <a:bodyPr/>
          <a:lstStyle/>
          <a:p>
            <a:r>
              <a:rPr lang="en-US" kern="0" dirty="0"/>
              <a:t>Memory organization during procedural program execution</a:t>
            </a:r>
            <a:endParaRPr lang="cs-CZ" kern="0" dirty="0"/>
          </a:p>
          <a:p>
            <a:pPr marL="0" indent="0">
              <a:buNone/>
            </a:pPr>
            <a:endParaRPr lang="en-US" dirty="0"/>
          </a:p>
        </p:txBody>
      </p:sp>
      <p:sp>
        <p:nvSpPr>
          <p:cNvPr id="3" name="Date Placeholder 2"/>
          <p:cNvSpPr>
            <a:spLocks noGrp="1"/>
          </p:cNvSpPr>
          <p:nvPr>
            <p:ph type="dt" sz="half" idx="10"/>
          </p:nvPr>
        </p:nvSpPr>
        <p:spPr/>
        <p:txBody>
          <a:bodyPr/>
          <a:lstStyle/>
          <a:p>
            <a:r>
              <a:rPr lang="cs-CZ" altLang="en-US"/>
              <a:t>26.3.2025</a:t>
            </a:r>
            <a:endParaRPr lang="en-US" altLang="en-US"/>
          </a:p>
        </p:txBody>
      </p:sp>
      <p:sp>
        <p:nvSpPr>
          <p:cNvPr id="16" name="Slide Number Placeholder 15"/>
          <p:cNvSpPr>
            <a:spLocks noGrp="1"/>
          </p:cNvSpPr>
          <p:nvPr>
            <p:ph type="sldNum" sz="quarter" idx="12"/>
          </p:nvPr>
        </p:nvSpPr>
        <p:spPr/>
        <p:txBody>
          <a:bodyPr/>
          <a:lstStyle/>
          <a:p>
            <a:fld id="{F4A1145F-674A-4228-8958-0EA9769F5517}" type="slidenum">
              <a:rPr lang="en-US" altLang="en-US" smtClean="0"/>
              <a:pPr/>
              <a:t>13</a:t>
            </a:fld>
            <a:endParaRPr lang="en-US" altLang="en-US"/>
          </a:p>
        </p:txBody>
      </p:sp>
      <p:grpSp>
        <p:nvGrpSpPr>
          <p:cNvPr id="30" name="Group 29"/>
          <p:cNvGrpSpPr/>
          <p:nvPr/>
        </p:nvGrpSpPr>
        <p:grpSpPr>
          <a:xfrm>
            <a:off x="3756248" y="2828262"/>
            <a:ext cx="1943100" cy="3240088"/>
            <a:chOff x="2279650" y="2924175"/>
            <a:chExt cx="1943100" cy="3240088"/>
          </a:xfrm>
        </p:grpSpPr>
        <p:sp>
          <p:nvSpPr>
            <p:cNvPr id="5" name="Rectangle 4"/>
            <p:cNvSpPr>
              <a:spLocks noChangeArrowheads="1"/>
            </p:cNvSpPr>
            <p:nvPr/>
          </p:nvSpPr>
          <p:spPr bwMode="auto">
            <a:xfrm>
              <a:off x="2279650" y="5516563"/>
              <a:ext cx="1943100" cy="647700"/>
            </a:xfrm>
            <a:prstGeom prst="rect">
              <a:avLst/>
            </a:prstGeom>
            <a:solidFill>
              <a:schemeClr val="accent5">
                <a:lumMod val="20000"/>
                <a:lumOff val="80000"/>
              </a:schemeClr>
            </a:solidFill>
            <a:ln w="9525">
              <a:solidFill>
                <a:schemeClr val="tx1"/>
              </a:solidFill>
              <a:miter lim="800000"/>
              <a:headEnd/>
              <a:tailEnd/>
            </a:ln>
          </p:spPr>
          <p:txBody>
            <a:bodyPr wrap="none" anchor="ctr"/>
            <a:lstStyle/>
            <a:p>
              <a:pPr algn="ctr"/>
              <a:r>
                <a:rPr lang="en-US" sz="2400"/>
                <a:t>Heap</a:t>
              </a:r>
            </a:p>
          </p:txBody>
        </p:sp>
        <p:sp>
          <p:nvSpPr>
            <p:cNvPr id="6" name="Rectangle 5"/>
            <p:cNvSpPr>
              <a:spLocks noChangeArrowheads="1"/>
            </p:cNvSpPr>
            <p:nvPr/>
          </p:nvSpPr>
          <p:spPr bwMode="auto">
            <a:xfrm>
              <a:off x="2279650" y="2924175"/>
              <a:ext cx="1943100" cy="647700"/>
            </a:xfrm>
            <a:prstGeom prst="rect">
              <a:avLst/>
            </a:prstGeom>
            <a:solidFill>
              <a:srgbClr val="FFC000"/>
            </a:solidFill>
            <a:ln w="9525">
              <a:solidFill>
                <a:schemeClr val="tx1"/>
              </a:solidFill>
              <a:miter lim="800000"/>
              <a:headEnd/>
              <a:tailEnd/>
            </a:ln>
          </p:spPr>
          <p:txBody>
            <a:bodyPr wrap="none" anchor="ctr"/>
            <a:lstStyle/>
            <a:p>
              <a:pPr algn="ctr"/>
              <a:r>
                <a:rPr lang="en-US" sz="2400" dirty="0"/>
                <a:t>Code</a:t>
              </a:r>
              <a:endParaRPr lang="cs-CZ" sz="2400" dirty="0"/>
            </a:p>
          </p:txBody>
        </p:sp>
        <p:sp>
          <p:nvSpPr>
            <p:cNvPr id="7" name="Rectangle 6"/>
            <p:cNvSpPr>
              <a:spLocks noChangeArrowheads="1"/>
            </p:cNvSpPr>
            <p:nvPr/>
          </p:nvSpPr>
          <p:spPr bwMode="auto">
            <a:xfrm>
              <a:off x="2279650" y="3571875"/>
              <a:ext cx="1943100" cy="647700"/>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sz="2400" dirty="0"/>
                <a:t>Static data</a:t>
              </a:r>
              <a:endParaRPr lang="cs-CZ" sz="2400" dirty="0"/>
            </a:p>
          </p:txBody>
        </p:sp>
        <p:sp>
          <p:nvSpPr>
            <p:cNvPr id="8" name="Rectangle 7"/>
            <p:cNvSpPr>
              <a:spLocks noChangeArrowheads="1"/>
            </p:cNvSpPr>
            <p:nvPr/>
          </p:nvSpPr>
          <p:spPr bwMode="auto">
            <a:xfrm>
              <a:off x="2279650" y="4219575"/>
              <a:ext cx="1943100" cy="647700"/>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2400" dirty="0"/>
                <a:t>Stack</a:t>
              </a:r>
              <a:endParaRPr lang="cs-CZ" sz="2400" dirty="0"/>
            </a:p>
          </p:txBody>
        </p:sp>
        <p:sp>
          <p:nvSpPr>
            <p:cNvPr id="9" name="Rectangle 8"/>
            <p:cNvSpPr>
              <a:spLocks noChangeArrowheads="1"/>
            </p:cNvSpPr>
            <p:nvPr/>
          </p:nvSpPr>
          <p:spPr bwMode="auto">
            <a:xfrm>
              <a:off x="2279650" y="4868863"/>
              <a:ext cx="1943100" cy="647700"/>
            </a:xfrm>
            <a:prstGeom prst="rect">
              <a:avLst/>
            </a:prstGeom>
            <a:noFill/>
            <a:ln w="9525">
              <a:solidFill>
                <a:schemeClr val="tx1"/>
              </a:solidFill>
              <a:miter lim="800000"/>
              <a:headEnd/>
              <a:tailEnd/>
            </a:ln>
          </p:spPr>
          <p:txBody>
            <a:bodyPr wrap="none" anchor="ctr"/>
            <a:lstStyle/>
            <a:p>
              <a:pPr algn="ctr"/>
              <a:endParaRPr lang="cs-CZ" sz="2400"/>
            </a:p>
          </p:txBody>
        </p:sp>
        <p:sp>
          <p:nvSpPr>
            <p:cNvPr id="10" name="Line 9"/>
            <p:cNvSpPr>
              <a:spLocks noChangeShapeType="1"/>
            </p:cNvSpPr>
            <p:nvPr/>
          </p:nvSpPr>
          <p:spPr bwMode="auto">
            <a:xfrm flipV="1">
              <a:off x="3251200" y="5300663"/>
              <a:ext cx="0" cy="215900"/>
            </a:xfrm>
            <a:prstGeom prst="line">
              <a:avLst/>
            </a:prstGeom>
            <a:noFill/>
            <a:ln w="9525">
              <a:solidFill>
                <a:schemeClr val="tx1"/>
              </a:solidFill>
              <a:round/>
              <a:headEnd/>
              <a:tailEnd type="triangle" w="med" len="med"/>
            </a:ln>
          </p:spPr>
          <p:txBody>
            <a:bodyPr wrap="none"/>
            <a:lstStyle/>
            <a:p>
              <a:endParaRPr lang="cs-CZ"/>
            </a:p>
          </p:txBody>
        </p:sp>
        <p:sp>
          <p:nvSpPr>
            <p:cNvPr id="11" name="Line 10"/>
            <p:cNvSpPr>
              <a:spLocks noChangeShapeType="1"/>
            </p:cNvSpPr>
            <p:nvPr/>
          </p:nvSpPr>
          <p:spPr bwMode="auto">
            <a:xfrm>
              <a:off x="3251200" y="4868863"/>
              <a:ext cx="0" cy="215900"/>
            </a:xfrm>
            <a:prstGeom prst="line">
              <a:avLst/>
            </a:prstGeom>
            <a:noFill/>
            <a:ln w="9525">
              <a:solidFill>
                <a:schemeClr val="tx1"/>
              </a:solidFill>
              <a:round/>
              <a:headEnd/>
              <a:tailEnd type="triangle" w="med" len="med"/>
            </a:ln>
          </p:spPr>
          <p:txBody>
            <a:bodyPr wrap="none"/>
            <a:lstStyle/>
            <a:p>
              <a:endParaRPr lang="cs-CZ"/>
            </a:p>
          </p:txBody>
        </p:sp>
      </p:grpSp>
      <p:grpSp>
        <p:nvGrpSpPr>
          <p:cNvPr id="29" name="Group 28"/>
          <p:cNvGrpSpPr/>
          <p:nvPr/>
        </p:nvGrpSpPr>
        <p:grpSpPr>
          <a:xfrm>
            <a:off x="6816080" y="2525051"/>
            <a:ext cx="4175126" cy="4011611"/>
            <a:chOff x="6024563" y="2492375"/>
            <a:chExt cx="4175126" cy="4011611"/>
          </a:xfrm>
        </p:grpSpPr>
        <p:sp>
          <p:nvSpPr>
            <p:cNvPr id="12" name="Rectangle 11"/>
            <p:cNvSpPr>
              <a:spLocks noChangeArrowheads="1"/>
            </p:cNvSpPr>
            <p:nvPr/>
          </p:nvSpPr>
          <p:spPr bwMode="auto">
            <a:xfrm>
              <a:off x="6024564" y="6072186"/>
              <a:ext cx="4175125" cy="431800"/>
            </a:xfrm>
            <a:prstGeom prst="rect">
              <a:avLst/>
            </a:prstGeom>
            <a:solidFill>
              <a:schemeClr val="accent5">
                <a:lumMod val="20000"/>
                <a:lumOff val="80000"/>
              </a:schemeClr>
            </a:solidFill>
            <a:ln w="9525">
              <a:solidFill>
                <a:schemeClr val="tx1"/>
              </a:solidFill>
              <a:miter lim="800000"/>
              <a:headEnd/>
              <a:tailEnd/>
            </a:ln>
          </p:spPr>
          <p:txBody>
            <a:bodyPr wrap="none" anchor="ctr"/>
            <a:lstStyle/>
            <a:p>
              <a:pPr algn="ctr"/>
              <a:r>
                <a:rPr lang="en-US" sz="2400"/>
                <a:t>Heap</a:t>
              </a:r>
            </a:p>
          </p:txBody>
        </p:sp>
        <p:sp>
          <p:nvSpPr>
            <p:cNvPr id="13" name="Rectangle 12"/>
            <p:cNvSpPr>
              <a:spLocks noChangeArrowheads="1"/>
            </p:cNvSpPr>
            <p:nvPr/>
          </p:nvSpPr>
          <p:spPr bwMode="auto">
            <a:xfrm>
              <a:off x="6024564" y="2492375"/>
              <a:ext cx="4175125" cy="433388"/>
            </a:xfrm>
            <a:prstGeom prst="rect">
              <a:avLst/>
            </a:prstGeom>
            <a:solidFill>
              <a:srgbClr val="FFC000"/>
            </a:solidFill>
            <a:ln w="9525">
              <a:solidFill>
                <a:schemeClr val="tx1"/>
              </a:solidFill>
              <a:miter lim="800000"/>
              <a:headEnd/>
              <a:tailEnd/>
            </a:ln>
          </p:spPr>
          <p:txBody>
            <a:bodyPr wrap="none" anchor="ctr"/>
            <a:lstStyle/>
            <a:p>
              <a:pPr algn="ctr"/>
              <a:r>
                <a:rPr lang="en-US" sz="2400" dirty="0"/>
                <a:t>Code</a:t>
              </a:r>
              <a:endParaRPr lang="cs-CZ" sz="2400" dirty="0"/>
            </a:p>
          </p:txBody>
        </p:sp>
        <p:sp>
          <p:nvSpPr>
            <p:cNvPr id="14" name="Rectangle 13"/>
            <p:cNvSpPr>
              <a:spLocks noChangeArrowheads="1"/>
            </p:cNvSpPr>
            <p:nvPr/>
          </p:nvSpPr>
          <p:spPr bwMode="auto">
            <a:xfrm>
              <a:off x="6024564" y="3768724"/>
              <a:ext cx="4175125" cy="431800"/>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sz="2400" dirty="0"/>
                <a:t>Uninitialized static data</a:t>
              </a:r>
              <a:endParaRPr lang="cs-CZ" sz="2400" dirty="0"/>
            </a:p>
          </p:txBody>
        </p:sp>
        <p:sp>
          <p:nvSpPr>
            <p:cNvPr id="15" name="Rectangle 14"/>
            <p:cNvSpPr>
              <a:spLocks noChangeArrowheads="1"/>
            </p:cNvSpPr>
            <p:nvPr/>
          </p:nvSpPr>
          <p:spPr bwMode="auto">
            <a:xfrm>
              <a:off x="6024564" y="5137149"/>
              <a:ext cx="4175125" cy="430212"/>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2400" dirty="0"/>
                <a:t>Stack for thread </a:t>
              </a:r>
              <a:r>
                <a:rPr lang="cs-CZ" sz="2400" dirty="0"/>
                <a:t>n</a:t>
              </a:r>
              <a:endParaRPr lang="cs-CZ" sz="2400" baseline="-25000" dirty="0"/>
            </a:p>
          </p:txBody>
        </p:sp>
        <p:sp>
          <p:nvSpPr>
            <p:cNvPr id="17" name="Line 16"/>
            <p:cNvSpPr>
              <a:spLocks noChangeShapeType="1"/>
            </p:cNvSpPr>
            <p:nvPr/>
          </p:nvSpPr>
          <p:spPr bwMode="auto">
            <a:xfrm flipV="1">
              <a:off x="8112125" y="5856286"/>
              <a:ext cx="0" cy="215900"/>
            </a:xfrm>
            <a:prstGeom prst="line">
              <a:avLst/>
            </a:prstGeom>
            <a:noFill/>
            <a:ln w="9525">
              <a:solidFill>
                <a:schemeClr val="tx1"/>
              </a:solidFill>
              <a:round/>
              <a:headEnd/>
              <a:tailEnd type="triangle" w="med" len="med"/>
            </a:ln>
          </p:spPr>
          <p:txBody>
            <a:bodyPr wrap="none"/>
            <a:lstStyle/>
            <a:p>
              <a:endParaRPr lang="cs-CZ"/>
            </a:p>
          </p:txBody>
        </p:sp>
        <p:sp>
          <p:nvSpPr>
            <p:cNvPr id="18" name="Line 17"/>
            <p:cNvSpPr>
              <a:spLocks noChangeShapeType="1"/>
            </p:cNvSpPr>
            <p:nvPr/>
          </p:nvSpPr>
          <p:spPr bwMode="auto">
            <a:xfrm>
              <a:off x="8112125" y="5568949"/>
              <a:ext cx="0" cy="215900"/>
            </a:xfrm>
            <a:prstGeom prst="line">
              <a:avLst/>
            </a:prstGeom>
            <a:noFill/>
            <a:ln w="9525">
              <a:solidFill>
                <a:schemeClr val="tx1"/>
              </a:solidFill>
              <a:round/>
              <a:headEnd/>
              <a:tailEnd type="triangle" w="med" len="med"/>
            </a:ln>
          </p:spPr>
          <p:txBody>
            <a:bodyPr wrap="none"/>
            <a:lstStyle/>
            <a:p>
              <a:endParaRPr lang="cs-CZ"/>
            </a:p>
          </p:txBody>
        </p:sp>
        <p:sp>
          <p:nvSpPr>
            <p:cNvPr id="19" name="Rectangle 18"/>
            <p:cNvSpPr>
              <a:spLocks noChangeArrowheads="1"/>
            </p:cNvSpPr>
            <p:nvPr/>
          </p:nvSpPr>
          <p:spPr bwMode="auto">
            <a:xfrm>
              <a:off x="6024564" y="4200524"/>
              <a:ext cx="4175125" cy="430212"/>
            </a:xfrm>
            <a:prstGeom prst="rect">
              <a:avLst/>
            </a:prstGeom>
            <a:solidFill>
              <a:schemeClr val="bg1">
                <a:lumMod val="85000"/>
              </a:schemeClr>
            </a:solidFill>
            <a:ln w="9525">
              <a:solidFill>
                <a:schemeClr val="tx1"/>
              </a:solidFill>
              <a:miter lim="800000"/>
              <a:headEnd/>
              <a:tailEnd/>
            </a:ln>
          </p:spPr>
          <p:txBody>
            <a:bodyPr wrap="none" anchor="ctr"/>
            <a:lstStyle/>
            <a:p>
              <a:pPr algn="ctr"/>
              <a:r>
                <a:rPr lang="en-US" sz="2400" dirty="0"/>
                <a:t>Stack for thread 1</a:t>
              </a:r>
              <a:endParaRPr lang="cs-CZ" sz="2400" baseline="-25000" dirty="0"/>
            </a:p>
          </p:txBody>
        </p:sp>
        <p:sp>
          <p:nvSpPr>
            <p:cNvPr id="20" name="Line 20"/>
            <p:cNvSpPr>
              <a:spLocks noChangeShapeType="1"/>
            </p:cNvSpPr>
            <p:nvPr/>
          </p:nvSpPr>
          <p:spPr bwMode="auto">
            <a:xfrm>
              <a:off x="8112125" y="4632324"/>
              <a:ext cx="0" cy="215900"/>
            </a:xfrm>
            <a:prstGeom prst="line">
              <a:avLst/>
            </a:prstGeom>
            <a:noFill/>
            <a:ln w="9525">
              <a:solidFill>
                <a:schemeClr val="tx1"/>
              </a:solidFill>
              <a:round/>
              <a:headEnd/>
              <a:tailEnd type="triangle" w="med" len="med"/>
            </a:ln>
          </p:spPr>
          <p:txBody>
            <a:bodyPr wrap="none"/>
            <a:lstStyle/>
            <a:p>
              <a:endParaRPr lang="cs-CZ"/>
            </a:p>
          </p:txBody>
        </p:sp>
        <p:sp>
          <p:nvSpPr>
            <p:cNvPr id="21" name="Line 21"/>
            <p:cNvSpPr>
              <a:spLocks noChangeShapeType="1"/>
            </p:cNvSpPr>
            <p:nvPr/>
          </p:nvSpPr>
          <p:spPr bwMode="auto">
            <a:xfrm>
              <a:off x="8112125" y="4921249"/>
              <a:ext cx="0" cy="215900"/>
            </a:xfrm>
            <a:prstGeom prst="line">
              <a:avLst/>
            </a:prstGeom>
            <a:noFill/>
            <a:ln w="9525">
              <a:solidFill>
                <a:schemeClr val="tx1"/>
              </a:solidFill>
              <a:prstDash val="dash"/>
              <a:round/>
              <a:headEnd/>
              <a:tailEnd/>
            </a:ln>
          </p:spPr>
          <p:txBody>
            <a:bodyPr wrap="none"/>
            <a:lstStyle/>
            <a:p>
              <a:endParaRPr lang="cs-CZ"/>
            </a:p>
          </p:txBody>
        </p:sp>
        <p:sp>
          <p:nvSpPr>
            <p:cNvPr id="22" name="Rectangle 22"/>
            <p:cNvSpPr>
              <a:spLocks noChangeArrowheads="1"/>
            </p:cNvSpPr>
            <p:nvPr/>
          </p:nvSpPr>
          <p:spPr bwMode="auto">
            <a:xfrm>
              <a:off x="6024564" y="2924175"/>
              <a:ext cx="4175125" cy="431800"/>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sz="2400" dirty="0"/>
                <a:t>Constants</a:t>
              </a:r>
              <a:endParaRPr lang="cs-CZ" sz="2400" dirty="0"/>
            </a:p>
          </p:txBody>
        </p:sp>
        <p:sp>
          <p:nvSpPr>
            <p:cNvPr id="23" name="Rectangle 23"/>
            <p:cNvSpPr>
              <a:spLocks noChangeArrowheads="1"/>
            </p:cNvSpPr>
            <p:nvPr/>
          </p:nvSpPr>
          <p:spPr bwMode="auto">
            <a:xfrm>
              <a:off x="6024564" y="3338512"/>
              <a:ext cx="4175125" cy="431800"/>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sz="2400" dirty="0"/>
                <a:t>Initialized static data</a:t>
              </a:r>
              <a:endParaRPr lang="cs-CZ" sz="2400" dirty="0"/>
            </a:p>
          </p:txBody>
        </p:sp>
        <p:sp>
          <p:nvSpPr>
            <p:cNvPr id="24" name="Line 25"/>
            <p:cNvSpPr>
              <a:spLocks noChangeShapeType="1"/>
            </p:cNvSpPr>
            <p:nvPr/>
          </p:nvSpPr>
          <p:spPr bwMode="auto">
            <a:xfrm>
              <a:off x="6024563" y="4632325"/>
              <a:ext cx="0" cy="504825"/>
            </a:xfrm>
            <a:prstGeom prst="line">
              <a:avLst/>
            </a:prstGeom>
            <a:noFill/>
            <a:ln w="9525">
              <a:solidFill>
                <a:schemeClr val="tx1"/>
              </a:solidFill>
              <a:prstDash val="dash"/>
              <a:round/>
              <a:headEnd/>
              <a:tailEnd/>
            </a:ln>
          </p:spPr>
          <p:txBody>
            <a:bodyPr wrap="none"/>
            <a:lstStyle/>
            <a:p>
              <a:endParaRPr lang="cs-CZ"/>
            </a:p>
          </p:txBody>
        </p:sp>
        <p:sp>
          <p:nvSpPr>
            <p:cNvPr id="25" name="Line 26"/>
            <p:cNvSpPr>
              <a:spLocks noChangeShapeType="1"/>
            </p:cNvSpPr>
            <p:nvPr/>
          </p:nvSpPr>
          <p:spPr bwMode="auto">
            <a:xfrm>
              <a:off x="10199688" y="4632325"/>
              <a:ext cx="0" cy="504825"/>
            </a:xfrm>
            <a:prstGeom prst="line">
              <a:avLst/>
            </a:prstGeom>
            <a:noFill/>
            <a:ln w="9525">
              <a:solidFill>
                <a:schemeClr val="tx1"/>
              </a:solidFill>
              <a:prstDash val="dash"/>
              <a:round/>
              <a:headEnd/>
              <a:tailEnd/>
            </a:ln>
          </p:spPr>
          <p:txBody>
            <a:bodyPr wrap="none"/>
            <a:lstStyle/>
            <a:p>
              <a:endParaRPr lang="cs-CZ"/>
            </a:p>
          </p:txBody>
        </p:sp>
        <p:sp>
          <p:nvSpPr>
            <p:cNvPr id="26" name="Line 25"/>
            <p:cNvSpPr>
              <a:spLocks noChangeShapeType="1"/>
            </p:cNvSpPr>
            <p:nvPr/>
          </p:nvSpPr>
          <p:spPr bwMode="auto">
            <a:xfrm>
              <a:off x="6024563" y="5567362"/>
              <a:ext cx="0" cy="504825"/>
            </a:xfrm>
            <a:prstGeom prst="line">
              <a:avLst/>
            </a:prstGeom>
            <a:noFill/>
            <a:ln w="9525">
              <a:solidFill>
                <a:schemeClr val="tx1"/>
              </a:solidFill>
              <a:prstDash val="dash"/>
              <a:round/>
              <a:headEnd/>
              <a:tailEnd/>
            </a:ln>
          </p:spPr>
          <p:txBody>
            <a:bodyPr wrap="none"/>
            <a:lstStyle/>
            <a:p>
              <a:endParaRPr lang="cs-CZ"/>
            </a:p>
          </p:txBody>
        </p:sp>
        <p:sp>
          <p:nvSpPr>
            <p:cNvPr id="27" name="Line 25"/>
            <p:cNvSpPr>
              <a:spLocks noChangeShapeType="1"/>
            </p:cNvSpPr>
            <p:nvPr/>
          </p:nvSpPr>
          <p:spPr bwMode="auto">
            <a:xfrm>
              <a:off x="10199688" y="5567362"/>
              <a:ext cx="0" cy="504825"/>
            </a:xfrm>
            <a:prstGeom prst="line">
              <a:avLst/>
            </a:prstGeom>
            <a:noFill/>
            <a:ln w="9525">
              <a:solidFill>
                <a:schemeClr val="tx1"/>
              </a:solidFill>
              <a:prstDash val="dash"/>
              <a:round/>
              <a:headEnd/>
              <a:tailEnd/>
            </a:ln>
          </p:spPr>
          <p:txBody>
            <a:bodyPr wrap="none"/>
            <a:lstStyle/>
            <a:p>
              <a:endParaRPr lang="cs-CZ"/>
            </a:p>
          </p:txBody>
        </p:sp>
      </p:grpSp>
      <p:sp>
        <p:nvSpPr>
          <p:cNvPr id="31" name="Rounded Rectangular Callout 30"/>
          <p:cNvSpPr/>
          <p:nvPr/>
        </p:nvSpPr>
        <p:spPr>
          <a:xfrm>
            <a:off x="406082" y="3494304"/>
            <a:ext cx="2987572" cy="1296144"/>
          </a:xfrm>
          <a:prstGeom prst="wedgeRoundRectCallout">
            <a:avLst>
              <a:gd name="adj1" fmla="val 61968"/>
              <a:gd name="adj2" fmla="val 41672"/>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Stack and heap may be laid in opposite way (depending what is best for given arch.)</a:t>
            </a:r>
          </a:p>
        </p:txBody>
      </p:sp>
    </p:spTree>
    <p:extLst>
      <p:ext uri="{BB962C8B-B14F-4D97-AF65-F5344CB8AC3E}">
        <p14:creationId xmlns:p14="http://schemas.microsoft.com/office/powerpoint/2010/main" val="363937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Arrow Connector 44"/>
          <p:cNvCxnSpPr>
            <a:stCxn id="33" idx="2"/>
            <a:endCxn id="32" idx="1"/>
          </p:cNvCxnSpPr>
          <p:nvPr/>
        </p:nvCxnSpPr>
        <p:spPr bwMode="auto">
          <a:xfrm flipV="1">
            <a:off x="4696982" y="4096411"/>
            <a:ext cx="2335122" cy="15583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p:cNvCxnSpPr>
            <a:stCxn id="25" idx="2"/>
            <a:endCxn id="32" idx="1"/>
          </p:cNvCxnSpPr>
          <p:nvPr/>
        </p:nvCxnSpPr>
        <p:spPr bwMode="auto">
          <a:xfrm>
            <a:off x="4809422" y="3698275"/>
            <a:ext cx="2222682" cy="39813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Straight Arrow Connector 48"/>
          <p:cNvCxnSpPr>
            <a:stCxn id="11" idx="2"/>
            <a:endCxn id="32" idx="1"/>
          </p:cNvCxnSpPr>
          <p:nvPr/>
        </p:nvCxnSpPr>
        <p:spPr bwMode="auto">
          <a:xfrm>
            <a:off x="4809422" y="2285995"/>
            <a:ext cx="2222682" cy="181041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Linking</a:t>
            </a:r>
          </a:p>
        </p:txBody>
      </p:sp>
      <p:sp>
        <p:nvSpPr>
          <p:cNvPr id="6" name="Rectangle 5"/>
          <p:cNvSpPr/>
          <p:nvPr/>
        </p:nvSpPr>
        <p:spPr bwMode="auto">
          <a:xfrm>
            <a:off x="3013795" y="1979670"/>
            <a:ext cx="792088" cy="612648"/>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dirty="0"/>
              <a:t>CC</a:t>
            </a:r>
          </a:p>
        </p:txBody>
      </p:sp>
      <p:sp>
        <p:nvSpPr>
          <p:cNvPr id="7" name="Flowchart: Document 6"/>
          <p:cNvSpPr/>
          <p:nvPr/>
        </p:nvSpPr>
        <p:spPr bwMode="auto">
          <a:xfrm>
            <a:off x="1789659" y="1979670"/>
            <a:ext cx="914400" cy="612648"/>
          </a:xfrm>
          <a:prstGeom prst="flowChartDocumen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dirty="0"/>
              <a:t>A.C</a:t>
            </a:r>
          </a:p>
        </p:txBody>
      </p:sp>
      <p:cxnSp>
        <p:nvCxnSpPr>
          <p:cNvPr id="9" name="Straight Arrow Connector 8"/>
          <p:cNvCxnSpPr>
            <a:stCxn id="7" idx="3"/>
            <a:endCxn id="6" idx="1"/>
          </p:cNvCxnSpPr>
          <p:nvPr/>
        </p:nvCxnSpPr>
        <p:spPr bwMode="auto">
          <a:xfrm>
            <a:off x="2704059" y="2285994"/>
            <a:ext cx="3097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 name="Parallelogram 10"/>
          <p:cNvSpPr/>
          <p:nvPr/>
        </p:nvSpPr>
        <p:spPr bwMode="auto">
          <a:xfrm>
            <a:off x="4021907" y="1979670"/>
            <a:ext cx="864096" cy="612648"/>
          </a:xfrm>
          <a:prstGeom prst="parallelogram">
            <a:avLst/>
          </a:prstGeom>
          <a:solidFill>
            <a:srgbClr val="D6BBE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dirty="0"/>
              <a:t>A.O</a:t>
            </a:r>
          </a:p>
        </p:txBody>
      </p:sp>
      <p:cxnSp>
        <p:nvCxnSpPr>
          <p:cNvPr id="13" name="Straight Arrow Connector 12"/>
          <p:cNvCxnSpPr>
            <a:stCxn id="6" idx="3"/>
            <a:endCxn id="11" idx="5"/>
          </p:cNvCxnSpPr>
          <p:nvPr/>
        </p:nvCxnSpPr>
        <p:spPr bwMode="auto">
          <a:xfrm>
            <a:off x="3805884" y="2285994"/>
            <a:ext cx="29260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4" name="Rectangle 13"/>
          <p:cNvSpPr/>
          <p:nvPr/>
        </p:nvSpPr>
        <p:spPr bwMode="auto">
          <a:xfrm>
            <a:off x="5390059" y="1799650"/>
            <a:ext cx="1368152"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Code.A</a:t>
            </a:r>
            <a:endParaRPr lang="en-US" dirty="0"/>
          </a:p>
        </p:txBody>
      </p:sp>
      <p:sp>
        <p:nvSpPr>
          <p:cNvPr id="15" name="Rectangle 14"/>
          <p:cNvSpPr/>
          <p:nvPr/>
        </p:nvSpPr>
        <p:spPr bwMode="auto">
          <a:xfrm>
            <a:off x="5390059" y="2156664"/>
            <a:ext cx="1368152" cy="360040"/>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Constants.A</a:t>
            </a:r>
            <a:endParaRPr lang="en-US" dirty="0"/>
          </a:p>
        </p:txBody>
      </p:sp>
      <p:sp>
        <p:nvSpPr>
          <p:cNvPr id="16" name="Rectangle 15"/>
          <p:cNvSpPr/>
          <p:nvPr/>
        </p:nvSpPr>
        <p:spPr bwMode="auto">
          <a:xfrm>
            <a:off x="5390059" y="2513678"/>
            <a:ext cx="1368152"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Static </a:t>
            </a:r>
            <a:r>
              <a:rPr lang="en-US" dirty="0" err="1"/>
              <a:t>data.A</a:t>
            </a:r>
            <a:endParaRPr lang="en-US" dirty="0"/>
          </a:p>
        </p:txBody>
      </p:sp>
      <p:cxnSp>
        <p:nvCxnSpPr>
          <p:cNvPr id="18" name="Straight Connector 17"/>
          <p:cNvCxnSpPr/>
          <p:nvPr/>
        </p:nvCxnSpPr>
        <p:spPr bwMode="auto">
          <a:xfrm flipV="1">
            <a:off x="4886003" y="1799650"/>
            <a:ext cx="504056" cy="18002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a:off x="4741987" y="2592318"/>
            <a:ext cx="648072" cy="281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2" name="Rectangle 21"/>
          <p:cNvSpPr/>
          <p:nvPr/>
        </p:nvSpPr>
        <p:spPr bwMode="auto">
          <a:xfrm>
            <a:off x="3013795" y="3391951"/>
            <a:ext cx="792088" cy="612648"/>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dirty="0"/>
              <a:t>CC</a:t>
            </a:r>
          </a:p>
        </p:txBody>
      </p:sp>
      <p:sp>
        <p:nvSpPr>
          <p:cNvPr id="23" name="Flowchart: Document 22"/>
          <p:cNvSpPr/>
          <p:nvPr/>
        </p:nvSpPr>
        <p:spPr bwMode="auto">
          <a:xfrm>
            <a:off x="1789659" y="3391951"/>
            <a:ext cx="914400" cy="612648"/>
          </a:xfrm>
          <a:prstGeom prst="flowChartDocumen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dirty="0"/>
              <a:t>B.C</a:t>
            </a:r>
          </a:p>
        </p:txBody>
      </p:sp>
      <p:cxnSp>
        <p:nvCxnSpPr>
          <p:cNvPr id="24" name="Straight Arrow Connector 23"/>
          <p:cNvCxnSpPr>
            <a:stCxn id="23" idx="3"/>
            <a:endCxn id="22" idx="1"/>
          </p:cNvCxnSpPr>
          <p:nvPr/>
        </p:nvCxnSpPr>
        <p:spPr bwMode="auto">
          <a:xfrm>
            <a:off x="2704059" y="3698275"/>
            <a:ext cx="3097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Parallelogram 24"/>
          <p:cNvSpPr/>
          <p:nvPr/>
        </p:nvSpPr>
        <p:spPr bwMode="auto">
          <a:xfrm>
            <a:off x="4021907" y="3391951"/>
            <a:ext cx="864096" cy="612648"/>
          </a:xfrm>
          <a:prstGeom prst="parallelogram">
            <a:avLst/>
          </a:prstGeom>
          <a:solidFill>
            <a:srgbClr val="D6BBE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dirty="0"/>
              <a:t>B.O</a:t>
            </a:r>
          </a:p>
        </p:txBody>
      </p:sp>
      <p:cxnSp>
        <p:nvCxnSpPr>
          <p:cNvPr id="26" name="Straight Arrow Connector 25"/>
          <p:cNvCxnSpPr>
            <a:stCxn id="22" idx="3"/>
            <a:endCxn id="25" idx="5"/>
          </p:cNvCxnSpPr>
          <p:nvPr/>
        </p:nvCxnSpPr>
        <p:spPr bwMode="auto">
          <a:xfrm>
            <a:off x="3805884" y="3698275"/>
            <a:ext cx="29260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Rectangle 26"/>
          <p:cNvSpPr/>
          <p:nvPr/>
        </p:nvSpPr>
        <p:spPr bwMode="auto">
          <a:xfrm>
            <a:off x="8674149" y="3372086"/>
            <a:ext cx="1368152"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Code.B</a:t>
            </a:r>
            <a:endParaRPr lang="en-US" dirty="0"/>
          </a:p>
        </p:txBody>
      </p:sp>
      <p:sp>
        <p:nvSpPr>
          <p:cNvPr id="28" name="Rectangle 27"/>
          <p:cNvSpPr/>
          <p:nvPr/>
        </p:nvSpPr>
        <p:spPr bwMode="auto">
          <a:xfrm>
            <a:off x="8674149" y="4311281"/>
            <a:ext cx="1368152" cy="360040"/>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Constants.B</a:t>
            </a:r>
            <a:endParaRPr lang="en-US" dirty="0"/>
          </a:p>
        </p:txBody>
      </p:sp>
      <p:sp>
        <p:nvSpPr>
          <p:cNvPr id="29" name="Rectangle 28"/>
          <p:cNvSpPr/>
          <p:nvPr/>
        </p:nvSpPr>
        <p:spPr bwMode="auto">
          <a:xfrm>
            <a:off x="8674149" y="5304500"/>
            <a:ext cx="1368152"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Static </a:t>
            </a:r>
            <a:r>
              <a:rPr lang="en-US" dirty="0" err="1"/>
              <a:t>data.B</a:t>
            </a:r>
            <a:endParaRPr lang="en-US" dirty="0"/>
          </a:p>
        </p:txBody>
      </p:sp>
      <p:cxnSp>
        <p:nvCxnSpPr>
          <p:cNvPr id="30" name="Straight Connector 29"/>
          <p:cNvCxnSpPr/>
          <p:nvPr/>
        </p:nvCxnSpPr>
        <p:spPr bwMode="auto">
          <a:xfrm flipV="1">
            <a:off x="4886003" y="3211931"/>
            <a:ext cx="504056" cy="18002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4741987" y="4004599"/>
            <a:ext cx="648072" cy="281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2" name="Rectangle 31"/>
          <p:cNvSpPr/>
          <p:nvPr/>
        </p:nvSpPr>
        <p:spPr bwMode="auto">
          <a:xfrm>
            <a:off x="7032104" y="2566241"/>
            <a:ext cx="1008112" cy="3060340"/>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algn="ctr"/>
            <a:r>
              <a:rPr lang="en-US" sz="2400" dirty="0"/>
              <a:t>Linker</a:t>
            </a:r>
          </a:p>
        </p:txBody>
      </p:sp>
      <p:sp>
        <p:nvSpPr>
          <p:cNvPr id="33" name="Parallelogram 32"/>
          <p:cNvSpPr/>
          <p:nvPr/>
        </p:nvSpPr>
        <p:spPr bwMode="auto">
          <a:xfrm>
            <a:off x="3373835" y="4898647"/>
            <a:ext cx="1512168" cy="1512168"/>
          </a:xfrm>
          <a:prstGeom prst="parallelogram">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dirty="0"/>
              <a:t>PQ.LIB</a:t>
            </a:r>
          </a:p>
        </p:txBody>
      </p:sp>
      <p:sp>
        <p:nvSpPr>
          <p:cNvPr id="34" name="Rectangle 33"/>
          <p:cNvSpPr/>
          <p:nvPr/>
        </p:nvSpPr>
        <p:spPr bwMode="auto">
          <a:xfrm>
            <a:off x="5390059" y="4815139"/>
            <a:ext cx="1368152" cy="28140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err="1"/>
              <a:t>Code.P</a:t>
            </a:r>
            <a:endParaRPr lang="en-US" sz="1400" dirty="0"/>
          </a:p>
        </p:txBody>
      </p:sp>
      <p:sp>
        <p:nvSpPr>
          <p:cNvPr id="35" name="Rectangle 34"/>
          <p:cNvSpPr/>
          <p:nvPr/>
        </p:nvSpPr>
        <p:spPr bwMode="auto">
          <a:xfrm>
            <a:off x="5390059" y="5093514"/>
            <a:ext cx="1368152" cy="270693"/>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err="1"/>
              <a:t>Constants.P</a:t>
            </a:r>
            <a:endParaRPr lang="en-US" sz="1400" dirty="0"/>
          </a:p>
        </p:txBody>
      </p:sp>
      <p:sp>
        <p:nvSpPr>
          <p:cNvPr id="36" name="Rectangle 35"/>
          <p:cNvSpPr/>
          <p:nvPr/>
        </p:nvSpPr>
        <p:spPr bwMode="auto">
          <a:xfrm>
            <a:off x="5390059" y="5358154"/>
            <a:ext cx="1368152" cy="28442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a:t>Static </a:t>
            </a:r>
            <a:r>
              <a:rPr lang="en-US" sz="1400" dirty="0" err="1"/>
              <a:t>data.P</a:t>
            </a:r>
            <a:endParaRPr lang="en-US" sz="1400" dirty="0"/>
          </a:p>
        </p:txBody>
      </p:sp>
      <p:sp>
        <p:nvSpPr>
          <p:cNvPr id="37" name="Rectangle 36"/>
          <p:cNvSpPr/>
          <p:nvPr/>
        </p:nvSpPr>
        <p:spPr bwMode="auto">
          <a:xfrm>
            <a:off x="5390059" y="5643335"/>
            <a:ext cx="1368152" cy="242847"/>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err="1"/>
              <a:t>Code.Q</a:t>
            </a:r>
            <a:endParaRPr lang="en-US" sz="1400" dirty="0"/>
          </a:p>
        </p:txBody>
      </p:sp>
      <p:sp>
        <p:nvSpPr>
          <p:cNvPr id="38" name="Rectangle 37"/>
          <p:cNvSpPr/>
          <p:nvPr/>
        </p:nvSpPr>
        <p:spPr bwMode="auto">
          <a:xfrm>
            <a:off x="5390059" y="5883156"/>
            <a:ext cx="1368152" cy="273139"/>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err="1"/>
              <a:t>Constants.Q</a:t>
            </a:r>
            <a:endParaRPr lang="en-US" sz="1400" dirty="0"/>
          </a:p>
        </p:txBody>
      </p:sp>
      <p:sp>
        <p:nvSpPr>
          <p:cNvPr id="39" name="Rectangle 38"/>
          <p:cNvSpPr/>
          <p:nvPr/>
        </p:nvSpPr>
        <p:spPr bwMode="auto">
          <a:xfrm>
            <a:off x="5390059" y="6156294"/>
            <a:ext cx="1368152" cy="288032"/>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a:t>Static </a:t>
            </a:r>
            <a:r>
              <a:rPr lang="en-US" sz="1400" dirty="0" err="1"/>
              <a:t>data.Q</a:t>
            </a:r>
            <a:endParaRPr lang="en-US" sz="1400" dirty="0"/>
          </a:p>
        </p:txBody>
      </p:sp>
      <p:cxnSp>
        <p:nvCxnSpPr>
          <p:cNvPr id="41" name="Straight Connector 40"/>
          <p:cNvCxnSpPr/>
          <p:nvPr/>
        </p:nvCxnSpPr>
        <p:spPr bwMode="auto">
          <a:xfrm flipV="1">
            <a:off x="4886003" y="4815139"/>
            <a:ext cx="504056" cy="8350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a:off x="4525963" y="6410816"/>
            <a:ext cx="864096" cy="3351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4" name="Flowchart: Document 53"/>
          <p:cNvSpPr/>
          <p:nvPr/>
        </p:nvSpPr>
        <p:spPr bwMode="auto">
          <a:xfrm>
            <a:off x="8529253" y="1547963"/>
            <a:ext cx="1584176" cy="717054"/>
          </a:xfrm>
          <a:prstGeom prst="flowChartDocument">
            <a:avLst/>
          </a:prstGeom>
          <a:solidFill>
            <a:srgbClr val="D6BBEB"/>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sz="2400" dirty="0"/>
              <a:t>APP.EXE</a:t>
            </a:r>
          </a:p>
        </p:txBody>
      </p:sp>
      <p:cxnSp>
        <p:nvCxnSpPr>
          <p:cNvPr id="56" name="Straight Arrow Connector 55"/>
          <p:cNvCxnSpPr>
            <a:stCxn id="32" idx="3"/>
            <a:endCxn id="54" idx="1"/>
          </p:cNvCxnSpPr>
          <p:nvPr/>
        </p:nvCxnSpPr>
        <p:spPr bwMode="auto">
          <a:xfrm flipV="1">
            <a:off x="8040217" y="1906491"/>
            <a:ext cx="489037" cy="21899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8" name="Rectangle 57"/>
          <p:cNvSpPr/>
          <p:nvPr/>
        </p:nvSpPr>
        <p:spPr bwMode="auto">
          <a:xfrm>
            <a:off x="8674149" y="3031911"/>
            <a:ext cx="1368152"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Code.A</a:t>
            </a:r>
            <a:endParaRPr lang="en-US" dirty="0"/>
          </a:p>
        </p:txBody>
      </p:sp>
      <p:sp>
        <p:nvSpPr>
          <p:cNvPr id="59" name="Rectangle 58"/>
          <p:cNvSpPr/>
          <p:nvPr/>
        </p:nvSpPr>
        <p:spPr bwMode="auto">
          <a:xfrm>
            <a:off x="8674149" y="3948788"/>
            <a:ext cx="1368152" cy="360040"/>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Constants.A</a:t>
            </a:r>
            <a:endParaRPr lang="en-US" dirty="0"/>
          </a:p>
        </p:txBody>
      </p:sp>
      <p:sp>
        <p:nvSpPr>
          <p:cNvPr id="60" name="Rectangle 59"/>
          <p:cNvSpPr/>
          <p:nvPr/>
        </p:nvSpPr>
        <p:spPr bwMode="auto">
          <a:xfrm>
            <a:off x="8674149" y="4944460"/>
            <a:ext cx="1368152"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Static </a:t>
            </a:r>
            <a:r>
              <a:rPr lang="en-US" dirty="0" err="1"/>
              <a:t>data.A</a:t>
            </a:r>
            <a:endParaRPr lang="en-US" dirty="0"/>
          </a:p>
        </p:txBody>
      </p:sp>
      <p:sp>
        <p:nvSpPr>
          <p:cNvPr id="62" name="Rectangle 61"/>
          <p:cNvSpPr/>
          <p:nvPr/>
        </p:nvSpPr>
        <p:spPr bwMode="auto">
          <a:xfrm>
            <a:off x="8674149" y="3728967"/>
            <a:ext cx="1368152" cy="242847"/>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err="1"/>
              <a:t>Code.Q</a:t>
            </a:r>
            <a:endParaRPr lang="en-US" sz="1400" dirty="0"/>
          </a:p>
        </p:txBody>
      </p:sp>
      <p:sp>
        <p:nvSpPr>
          <p:cNvPr id="63" name="Rectangle 62"/>
          <p:cNvSpPr/>
          <p:nvPr/>
        </p:nvSpPr>
        <p:spPr bwMode="auto">
          <a:xfrm>
            <a:off x="8674149" y="4671322"/>
            <a:ext cx="1368152" cy="273139"/>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err="1"/>
              <a:t>Constants.Q</a:t>
            </a:r>
            <a:endParaRPr lang="en-US" sz="1400" dirty="0"/>
          </a:p>
        </p:txBody>
      </p:sp>
      <p:sp>
        <p:nvSpPr>
          <p:cNvPr id="64" name="Rectangle 63"/>
          <p:cNvSpPr/>
          <p:nvPr/>
        </p:nvSpPr>
        <p:spPr bwMode="auto">
          <a:xfrm>
            <a:off x="8674149" y="5664540"/>
            <a:ext cx="1368152" cy="288032"/>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1400" dirty="0"/>
              <a:t>Static </a:t>
            </a:r>
            <a:r>
              <a:rPr lang="en-US" sz="1400" dirty="0" err="1"/>
              <a:t>data.Q</a:t>
            </a:r>
            <a:endParaRPr lang="en-US" sz="1400" dirty="0"/>
          </a:p>
        </p:txBody>
      </p:sp>
      <p:cxnSp>
        <p:nvCxnSpPr>
          <p:cNvPr id="66" name="Straight Connector 65"/>
          <p:cNvCxnSpPr/>
          <p:nvPr/>
        </p:nvCxnSpPr>
        <p:spPr bwMode="auto">
          <a:xfrm>
            <a:off x="8529253" y="2218809"/>
            <a:ext cx="144896" cy="81310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8" name="Straight Connector 67"/>
          <p:cNvCxnSpPr/>
          <p:nvPr/>
        </p:nvCxnSpPr>
        <p:spPr bwMode="auto">
          <a:xfrm flipH="1">
            <a:off x="10042301" y="2156665"/>
            <a:ext cx="71128" cy="87524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0" name="Rectangle 69"/>
          <p:cNvSpPr/>
          <p:nvPr/>
        </p:nvSpPr>
        <p:spPr bwMode="auto">
          <a:xfrm>
            <a:off x="5390059" y="3209849"/>
            <a:ext cx="1368152"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Code.B</a:t>
            </a:r>
            <a:endParaRPr lang="en-US" dirty="0"/>
          </a:p>
        </p:txBody>
      </p:sp>
      <p:sp>
        <p:nvSpPr>
          <p:cNvPr id="71" name="Rectangle 70"/>
          <p:cNvSpPr/>
          <p:nvPr/>
        </p:nvSpPr>
        <p:spPr bwMode="auto">
          <a:xfrm>
            <a:off x="5390059" y="3566863"/>
            <a:ext cx="1368152" cy="360040"/>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Constants.B</a:t>
            </a:r>
            <a:endParaRPr lang="en-US" dirty="0"/>
          </a:p>
        </p:txBody>
      </p:sp>
      <p:sp>
        <p:nvSpPr>
          <p:cNvPr id="72" name="Rectangle 71"/>
          <p:cNvSpPr/>
          <p:nvPr/>
        </p:nvSpPr>
        <p:spPr bwMode="auto">
          <a:xfrm>
            <a:off x="5390059" y="3923877"/>
            <a:ext cx="1368152"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Static </a:t>
            </a:r>
            <a:r>
              <a:rPr lang="en-US" dirty="0" err="1"/>
              <a:t>data.B</a:t>
            </a:r>
            <a:endParaRPr lang="en-US" dirty="0"/>
          </a:p>
        </p:txBody>
      </p:sp>
      <p:cxnSp>
        <p:nvCxnSpPr>
          <p:cNvPr id="76" name="Straight Connector 75"/>
          <p:cNvCxnSpPr/>
          <p:nvPr/>
        </p:nvCxnSpPr>
        <p:spPr bwMode="auto">
          <a:xfrm flipV="1">
            <a:off x="8529253" y="3655786"/>
            <a:ext cx="1620180" cy="4971"/>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74" name="Straight Connector 73"/>
          <p:cNvCxnSpPr/>
          <p:nvPr/>
        </p:nvCxnSpPr>
        <p:spPr bwMode="auto">
          <a:xfrm flipV="1">
            <a:off x="5246043" y="3486406"/>
            <a:ext cx="1656184" cy="19864"/>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
        <p:nvSpPr>
          <p:cNvPr id="3" name="Date Placeholder 2"/>
          <p:cNvSpPr>
            <a:spLocks noGrp="1"/>
          </p:cNvSpPr>
          <p:nvPr>
            <p:ph type="dt" sz="half" idx="10"/>
          </p:nvPr>
        </p:nvSpPr>
        <p:spPr/>
        <p:txBody>
          <a:bodyPr/>
          <a:lstStyle/>
          <a:p>
            <a:r>
              <a:rPr lang="cs-CZ" altLang="en-US"/>
              <a:t>26.3.2025</a:t>
            </a:r>
            <a:endParaRPr lang="en-US" altLang="en-US"/>
          </a:p>
        </p:txBody>
      </p:sp>
      <p:sp>
        <p:nvSpPr>
          <p:cNvPr id="4" name="Slide Number Placeholder 3"/>
          <p:cNvSpPr>
            <a:spLocks noGrp="1"/>
          </p:cNvSpPr>
          <p:nvPr>
            <p:ph type="sldNum" sz="quarter" idx="12"/>
          </p:nvPr>
        </p:nvSpPr>
        <p:spPr/>
        <p:txBody>
          <a:bodyPr/>
          <a:lstStyle/>
          <a:p>
            <a:fld id="{F4A1145F-674A-4228-8958-0EA9769F5517}" type="slidenum">
              <a:rPr lang="en-US" altLang="en-US" smtClean="0"/>
              <a:pPr/>
              <a:t>14</a:t>
            </a:fld>
            <a:endParaRPr lang="en-US" altLang="en-US"/>
          </a:p>
        </p:txBody>
      </p:sp>
    </p:spTree>
    <p:extLst>
      <p:ext uri="{BB962C8B-B14F-4D97-AF65-F5344CB8AC3E}">
        <p14:creationId xmlns:p14="http://schemas.microsoft.com/office/powerpoint/2010/main" val="302092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4"/>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5"/>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16"/>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1"/>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31"/>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70"/>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71"/>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72"/>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34"/>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35"/>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36"/>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37"/>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38"/>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9"/>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41"/>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43"/>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2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3"/>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4"/>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6"/>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2" nodeType="clickEffect">
                                  <p:stCondLst>
                                    <p:cond delay="0"/>
                                  </p:stCondLst>
                                  <p:childTnLst>
                                    <p:set>
                                      <p:cBhvr>
                                        <p:cTn id="144" dur="1" fill="hold">
                                          <p:stCondLst>
                                            <p:cond delay="0"/>
                                          </p:stCondLst>
                                        </p:cTn>
                                        <p:tgtEl>
                                          <p:spTgt spid="14"/>
                                        </p:tgtEl>
                                        <p:attrNameLst>
                                          <p:attrName>style.visibility</p:attrName>
                                        </p:attrNameLst>
                                      </p:cBhvr>
                                      <p:to>
                                        <p:strVal val="visible"/>
                                      </p:to>
                                    </p:set>
                                  </p:childTnLst>
                                </p:cTn>
                              </p:par>
                              <p:par>
                                <p:cTn id="145" presetID="1" presetClass="entr" presetSubtype="0" fill="hold" grpId="2" nodeType="withEffect">
                                  <p:stCondLst>
                                    <p:cond delay="0"/>
                                  </p:stCondLst>
                                  <p:childTnLst>
                                    <p:set>
                                      <p:cBhvr>
                                        <p:cTn id="146" dur="1" fill="hold">
                                          <p:stCondLst>
                                            <p:cond delay="0"/>
                                          </p:stCondLst>
                                        </p:cTn>
                                        <p:tgtEl>
                                          <p:spTgt spid="15"/>
                                        </p:tgtEl>
                                        <p:attrNameLst>
                                          <p:attrName>style.visibility</p:attrName>
                                        </p:attrNameLst>
                                      </p:cBhvr>
                                      <p:to>
                                        <p:strVal val="visible"/>
                                      </p:to>
                                    </p:set>
                                  </p:childTnLst>
                                </p:cTn>
                              </p:par>
                              <p:par>
                                <p:cTn id="147" presetID="1" presetClass="entr" presetSubtype="0" fill="hold" grpId="2" nodeType="withEffect">
                                  <p:stCondLst>
                                    <p:cond delay="0"/>
                                  </p:stCondLst>
                                  <p:childTnLst>
                                    <p:set>
                                      <p:cBhvr>
                                        <p:cTn id="148" dur="1" fill="hold">
                                          <p:stCondLst>
                                            <p:cond delay="0"/>
                                          </p:stCondLst>
                                        </p:cTn>
                                        <p:tgtEl>
                                          <p:spTgt spid="16"/>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8"/>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21"/>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30"/>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31"/>
                                        </p:tgtEl>
                                        <p:attrNameLst>
                                          <p:attrName>style.visibility</p:attrName>
                                        </p:attrNameLst>
                                      </p:cBhvr>
                                      <p:to>
                                        <p:strVal val="visible"/>
                                      </p:to>
                                    </p:set>
                                  </p:childTnLst>
                                </p:cTn>
                              </p:par>
                              <p:par>
                                <p:cTn id="157" presetID="1" presetClass="entr" presetSubtype="0" fill="hold" grpId="2" nodeType="withEffect">
                                  <p:stCondLst>
                                    <p:cond delay="0"/>
                                  </p:stCondLst>
                                  <p:childTnLst>
                                    <p:set>
                                      <p:cBhvr>
                                        <p:cTn id="158" dur="1" fill="hold">
                                          <p:stCondLst>
                                            <p:cond delay="0"/>
                                          </p:stCondLst>
                                        </p:cTn>
                                        <p:tgtEl>
                                          <p:spTgt spid="70"/>
                                        </p:tgtEl>
                                        <p:attrNameLst>
                                          <p:attrName>style.visibility</p:attrName>
                                        </p:attrNameLst>
                                      </p:cBhvr>
                                      <p:to>
                                        <p:strVal val="visible"/>
                                      </p:to>
                                    </p:set>
                                  </p:childTnLst>
                                </p:cTn>
                              </p:par>
                              <p:par>
                                <p:cTn id="159" presetID="1" presetClass="entr" presetSubtype="0" fill="hold" grpId="2" nodeType="withEffect">
                                  <p:stCondLst>
                                    <p:cond delay="0"/>
                                  </p:stCondLst>
                                  <p:childTnLst>
                                    <p:set>
                                      <p:cBhvr>
                                        <p:cTn id="160" dur="1" fill="hold">
                                          <p:stCondLst>
                                            <p:cond delay="0"/>
                                          </p:stCondLst>
                                        </p:cTn>
                                        <p:tgtEl>
                                          <p:spTgt spid="71"/>
                                        </p:tgtEl>
                                        <p:attrNameLst>
                                          <p:attrName>style.visibility</p:attrName>
                                        </p:attrNameLst>
                                      </p:cBhvr>
                                      <p:to>
                                        <p:strVal val="visible"/>
                                      </p:to>
                                    </p:set>
                                  </p:childTnLst>
                                </p:cTn>
                              </p:par>
                              <p:par>
                                <p:cTn id="161" presetID="1" presetClass="entr" presetSubtype="0" fill="hold" grpId="2" nodeType="withEffect">
                                  <p:stCondLst>
                                    <p:cond delay="0"/>
                                  </p:stCondLst>
                                  <p:childTnLst>
                                    <p:set>
                                      <p:cBhvr>
                                        <p:cTn id="162" dur="1" fill="hold">
                                          <p:stCondLst>
                                            <p:cond delay="0"/>
                                          </p:stCondLst>
                                        </p:cTn>
                                        <p:tgtEl>
                                          <p:spTgt spid="72"/>
                                        </p:tgtEl>
                                        <p:attrNameLst>
                                          <p:attrName>style.visibility</p:attrName>
                                        </p:attrNameLst>
                                      </p:cBhvr>
                                      <p:to>
                                        <p:strVal val="visible"/>
                                      </p:to>
                                    </p:set>
                                  </p:childTnLst>
                                </p:cTn>
                              </p:par>
                              <p:par>
                                <p:cTn id="163" presetID="1" presetClass="entr" presetSubtype="0" fill="hold" grpId="2" nodeType="withEffect">
                                  <p:stCondLst>
                                    <p:cond delay="0"/>
                                  </p:stCondLst>
                                  <p:childTnLst>
                                    <p:set>
                                      <p:cBhvr>
                                        <p:cTn id="164" dur="1" fill="hold">
                                          <p:stCondLst>
                                            <p:cond delay="0"/>
                                          </p:stCondLst>
                                        </p:cTn>
                                        <p:tgtEl>
                                          <p:spTgt spid="34"/>
                                        </p:tgtEl>
                                        <p:attrNameLst>
                                          <p:attrName>style.visibility</p:attrName>
                                        </p:attrNameLst>
                                      </p:cBhvr>
                                      <p:to>
                                        <p:strVal val="visible"/>
                                      </p:to>
                                    </p:set>
                                  </p:childTnLst>
                                </p:cTn>
                              </p:par>
                              <p:par>
                                <p:cTn id="165" presetID="1" presetClass="entr" presetSubtype="0" fill="hold" grpId="2" nodeType="withEffect">
                                  <p:stCondLst>
                                    <p:cond delay="0"/>
                                  </p:stCondLst>
                                  <p:childTnLst>
                                    <p:set>
                                      <p:cBhvr>
                                        <p:cTn id="166" dur="1" fill="hold">
                                          <p:stCondLst>
                                            <p:cond delay="0"/>
                                          </p:stCondLst>
                                        </p:cTn>
                                        <p:tgtEl>
                                          <p:spTgt spid="35"/>
                                        </p:tgtEl>
                                        <p:attrNameLst>
                                          <p:attrName>style.visibility</p:attrName>
                                        </p:attrNameLst>
                                      </p:cBhvr>
                                      <p:to>
                                        <p:strVal val="visible"/>
                                      </p:to>
                                    </p:set>
                                  </p:childTnLst>
                                </p:cTn>
                              </p:par>
                              <p:par>
                                <p:cTn id="167" presetID="1" presetClass="entr" presetSubtype="0" fill="hold" grpId="2" nodeType="withEffect">
                                  <p:stCondLst>
                                    <p:cond delay="0"/>
                                  </p:stCondLst>
                                  <p:childTnLst>
                                    <p:set>
                                      <p:cBhvr>
                                        <p:cTn id="168" dur="1" fill="hold">
                                          <p:stCondLst>
                                            <p:cond delay="0"/>
                                          </p:stCondLst>
                                        </p:cTn>
                                        <p:tgtEl>
                                          <p:spTgt spid="36"/>
                                        </p:tgtEl>
                                        <p:attrNameLst>
                                          <p:attrName>style.visibility</p:attrName>
                                        </p:attrNameLst>
                                      </p:cBhvr>
                                      <p:to>
                                        <p:strVal val="visible"/>
                                      </p:to>
                                    </p:set>
                                  </p:childTnLst>
                                </p:cTn>
                              </p:par>
                              <p:par>
                                <p:cTn id="169" presetID="1" presetClass="entr" presetSubtype="0" fill="hold" grpId="2" nodeType="withEffect">
                                  <p:stCondLst>
                                    <p:cond delay="0"/>
                                  </p:stCondLst>
                                  <p:childTnLst>
                                    <p:set>
                                      <p:cBhvr>
                                        <p:cTn id="170" dur="1" fill="hold">
                                          <p:stCondLst>
                                            <p:cond delay="0"/>
                                          </p:stCondLst>
                                        </p:cTn>
                                        <p:tgtEl>
                                          <p:spTgt spid="37"/>
                                        </p:tgtEl>
                                        <p:attrNameLst>
                                          <p:attrName>style.visibility</p:attrName>
                                        </p:attrNameLst>
                                      </p:cBhvr>
                                      <p:to>
                                        <p:strVal val="visible"/>
                                      </p:to>
                                    </p:set>
                                  </p:childTnLst>
                                </p:cTn>
                              </p:par>
                              <p:par>
                                <p:cTn id="171" presetID="1" presetClass="entr" presetSubtype="0" fill="hold" grpId="2" nodeType="withEffect">
                                  <p:stCondLst>
                                    <p:cond delay="0"/>
                                  </p:stCondLst>
                                  <p:childTnLst>
                                    <p:set>
                                      <p:cBhvr>
                                        <p:cTn id="172" dur="1" fill="hold">
                                          <p:stCondLst>
                                            <p:cond delay="0"/>
                                          </p:stCondLst>
                                        </p:cTn>
                                        <p:tgtEl>
                                          <p:spTgt spid="38"/>
                                        </p:tgtEl>
                                        <p:attrNameLst>
                                          <p:attrName>style.visibility</p:attrName>
                                        </p:attrNameLst>
                                      </p:cBhvr>
                                      <p:to>
                                        <p:strVal val="visible"/>
                                      </p:to>
                                    </p:set>
                                  </p:childTnLst>
                                </p:cTn>
                              </p:par>
                              <p:par>
                                <p:cTn id="173" presetID="1" presetClass="entr" presetSubtype="0" fill="hold" grpId="2" nodeType="withEffect">
                                  <p:stCondLst>
                                    <p:cond delay="0"/>
                                  </p:stCondLst>
                                  <p:childTnLst>
                                    <p:set>
                                      <p:cBhvr>
                                        <p:cTn id="174" dur="1" fill="hold">
                                          <p:stCondLst>
                                            <p:cond delay="0"/>
                                          </p:stCondLst>
                                        </p:cTn>
                                        <p:tgtEl>
                                          <p:spTgt spid="39"/>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41"/>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43"/>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7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4" grpId="0" animBg="1"/>
      <p:bldP spid="14" grpId="1" animBg="1"/>
      <p:bldP spid="14" grpId="2" animBg="1"/>
      <p:bldP spid="15" grpId="0" animBg="1"/>
      <p:bldP spid="15" grpId="1" animBg="1"/>
      <p:bldP spid="15" grpId="2" animBg="1"/>
      <p:bldP spid="16" grpId="0" animBg="1"/>
      <p:bldP spid="16" grpId="1" animBg="1"/>
      <p:bldP spid="16" grpId="2" animBg="1"/>
      <p:bldP spid="22" grpId="0" animBg="1"/>
      <p:bldP spid="25" grpId="0" animBg="1"/>
      <p:bldP spid="27" grpId="0" animBg="1"/>
      <p:bldP spid="28" grpId="0" animBg="1"/>
      <p:bldP spid="29" grpId="0" animBg="1"/>
      <p:bldP spid="32" grpId="0" animBg="1"/>
      <p:bldP spid="34" grpId="0" animBg="1"/>
      <p:bldP spid="34" grpId="1" animBg="1"/>
      <p:bldP spid="34" grpId="2" animBg="1"/>
      <p:bldP spid="35" grpId="0" animBg="1"/>
      <p:bldP spid="35" grpId="1" animBg="1"/>
      <p:bldP spid="35" grpId="2" animBg="1"/>
      <p:bldP spid="36" grpId="0" animBg="1"/>
      <p:bldP spid="36" grpId="1" animBg="1"/>
      <p:bldP spid="36" grpId="2" animBg="1"/>
      <p:bldP spid="37" grpId="0" animBg="1"/>
      <p:bldP spid="37" grpId="1" animBg="1"/>
      <p:bldP spid="37" grpId="2" animBg="1"/>
      <p:bldP spid="38" grpId="0" animBg="1"/>
      <p:bldP spid="38" grpId="1" animBg="1"/>
      <p:bldP spid="38" grpId="2" animBg="1"/>
      <p:bldP spid="39" grpId="0" animBg="1"/>
      <p:bldP spid="39" grpId="1" animBg="1"/>
      <p:bldP spid="39" grpId="2" animBg="1"/>
      <p:bldP spid="54" grpId="0" animBg="1"/>
      <p:bldP spid="58" grpId="0" animBg="1"/>
      <p:bldP spid="59" grpId="0" animBg="1"/>
      <p:bldP spid="60" grpId="0" animBg="1"/>
      <p:bldP spid="62" grpId="0" animBg="1"/>
      <p:bldP spid="63" grpId="0" animBg="1"/>
      <p:bldP spid="64" grpId="0" animBg="1"/>
      <p:bldP spid="70" grpId="0" animBg="1"/>
      <p:bldP spid="70" grpId="1" animBg="1"/>
      <p:bldP spid="70" grpId="2" animBg="1"/>
      <p:bldP spid="71" grpId="0" animBg="1"/>
      <p:bldP spid="71" grpId="1" animBg="1"/>
      <p:bldP spid="71" grpId="2" animBg="1"/>
      <p:bldP spid="72" grpId="0" animBg="1"/>
      <p:bldP spid="72" grpId="1" animBg="1"/>
      <p:bldP spid="72"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half" idx="1"/>
          </p:nvPr>
        </p:nvSpPr>
        <p:spPr>
          <a:xfrm>
            <a:off x="838200" y="1825625"/>
            <a:ext cx="5401816" cy="4351338"/>
          </a:xfrm>
        </p:spPr>
        <p:txBody>
          <a:bodyPr>
            <a:normAutofit/>
          </a:bodyPr>
          <a:lstStyle/>
          <a:p>
            <a:r>
              <a:rPr lang="en-US" dirty="0"/>
              <a:t>Hello world example</a:t>
            </a:r>
          </a:p>
          <a:p>
            <a:pPr lvl="1"/>
            <a:r>
              <a:rPr lang="en-US" dirty="0"/>
              <a:t>Object file details</a:t>
            </a:r>
          </a:p>
          <a:p>
            <a:pPr lvl="1"/>
            <a:endParaRPr lang="en-US" dirty="0"/>
          </a:p>
          <a:p>
            <a:pPr marL="457200" lvl="1" indent="0">
              <a:buNone/>
            </a:pPr>
            <a:r>
              <a:rPr lang="en-US" b="1" dirty="0" err="1">
                <a:latin typeface="Courier New" panose="02070309020205020404" pitchFamily="49" charset="0"/>
                <a:cs typeface="Courier New" panose="02070309020205020404" pitchFamily="49" charset="0"/>
              </a:rPr>
              <a:t>dumpbin</a:t>
            </a:r>
            <a:r>
              <a:rPr lang="en-US" b="1" dirty="0">
                <a:latin typeface="Courier New" panose="02070309020205020404" pitchFamily="49" charset="0"/>
                <a:cs typeface="Courier New" panose="02070309020205020404" pitchFamily="49" charset="0"/>
              </a:rPr>
              <a:t> /SUMMARY file.obj</a:t>
            </a:r>
          </a:p>
          <a:p>
            <a:pPr marL="457200" lvl="1" indent="0">
              <a:buNone/>
            </a:pPr>
            <a:r>
              <a:rPr lang="en-US" b="1" dirty="0" err="1">
                <a:latin typeface="Courier New" panose="02070309020205020404" pitchFamily="49" charset="0"/>
                <a:cs typeface="Courier New" panose="02070309020205020404" pitchFamily="49" charset="0"/>
              </a:rPr>
              <a:t>dumpbin</a:t>
            </a:r>
            <a:r>
              <a:rPr lang="en-US" b="1" dirty="0">
                <a:latin typeface="Courier New" panose="02070309020205020404" pitchFamily="49" charset="0"/>
                <a:cs typeface="Courier New" panose="02070309020205020404" pitchFamily="49" charset="0"/>
              </a:rPr>
              <a:t> /ALL</a:t>
            </a:r>
          </a:p>
          <a:p>
            <a:pPr marL="457200" lvl="1" indent="0">
              <a:buNone/>
            </a:pPr>
            <a:r>
              <a:rPr lang="en-US" b="1" dirty="0" err="1">
                <a:latin typeface="Courier New" panose="02070309020205020404" pitchFamily="49" charset="0"/>
                <a:cs typeface="Courier New" panose="02070309020205020404" pitchFamily="49" charset="0"/>
              </a:rPr>
              <a:t>dumpbin</a:t>
            </a:r>
            <a:r>
              <a:rPr lang="en-US" b="1" dirty="0">
                <a:latin typeface="Courier New" panose="02070309020205020404" pitchFamily="49" charset="0"/>
                <a:cs typeface="Courier New" panose="02070309020205020404" pitchFamily="49" charset="0"/>
              </a:rPr>
              <a:t> /HEADERS</a:t>
            </a:r>
          </a:p>
          <a:p>
            <a:pPr marL="457200" lvl="1" indent="0">
              <a:buNone/>
            </a:pPr>
            <a:r>
              <a:rPr lang="en-US" b="1" dirty="0" err="1">
                <a:latin typeface="Courier New" panose="02070309020205020404" pitchFamily="49" charset="0"/>
                <a:cs typeface="Courier New" panose="02070309020205020404" pitchFamily="49" charset="0"/>
              </a:rPr>
              <a:t>dumpbin</a:t>
            </a:r>
            <a:r>
              <a:rPr lang="en-US" b="1" dirty="0">
                <a:latin typeface="Courier New" panose="02070309020205020404" pitchFamily="49" charset="0"/>
                <a:cs typeface="Courier New" panose="02070309020205020404" pitchFamily="49" charset="0"/>
              </a:rPr>
              <a:t> /SYMBOLS</a:t>
            </a:r>
            <a:endParaRPr lang="en-US" dirty="0"/>
          </a:p>
          <a:p>
            <a:pPr marL="457200" lvl="1" indent="0">
              <a:buNone/>
            </a:pPr>
            <a:r>
              <a:rPr lang="en-US" b="1" dirty="0" err="1">
                <a:latin typeface="Courier New" panose="02070309020205020404" pitchFamily="49" charset="0"/>
                <a:cs typeface="Courier New" panose="02070309020205020404" pitchFamily="49" charset="0"/>
              </a:rPr>
              <a:t>dumpbin</a:t>
            </a:r>
            <a:r>
              <a:rPr lang="en-US" b="1" dirty="0">
                <a:latin typeface="Courier New" panose="02070309020205020404" pitchFamily="49" charset="0"/>
                <a:cs typeface="Courier New" panose="02070309020205020404" pitchFamily="49" charset="0"/>
              </a:rPr>
              <a:t> /SECTION:.</a:t>
            </a:r>
            <a:r>
              <a:rPr lang="en-US" b="1" dirty="0" err="1">
                <a:latin typeface="Courier New" panose="02070309020205020404" pitchFamily="49" charset="0"/>
                <a:cs typeface="Courier New" panose="02070309020205020404" pitchFamily="49" charset="0"/>
              </a:rPr>
              <a:t>rdata</a:t>
            </a:r>
            <a:endParaRPr lang="en-US" b="1" dirty="0">
              <a:latin typeface="Courier New" panose="02070309020205020404" pitchFamily="49" charset="0"/>
              <a:cs typeface="Courier New" panose="02070309020205020404" pitchFamily="49" charset="0"/>
            </a:endParaRPr>
          </a:p>
        </p:txBody>
      </p:sp>
      <p:sp>
        <p:nvSpPr>
          <p:cNvPr id="6" name="Content Placeholder 5"/>
          <p:cNvSpPr>
            <a:spLocks noGrp="1"/>
          </p:cNvSpPr>
          <p:nvPr>
            <p:ph sz="half" idx="2"/>
          </p:nvPr>
        </p:nvSpPr>
        <p:spPr>
          <a:xfrm>
            <a:off x="6744072" y="1690688"/>
            <a:ext cx="4968552" cy="4486275"/>
          </a:xfrm>
        </p:spPr>
        <p:txBody>
          <a:bodyPr>
            <a:noAutofit/>
          </a:bodyPr>
          <a:lstStyle/>
          <a:p>
            <a:pPr marL="0" indent="0">
              <a:buNone/>
            </a:pPr>
            <a:r>
              <a:rPr lang="en-US" sz="1800" b="1" dirty="0">
                <a:latin typeface="Courier New" panose="02070309020205020404" pitchFamily="49" charset="0"/>
                <a:cs typeface="Courier New" panose="02070309020205020404" pitchFamily="49" charset="0"/>
              </a:rPr>
              <a:t>File Type: COFF OBJECT</a:t>
            </a:r>
          </a:p>
          <a:p>
            <a:pPr marL="0" indent="0">
              <a:buNone/>
            </a:pPr>
            <a:r>
              <a:rPr lang="en-US" sz="1800" b="1" dirty="0">
                <a:latin typeface="Courier New" panose="02070309020205020404" pitchFamily="49" charset="0"/>
                <a:cs typeface="Courier New" panose="02070309020205020404" pitchFamily="49" charset="0"/>
              </a:rPr>
              <a:t>  Summary</a:t>
            </a:r>
          </a:p>
          <a:p>
            <a:pPr marL="0" indent="0">
              <a:buNone/>
            </a:pPr>
            <a:endParaRPr lang="en-US" sz="1800" b="1" dirty="0">
              <a:latin typeface="Courier New" panose="02070309020205020404" pitchFamily="49" charset="0"/>
              <a:cs typeface="Courier New" panose="02070309020205020404" pitchFamily="49" charset="0"/>
            </a:endParaRPr>
          </a:p>
          <a:p>
            <a:pPr marL="0" indent="0">
              <a:buNone/>
            </a:pPr>
            <a:r>
              <a:rPr lang="en-US" sz="1800" b="1" dirty="0">
                <a:latin typeface="Courier New" panose="02070309020205020404" pitchFamily="49" charset="0"/>
                <a:cs typeface="Courier New" panose="02070309020205020404" pitchFamily="49" charset="0"/>
              </a:rPr>
              <a:t>          40 .chks64</a:t>
            </a:r>
          </a:p>
          <a:p>
            <a:pPr marL="0" indent="0">
              <a:buNone/>
            </a:pPr>
            <a:r>
              <a:rPr lang="en-US" sz="1800" b="1" dirty="0">
                <a:latin typeface="Courier New" panose="02070309020205020404" pitchFamily="49" charset="0"/>
                <a:cs typeface="Courier New" panose="02070309020205020404" pitchFamily="49" charset="0"/>
              </a:rPr>
              <a:t>           8 .data</a:t>
            </a:r>
          </a:p>
          <a:p>
            <a:pPr marL="0" indent="0">
              <a:buNone/>
            </a:pPr>
            <a:r>
              <a:rPr lang="en-US" sz="1800" b="1" dirty="0">
                <a:latin typeface="Courier New" panose="02070309020205020404" pitchFamily="49" charset="0"/>
                <a:cs typeface="Courier New" panose="02070309020205020404" pitchFamily="49" charset="0"/>
              </a:rPr>
              <a:t>          90 .</a:t>
            </a:r>
            <a:r>
              <a:rPr lang="en-US" sz="1800" b="1" dirty="0" err="1">
                <a:latin typeface="Courier New" panose="02070309020205020404" pitchFamily="49" charset="0"/>
                <a:cs typeface="Courier New" panose="02070309020205020404" pitchFamily="49" charset="0"/>
              </a:rPr>
              <a:t>debug$S</a:t>
            </a:r>
            <a:endParaRPr lang="en-US" sz="1800" b="1" dirty="0">
              <a:latin typeface="Courier New" panose="02070309020205020404" pitchFamily="49" charset="0"/>
              <a:cs typeface="Courier New" panose="02070309020205020404" pitchFamily="49" charset="0"/>
            </a:endParaRPr>
          </a:p>
          <a:p>
            <a:pPr marL="0" indent="0">
              <a:buNone/>
            </a:pPr>
            <a:r>
              <a:rPr lang="en-US" sz="1800" b="1" dirty="0">
                <a:latin typeface="Courier New" panose="02070309020205020404" pitchFamily="49" charset="0"/>
                <a:cs typeface="Courier New" panose="02070309020205020404" pitchFamily="49" charset="0"/>
              </a:rPr>
              <a:t>          2F .</a:t>
            </a:r>
            <a:r>
              <a:rPr lang="en-US" sz="1800" b="1" dirty="0" err="1">
                <a:latin typeface="Courier New" panose="02070309020205020404" pitchFamily="49" charset="0"/>
                <a:cs typeface="Courier New" panose="02070309020205020404" pitchFamily="49" charset="0"/>
              </a:rPr>
              <a:t>drectve</a:t>
            </a:r>
            <a:endParaRPr lang="en-US" sz="1800" b="1" dirty="0">
              <a:latin typeface="Courier New" panose="02070309020205020404" pitchFamily="49" charset="0"/>
              <a:cs typeface="Courier New" panose="02070309020205020404" pitchFamily="49" charset="0"/>
            </a:endParaRPr>
          </a:p>
          <a:p>
            <a:pPr marL="0" indent="0">
              <a:buNone/>
            </a:pPr>
            <a:r>
              <a:rPr lang="en-US" sz="1800" b="1" dirty="0">
                <a:latin typeface="Courier New" panose="02070309020205020404" pitchFamily="49" charset="0"/>
                <a:cs typeface="Courier New" panose="02070309020205020404" pitchFamily="49" charset="0"/>
              </a:rPr>
              <a:t>           C .</a:t>
            </a:r>
            <a:r>
              <a:rPr lang="en-US" sz="1800" b="1" dirty="0" err="1">
                <a:latin typeface="Courier New" panose="02070309020205020404" pitchFamily="49" charset="0"/>
                <a:cs typeface="Courier New" panose="02070309020205020404" pitchFamily="49" charset="0"/>
              </a:rPr>
              <a:t>pdata</a:t>
            </a:r>
            <a:endParaRPr lang="en-US" sz="1800" b="1" dirty="0">
              <a:latin typeface="Courier New" panose="02070309020205020404" pitchFamily="49" charset="0"/>
              <a:cs typeface="Courier New" panose="02070309020205020404" pitchFamily="49" charset="0"/>
            </a:endParaRPr>
          </a:p>
          <a:p>
            <a:pPr marL="0" indent="0">
              <a:buNone/>
            </a:pPr>
            <a:r>
              <a:rPr lang="en-US" sz="1800" b="1" dirty="0">
                <a:latin typeface="Courier New" panose="02070309020205020404" pitchFamily="49" charset="0"/>
                <a:cs typeface="Courier New" panose="02070309020205020404" pitchFamily="49" charset="0"/>
              </a:rPr>
              <a:t>           D .</a:t>
            </a:r>
            <a:r>
              <a:rPr lang="en-US" sz="1800" b="1" dirty="0" err="1">
                <a:latin typeface="Courier New" panose="02070309020205020404" pitchFamily="49" charset="0"/>
                <a:cs typeface="Courier New" panose="02070309020205020404" pitchFamily="49" charset="0"/>
              </a:rPr>
              <a:t>rdata</a:t>
            </a:r>
            <a:endParaRPr lang="en-US" sz="1800" b="1" dirty="0">
              <a:latin typeface="Courier New" panose="02070309020205020404" pitchFamily="49" charset="0"/>
              <a:cs typeface="Courier New" panose="02070309020205020404" pitchFamily="49" charset="0"/>
            </a:endParaRPr>
          </a:p>
          <a:p>
            <a:pPr marL="0" indent="0">
              <a:buNone/>
            </a:pPr>
            <a:r>
              <a:rPr lang="en-US" sz="1800" b="1" dirty="0">
                <a:latin typeface="Courier New" panose="02070309020205020404" pitchFamily="49" charset="0"/>
                <a:cs typeface="Courier New" panose="02070309020205020404" pitchFamily="49" charset="0"/>
              </a:rPr>
              <a:t>          17 .</a:t>
            </a:r>
            <a:r>
              <a:rPr lang="en-US" sz="1800" b="1" dirty="0" err="1">
                <a:latin typeface="Courier New" panose="02070309020205020404" pitchFamily="49" charset="0"/>
                <a:cs typeface="Courier New" panose="02070309020205020404" pitchFamily="49" charset="0"/>
              </a:rPr>
              <a:t>text$mn</a:t>
            </a:r>
            <a:endParaRPr lang="en-US" sz="1800" b="1" dirty="0">
              <a:latin typeface="Courier New" panose="02070309020205020404" pitchFamily="49" charset="0"/>
              <a:cs typeface="Courier New" panose="02070309020205020404" pitchFamily="49" charset="0"/>
            </a:endParaRPr>
          </a:p>
          <a:p>
            <a:pPr marL="0" indent="0">
              <a:buNone/>
            </a:pPr>
            <a:r>
              <a:rPr lang="en-US" sz="1800" b="1" dirty="0">
                <a:latin typeface="Courier New" panose="02070309020205020404" pitchFamily="49" charset="0"/>
                <a:cs typeface="Courier New" panose="02070309020205020404" pitchFamily="49" charset="0"/>
              </a:rPr>
              <a:t>           8 .</a:t>
            </a:r>
            <a:r>
              <a:rPr lang="en-US" sz="1800" b="1" dirty="0" err="1">
                <a:latin typeface="Courier New" panose="02070309020205020404" pitchFamily="49" charset="0"/>
                <a:cs typeface="Courier New" panose="02070309020205020404" pitchFamily="49" charset="0"/>
              </a:rPr>
              <a:t>xdata</a:t>
            </a:r>
            <a:endParaRPr lang="en-US" sz="1800" b="1" dirty="0">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15</a:t>
            </a:fld>
            <a:endParaRPr lang="en-US" altLang="en-US"/>
          </a:p>
        </p:txBody>
      </p:sp>
      <p:sp>
        <p:nvSpPr>
          <p:cNvPr id="7" name="Rounded Rectangular Callout 6"/>
          <p:cNvSpPr/>
          <p:nvPr/>
        </p:nvSpPr>
        <p:spPr>
          <a:xfrm>
            <a:off x="1847528" y="5450179"/>
            <a:ext cx="2233534" cy="726784"/>
          </a:xfrm>
          <a:prstGeom prst="wedgeRoundRectCallout">
            <a:avLst>
              <a:gd name="adj1" fmla="val -23749"/>
              <a:gd name="adj2" fmla="val -110354"/>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Try it yourselves…</a:t>
            </a:r>
          </a:p>
        </p:txBody>
      </p:sp>
    </p:spTree>
    <p:extLst>
      <p:ext uri="{BB962C8B-B14F-4D97-AF65-F5344CB8AC3E}">
        <p14:creationId xmlns:p14="http://schemas.microsoft.com/office/powerpoint/2010/main" val="565945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4" name="Content Placeholder 3"/>
          <p:cNvSpPr>
            <a:spLocks noGrp="1"/>
          </p:cNvSpPr>
          <p:nvPr>
            <p:ph sz="half" idx="2"/>
          </p:nvPr>
        </p:nvSpPr>
        <p:spPr>
          <a:xfrm>
            <a:off x="838200" y="1484784"/>
            <a:ext cx="10515600" cy="4871566"/>
          </a:xfrm>
        </p:spPr>
        <p:txBody>
          <a:bodyPr>
            <a:noAutofit/>
          </a:bodyPr>
          <a:lstStyle/>
          <a:p>
            <a:pPr marL="0" indent="0">
              <a:buNone/>
            </a:pPr>
            <a:r>
              <a:rPr lang="en-US" sz="1300" b="1" dirty="0">
                <a:latin typeface="Courier New" panose="02070309020205020404" pitchFamily="49" charset="0"/>
                <a:cs typeface="Courier New" panose="02070309020205020404" pitchFamily="49" charset="0"/>
              </a:rPr>
              <a:t>SECTION HEADER #4</a:t>
            </a:r>
          </a:p>
          <a:p>
            <a:pPr marL="0" indent="0">
              <a:buNone/>
            </a:pPr>
            <a:r>
              <a:rPr lang="en-US" sz="1300" b="1" dirty="0">
                <a:latin typeface="Courier New" panose="02070309020205020404" pitchFamily="49" charset="0"/>
                <a:cs typeface="Courier New" panose="02070309020205020404" pitchFamily="49" charset="0"/>
              </a:rPr>
              <a:t>  .</a:t>
            </a:r>
            <a:r>
              <a:rPr lang="en-US" sz="1300" b="1" dirty="0" err="1">
                <a:latin typeface="Courier New" panose="02070309020205020404" pitchFamily="49" charset="0"/>
                <a:cs typeface="Courier New" panose="02070309020205020404" pitchFamily="49" charset="0"/>
              </a:rPr>
              <a:t>rdata</a:t>
            </a:r>
            <a:r>
              <a:rPr lang="en-US" sz="1300" b="1" dirty="0">
                <a:latin typeface="Courier New" panose="02070309020205020404" pitchFamily="49" charset="0"/>
                <a:cs typeface="Courier New" panose="02070309020205020404" pitchFamily="49" charset="0"/>
              </a:rPr>
              <a:t> name</a:t>
            </a:r>
          </a:p>
          <a:p>
            <a:pPr marL="0" indent="0">
              <a:buNone/>
            </a:pPr>
            <a:r>
              <a:rPr lang="en-US" sz="1300" b="1" dirty="0">
                <a:latin typeface="Courier New" panose="02070309020205020404" pitchFamily="49" charset="0"/>
                <a:cs typeface="Courier New" panose="02070309020205020404" pitchFamily="49" charset="0"/>
              </a:rPr>
              <a:t>       0 physical address</a:t>
            </a:r>
          </a:p>
          <a:p>
            <a:pPr marL="0" indent="0">
              <a:buNone/>
            </a:pPr>
            <a:r>
              <a:rPr lang="en-US" sz="1300" b="1" dirty="0">
                <a:latin typeface="Courier New" panose="02070309020205020404" pitchFamily="49" charset="0"/>
                <a:cs typeface="Courier New" panose="02070309020205020404" pitchFamily="49" charset="0"/>
              </a:rPr>
              <a:t>       0 virtual address</a:t>
            </a:r>
          </a:p>
          <a:p>
            <a:pPr marL="0" indent="0">
              <a:buNone/>
            </a:pPr>
            <a:r>
              <a:rPr lang="en-US" sz="1300" b="1" dirty="0">
                <a:latin typeface="Courier New" panose="02070309020205020404" pitchFamily="49" charset="0"/>
                <a:cs typeface="Courier New" panose="02070309020205020404" pitchFamily="49" charset="0"/>
              </a:rPr>
              <a:t>       D size of raw data</a:t>
            </a:r>
          </a:p>
          <a:p>
            <a:pPr marL="0" indent="0">
              <a:buNone/>
            </a:pPr>
            <a:r>
              <a:rPr lang="en-US" sz="1300" b="1" dirty="0">
                <a:latin typeface="Courier New" panose="02070309020205020404" pitchFamily="49" charset="0"/>
                <a:cs typeface="Courier New" panose="02070309020205020404" pitchFamily="49" charset="0"/>
              </a:rPr>
              <a:t>     225 file pointer to raw data (00000225 to 00000231)</a:t>
            </a:r>
          </a:p>
          <a:p>
            <a:pPr marL="0" indent="0">
              <a:buNone/>
            </a:pPr>
            <a:r>
              <a:rPr lang="en-US" sz="1300" b="1" dirty="0">
                <a:latin typeface="Courier New" panose="02070309020205020404" pitchFamily="49" charset="0"/>
                <a:cs typeface="Courier New" panose="02070309020205020404" pitchFamily="49" charset="0"/>
              </a:rPr>
              <a:t>       0 file pointer to relocation table</a:t>
            </a:r>
          </a:p>
          <a:p>
            <a:pPr marL="0" indent="0">
              <a:buNone/>
            </a:pPr>
            <a:r>
              <a:rPr lang="en-US" sz="1300" b="1" dirty="0">
                <a:latin typeface="Courier New" panose="02070309020205020404" pitchFamily="49" charset="0"/>
                <a:cs typeface="Courier New" panose="02070309020205020404" pitchFamily="49" charset="0"/>
              </a:rPr>
              <a:t>       0 file pointer to line numbers</a:t>
            </a:r>
          </a:p>
          <a:p>
            <a:pPr marL="0" indent="0">
              <a:buNone/>
            </a:pPr>
            <a:r>
              <a:rPr lang="en-US" sz="1300" b="1" dirty="0">
                <a:latin typeface="Courier New" panose="02070309020205020404" pitchFamily="49" charset="0"/>
                <a:cs typeface="Courier New" panose="02070309020205020404" pitchFamily="49" charset="0"/>
              </a:rPr>
              <a:t>       0 number of relocations</a:t>
            </a:r>
          </a:p>
          <a:p>
            <a:pPr marL="0" indent="0">
              <a:buNone/>
            </a:pPr>
            <a:r>
              <a:rPr lang="en-US" sz="1300" b="1" dirty="0">
                <a:latin typeface="Courier New" panose="02070309020205020404" pitchFamily="49" charset="0"/>
                <a:cs typeface="Courier New" panose="02070309020205020404" pitchFamily="49" charset="0"/>
              </a:rPr>
              <a:t>       0 number of line numbers</a:t>
            </a:r>
          </a:p>
          <a:p>
            <a:pPr marL="0" indent="0">
              <a:buNone/>
            </a:pPr>
            <a:r>
              <a:rPr lang="en-US" sz="1300" b="1" dirty="0">
                <a:latin typeface="Courier New" panose="02070309020205020404" pitchFamily="49" charset="0"/>
                <a:cs typeface="Courier New" panose="02070309020205020404" pitchFamily="49" charset="0"/>
              </a:rPr>
              <a:t>40400040 flags</a:t>
            </a:r>
          </a:p>
          <a:p>
            <a:pPr marL="0" indent="0">
              <a:buNone/>
            </a:pPr>
            <a:r>
              <a:rPr lang="en-US" sz="1300" b="1" dirty="0">
                <a:latin typeface="Courier New" panose="02070309020205020404" pitchFamily="49" charset="0"/>
                <a:cs typeface="Courier New" panose="02070309020205020404" pitchFamily="49" charset="0"/>
              </a:rPr>
              <a:t>         Initialized Data</a:t>
            </a:r>
          </a:p>
          <a:p>
            <a:pPr marL="0" indent="0">
              <a:buNone/>
            </a:pPr>
            <a:r>
              <a:rPr lang="en-US" sz="1300" b="1" dirty="0">
                <a:latin typeface="Courier New" panose="02070309020205020404" pitchFamily="49" charset="0"/>
                <a:cs typeface="Courier New" panose="02070309020205020404" pitchFamily="49" charset="0"/>
              </a:rPr>
              <a:t>         8 byte align</a:t>
            </a:r>
          </a:p>
          <a:p>
            <a:pPr marL="0" indent="0">
              <a:buNone/>
            </a:pPr>
            <a:r>
              <a:rPr lang="en-US" sz="1300" b="1" dirty="0">
                <a:latin typeface="Courier New" panose="02070309020205020404" pitchFamily="49" charset="0"/>
                <a:cs typeface="Courier New" panose="02070309020205020404" pitchFamily="49" charset="0"/>
              </a:rPr>
              <a:t>         Read Only</a:t>
            </a:r>
          </a:p>
          <a:p>
            <a:pPr marL="0" indent="0">
              <a:buNone/>
            </a:pPr>
            <a:r>
              <a:rPr lang="en-US" sz="1300" b="1" dirty="0">
                <a:latin typeface="Courier New" panose="02070309020205020404" pitchFamily="49" charset="0"/>
                <a:cs typeface="Courier New" panose="02070309020205020404" pitchFamily="49" charset="0"/>
              </a:rPr>
              <a:t>RAW DATA #4</a:t>
            </a:r>
          </a:p>
          <a:p>
            <a:pPr marL="0" indent="0">
              <a:buNone/>
            </a:pPr>
            <a:r>
              <a:rPr lang="en-US" sz="1300" b="1" dirty="0">
                <a:latin typeface="Courier New" panose="02070309020205020404" pitchFamily="49" charset="0"/>
                <a:cs typeface="Courier New" panose="02070309020205020404" pitchFamily="49" charset="0"/>
              </a:rPr>
              <a:t>  00000000: 48 65 6C </a:t>
            </a:r>
            <a:r>
              <a:rPr lang="en-US" sz="1300" b="1" dirty="0" err="1">
                <a:latin typeface="Courier New" panose="02070309020205020404" pitchFamily="49" charset="0"/>
                <a:cs typeface="Courier New" panose="02070309020205020404" pitchFamily="49" charset="0"/>
              </a:rPr>
              <a:t>6C</a:t>
            </a:r>
            <a:r>
              <a:rPr lang="en-US" sz="1300" b="1" dirty="0">
                <a:latin typeface="Courier New" panose="02070309020205020404" pitchFamily="49" charset="0"/>
                <a:cs typeface="Courier New" panose="02070309020205020404" pitchFamily="49" charset="0"/>
              </a:rPr>
              <a:t> 6F 20 77 6F 72 6C 64 0A 00           Hello world..</a:t>
            </a:r>
          </a:p>
          <a:p>
            <a:pPr marL="0" indent="0">
              <a:buNone/>
            </a:pPr>
            <a:endParaRPr lang="en-US" sz="1300" b="1" dirty="0">
              <a:latin typeface="Courier New" panose="02070309020205020404" pitchFamily="49" charset="0"/>
              <a:cs typeface="Courier New" panose="02070309020205020404" pitchFamily="49" charset="0"/>
            </a:endParaRPr>
          </a:p>
          <a:p>
            <a:pPr marL="0" indent="0">
              <a:buNone/>
            </a:pPr>
            <a:endParaRPr lang="en-US" sz="1300" b="1" dirty="0">
              <a:latin typeface="Courier New" panose="02070309020205020404" pitchFamily="49" charset="0"/>
              <a:cs typeface="Courier New" panose="02070309020205020404" pitchFamily="49" charset="0"/>
            </a:endParaRPr>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16</a:t>
            </a:fld>
            <a:endParaRPr lang="en-US" altLang="en-US"/>
          </a:p>
        </p:txBody>
      </p:sp>
      <p:sp>
        <p:nvSpPr>
          <p:cNvPr id="9" name="Rounded Rectangular Callout 8"/>
          <p:cNvSpPr/>
          <p:nvPr/>
        </p:nvSpPr>
        <p:spPr>
          <a:xfrm>
            <a:off x="4215656" y="1690688"/>
            <a:ext cx="3760687" cy="726784"/>
          </a:xfrm>
          <a:prstGeom prst="wedgeRoundRectCallout">
            <a:avLst>
              <a:gd name="adj1" fmla="val -88661"/>
              <a:gd name="adj2" fmla="val -57931"/>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One section from </a:t>
            </a:r>
            <a:r>
              <a:rPr lang="en-US" b="1" dirty="0" err="1">
                <a:latin typeface="Courier New" panose="02070309020205020404" pitchFamily="49" charset="0"/>
                <a:cs typeface="Courier New" panose="02070309020205020404" pitchFamily="49" charset="0"/>
              </a:rPr>
              <a:t>dumbin</a:t>
            </a:r>
            <a:r>
              <a:rPr lang="en-US" b="1" dirty="0">
                <a:latin typeface="Courier New" panose="02070309020205020404" pitchFamily="49" charset="0"/>
                <a:cs typeface="Courier New" panose="02070309020205020404" pitchFamily="49" charset="0"/>
              </a:rPr>
              <a:t> /ALL</a:t>
            </a:r>
          </a:p>
        </p:txBody>
      </p:sp>
    </p:spTree>
    <p:extLst>
      <p:ext uri="{BB962C8B-B14F-4D97-AF65-F5344CB8AC3E}">
        <p14:creationId xmlns:p14="http://schemas.microsoft.com/office/powerpoint/2010/main" val="2200470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Autofit/>
          </a:bodyPr>
          <a:lstStyle/>
          <a:p>
            <a:r>
              <a:rPr lang="en-US" dirty="0"/>
              <a:t>Relocations</a:t>
            </a:r>
          </a:p>
          <a:p>
            <a:pPr marL="457200" lvl="1" indent="0">
              <a:buNone/>
            </a:pPr>
            <a:r>
              <a:rPr lang="en-US" sz="2000" b="1" dirty="0" err="1">
                <a:latin typeface="Courier New" panose="02070309020205020404" pitchFamily="49" charset="0"/>
                <a:cs typeface="Courier New" panose="02070309020205020404" pitchFamily="49" charset="0"/>
              </a:rPr>
              <a:t>dumpbin</a:t>
            </a:r>
            <a:r>
              <a:rPr lang="en-US" sz="2000" b="1" dirty="0">
                <a:latin typeface="Courier New" panose="02070309020205020404" pitchFamily="49" charset="0"/>
                <a:cs typeface="Courier New" panose="02070309020205020404" pitchFamily="49" charset="0"/>
              </a:rPr>
              <a:t> /RELOCATIONS</a:t>
            </a:r>
          </a:p>
          <a:p>
            <a:endParaRPr lang="en-US" dirty="0"/>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17</a:t>
            </a:fld>
            <a:endParaRPr lang="en-US" altLang="en-US"/>
          </a:p>
        </p:txBody>
      </p:sp>
      <p:sp>
        <p:nvSpPr>
          <p:cNvPr id="4" name="Content Placeholder 3"/>
          <p:cNvSpPr>
            <a:spLocks noGrp="1"/>
          </p:cNvSpPr>
          <p:nvPr>
            <p:ph sz="half" idx="4294967295"/>
          </p:nvPr>
        </p:nvSpPr>
        <p:spPr>
          <a:xfrm>
            <a:off x="467147" y="3429000"/>
            <a:ext cx="11257706" cy="2551113"/>
          </a:xfrm>
        </p:spPr>
        <p:txBody>
          <a:bodyPr>
            <a:noAutofit/>
          </a:bodyPr>
          <a:lstStyle/>
          <a:p>
            <a:pPr marL="0" indent="0">
              <a:buNone/>
            </a:pPr>
            <a:r>
              <a:rPr lang="en-US" sz="1400" b="1" dirty="0">
                <a:latin typeface="Courier New" panose="02070309020205020404" pitchFamily="49" charset="0"/>
                <a:cs typeface="Courier New" panose="02070309020205020404" pitchFamily="49" charset="0"/>
              </a:rPr>
              <a:t>RELOCATIONS #5</a:t>
            </a:r>
          </a:p>
          <a:p>
            <a:pPr marL="0" indent="0">
              <a:buNone/>
            </a:pPr>
            <a:r>
              <a:rPr lang="en-US" sz="1400" b="1" dirty="0">
                <a:latin typeface="Courier New" panose="02070309020205020404" pitchFamily="49" charset="0"/>
                <a:cs typeface="Courier New" panose="02070309020205020404" pitchFamily="49" charset="0"/>
              </a:rPr>
              <a:t>                                          Symbol    </a:t>
            </a:r>
            <a:r>
              <a:rPr lang="en-US" sz="1400" b="1" dirty="0" err="1">
                <a:latin typeface="Courier New" panose="02070309020205020404" pitchFamily="49" charset="0"/>
                <a:cs typeface="Courier New" panose="02070309020205020404" pitchFamily="49" charset="0"/>
              </a:rPr>
              <a:t>Symbol</a:t>
            </a:r>
            <a:endParaRPr lang="en-US" sz="1400" b="1"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Offset    Type              Applied To   Index     Name</a:t>
            </a:r>
          </a:p>
          <a:p>
            <a:pPr marL="0" indent="0">
              <a:buNone/>
            </a:pPr>
            <a:r>
              <a:rPr lang="en-US" sz="1400" b="1" dirty="0">
                <a:latin typeface="Courier New" panose="02070309020205020404" pitchFamily="49" charset="0"/>
                <a:cs typeface="Courier New" panose="02070309020205020404" pitchFamily="49" charset="0"/>
              </a:rPr>
              <a:t> --------  ----------------  -----------  --------  ------</a:t>
            </a:r>
          </a:p>
          <a:p>
            <a:pPr marL="0" indent="0">
              <a:buNone/>
            </a:pPr>
            <a:r>
              <a:rPr lang="en-US" sz="1400" b="1" dirty="0">
                <a:latin typeface="Courier New" panose="02070309020205020404" pitchFamily="49" charset="0"/>
                <a:cs typeface="Courier New" panose="02070309020205020404" pitchFamily="49" charset="0"/>
              </a:rPr>
              <a:t> 00000007  REL32                00000000         9  ?message@@3PEBDEB (char </a:t>
            </a:r>
            <a:r>
              <a:rPr lang="en-US" sz="1400" b="1" dirty="0" err="1">
                <a:latin typeface="Courier New" panose="02070309020205020404" pitchFamily="49" charset="0"/>
                <a:cs typeface="Courier New" panose="02070309020205020404" pitchFamily="49" charset="0"/>
              </a:rPr>
              <a:t>const</a:t>
            </a:r>
            <a:r>
              <a:rPr lang="en-US" sz="1400" b="1" dirty="0">
                <a:latin typeface="Courier New" panose="02070309020205020404" pitchFamily="49" charset="0"/>
                <a:cs typeface="Courier New" panose="02070309020205020404" pitchFamily="49" charset="0"/>
              </a:rPr>
              <a:t> * </a:t>
            </a:r>
            <a:r>
              <a:rPr lang="en-US" sz="1400" b="1" dirty="0" err="1">
                <a:latin typeface="Courier New" panose="02070309020205020404" pitchFamily="49" charset="0"/>
                <a:cs typeface="Courier New" panose="02070309020205020404" pitchFamily="49" charset="0"/>
              </a:rPr>
              <a:t>const</a:t>
            </a:r>
            <a:r>
              <a:rPr lang="en-US" sz="1400" b="1" dirty="0">
                <a:latin typeface="Courier New" panose="02070309020205020404" pitchFamily="49" charset="0"/>
                <a:cs typeface="Courier New" panose="02070309020205020404" pitchFamily="49" charset="0"/>
              </a:rPr>
              <a:t> message)</a:t>
            </a:r>
          </a:p>
          <a:p>
            <a:pPr marL="0" indent="0">
              <a:buNone/>
            </a:pPr>
            <a:r>
              <a:rPr lang="en-US" sz="1400" b="1" dirty="0">
                <a:latin typeface="Courier New" panose="02070309020205020404" pitchFamily="49" charset="0"/>
                <a:cs typeface="Courier New" panose="02070309020205020404" pitchFamily="49" charset="0"/>
              </a:rPr>
              <a:t> 0000000C  REL32                00000000         F  ?</a:t>
            </a:r>
            <a:r>
              <a:rPr lang="cs-CZ" sz="1400" b="1">
                <a:latin typeface="Courier New" panose="02070309020205020404" pitchFamily="49" charset="0"/>
                <a:cs typeface="Courier New" panose="02070309020205020404" pitchFamily="49" charset="0"/>
              </a:rPr>
              <a:t>show</a:t>
            </a:r>
            <a:r>
              <a:rPr lang="en-US" sz="1400" b="1">
                <a:latin typeface="Courier New" panose="02070309020205020404" pitchFamily="49" charset="0"/>
                <a:cs typeface="Courier New" panose="02070309020205020404" pitchFamily="49" charset="0"/>
              </a:rPr>
              <a:t>@@</a:t>
            </a:r>
            <a:r>
              <a:rPr lang="en-US" sz="1400" b="1" dirty="0">
                <a:latin typeface="Courier New" panose="02070309020205020404" pitchFamily="49" charset="0"/>
                <a:cs typeface="Courier New" panose="02070309020205020404" pitchFamily="49" charset="0"/>
              </a:rPr>
              <a:t>YAXPEBD@Z (void __</a:t>
            </a:r>
            <a:r>
              <a:rPr lang="en-US" sz="1400" b="1" dirty="0" err="1">
                <a:latin typeface="Courier New" panose="02070309020205020404" pitchFamily="49" charset="0"/>
                <a:cs typeface="Courier New" panose="02070309020205020404" pitchFamily="49" charset="0"/>
              </a:rPr>
              <a:t>cdecl</a:t>
            </a:r>
            <a:r>
              <a:rPr lang="en-US" sz="1400" b="1" dirty="0">
                <a:latin typeface="Courier New" panose="02070309020205020404" pitchFamily="49" charset="0"/>
                <a:cs typeface="Courier New" panose="02070309020205020404" pitchFamily="49" charset="0"/>
              </a:rPr>
              <a:t> show(char const *))</a:t>
            </a:r>
          </a:p>
        </p:txBody>
      </p:sp>
    </p:spTree>
    <p:extLst>
      <p:ext uri="{BB962C8B-B14F-4D97-AF65-F5344CB8AC3E}">
        <p14:creationId xmlns:p14="http://schemas.microsoft.com/office/powerpoint/2010/main" val="4183456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Autofit/>
          </a:bodyPr>
          <a:lstStyle/>
          <a:p>
            <a:r>
              <a:rPr lang="en-US" dirty="0"/>
              <a:t>Disassemble</a:t>
            </a:r>
          </a:p>
          <a:p>
            <a:pPr marL="457200" lvl="1" indent="0">
              <a:buNone/>
            </a:pPr>
            <a:r>
              <a:rPr lang="en-US" sz="2000" b="1" dirty="0" err="1">
                <a:latin typeface="Courier New" panose="02070309020205020404" pitchFamily="49" charset="0"/>
                <a:cs typeface="Courier New" panose="02070309020205020404" pitchFamily="49" charset="0"/>
              </a:rPr>
              <a:t>dumpbin</a:t>
            </a:r>
            <a:r>
              <a:rPr lang="en-US" sz="2000" b="1" dirty="0">
                <a:latin typeface="Courier New" panose="02070309020205020404" pitchFamily="49" charset="0"/>
                <a:cs typeface="Courier New" panose="02070309020205020404" pitchFamily="49" charset="0"/>
              </a:rPr>
              <a:t> /DISASM</a:t>
            </a:r>
            <a:endParaRPr lang="en-US" b="1" dirty="0">
              <a:latin typeface="Courier New" panose="02070309020205020404" pitchFamily="49" charset="0"/>
              <a:cs typeface="Courier New" panose="02070309020205020404" pitchFamily="49" charset="0"/>
            </a:endParaRPr>
          </a:p>
          <a:p>
            <a:endParaRPr lang="en-US" dirty="0"/>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18</a:t>
            </a:fld>
            <a:endParaRPr lang="en-US" altLang="en-US"/>
          </a:p>
        </p:txBody>
      </p:sp>
      <p:sp>
        <p:nvSpPr>
          <p:cNvPr id="4" name="Content Placeholder 3"/>
          <p:cNvSpPr>
            <a:spLocks noGrp="1"/>
          </p:cNvSpPr>
          <p:nvPr>
            <p:ph sz="half" idx="4294967295"/>
          </p:nvPr>
        </p:nvSpPr>
        <p:spPr>
          <a:xfrm>
            <a:off x="683047" y="3212976"/>
            <a:ext cx="10825906" cy="2736850"/>
          </a:xfrm>
        </p:spPr>
        <p:txBody>
          <a:bodyPr>
            <a:noAutofit/>
          </a:bodyPr>
          <a:lstStyle/>
          <a:p>
            <a:pPr marL="0" indent="0">
              <a:buNone/>
            </a:pPr>
            <a:r>
              <a:rPr lang="en-US" sz="1600" b="1" dirty="0">
                <a:latin typeface="Courier New" panose="02070309020205020404" pitchFamily="49" charset="0"/>
                <a:cs typeface="Courier New" panose="02070309020205020404" pitchFamily="49" charset="0"/>
              </a:rPr>
              <a:t>main:</a:t>
            </a:r>
          </a:p>
          <a:p>
            <a:pPr marL="0" indent="0">
              <a:buNone/>
            </a:pPr>
            <a:r>
              <a:rPr lang="en-US" sz="1600" b="1" dirty="0">
                <a:latin typeface="Courier New" panose="02070309020205020404" pitchFamily="49" charset="0"/>
                <a:cs typeface="Courier New" panose="02070309020205020404" pitchFamily="49" charset="0"/>
              </a:rPr>
              <a:t>  0000000000000000: 48 83 EC 28           sub         rsp,28h</a:t>
            </a:r>
          </a:p>
          <a:p>
            <a:pPr marL="0" indent="0">
              <a:buNone/>
            </a:pPr>
            <a:r>
              <a:rPr lang="en-US" sz="1600" b="1" dirty="0">
                <a:latin typeface="Courier New" panose="02070309020205020404" pitchFamily="49" charset="0"/>
                <a:cs typeface="Courier New" panose="02070309020205020404" pitchFamily="49" charset="0"/>
              </a:rPr>
              <a:t>  0000000000000004: 48 8B 0D </a:t>
            </a:r>
            <a:r>
              <a:rPr lang="en-US" sz="1600" b="1" dirty="0">
                <a:solidFill>
                  <a:srgbClr val="C00000"/>
                </a:solidFill>
                <a:latin typeface="Courier New" panose="02070309020205020404" pitchFamily="49" charset="0"/>
                <a:cs typeface="Courier New" panose="02070309020205020404" pitchFamily="49" charset="0"/>
              </a:rPr>
              <a:t>00 00 00 00</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mov</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rcx,qword</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ptr</a:t>
            </a:r>
            <a:r>
              <a:rPr lang="en-US" sz="1600" b="1" dirty="0">
                <a:latin typeface="Courier New" panose="02070309020205020404" pitchFamily="49" charset="0"/>
                <a:cs typeface="Courier New" panose="02070309020205020404" pitchFamily="49" charset="0"/>
              </a:rPr>
              <a:t> [?message@@3PEBDEB]</a:t>
            </a:r>
          </a:p>
          <a:p>
            <a:pPr marL="0" indent="0">
              <a:buNone/>
            </a:pPr>
            <a:r>
              <a:rPr lang="en-US" sz="1600" b="1" dirty="0">
                <a:latin typeface="Courier New" panose="02070309020205020404" pitchFamily="49" charset="0"/>
                <a:cs typeface="Courier New" panose="02070309020205020404" pitchFamily="49" charset="0"/>
              </a:rPr>
              <a:t>  000000000000000B: E8 </a:t>
            </a:r>
            <a:r>
              <a:rPr lang="en-US" sz="1600" b="1" dirty="0">
                <a:solidFill>
                  <a:srgbClr val="C00000"/>
                </a:solidFill>
                <a:latin typeface="Courier New" panose="02070309020205020404" pitchFamily="49" charset="0"/>
                <a:cs typeface="Courier New" panose="02070309020205020404" pitchFamily="49" charset="0"/>
              </a:rPr>
              <a:t>00 00 00 00</a:t>
            </a:r>
            <a:r>
              <a:rPr lang="en-US" sz="1600" b="1" dirty="0">
                <a:latin typeface="Courier New" panose="02070309020205020404" pitchFamily="49" charset="0"/>
                <a:cs typeface="Courier New" panose="02070309020205020404" pitchFamily="49" charset="0"/>
              </a:rPr>
              <a:t>        call        ?show@@YAXPEBD@Z</a:t>
            </a:r>
          </a:p>
          <a:p>
            <a:pPr marL="0" indent="0">
              <a:buNone/>
            </a:pPr>
            <a:r>
              <a:rPr lang="en-US" sz="1600" b="1" dirty="0">
                <a:latin typeface="Courier New" panose="02070309020205020404" pitchFamily="49" charset="0"/>
                <a:cs typeface="Courier New" panose="02070309020205020404" pitchFamily="49" charset="0"/>
              </a:rPr>
              <a:t>  0000000000000010: 33 C0                 </a:t>
            </a:r>
            <a:r>
              <a:rPr lang="en-US" sz="1600" b="1" dirty="0" err="1">
                <a:latin typeface="Courier New" panose="02070309020205020404" pitchFamily="49" charset="0"/>
                <a:cs typeface="Courier New" panose="02070309020205020404" pitchFamily="49" charset="0"/>
              </a:rPr>
              <a:t>xor</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eax,eax</a:t>
            </a:r>
            <a:endParaRPr lang="en-US" sz="1600" b="1" dirty="0">
              <a:latin typeface="Courier New" panose="02070309020205020404" pitchFamily="49" charset="0"/>
              <a:cs typeface="Courier New" panose="02070309020205020404" pitchFamily="49" charset="0"/>
            </a:endParaRPr>
          </a:p>
          <a:p>
            <a:pPr marL="0" indent="0">
              <a:buNone/>
            </a:pPr>
            <a:r>
              <a:rPr lang="en-US" sz="1600" b="1" dirty="0">
                <a:latin typeface="Courier New" panose="02070309020205020404" pitchFamily="49" charset="0"/>
                <a:cs typeface="Courier New" panose="02070309020205020404" pitchFamily="49" charset="0"/>
              </a:rPr>
              <a:t>  0000000000000012: 48 83 C4 28           add         rsp,28h</a:t>
            </a:r>
          </a:p>
          <a:p>
            <a:pPr marL="0" indent="0">
              <a:buNone/>
            </a:pPr>
            <a:r>
              <a:rPr lang="en-US" sz="1600" b="1" dirty="0">
                <a:latin typeface="Courier New" panose="02070309020205020404" pitchFamily="49" charset="0"/>
                <a:cs typeface="Courier New" panose="02070309020205020404" pitchFamily="49" charset="0"/>
              </a:rPr>
              <a:t>  0000000000000016: C3                    ret</a:t>
            </a:r>
          </a:p>
        </p:txBody>
      </p:sp>
    </p:spTree>
    <p:extLst>
      <p:ext uri="{BB962C8B-B14F-4D97-AF65-F5344CB8AC3E}">
        <p14:creationId xmlns:p14="http://schemas.microsoft.com/office/powerpoint/2010/main" val="1027265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Run-time</a:t>
            </a:r>
          </a:p>
        </p:txBody>
      </p:sp>
      <p:sp>
        <p:nvSpPr>
          <p:cNvPr id="3" name="Content Placeholder 2"/>
          <p:cNvSpPr>
            <a:spLocks noGrp="1"/>
          </p:cNvSpPr>
          <p:nvPr>
            <p:ph idx="1"/>
          </p:nvPr>
        </p:nvSpPr>
        <p:spPr/>
        <p:txBody>
          <a:bodyPr/>
          <a:lstStyle/>
          <a:p>
            <a:pPr eaLnBrk="1" hangingPunct="1">
              <a:lnSpc>
                <a:spcPct val="90000"/>
              </a:lnSpc>
            </a:pPr>
            <a:r>
              <a:rPr lang="en-US" sz="2600" dirty="0"/>
              <a:t>Static language support</a:t>
            </a:r>
            <a:endParaRPr lang="cs-CZ" sz="2600" dirty="0"/>
          </a:p>
          <a:p>
            <a:pPr lvl="1" eaLnBrk="1" hangingPunct="1">
              <a:lnSpc>
                <a:spcPct val="90000"/>
              </a:lnSpc>
            </a:pPr>
            <a:r>
              <a:rPr lang="en-US" sz="2200" dirty="0"/>
              <a:t>Compiler</a:t>
            </a:r>
            <a:endParaRPr lang="cs-CZ" sz="2200" dirty="0"/>
          </a:p>
          <a:p>
            <a:pPr lvl="1" eaLnBrk="1" hangingPunct="1">
              <a:lnSpc>
                <a:spcPct val="90000"/>
              </a:lnSpc>
            </a:pPr>
            <a:r>
              <a:rPr lang="en-US" sz="2200" dirty="0"/>
              <a:t>Library interface</a:t>
            </a:r>
            <a:endParaRPr lang="cs-CZ" sz="2200" dirty="0"/>
          </a:p>
          <a:p>
            <a:pPr lvl="2" eaLnBrk="1" hangingPunct="1">
              <a:lnSpc>
                <a:spcPct val="90000"/>
              </a:lnSpc>
            </a:pPr>
            <a:r>
              <a:rPr lang="en-US" sz="2100" dirty="0"/>
              <a:t>E.g., header files (C/C++)</a:t>
            </a:r>
            <a:endParaRPr lang="cs-CZ" sz="2100" dirty="0"/>
          </a:p>
          <a:p>
            <a:pPr eaLnBrk="1" hangingPunct="1">
              <a:lnSpc>
                <a:spcPct val="90000"/>
              </a:lnSpc>
            </a:pPr>
            <a:r>
              <a:rPr lang="en-US" sz="2600" dirty="0"/>
              <a:t>Dynamic language support</a:t>
            </a:r>
            <a:endParaRPr lang="cs-CZ" sz="2600" dirty="0"/>
          </a:p>
          <a:p>
            <a:pPr lvl="1" eaLnBrk="1" hangingPunct="1">
              <a:lnSpc>
                <a:spcPct val="90000"/>
              </a:lnSpc>
            </a:pPr>
            <a:r>
              <a:rPr lang="en-US" sz="2200" dirty="0"/>
              <a:t>Run-time program environment</a:t>
            </a:r>
            <a:endParaRPr lang="cs-CZ" sz="2200" dirty="0"/>
          </a:p>
          <a:p>
            <a:pPr lvl="2" eaLnBrk="1" hangingPunct="1">
              <a:lnSpc>
                <a:spcPct val="90000"/>
              </a:lnSpc>
            </a:pPr>
            <a:r>
              <a:rPr lang="en-US" sz="2100" dirty="0"/>
              <a:t>Storage organization</a:t>
            </a:r>
            <a:endParaRPr lang="cs-CZ" sz="2100" dirty="0"/>
          </a:p>
          <a:p>
            <a:pPr lvl="2" eaLnBrk="1" hangingPunct="1">
              <a:lnSpc>
                <a:spcPct val="90000"/>
              </a:lnSpc>
            </a:pPr>
            <a:r>
              <a:rPr lang="en-US" sz="2100" dirty="0"/>
              <a:t>Memory content initialization (before execution)</a:t>
            </a:r>
            <a:endParaRPr lang="cs-CZ" sz="2100" dirty="0"/>
          </a:p>
          <a:p>
            <a:pPr lvl="2" eaLnBrk="1" hangingPunct="1">
              <a:lnSpc>
                <a:spcPct val="90000"/>
              </a:lnSpc>
            </a:pPr>
            <a:r>
              <a:rPr lang="en-US" sz="2100" dirty="0"/>
              <a:t>Constructors and destructors of global objects</a:t>
            </a:r>
            <a:endParaRPr lang="cs-CZ" sz="2100" dirty="0"/>
          </a:p>
          <a:p>
            <a:pPr lvl="1" eaLnBrk="1" hangingPunct="1">
              <a:lnSpc>
                <a:spcPct val="90000"/>
              </a:lnSpc>
            </a:pPr>
            <a:r>
              <a:rPr lang="en-US" sz="2200" dirty="0"/>
              <a:t>Libraries</a:t>
            </a:r>
            <a:endParaRPr lang="cs-CZ" sz="2200" dirty="0"/>
          </a:p>
          <a:p>
            <a:pPr lvl="1" eaLnBrk="1" hangingPunct="1">
              <a:lnSpc>
                <a:spcPct val="90000"/>
              </a:lnSpc>
            </a:pPr>
            <a:r>
              <a:rPr lang="en-US" sz="2200" dirty="0"/>
              <a:t>Calling convention</a:t>
            </a:r>
            <a:endParaRPr lang="cs-CZ" sz="2200" dirty="0"/>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19</a:t>
            </a:fld>
            <a:endParaRPr lang="en-US" altLang="en-US"/>
          </a:p>
        </p:txBody>
      </p:sp>
    </p:spTree>
    <p:extLst>
      <p:ext uri="{BB962C8B-B14F-4D97-AF65-F5344CB8AC3E}">
        <p14:creationId xmlns:p14="http://schemas.microsoft.com/office/powerpoint/2010/main" val="4272818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
          <p:cNvSpPr>
            <a:spLocks noChangeArrowheads="1"/>
          </p:cNvSpPr>
          <p:nvPr/>
        </p:nvSpPr>
        <p:spPr bwMode="auto">
          <a:xfrm>
            <a:off x="6168008" y="3138984"/>
            <a:ext cx="2232025" cy="576263"/>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dirty="0"/>
              <a:t>Return address</a:t>
            </a:r>
            <a:endParaRPr lang="cs-CZ" dirty="0"/>
          </a:p>
        </p:txBody>
      </p:sp>
      <p:sp>
        <p:nvSpPr>
          <p:cNvPr id="6146" name="Rectangle 2"/>
          <p:cNvSpPr>
            <a:spLocks noGrp="1" noChangeArrowheads="1"/>
          </p:cNvSpPr>
          <p:nvPr>
            <p:ph type="title"/>
          </p:nvPr>
        </p:nvSpPr>
        <p:spPr/>
        <p:txBody>
          <a:bodyPr/>
          <a:lstStyle/>
          <a:p>
            <a:pPr eaLnBrk="1" hangingPunct="1"/>
            <a:r>
              <a:rPr lang="en-US" dirty="0"/>
              <a:t>Function call</a:t>
            </a:r>
            <a:endParaRPr lang="cs-CZ" dirty="0"/>
          </a:p>
        </p:txBody>
      </p:sp>
      <p:sp>
        <p:nvSpPr>
          <p:cNvPr id="6147" name="Rectangle 3"/>
          <p:cNvSpPr>
            <a:spLocks noGrp="1" noChangeArrowheads="1"/>
          </p:cNvSpPr>
          <p:nvPr>
            <p:ph idx="1"/>
          </p:nvPr>
        </p:nvSpPr>
        <p:spPr>
          <a:xfrm>
            <a:off x="838200" y="1825625"/>
            <a:ext cx="5041776" cy="4351338"/>
          </a:xfrm>
        </p:spPr>
        <p:txBody>
          <a:bodyPr/>
          <a:lstStyle/>
          <a:p>
            <a:pPr eaLnBrk="1" hangingPunct="1"/>
            <a:r>
              <a:rPr lang="en-US" dirty="0"/>
              <a:t>Activation record (stack frame)</a:t>
            </a:r>
          </a:p>
          <a:p>
            <a:pPr lvl="1"/>
            <a:r>
              <a:rPr lang="en-US" dirty="0"/>
              <a:t>Return value</a:t>
            </a:r>
          </a:p>
          <a:p>
            <a:pPr lvl="2"/>
            <a:r>
              <a:rPr lang="en-US" dirty="0"/>
              <a:t>May be larger (structure)</a:t>
            </a:r>
          </a:p>
          <a:p>
            <a:pPr lvl="2"/>
            <a:r>
              <a:rPr lang="en-US" dirty="0"/>
              <a:t>Small values returned via registers</a:t>
            </a:r>
          </a:p>
          <a:p>
            <a:pPr lvl="1"/>
            <a:r>
              <a:rPr lang="en-US" dirty="0"/>
              <a:t>Saved machine status</a:t>
            </a:r>
            <a:endParaRPr lang="cs-CZ" dirty="0"/>
          </a:p>
          <a:p>
            <a:pPr lvl="2"/>
            <a:r>
              <a:rPr lang="en-US" dirty="0"/>
              <a:t>The return address of the code</a:t>
            </a:r>
            <a:endParaRPr lang="cs-CZ" dirty="0"/>
          </a:p>
          <a:p>
            <a:pPr lvl="2"/>
            <a:r>
              <a:rPr lang="en-US" dirty="0"/>
              <a:t>(Some) registers</a:t>
            </a:r>
          </a:p>
          <a:p>
            <a:pPr lvl="1"/>
            <a:r>
              <a:rPr lang="en-US" dirty="0"/>
              <a:t>Control link</a:t>
            </a:r>
            <a:endParaRPr lang="cs-CZ" dirty="0"/>
          </a:p>
          <a:p>
            <a:pPr lvl="2"/>
            <a:r>
              <a:rPr lang="en-US" dirty="0"/>
              <a:t>Pointer to the activation record of the caller</a:t>
            </a:r>
            <a:endParaRPr lang="cs-CZ" dirty="0"/>
          </a:p>
        </p:txBody>
      </p:sp>
      <p:sp>
        <p:nvSpPr>
          <p:cNvPr id="2" name="Date Placeholder 1"/>
          <p:cNvSpPr>
            <a:spLocks noGrp="1"/>
          </p:cNvSpPr>
          <p:nvPr>
            <p:ph type="dt" sz="half" idx="10"/>
          </p:nvPr>
        </p:nvSpPr>
        <p:spPr/>
        <p:txBody>
          <a:bodyPr/>
          <a:lstStyle/>
          <a:p>
            <a:r>
              <a:rPr lang="cs-CZ" altLang="en-US"/>
              <a:t>26.3.2025</a:t>
            </a:r>
            <a:endParaRPr lang="en-US" altLang="en-US"/>
          </a:p>
        </p:txBody>
      </p:sp>
      <p:sp>
        <p:nvSpPr>
          <p:cNvPr id="3" name="Slide Number Placeholder 2"/>
          <p:cNvSpPr>
            <a:spLocks noGrp="1"/>
          </p:cNvSpPr>
          <p:nvPr>
            <p:ph type="sldNum" sz="quarter" idx="12"/>
          </p:nvPr>
        </p:nvSpPr>
        <p:spPr/>
        <p:txBody>
          <a:bodyPr/>
          <a:lstStyle/>
          <a:p>
            <a:fld id="{F4A1145F-674A-4228-8958-0EA9769F5517}" type="slidenum">
              <a:rPr lang="en-US" altLang="en-US" smtClean="0"/>
              <a:pPr/>
              <a:t>20</a:t>
            </a:fld>
            <a:endParaRPr lang="en-US" altLang="en-US"/>
          </a:p>
        </p:txBody>
      </p:sp>
      <p:sp>
        <p:nvSpPr>
          <p:cNvPr id="6148" name="Rectangle 4"/>
          <p:cNvSpPr>
            <a:spLocks noChangeArrowheads="1"/>
          </p:cNvSpPr>
          <p:nvPr/>
        </p:nvSpPr>
        <p:spPr bwMode="auto">
          <a:xfrm>
            <a:off x="6168008" y="1988840"/>
            <a:ext cx="2232025" cy="576262"/>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Return value</a:t>
            </a:r>
            <a:endParaRPr lang="cs-CZ" dirty="0"/>
          </a:p>
        </p:txBody>
      </p:sp>
      <p:sp>
        <p:nvSpPr>
          <p:cNvPr id="6149" name="Rectangle 5"/>
          <p:cNvSpPr>
            <a:spLocks noChangeArrowheads="1"/>
          </p:cNvSpPr>
          <p:nvPr/>
        </p:nvSpPr>
        <p:spPr bwMode="auto">
          <a:xfrm>
            <a:off x="6168008" y="2565103"/>
            <a:ext cx="2232025" cy="576263"/>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Actual parameters</a:t>
            </a:r>
            <a:endParaRPr lang="cs-CZ" dirty="0"/>
          </a:p>
        </p:txBody>
      </p:sp>
      <p:sp>
        <p:nvSpPr>
          <p:cNvPr id="6150" name="Rectangle 6"/>
          <p:cNvSpPr>
            <a:spLocks noChangeArrowheads="1"/>
          </p:cNvSpPr>
          <p:nvPr/>
        </p:nvSpPr>
        <p:spPr bwMode="auto">
          <a:xfrm>
            <a:off x="6168008" y="3710484"/>
            <a:ext cx="2232025" cy="576263"/>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dirty="0"/>
              <a:t>Control link</a:t>
            </a:r>
            <a:endParaRPr lang="cs-CZ" dirty="0"/>
          </a:p>
        </p:txBody>
      </p:sp>
      <p:sp>
        <p:nvSpPr>
          <p:cNvPr id="6152" name="Rectangle 8"/>
          <p:cNvSpPr>
            <a:spLocks noChangeArrowheads="1"/>
          </p:cNvSpPr>
          <p:nvPr/>
        </p:nvSpPr>
        <p:spPr bwMode="auto">
          <a:xfrm>
            <a:off x="6168008" y="4279602"/>
            <a:ext cx="2232025" cy="576263"/>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dirty="0"/>
              <a:t>Saved machine status</a:t>
            </a:r>
            <a:endParaRPr lang="cs-CZ" dirty="0"/>
          </a:p>
        </p:txBody>
      </p:sp>
      <p:sp>
        <p:nvSpPr>
          <p:cNvPr id="6153" name="Rectangle 9"/>
          <p:cNvSpPr>
            <a:spLocks noChangeArrowheads="1"/>
          </p:cNvSpPr>
          <p:nvPr/>
        </p:nvSpPr>
        <p:spPr bwMode="auto">
          <a:xfrm>
            <a:off x="6168008" y="4866979"/>
            <a:ext cx="2232025" cy="576262"/>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Local data</a:t>
            </a:r>
            <a:endParaRPr lang="cs-CZ" dirty="0"/>
          </a:p>
        </p:txBody>
      </p:sp>
      <p:sp>
        <p:nvSpPr>
          <p:cNvPr id="6154" name="Rectangle 10"/>
          <p:cNvSpPr>
            <a:spLocks noChangeArrowheads="1"/>
          </p:cNvSpPr>
          <p:nvPr/>
        </p:nvSpPr>
        <p:spPr bwMode="auto">
          <a:xfrm>
            <a:off x="6168008" y="5443242"/>
            <a:ext cx="2232025" cy="576263"/>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Temporaries</a:t>
            </a:r>
            <a:endParaRPr lang="cs-CZ" dirty="0"/>
          </a:p>
        </p:txBody>
      </p:sp>
      <p:sp>
        <p:nvSpPr>
          <p:cNvPr id="6155" name="Line 11"/>
          <p:cNvSpPr>
            <a:spLocks noChangeShapeType="1"/>
          </p:cNvSpPr>
          <p:nvPr/>
        </p:nvSpPr>
        <p:spPr bwMode="auto">
          <a:xfrm>
            <a:off x="6168008" y="3139777"/>
            <a:ext cx="2232025" cy="0"/>
          </a:xfrm>
          <a:prstGeom prst="line">
            <a:avLst/>
          </a:prstGeom>
          <a:noFill/>
          <a:ln w="25400">
            <a:solidFill>
              <a:schemeClr val="tx1"/>
            </a:solidFill>
            <a:round/>
            <a:headEnd/>
            <a:tailEnd/>
          </a:ln>
        </p:spPr>
        <p:txBody>
          <a:bodyPr wrap="none"/>
          <a:lstStyle/>
          <a:p>
            <a:endParaRPr lang="cs-CZ"/>
          </a:p>
        </p:txBody>
      </p:sp>
      <p:sp>
        <p:nvSpPr>
          <p:cNvPr id="6156" name="Line 12"/>
          <p:cNvSpPr>
            <a:spLocks noChangeShapeType="1"/>
          </p:cNvSpPr>
          <p:nvPr/>
        </p:nvSpPr>
        <p:spPr bwMode="auto">
          <a:xfrm>
            <a:off x="6168008" y="4866979"/>
            <a:ext cx="2232025" cy="0"/>
          </a:xfrm>
          <a:prstGeom prst="line">
            <a:avLst/>
          </a:prstGeom>
          <a:noFill/>
          <a:ln w="25400">
            <a:solidFill>
              <a:schemeClr val="tx1"/>
            </a:solidFill>
            <a:round/>
            <a:headEnd/>
            <a:tailEnd/>
          </a:ln>
        </p:spPr>
        <p:txBody>
          <a:bodyPr wrap="none"/>
          <a:lstStyle/>
          <a:p>
            <a:endParaRPr lang="cs-CZ"/>
          </a:p>
        </p:txBody>
      </p:sp>
      <p:sp>
        <p:nvSpPr>
          <p:cNvPr id="15" name="Rounded Rectangular Callout 14"/>
          <p:cNvSpPr/>
          <p:nvPr/>
        </p:nvSpPr>
        <p:spPr>
          <a:xfrm>
            <a:off x="8976320" y="2205111"/>
            <a:ext cx="2520280" cy="719981"/>
          </a:xfrm>
          <a:prstGeom prst="wedgeRoundRectCallout">
            <a:avLst>
              <a:gd name="adj1" fmla="val -68717"/>
              <a:gd name="adj2" fmla="val -148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Prepared by the caller before the call</a:t>
            </a:r>
          </a:p>
        </p:txBody>
      </p:sp>
      <p:sp>
        <p:nvSpPr>
          <p:cNvPr id="16" name="Rounded Rectangular Callout 15"/>
          <p:cNvSpPr/>
          <p:nvPr/>
        </p:nvSpPr>
        <p:spPr>
          <a:xfrm>
            <a:off x="8768680" y="4587529"/>
            <a:ext cx="1791816" cy="567581"/>
          </a:xfrm>
          <a:prstGeom prst="wedgeRoundRectCallout">
            <a:avLst>
              <a:gd name="adj1" fmla="val -70699"/>
              <a:gd name="adj2" fmla="val -1485"/>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Frame pointer</a:t>
            </a:r>
          </a:p>
        </p:txBody>
      </p:sp>
      <p:sp>
        <p:nvSpPr>
          <p:cNvPr id="17" name="Rounded Rectangular Callout 16"/>
          <p:cNvSpPr/>
          <p:nvPr/>
        </p:nvSpPr>
        <p:spPr>
          <a:xfrm>
            <a:off x="8768680" y="5517232"/>
            <a:ext cx="3156731" cy="719981"/>
          </a:xfrm>
          <a:prstGeom prst="wedgeRoundRectCallout">
            <a:avLst>
              <a:gd name="adj1" fmla="val -68155"/>
              <a:gd name="adj2" fmla="val -8779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Local variables and parameters are treated the same way</a:t>
            </a:r>
          </a:p>
        </p:txBody>
      </p:sp>
    </p:spTree>
    <p:extLst>
      <p:ext uri="{BB962C8B-B14F-4D97-AF65-F5344CB8AC3E}">
        <p14:creationId xmlns:p14="http://schemas.microsoft.com/office/powerpoint/2010/main" val="120094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Function call</a:t>
            </a:r>
            <a:endParaRPr lang="cs-CZ" dirty="0"/>
          </a:p>
        </p:txBody>
      </p:sp>
      <p:sp>
        <p:nvSpPr>
          <p:cNvPr id="7171" name="Rectangle 3"/>
          <p:cNvSpPr>
            <a:spLocks noGrp="1" noChangeArrowheads="1"/>
          </p:cNvSpPr>
          <p:nvPr>
            <p:ph idx="1"/>
          </p:nvPr>
        </p:nvSpPr>
        <p:spPr/>
        <p:txBody>
          <a:bodyPr/>
          <a:lstStyle/>
          <a:p>
            <a:pPr eaLnBrk="1" hangingPunct="1">
              <a:lnSpc>
                <a:spcPct val="90000"/>
              </a:lnSpc>
            </a:pPr>
            <a:r>
              <a:rPr lang="en-US" sz="2600" dirty="0"/>
              <a:t>Calling convention</a:t>
            </a:r>
            <a:endParaRPr lang="cs-CZ" sz="2600" dirty="0"/>
          </a:p>
          <a:p>
            <a:pPr lvl="1" eaLnBrk="1" hangingPunct="1">
              <a:lnSpc>
                <a:spcPct val="90000"/>
              </a:lnSpc>
            </a:pPr>
            <a:r>
              <a:rPr lang="en-US" sz="2200" dirty="0"/>
              <a:t>Public name mangling</a:t>
            </a:r>
            <a:endParaRPr lang="cs-CZ" sz="2200" dirty="0"/>
          </a:p>
          <a:p>
            <a:pPr lvl="1" eaLnBrk="1" hangingPunct="1">
              <a:lnSpc>
                <a:spcPct val="90000"/>
              </a:lnSpc>
            </a:pPr>
            <a:r>
              <a:rPr lang="en-US" sz="2200" dirty="0"/>
              <a:t>Call/return sequence for functions and procedures</a:t>
            </a:r>
            <a:endParaRPr lang="cs-CZ" sz="2200" dirty="0"/>
          </a:p>
          <a:p>
            <a:pPr lvl="2" eaLnBrk="1" hangingPunct="1">
              <a:lnSpc>
                <a:spcPct val="90000"/>
              </a:lnSpc>
            </a:pPr>
            <a:r>
              <a:rPr lang="en-US" sz="2100" dirty="0"/>
              <a:t>Housekeeping responsibility</a:t>
            </a:r>
            <a:endParaRPr lang="cs-CZ" sz="2100" dirty="0"/>
          </a:p>
          <a:p>
            <a:pPr lvl="1" eaLnBrk="1" hangingPunct="1">
              <a:lnSpc>
                <a:spcPct val="90000"/>
              </a:lnSpc>
            </a:pPr>
            <a:r>
              <a:rPr lang="en-US" sz="2200" dirty="0"/>
              <a:t>Parameter passing</a:t>
            </a:r>
            <a:endParaRPr lang="cs-CZ" sz="2200" dirty="0"/>
          </a:p>
          <a:p>
            <a:pPr lvl="2" eaLnBrk="1" hangingPunct="1">
              <a:lnSpc>
                <a:spcPct val="90000"/>
              </a:lnSpc>
            </a:pPr>
            <a:r>
              <a:rPr lang="en-US" sz="2100" dirty="0"/>
              <a:t>Registers, stack</a:t>
            </a:r>
            <a:endParaRPr lang="cs-CZ" sz="2100" dirty="0"/>
          </a:p>
          <a:p>
            <a:pPr lvl="2" eaLnBrk="1" hangingPunct="1">
              <a:lnSpc>
                <a:spcPct val="90000"/>
              </a:lnSpc>
            </a:pPr>
            <a:r>
              <a:rPr lang="en-US" sz="2100" dirty="0"/>
              <a:t>Order of passed parameters</a:t>
            </a:r>
            <a:endParaRPr lang="cs-CZ" sz="2100" dirty="0"/>
          </a:p>
          <a:p>
            <a:pPr lvl="1" eaLnBrk="1" hangingPunct="1">
              <a:lnSpc>
                <a:spcPct val="90000"/>
              </a:lnSpc>
            </a:pPr>
            <a:r>
              <a:rPr lang="en-US" sz="2200" dirty="0"/>
              <a:t>Return value</a:t>
            </a:r>
            <a:endParaRPr lang="cs-CZ" sz="2200" dirty="0"/>
          </a:p>
          <a:p>
            <a:pPr lvl="2" eaLnBrk="1" hangingPunct="1">
              <a:lnSpc>
                <a:spcPct val="90000"/>
              </a:lnSpc>
            </a:pPr>
            <a:r>
              <a:rPr lang="en-US" sz="2100" dirty="0"/>
              <a:t>Registers, stacks</a:t>
            </a:r>
            <a:endParaRPr lang="cs-CZ" sz="2100" dirty="0"/>
          </a:p>
          <a:p>
            <a:pPr lvl="1" eaLnBrk="1" hangingPunct="1">
              <a:lnSpc>
                <a:spcPct val="90000"/>
              </a:lnSpc>
            </a:pPr>
            <a:r>
              <a:rPr lang="en-US" sz="2200" dirty="0"/>
              <a:t>Registers role</a:t>
            </a:r>
            <a:endParaRPr lang="cs-CZ" sz="2200" dirty="0"/>
          </a:p>
          <a:p>
            <a:pPr lvl="2" eaLnBrk="1" hangingPunct="1">
              <a:lnSpc>
                <a:spcPct val="90000"/>
              </a:lnSpc>
            </a:pPr>
            <a:r>
              <a:rPr lang="en-US" sz="2100" dirty="0"/>
              <a:t>Parameter passing, scratch, preserved</a:t>
            </a:r>
            <a:endParaRPr lang="cs-CZ" sz="2100" dirty="0"/>
          </a:p>
        </p:txBody>
      </p:sp>
      <p:sp>
        <p:nvSpPr>
          <p:cNvPr id="2" name="Date Placeholder 1"/>
          <p:cNvSpPr>
            <a:spLocks noGrp="1"/>
          </p:cNvSpPr>
          <p:nvPr>
            <p:ph type="dt" sz="half" idx="10"/>
          </p:nvPr>
        </p:nvSpPr>
        <p:spPr/>
        <p:txBody>
          <a:bodyPr/>
          <a:lstStyle/>
          <a:p>
            <a:r>
              <a:rPr lang="cs-CZ" altLang="en-US"/>
              <a:t>26.3.2025</a:t>
            </a:r>
            <a:endParaRPr lang="en-US" altLang="en-US"/>
          </a:p>
        </p:txBody>
      </p:sp>
      <p:sp>
        <p:nvSpPr>
          <p:cNvPr id="3" name="Slide Number Placeholder 2"/>
          <p:cNvSpPr>
            <a:spLocks noGrp="1"/>
          </p:cNvSpPr>
          <p:nvPr>
            <p:ph type="sldNum" sz="quarter" idx="12"/>
          </p:nvPr>
        </p:nvSpPr>
        <p:spPr/>
        <p:txBody>
          <a:bodyPr/>
          <a:lstStyle/>
          <a:p>
            <a:fld id="{F4A1145F-674A-4228-8958-0EA9769F5517}" type="slidenum">
              <a:rPr lang="en-US" altLang="en-US" smtClean="0"/>
              <a:pPr/>
              <a:t>21</a:t>
            </a:fld>
            <a:endParaRPr lang="en-US" altLang="en-US"/>
          </a:p>
        </p:txBody>
      </p:sp>
    </p:spTree>
    <p:extLst>
      <p:ext uri="{BB962C8B-B14F-4D97-AF65-F5344CB8AC3E}">
        <p14:creationId xmlns:p14="http://schemas.microsoft.com/office/powerpoint/2010/main" val="1149526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dirty="0"/>
              <a:t>Public name mangling</a:t>
            </a:r>
          </a:p>
        </p:txBody>
      </p:sp>
      <p:sp>
        <p:nvSpPr>
          <p:cNvPr id="8195" name="Rectangle 3"/>
          <p:cNvSpPr>
            <a:spLocks noGrp="1" noChangeArrowheads="1"/>
          </p:cNvSpPr>
          <p:nvPr>
            <p:ph idx="1"/>
          </p:nvPr>
        </p:nvSpPr>
        <p:spPr/>
        <p:txBody>
          <a:bodyPr>
            <a:normAutofit/>
          </a:bodyPr>
          <a:lstStyle/>
          <a:p>
            <a:pPr eaLnBrk="1" hangingPunct="1">
              <a:lnSpc>
                <a:spcPct val="80000"/>
              </a:lnSpc>
            </a:pPr>
            <a:r>
              <a:rPr lang="en-US" dirty="0"/>
              <a:t>Examples</a:t>
            </a:r>
            <a:r>
              <a:rPr lang="cs-CZ" dirty="0"/>
              <a:t>:</a:t>
            </a:r>
          </a:p>
          <a:p>
            <a:pPr eaLnBrk="1" hangingPunct="1">
              <a:lnSpc>
                <a:spcPct val="80000"/>
              </a:lnSpc>
              <a:buFont typeface="Wingdings" pitchFamily="2" charset="2"/>
              <a:buNone/>
            </a:pPr>
            <a:r>
              <a:rPr lang="cs-CZ" sz="1700" b="1" dirty="0">
                <a:solidFill>
                  <a:schemeClr val="hlink"/>
                </a:solidFill>
                <a:latin typeface="Courier New" pitchFamily="49" charset="0"/>
              </a:rPr>
              <a:t>	</a:t>
            </a:r>
            <a:br>
              <a:rPr lang="cs-CZ" sz="1700" b="1" dirty="0">
                <a:solidFill>
                  <a:schemeClr val="hlink"/>
                </a:solidFill>
                <a:latin typeface="Courier New" pitchFamily="49" charset="0"/>
              </a:rPr>
            </a:br>
            <a:r>
              <a:rPr lang="cs-CZ" sz="1900" b="1" dirty="0">
                <a:solidFill>
                  <a:schemeClr val="hlink"/>
                </a:solidFill>
                <a:latin typeface="Courier New" pitchFamily="49" charset="0"/>
              </a:rPr>
              <a:t>long f1(</a:t>
            </a:r>
            <a:r>
              <a:rPr lang="cs-CZ" sz="1900" b="1" dirty="0" err="1">
                <a:solidFill>
                  <a:schemeClr val="hlink"/>
                </a:solidFill>
                <a:latin typeface="Courier New" pitchFamily="49" charset="0"/>
              </a:rPr>
              <a:t>int</a:t>
            </a:r>
            <a:r>
              <a:rPr lang="cs-CZ" sz="1900" b="1" dirty="0">
                <a:solidFill>
                  <a:schemeClr val="hlink"/>
                </a:solidFill>
                <a:latin typeface="Courier New" pitchFamily="49" charset="0"/>
              </a:rPr>
              <a:t> i, </a:t>
            </a:r>
            <a:r>
              <a:rPr lang="cs-CZ" sz="1900" b="1" dirty="0" err="1">
                <a:solidFill>
                  <a:schemeClr val="hlink"/>
                </a:solidFill>
                <a:latin typeface="Courier New" pitchFamily="49" charset="0"/>
              </a:rPr>
              <a:t>const</a:t>
            </a:r>
            <a:r>
              <a:rPr lang="cs-CZ" sz="1900" b="1" dirty="0">
                <a:solidFill>
                  <a:schemeClr val="hlink"/>
                </a:solidFill>
                <a:latin typeface="Courier New" pitchFamily="49" charset="0"/>
              </a:rPr>
              <a:t> </a:t>
            </a:r>
            <a:r>
              <a:rPr lang="cs-CZ" sz="1900" b="1" dirty="0" err="1">
                <a:solidFill>
                  <a:schemeClr val="hlink"/>
                </a:solidFill>
                <a:latin typeface="Courier New" pitchFamily="49" charset="0"/>
              </a:rPr>
              <a:t>char</a:t>
            </a:r>
            <a:r>
              <a:rPr lang="cs-CZ" sz="1900" b="1" dirty="0">
                <a:solidFill>
                  <a:schemeClr val="hlink"/>
                </a:solidFill>
                <a:latin typeface="Courier New" pitchFamily="49" charset="0"/>
              </a:rPr>
              <a:t> *m, </a:t>
            </a:r>
            <a:r>
              <a:rPr lang="cs-CZ" sz="1900" b="1" dirty="0" err="1">
                <a:solidFill>
                  <a:schemeClr val="hlink"/>
                </a:solidFill>
                <a:latin typeface="Courier New" pitchFamily="49" charset="0"/>
              </a:rPr>
              <a:t>struct</a:t>
            </a:r>
            <a:r>
              <a:rPr lang="cs-CZ" sz="1900" b="1" dirty="0">
                <a:solidFill>
                  <a:schemeClr val="hlink"/>
                </a:solidFill>
                <a:latin typeface="Courier New" pitchFamily="49" charset="0"/>
              </a:rPr>
              <a:t> s *p)</a:t>
            </a:r>
          </a:p>
          <a:p>
            <a:pPr eaLnBrk="1" hangingPunct="1">
              <a:lnSpc>
                <a:spcPct val="80000"/>
              </a:lnSpc>
              <a:buFont typeface="Wingdings" pitchFamily="2" charset="2"/>
              <a:buNone/>
            </a:pPr>
            <a:r>
              <a:rPr lang="cs-CZ" sz="1700" b="1" dirty="0">
                <a:solidFill>
                  <a:schemeClr val="hlink"/>
                </a:solidFill>
                <a:latin typeface="Courier New" pitchFamily="49" charset="0"/>
              </a:rPr>
              <a:t>	</a:t>
            </a:r>
          </a:p>
          <a:p>
            <a:pPr eaLnBrk="1" hangingPunct="1">
              <a:lnSpc>
                <a:spcPct val="80000"/>
              </a:lnSpc>
              <a:buFont typeface="Wingdings" pitchFamily="2" charset="2"/>
              <a:buNone/>
            </a:pPr>
            <a:r>
              <a:rPr lang="cs-CZ" sz="1700" b="1" dirty="0">
                <a:solidFill>
                  <a:schemeClr val="hlink"/>
                </a:solidFill>
                <a:latin typeface="Courier New" pitchFamily="49" charset="0"/>
              </a:rPr>
              <a:t>	_f1					</a:t>
            </a:r>
            <a:r>
              <a:rPr lang="cs-CZ" sz="1600" dirty="0"/>
              <a:t>MSVC IA-32 C __</a:t>
            </a:r>
            <a:r>
              <a:rPr lang="cs-CZ" sz="1600" dirty="0" err="1"/>
              <a:t>cdecl</a:t>
            </a:r>
            <a:endParaRPr lang="cs-CZ" sz="1600" dirty="0"/>
          </a:p>
          <a:p>
            <a:pPr eaLnBrk="1" hangingPunct="1">
              <a:lnSpc>
                <a:spcPct val="80000"/>
              </a:lnSpc>
              <a:buFont typeface="Wingdings" pitchFamily="2" charset="2"/>
              <a:buNone/>
            </a:pPr>
            <a:r>
              <a:rPr lang="cs-CZ" sz="1700" b="1" dirty="0">
                <a:solidFill>
                  <a:schemeClr val="hlink"/>
                </a:solidFill>
                <a:latin typeface="Courier New" pitchFamily="49" charset="0"/>
              </a:rPr>
              <a:t>	@f1@12				</a:t>
            </a:r>
            <a:r>
              <a:rPr lang="cs-CZ" sz="1600" dirty="0"/>
              <a:t>MSVC IA-32 C __</a:t>
            </a:r>
            <a:r>
              <a:rPr lang="cs-CZ" sz="1600" dirty="0" err="1"/>
              <a:t>fastcall</a:t>
            </a:r>
            <a:endParaRPr lang="cs-CZ" sz="1600" dirty="0"/>
          </a:p>
          <a:p>
            <a:pPr eaLnBrk="1" hangingPunct="1">
              <a:lnSpc>
                <a:spcPct val="80000"/>
              </a:lnSpc>
              <a:buFont typeface="Wingdings" pitchFamily="2" charset="2"/>
              <a:buNone/>
            </a:pPr>
            <a:r>
              <a:rPr lang="cs-CZ" sz="1700" b="1" dirty="0">
                <a:solidFill>
                  <a:schemeClr val="hlink"/>
                </a:solidFill>
                <a:latin typeface="Courier New" pitchFamily="49" charset="0"/>
              </a:rPr>
              <a:t>	_f1@12				</a:t>
            </a:r>
            <a:r>
              <a:rPr lang="cs-CZ" sz="1600" dirty="0"/>
              <a:t>MSVC IA-32 C __</a:t>
            </a:r>
            <a:r>
              <a:rPr lang="cs-CZ" sz="1600" dirty="0" err="1"/>
              <a:t>stdcall</a:t>
            </a:r>
            <a:endParaRPr lang="cs-CZ" sz="1600" dirty="0"/>
          </a:p>
          <a:p>
            <a:pPr eaLnBrk="1" hangingPunct="1">
              <a:lnSpc>
                <a:spcPct val="80000"/>
              </a:lnSpc>
              <a:buFont typeface="Wingdings" pitchFamily="2" charset="2"/>
              <a:buNone/>
            </a:pPr>
            <a:r>
              <a:rPr lang="cs-CZ" sz="1700" b="1" dirty="0">
                <a:solidFill>
                  <a:schemeClr val="hlink"/>
                </a:solidFill>
                <a:latin typeface="Courier New" pitchFamily="49" charset="0"/>
              </a:rPr>
              <a:t>	?f1@@</a:t>
            </a:r>
            <a:r>
              <a:rPr lang="cs-CZ" sz="1700" b="1" dirty="0" err="1">
                <a:solidFill>
                  <a:schemeClr val="hlink"/>
                </a:solidFill>
                <a:latin typeface="Courier New" pitchFamily="49" charset="0"/>
              </a:rPr>
              <a:t>YAJHPBDPAUs</a:t>
            </a:r>
            <a:r>
              <a:rPr lang="cs-CZ" sz="1700" b="1" dirty="0">
                <a:solidFill>
                  <a:schemeClr val="hlink"/>
                </a:solidFill>
                <a:latin typeface="Courier New" pitchFamily="49" charset="0"/>
              </a:rPr>
              <a:t>@@@Z		</a:t>
            </a:r>
            <a:r>
              <a:rPr lang="cs-CZ" sz="1600" dirty="0"/>
              <a:t>MSVC IA-32 C++</a:t>
            </a:r>
          </a:p>
          <a:p>
            <a:pPr eaLnBrk="1" hangingPunct="1">
              <a:lnSpc>
                <a:spcPct val="80000"/>
              </a:lnSpc>
              <a:buFont typeface="Wingdings" pitchFamily="2" charset="2"/>
              <a:buNone/>
            </a:pPr>
            <a:r>
              <a:rPr lang="cs-CZ" sz="1700" b="1" dirty="0">
                <a:solidFill>
                  <a:schemeClr val="hlink"/>
                </a:solidFill>
                <a:latin typeface="Courier New" pitchFamily="49" charset="0"/>
              </a:rPr>
              <a:t>	_f1					</a:t>
            </a:r>
            <a:r>
              <a:rPr lang="cs-CZ" sz="1600" dirty="0"/>
              <a:t>GCC IA-32 C</a:t>
            </a:r>
          </a:p>
          <a:p>
            <a:pPr eaLnBrk="1" hangingPunct="1">
              <a:lnSpc>
                <a:spcPct val="80000"/>
              </a:lnSpc>
              <a:buFont typeface="Wingdings" pitchFamily="2" charset="2"/>
              <a:buNone/>
            </a:pPr>
            <a:r>
              <a:rPr lang="cs-CZ" sz="1700" b="1" dirty="0">
                <a:solidFill>
                  <a:schemeClr val="hlink"/>
                </a:solidFill>
                <a:latin typeface="Courier New" pitchFamily="49" charset="0"/>
              </a:rPr>
              <a:t>	__Z2f1iPKcP1s			</a:t>
            </a:r>
            <a:r>
              <a:rPr lang="cs-CZ" sz="1600" dirty="0"/>
              <a:t>GCC IA-32 C++</a:t>
            </a:r>
          </a:p>
          <a:p>
            <a:pPr eaLnBrk="1" hangingPunct="1">
              <a:lnSpc>
                <a:spcPct val="80000"/>
              </a:lnSpc>
              <a:buFont typeface="Wingdings" pitchFamily="2" charset="2"/>
              <a:buNone/>
            </a:pPr>
            <a:r>
              <a:rPr lang="cs-CZ" sz="1700" b="1" dirty="0">
                <a:solidFill>
                  <a:schemeClr val="hlink"/>
                </a:solidFill>
                <a:latin typeface="Courier New" pitchFamily="49" charset="0"/>
              </a:rPr>
              <a:t>	f1					</a:t>
            </a:r>
            <a:r>
              <a:rPr lang="cs-CZ" sz="1600" dirty="0"/>
              <a:t>MSVC IA-64 C</a:t>
            </a:r>
          </a:p>
          <a:p>
            <a:pPr eaLnBrk="1" hangingPunct="1">
              <a:lnSpc>
                <a:spcPct val="80000"/>
              </a:lnSpc>
              <a:buFont typeface="Wingdings" pitchFamily="2" charset="2"/>
              <a:buNone/>
            </a:pPr>
            <a:r>
              <a:rPr lang="cs-CZ" sz="1700" b="1" dirty="0">
                <a:solidFill>
                  <a:schemeClr val="hlink"/>
                </a:solidFill>
                <a:latin typeface="Courier New" pitchFamily="49" charset="0"/>
              </a:rPr>
              <a:t>	?f1@@</a:t>
            </a:r>
            <a:r>
              <a:rPr lang="cs-CZ" sz="1700" b="1" dirty="0" err="1">
                <a:solidFill>
                  <a:schemeClr val="hlink"/>
                </a:solidFill>
                <a:latin typeface="Courier New" pitchFamily="49" charset="0"/>
              </a:rPr>
              <a:t>YAJHPEBDPEAUs</a:t>
            </a:r>
            <a:r>
              <a:rPr lang="cs-CZ" sz="1700" b="1" dirty="0">
                <a:solidFill>
                  <a:schemeClr val="hlink"/>
                </a:solidFill>
                <a:latin typeface="Courier New" pitchFamily="49" charset="0"/>
              </a:rPr>
              <a:t>@@@Z		</a:t>
            </a:r>
            <a:r>
              <a:rPr lang="cs-CZ" sz="1600" dirty="0"/>
              <a:t>MSVC IA-64 C++</a:t>
            </a:r>
          </a:p>
        </p:txBody>
      </p:sp>
      <p:pic>
        <p:nvPicPr>
          <p:cNvPr id="8196" name="Picture 4" descr="j0239207"/>
          <p:cNvPicPr>
            <a:picLocks noChangeAspect="1" noChangeArrowheads="1"/>
          </p:cNvPicPr>
          <p:nvPr/>
        </p:nvPicPr>
        <p:blipFill>
          <a:blip r:embed="rId3" cstate="print"/>
          <a:srcRect/>
          <a:stretch>
            <a:fillRect/>
          </a:stretch>
        </p:blipFill>
        <p:spPr bwMode="auto">
          <a:xfrm>
            <a:off x="8610600" y="4221088"/>
            <a:ext cx="1433017" cy="1584473"/>
          </a:xfrm>
          <a:prstGeom prst="rect">
            <a:avLst/>
          </a:prstGeom>
          <a:noFill/>
          <a:ln w="9525">
            <a:noFill/>
            <a:miter lim="800000"/>
            <a:headEnd/>
            <a:tailEnd/>
          </a:ln>
        </p:spPr>
      </p:pic>
      <p:sp>
        <p:nvSpPr>
          <p:cNvPr id="2" name="Date Placeholder 1"/>
          <p:cNvSpPr>
            <a:spLocks noGrp="1"/>
          </p:cNvSpPr>
          <p:nvPr>
            <p:ph type="dt" sz="half" idx="10"/>
          </p:nvPr>
        </p:nvSpPr>
        <p:spPr/>
        <p:txBody>
          <a:bodyPr/>
          <a:lstStyle/>
          <a:p>
            <a:r>
              <a:rPr lang="cs-CZ" altLang="en-US"/>
              <a:t>26.3.2025</a:t>
            </a:r>
            <a:endParaRPr lang="en-US" altLang="en-US"/>
          </a:p>
        </p:txBody>
      </p:sp>
      <p:sp>
        <p:nvSpPr>
          <p:cNvPr id="3" name="Slide Number Placeholder 2"/>
          <p:cNvSpPr>
            <a:spLocks noGrp="1"/>
          </p:cNvSpPr>
          <p:nvPr>
            <p:ph type="sldNum" sz="quarter" idx="12"/>
          </p:nvPr>
        </p:nvSpPr>
        <p:spPr/>
        <p:txBody>
          <a:bodyPr/>
          <a:lstStyle/>
          <a:p>
            <a:fld id="{F4A1145F-674A-4228-8958-0EA9769F5517}" type="slidenum">
              <a:rPr lang="en-US" altLang="en-US" smtClean="0"/>
              <a:pPr/>
              <a:t>22</a:t>
            </a:fld>
            <a:endParaRPr lang="en-US" altLang="en-US"/>
          </a:p>
        </p:txBody>
      </p:sp>
      <p:sp>
        <p:nvSpPr>
          <p:cNvPr id="8" name="Rounded Rectangular Callout 7"/>
          <p:cNvSpPr/>
          <p:nvPr/>
        </p:nvSpPr>
        <p:spPr>
          <a:xfrm>
            <a:off x="6254063" y="548680"/>
            <a:ext cx="4306433" cy="1715319"/>
          </a:xfrm>
          <a:prstGeom prst="wedgeRoundRectCallout">
            <a:avLst>
              <a:gd name="adj1" fmla="val -57379"/>
              <a:gd name="adj2" fmla="val -2218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dirty="0"/>
              <a:t>[CZ] </a:t>
            </a:r>
            <a:r>
              <a:rPr lang="cs-CZ" dirty="0"/>
              <a:t>Překlad mangle:</a:t>
            </a:r>
          </a:p>
          <a:p>
            <a:pPr marL="285750" indent="-285750">
              <a:lnSpc>
                <a:spcPct val="80000"/>
              </a:lnSpc>
              <a:buFont typeface="Arial" panose="020B0604020202020204" pitchFamily="34" charset="0"/>
              <a:buChar char="•"/>
            </a:pPr>
            <a:r>
              <a:rPr lang="cs-CZ" sz="1600" dirty="0"/>
              <a:t>mandlovat</a:t>
            </a:r>
          </a:p>
          <a:p>
            <a:pPr marL="285750" indent="-285750">
              <a:lnSpc>
                <a:spcPct val="80000"/>
              </a:lnSpc>
              <a:buFont typeface="Arial" panose="020B0604020202020204" pitchFamily="34" charset="0"/>
              <a:buChar char="•"/>
            </a:pPr>
            <a:r>
              <a:rPr lang="cs-CZ" sz="1600" dirty="0"/>
              <a:t>rozsekat, roztrhat, rozbít, rozdrtit, těžce poškodit, potlouci, pohmožditi</a:t>
            </a:r>
          </a:p>
          <a:p>
            <a:pPr marL="285750" indent="-285750">
              <a:lnSpc>
                <a:spcPct val="80000"/>
              </a:lnSpc>
              <a:buFont typeface="Arial" panose="020B0604020202020204" pitchFamily="34" charset="0"/>
              <a:buChar char="•"/>
            </a:pPr>
            <a:r>
              <a:rPr lang="cs-CZ" sz="1600" i="1" dirty="0"/>
              <a:t>přen</a:t>
            </a:r>
            <a:r>
              <a:rPr lang="cs-CZ" sz="1600" dirty="0"/>
              <a:t>. pokazit, </a:t>
            </a:r>
            <a:r>
              <a:rPr lang="cs-CZ" sz="1600" b="1" dirty="0">
                <a:solidFill>
                  <a:schemeClr val="accent4">
                    <a:lumMod val="40000"/>
                    <a:lumOff val="60000"/>
                  </a:schemeClr>
                </a:solidFill>
              </a:rPr>
              <a:t>znetvořit</a:t>
            </a:r>
            <a:r>
              <a:rPr lang="cs-CZ" sz="1600" dirty="0"/>
              <a:t>, </a:t>
            </a:r>
            <a:r>
              <a:rPr lang="cs-CZ" sz="1600" b="1" dirty="0">
                <a:solidFill>
                  <a:schemeClr val="accent4">
                    <a:lumMod val="40000"/>
                    <a:lumOff val="60000"/>
                  </a:schemeClr>
                </a:solidFill>
              </a:rPr>
              <a:t>k nepoznání změnit</a:t>
            </a:r>
            <a:r>
              <a:rPr lang="cs-CZ" sz="1600" dirty="0"/>
              <a:t>, překroutit, zkomolit</a:t>
            </a:r>
          </a:p>
        </p:txBody>
      </p:sp>
    </p:spTree>
    <p:extLst>
      <p:ext uri="{BB962C8B-B14F-4D97-AF65-F5344CB8AC3E}">
        <p14:creationId xmlns:p14="http://schemas.microsoft.com/office/powerpoint/2010/main" val="402495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fade">
                                      <p:cBhvr>
                                        <p:cTn id="7"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dirty="0"/>
              <a:t>Call/return sequence</a:t>
            </a:r>
            <a:endParaRPr lang="cs-CZ" dirty="0"/>
          </a:p>
        </p:txBody>
      </p:sp>
      <p:sp>
        <p:nvSpPr>
          <p:cNvPr id="9219" name="Rectangle 4"/>
          <p:cNvSpPr>
            <a:spLocks noChangeArrowheads="1"/>
          </p:cNvSpPr>
          <p:nvPr/>
        </p:nvSpPr>
        <p:spPr bwMode="auto">
          <a:xfrm>
            <a:off x="4727848" y="2053012"/>
            <a:ext cx="3240087" cy="720725"/>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Parameters, return value</a:t>
            </a:r>
            <a:endParaRPr lang="cs-CZ" dirty="0"/>
          </a:p>
        </p:txBody>
      </p:sp>
      <p:sp>
        <p:nvSpPr>
          <p:cNvPr id="9220" name="Rectangle 5"/>
          <p:cNvSpPr>
            <a:spLocks noChangeArrowheads="1"/>
          </p:cNvSpPr>
          <p:nvPr/>
        </p:nvSpPr>
        <p:spPr bwMode="auto">
          <a:xfrm>
            <a:off x="4727848" y="2773737"/>
            <a:ext cx="3240087" cy="720725"/>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dirty="0"/>
              <a:t>Links, machine state</a:t>
            </a:r>
            <a:endParaRPr lang="cs-CZ" dirty="0"/>
          </a:p>
        </p:txBody>
      </p:sp>
      <p:sp>
        <p:nvSpPr>
          <p:cNvPr id="9221" name="Rectangle 6"/>
          <p:cNvSpPr>
            <a:spLocks noChangeArrowheads="1"/>
          </p:cNvSpPr>
          <p:nvPr/>
        </p:nvSpPr>
        <p:spPr bwMode="auto">
          <a:xfrm>
            <a:off x="4727848" y="3494462"/>
            <a:ext cx="3240087" cy="720725"/>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Local and temporal data</a:t>
            </a:r>
            <a:endParaRPr lang="cs-CZ" dirty="0"/>
          </a:p>
        </p:txBody>
      </p:sp>
      <p:sp>
        <p:nvSpPr>
          <p:cNvPr id="9222" name="Rectangle 7"/>
          <p:cNvSpPr>
            <a:spLocks noChangeArrowheads="1"/>
          </p:cNvSpPr>
          <p:nvPr/>
        </p:nvSpPr>
        <p:spPr bwMode="auto">
          <a:xfrm>
            <a:off x="4727848" y="2053012"/>
            <a:ext cx="3240087" cy="2160587"/>
          </a:xfrm>
          <a:prstGeom prst="rect">
            <a:avLst/>
          </a:prstGeom>
          <a:noFill/>
          <a:ln w="25400">
            <a:solidFill>
              <a:schemeClr val="tx1"/>
            </a:solidFill>
            <a:miter lim="800000"/>
            <a:headEnd/>
            <a:tailEnd/>
          </a:ln>
        </p:spPr>
        <p:txBody>
          <a:bodyPr wrap="none" anchor="ctr"/>
          <a:lstStyle/>
          <a:p>
            <a:endParaRPr lang="cs-CZ"/>
          </a:p>
        </p:txBody>
      </p:sp>
      <p:sp>
        <p:nvSpPr>
          <p:cNvPr id="9223" name="Rectangle 8"/>
          <p:cNvSpPr>
            <a:spLocks noChangeArrowheads="1"/>
          </p:cNvSpPr>
          <p:nvPr/>
        </p:nvSpPr>
        <p:spPr bwMode="auto">
          <a:xfrm>
            <a:off x="4727848" y="4213599"/>
            <a:ext cx="3240087" cy="720725"/>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Parameters, return value</a:t>
            </a:r>
            <a:endParaRPr lang="cs-CZ" dirty="0"/>
          </a:p>
        </p:txBody>
      </p:sp>
      <p:sp>
        <p:nvSpPr>
          <p:cNvPr id="9224" name="Rectangle 9"/>
          <p:cNvSpPr>
            <a:spLocks noChangeArrowheads="1"/>
          </p:cNvSpPr>
          <p:nvPr/>
        </p:nvSpPr>
        <p:spPr bwMode="auto">
          <a:xfrm>
            <a:off x="4727848" y="4934324"/>
            <a:ext cx="3240087" cy="720725"/>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a:r>
              <a:rPr lang="en-US" dirty="0"/>
              <a:t>Links, machine state</a:t>
            </a:r>
            <a:endParaRPr lang="cs-CZ" dirty="0"/>
          </a:p>
        </p:txBody>
      </p:sp>
      <p:sp>
        <p:nvSpPr>
          <p:cNvPr id="9225" name="Rectangle 10"/>
          <p:cNvSpPr>
            <a:spLocks noChangeArrowheads="1"/>
          </p:cNvSpPr>
          <p:nvPr/>
        </p:nvSpPr>
        <p:spPr bwMode="auto">
          <a:xfrm>
            <a:off x="4727848" y="5655049"/>
            <a:ext cx="3240087" cy="720725"/>
          </a:xfrm>
          <a:prstGeom prst="rect">
            <a:avLst/>
          </a:prstGeom>
          <a:solidFill>
            <a:schemeClr val="bg1">
              <a:lumMod val="95000"/>
            </a:schemeClr>
          </a:solidFill>
          <a:ln w="9525">
            <a:solidFill>
              <a:schemeClr val="tx1"/>
            </a:solidFill>
            <a:miter lim="800000"/>
            <a:headEnd/>
            <a:tailEnd/>
          </a:ln>
        </p:spPr>
        <p:txBody>
          <a:bodyPr wrap="none" anchor="ctr"/>
          <a:lstStyle/>
          <a:p>
            <a:pPr algn="ctr"/>
            <a:r>
              <a:rPr lang="en-US" dirty="0"/>
              <a:t>Local and temporal data</a:t>
            </a:r>
            <a:endParaRPr lang="cs-CZ" dirty="0"/>
          </a:p>
        </p:txBody>
      </p:sp>
      <p:sp>
        <p:nvSpPr>
          <p:cNvPr id="9226" name="Rectangle 11"/>
          <p:cNvSpPr>
            <a:spLocks noChangeArrowheads="1"/>
          </p:cNvSpPr>
          <p:nvPr/>
        </p:nvSpPr>
        <p:spPr bwMode="auto">
          <a:xfrm>
            <a:off x="4727848" y="4213598"/>
            <a:ext cx="3240087" cy="2160588"/>
          </a:xfrm>
          <a:prstGeom prst="rect">
            <a:avLst/>
          </a:prstGeom>
          <a:noFill/>
          <a:ln w="25400">
            <a:solidFill>
              <a:schemeClr val="tx1"/>
            </a:solidFill>
            <a:miter lim="800000"/>
            <a:headEnd/>
            <a:tailEnd/>
          </a:ln>
        </p:spPr>
        <p:txBody>
          <a:bodyPr wrap="none" anchor="ctr"/>
          <a:lstStyle/>
          <a:p>
            <a:endParaRPr lang="cs-CZ"/>
          </a:p>
        </p:txBody>
      </p:sp>
      <p:sp>
        <p:nvSpPr>
          <p:cNvPr id="9227" name="Line 12"/>
          <p:cNvSpPr>
            <a:spLocks noChangeShapeType="1"/>
          </p:cNvSpPr>
          <p:nvPr/>
        </p:nvSpPr>
        <p:spPr bwMode="auto">
          <a:xfrm flipV="1">
            <a:off x="4727847" y="1619623"/>
            <a:ext cx="0" cy="433388"/>
          </a:xfrm>
          <a:prstGeom prst="line">
            <a:avLst/>
          </a:prstGeom>
          <a:noFill/>
          <a:ln w="25400">
            <a:solidFill>
              <a:schemeClr val="tx1"/>
            </a:solidFill>
            <a:prstDash val="dash"/>
            <a:round/>
            <a:headEnd/>
            <a:tailEnd/>
          </a:ln>
        </p:spPr>
        <p:txBody>
          <a:bodyPr wrap="none"/>
          <a:lstStyle/>
          <a:p>
            <a:endParaRPr lang="cs-CZ"/>
          </a:p>
        </p:txBody>
      </p:sp>
      <p:sp>
        <p:nvSpPr>
          <p:cNvPr id="9228" name="Line 13"/>
          <p:cNvSpPr>
            <a:spLocks noChangeShapeType="1"/>
          </p:cNvSpPr>
          <p:nvPr/>
        </p:nvSpPr>
        <p:spPr bwMode="auto">
          <a:xfrm flipV="1">
            <a:off x="7967934" y="1619623"/>
            <a:ext cx="0" cy="433388"/>
          </a:xfrm>
          <a:prstGeom prst="line">
            <a:avLst/>
          </a:prstGeom>
          <a:noFill/>
          <a:ln w="25400">
            <a:solidFill>
              <a:schemeClr val="tx1"/>
            </a:solidFill>
            <a:prstDash val="dash"/>
            <a:round/>
            <a:headEnd/>
            <a:tailEnd/>
          </a:ln>
        </p:spPr>
        <p:txBody>
          <a:bodyPr wrap="none"/>
          <a:lstStyle/>
          <a:p>
            <a:endParaRPr lang="cs-CZ"/>
          </a:p>
        </p:txBody>
      </p:sp>
      <p:sp>
        <p:nvSpPr>
          <p:cNvPr id="9229" name="Line 15"/>
          <p:cNvSpPr>
            <a:spLocks noChangeShapeType="1"/>
          </p:cNvSpPr>
          <p:nvPr/>
        </p:nvSpPr>
        <p:spPr bwMode="auto">
          <a:xfrm>
            <a:off x="3503884" y="2054598"/>
            <a:ext cx="0" cy="2159000"/>
          </a:xfrm>
          <a:prstGeom prst="line">
            <a:avLst/>
          </a:prstGeom>
          <a:noFill/>
          <a:ln w="9525">
            <a:solidFill>
              <a:schemeClr val="tx1"/>
            </a:solidFill>
            <a:round/>
            <a:headEnd type="triangle" w="med" len="med"/>
            <a:tailEnd type="triangle" w="med" len="med"/>
          </a:ln>
        </p:spPr>
        <p:txBody>
          <a:bodyPr wrap="none"/>
          <a:lstStyle/>
          <a:p>
            <a:endParaRPr lang="cs-CZ"/>
          </a:p>
        </p:txBody>
      </p:sp>
      <p:sp>
        <p:nvSpPr>
          <p:cNvPr id="9230" name="Line 16"/>
          <p:cNvSpPr>
            <a:spLocks noChangeShapeType="1"/>
          </p:cNvSpPr>
          <p:nvPr/>
        </p:nvSpPr>
        <p:spPr bwMode="auto">
          <a:xfrm>
            <a:off x="3143523" y="2054598"/>
            <a:ext cx="720725" cy="0"/>
          </a:xfrm>
          <a:prstGeom prst="line">
            <a:avLst/>
          </a:prstGeom>
          <a:noFill/>
          <a:ln w="9525">
            <a:solidFill>
              <a:schemeClr val="tx1"/>
            </a:solidFill>
            <a:round/>
            <a:headEnd/>
            <a:tailEnd/>
          </a:ln>
        </p:spPr>
        <p:txBody>
          <a:bodyPr wrap="none"/>
          <a:lstStyle/>
          <a:p>
            <a:endParaRPr lang="cs-CZ"/>
          </a:p>
        </p:txBody>
      </p:sp>
      <p:sp>
        <p:nvSpPr>
          <p:cNvPr id="9231" name="Line 17"/>
          <p:cNvSpPr>
            <a:spLocks noChangeShapeType="1"/>
          </p:cNvSpPr>
          <p:nvPr/>
        </p:nvSpPr>
        <p:spPr bwMode="auto">
          <a:xfrm>
            <a:off x="3143523" y="4213598"/>
            <a:ext cx="720725" cy="0"/>
          </a:xfrm>
          <a:prstGeom prst="line">
            <a:avLst/>
          </a:prstGeom>
          <a:noFill/>
          <a:ln w="9525">
            <a:solidFill>
              <a:schemeClr val="tx1"/>
            </a:solidFill>
            <a:round/>
            <a:headEnd/>
            <a:tailEnd/>
          </a:ln>
        </p:spPr>
        <p:txBody>
          <a:bodyPr wrap="none"/>
          <a:lstStyle/>
          <a:p>
            <a:endParaRPr lang="cs-CZ"/>
          </a:p>
        </p:txBody>
      </p:sp>
      <p:sp>
        <p:nvSpPr>
          <p:cNvPr id="9232" name="Line 18"/>
          <p:cNvSpPr>
            <a:spLocks noChangeShapeType="1"/>
          </p:cNvSpPr>
          <p:nvPr/>
        </p:nvSpPr>
        <p:spPr bwMode="auto">
          <a:xfrm>
            <a:off x="3143523" y="6374186"/>
            <a:ext cx="720725" cy="0"/>
          </a:xfrm>
          <a:prstGeom prst="line">
            <a:avLst/>
          </a:prstGeom>
          <a:noFill/>
          <a:ln w="9525">
            <a:solidFill>
              <a:schemeClr val="tx1"/>
            </a:solidFill>
            <a:round/>
            <a:headEnd/>
            <a:tailEnd/>
          </a:ln>
        </p:spPr>
        <p:txBody>
          <a:bodyPr wrap="none"/>
          <a:lstStyle/>
          <a:p>
            <a:endParaRPr lang="cs-CZ"/>
          </a:p>
        </p:txBody>
      </p:sp>
      <p:sp>
        <p:nvSpPr>
          <p:cNvPr id="9233" name="Text Box 14"/>
          <p:cNvSpPr txBox="1">
            <a:spLocks noChangeArrowheads="1"/>
          </p:cNvSpPr>
          <p:nvPr/>
        </p:nvSpPr>
        <p:spPr bwMode="auto">
          <a:xfrm>
            <a:off x="2922652" y="2629273"/>
            <a:ext cx="1159292" cy="923330"/>
          </a:xfrm>
          <a:prstGeom prst="rect">
            <a:avLst/>
          </a:prstGeom>
          <a:solidFill>
            <a:schemeClr val="bg1"/>
          </a:solidFill>
          <a:ln w="9525">
            <a:noFill/>
            <a:miter lim="800000"/>
            <a:headEnd/>
            <a:tailEnd/>
          </a:ln>
        </p:spPr>
        <p:txBody>
          <a:bodyPr wrap="none">
            <a:spAutoFit/>
          </a:bodyPr>
          <a:lstStyle/>
          <a:p>
            <a:pPr algn="ctr"/>
            <a:r>
              <a:rPr lang="en-US" dirty="0"/>
              <a:t>Caller’s</a:t>
            </a:r>
            <a:br>
              <a:rPr lang="en-US" dirty="0"/>
            </a:br>
            <a:r>
              <a:rPr lang="en-US" dirty="0"/>
              <a:t>activation</a:t>
            </a:r>
            <a:br>
              <a:rPr lang="en-US" dirty="0"/>
            </a:br>
            <a:r>
              <a:rPr lang="en-US" dirty="0"/>
              <a:t>record</a:t>
            </a:r>
            <a:endParaRPr lang="cs-CZ" dirty="0"/>
          </a:p>
        </p:txBody>
      </p:sp>
      <p:sp>
        <p:nvSpPr>
          <p:cNvPr id="9234" name="Line 19"/>
          <p:cNvSpPr>
            <a:spLocks noChangeShapeType="1"/>
          </p:cNvSpPr>
          <p:nvPr/>
        </p:nvSpPr>
        <p:spPr bwMode="auto">
          <a:xfrm>
            <a:off x="3503884" y="4215186"/>
            <a:ext cx="0" cy="2159000"/>
          </a:xfrm>
          <a:prstGeom prst="line">
            <a:avLst/>
          </a:prstGeom>
          <a:noFill/>
          <a:ln w="9525">
            <a:solidFill>
              <a:schemeClr val="tx1"/>
            </a:solidFill>
            <a:round/>
            <a:headEnd type="triangle" w="med" len="med"/>
            <a:tailEnd type="triangle" w="med" len="med"/>
          </a:ln>
        </p:spPr>
        <p:txBody>
          <a:bodyPr wrap="none"/>
          <a:lstStyle/>
          <a:p>
            <a:endParaRPr lang="cs-CZ"/>
          </a:p>
        </p:txBody>
      </p:sp>
      <p:sp>
        <p:nvSpPr>
          <p:cNvPr id="9235" name="Text Box 20"/>
          <p:cNvSpPr txBox="1">
            <a:spLocks noChangeArrowheads="1"/>
          </p:cNvSpPr>
          <p:nvPr/>
        </p:nvSpPr>
        <p:spPr bwMode="auto">
          <a:xfrm>
            <a:off x="2903603" y="4789861"/>
            <a:ext cx="1159292" cy="923330"/>
          </a:xfrm>
          <a:prstGeom prst="rect">
            <a:avLst/>
          </a:prstGeom>
          <a:solidFill>
            <a:schemeClr val="bg1"/>
          </a:solidFill>
          <a:ln w="9525">
            <a:noFill/>
            <a:miter lim="800000"/>
            <a:headEnd/>
            <a:tailEnd/>
          </a:ln>
        </p:spPr>
        <p:txBody>
          <a:bodyPr wrap="none">
            <a:spAutoFit/>
          </a:bodyPr>
          <a:lstStyle/>
          <a:p>
            <a:pPr algn="ctr"/>
            <a:r>
              <a:rPr lang="en-US" dirty="0" err="1"/>
              <a:t>Callee’s</a:t>
            </a:r>
            <a:br>
              <a:rPr lang="en-US" dirty="0"/>
            </a:br>
            <a:r>
              <a:rPr lang="en-US" dirty="0"/>
              <a:t>activation</a:t>
            </a:r>
            <a:br>
              <a:rPr lang="en-US" dirty="0"/>
            </a:br>
            <a:r>
              <a:rPr lang="en-US" dirty="0"/>
              <a:t>record</a:t>
            </a:r>
            <a:endParaRPr lang="cs-CZ" dirty="0"/>
          </a:p>
        </p:txBody>
      </p:sp>
      <p:sp>
        <p:nvSpPr>
          <p:cNvPr id="9236" name="Line 21"/>
          <p:cNvSpPr>
            <a:spLocks noChangeShapeType="1"/>
          </p:cNvSpPr>
          <p:nvPr/>
        </p:nvSpPr>
        <p:spPr bwMode="auto">
          <a:xfrm>
            <a:off x="4440509" y="5655048"/>
            <a:ext cx="287338" cy="0"/>
          </a:xfrm>
          <a:prstGeom prst="line">
            <a:avLst/>
          </a:prstGeom>
          <a:noFill/>
          <a:ln w="9525">
            <a:solidFill>
              <a:schemeClr val="tx1"/>
            </a:solidFill>
            <a:round/>
            <a:headEnd/>
            <a:tailEnd type="triangle" w="med" len="med"/>
          </a:ln>
        </p:spPr>
        <p:txBody>
          <a:bodyPr wrap="none"/>
          <a:lstStyle/>
          <a:p>
            <a:endParaRPr lang="cs-CZ"/>
          </a:p>
        </p:txBody>
      </p:sp>
      <p:sp>
        <p:nvSpPr>
          <p:cNvPr id="9237" name="Text Box 22"/>
          <p:cNvSpPr txBox="1">
            <a:spLocks noChangeArrowheads="1"/>
          </p:cNvSpPr>
          <p:nvPr/>
        </p:nvSpPr>
        <p:spPr bwMode="auto">
          <a:xfrm>
            <a:off x="4007122" y="5437561"/>
            <a:ext cx="476250" cy="366712"/>
          </a:xfrm>
          <a:prstGeom prst="rect">
            <a:avLst/>
          </a:prstGeom>
          <a:noFill/>
          <a:ln w="9525">
            <a:noFill/>
            <a:miter lim="800000"/>
            <a:headEnd/>
            <a:tailEnd/>
          </a:ln>
        </p:spPr>
        <p:txBody>
          <a:bodyPr wrap="none">
            <a:spAutoFit/>
          </a:bodyPr>
          <a:lstStyle/>
          <a:p>
            <a:r>
              <a:rPr lang="cs-CZ"/>
              <a:t>FP</a:t>
            </a:r>
          </a:p>
        </p:txBody>
      </p:sp>
      <p:sp>
        <p:nvSpPr>
          <p:cNvPr id="9238" name="Line 23"/>
          <p:cNvSpPr>
            <a:spLocks noChangeShapeType="1"/>
          </p:cNvSpPr>
          <p:nvPr/>
        </p:nvSpPr>
        <p:spPr bwMode="auto">
          <a:xfrm>
            <a:off x="8885509" y="2775323"/>
            <a:ext cx="0" cy="2159000"/>
          </a:xfrm>
          <a:prstGeom prst="line">
            <a:avLst/>
          </a:prstGeom>
          <a:noFill/>
          <a:ln w="9525">
            <a:solidFill>
              <a:schemeClr val="tx1"/>
            </a:solidFill>
            <a:round/>
            <a:headEnd type="triangle" w="med" len="med"/>
            <a:tailEnd type="triangle" w="med" len="med"/>
          </a:ln>
        </p:spPr>
        <p:txBody>
          <a:bodyPr wrap="none"/>
          <a:lstStyle/>
          <a:p>
            <a:endParaRPr lang="cs-CZ"/>
          </a:p>
        </p:txBody>
      </p:sp>
      <p:sp>
        <p:nvSpPr>
          <p:cNvPr id="9239" name="Line 24"/>
          <p:cNvSpPr>
            <a:spLocks noChangeShapeType="1"/>
          </p:cNvSpPr>
          <p:nvPr/>
        </p:nvSpPr>
        <p:spPr bwMode="auto">
          <a:xfrm>
            <a:off x="8525148" y="2775323"/>
            <a:ext cx="720725" cy="0"/>
          </a:xfrm>
          <a:prstGeom prst="line">
            <a:avLst/>
          </a:prstGeom>
          <a:noFill/>
          <a:ln w="9525">
            <a:solidFill>
              <a:schemeClr val="tx1"/>
            </a:solidFill>
            <a:round/>
            <a:headEnd/>
            <a:tailEnd/>
          </a:ln>
        </p:spPr>
        <p:txBody>
          <a:bodyPr wrap="none"/>
          <a:lstStyle/>
          <a:p>
            <a:endParaRPr lang="cs-CZ"/>
          </a:p>
        </p:txBody>
      </p:sp>
      <p:sp>
        <p:nvSpPr>
          <p:cNvPr id="9240" name="Line 25"/>
          <p:cNvSpPr>
            <a:spLocks noChangeShapeType="1"/>
          </p:cNvSpPr>
          <p:nvPr/>
        </p:nvSpPr>
        <p:spPr bwMode="auto">
          <a:xfrm>
            <a:off x="8525148" y="4934323"/>
            <a:ext cx="720725" cy="0"/>
          </a:xfrm>
          <a:prstGeom prst="line">
            <a:avLst/>
          </a:prstGeom>
          <a:noFill/>
          <a:ln w="9525">
            <a:solidFill>
              <a:schemeClr val="tx1"/>
            </a:solidFill>
            <a:round/>
            <a:headEnd/>
            <a:tailEnd/>
          </a:ln>
        </p:spPr>
        <p:txBody>
          <a:bodyPr wrap="none"/>
          <a:lstStyle/>
          <a:p>
            <a:endParaRPr lang="cs-CZ"/>
          </a:p>
        </p:txBody>
      </p:sp>
      <p:sp>
        <p:nvSpPr>
          <p:cNvPr id="9241" name="Text Box 26"/>
          <p:cNvSpPr txBox="1">
            <a:spLocks noChangeArrowheads="1"/>
          </p:cNvSpPr>
          <p:nvPr/>
        </p:nvSpPr>
        <p:spPr bwMode="auto">
          <a:xfrm>
            <a:off x="8124743" y="3494462"/>
            <a:ext cx="1518364" cy="646331"/>
          </a:xfrm>
          <a:prstGeom prst="rect">
            <a:avLst/>
          </a:prstGeom>
          <a:solidFill>
            <a:schemeClr val="bg1"/>
          </a:solidFill>
          <a:ln w="9525">
            <a:noFill/>
            <a:miter lim="800000"/>
            <a:headEnd/>
            <a:tailEnd/>
          </a:ln>
        </p:spPr>
        <p:txBody>
          <a:bodyPr wrap="none">
            <a:spAutoFit/>
          </a:bodyPr>
          <a:lstStyle/>
          <a:p>
            <a:pPr algn="ctr"/>
            <a:r>
              <a:rPr lang="en-US" dirty="0"/>
              <a:t>Caller’s</a:t>
            </a:r>
            <a:br>
              <a:rPr lang="en-US" dirty="0"/>
            </a:br>
            <a:r>
              <a:rPr lang="en-US" dirty="0"/>
              <a:t>responsibility</a:t>
            </a:r>
            <a:endParaRPr lang="cs-CZ" dirty="0"/>
          </a:p>
        </p:txBody>
      </p:sp>
      <p:sp>
        <p:nvSpPr>
          <p:cNvPr id="9242" name="Line 27"/>
          <p:cNvSpPr>
            <a:spLocks noChangeShapeType="1"/>
          </p:cNvSpPr>
          <p:nvPr/>
        </p:nvSpPr>
        <p:spPr bwMode="auto">
          <a:xfrm>
            <a:off x="8885509" y="4935912"/>
            <a:ext cx="19050" cy="1438275"/>
          </a:xfrm>
          <a:prstGeom prst="line">
            <a:avLst/>
          </a:prstGeom>
          <a:noFill/>
          <a:ln w="9525">
            <a:solidFill>
              <a:schemeClr val="tx1"/>
            </a:solidFill>
            <a:round/>
            <a:headEnd type="triangle" w="med" len="med"/>
            <a:tailEnd/>
          </a:ln>
        </p:spPr>
        <p:txBody>
          <a:bodyPr wrap="none"/>
          <a:lstStyle/>
          <a:p>
            <a:endParaRPr lang="cs-CZ"/>
          </a:p>
        </p:txBody>
      </p:sp>
      <p:sp>
        <p:nvSpPr>
          <p:cNvPr id="9243" name="Text Box 28"/>
          <p:cNvSpPr txBox="1">
            <a:spLocks noChangeArrowheads="1"/>
          </p:cNvSpPr>
          <p:nvPr/>
        </p:nvSpPr>
        <p:spPr bwMode="auto">
          <a:xfrm>
            <a:off x="8124743" y="5294687"/>
            <a:ext cx="1518364" cy="646331"/>
          </a:xfrm>
          <a:prstGeom prst="rect">
            <a:avLst/>
          </a:prstGeom>
          <a:solidFill>
            <a:schemeClr val="bg1"/>
          </a:solidFill>
          <a:ln w="9525">
            <a:noFill/>
            <a:miter lim="800000"/>
            <a:headEnd/>
            <a:tailEnd/>
          </a:ln>
        </p:spPr>
        <p:txBody>
          <a:bodyPr wrap="none">
            <a:spAutoFit/>
          </a:bodyPr>
          <a:lstStyle/>
          <a:p>
            <a:pPr algn="ctr"/>
            <a:r>
              <a:rPr lang="en-US" dirty="0" err="1"/>
              <a:t>Callee’s</a:t>
            </a:r>
            <a:br>
              <a:rPr lang="en-US" dirty="0"/>
            </a:br>
            <a:r>
              <a:rPr lang="en-US" dirty="0"/>
              <a:t>responsibility</a:t>
            </a:r>
            <a:endParaRPr lang="cs-CZ" dirty="0"/>
          </a:p>
        </p:txBody>
      </p:sp>
      <p:sp>
        <p:nvSpPr>
          <p:cNvPr id="9244" name="Text Box 29"/>
          <p:cNvSpPr txBox="1">
            <a:spLocks noChangeArrowheads="1"/>
          </p:cNvSpPr>
          <p:nvPr/>
        </p:nvSpPr>
        <p:spPr bwMode="auto">
          <a:xfrm>
            <a:off x="8709297" y="1657940"/>
            <a:ext cx="349250" cy="366713"/>
          </a:xfrm>
          <a:prstGeom prst="rect">
            <a:avLst/>
          </a:prstGeom>
          <a:noFill/>
          <a:ln w="9525">
            <a:noFill/>
            <a:miter lim="800000"/>
            <a:headEnd/>
            <a:tailEnd/>
          </a:ln>
        </p:spPr>
        <p:txBody>
          <a:bodyPr wrap="none">
            <a:spAutoFit/>
          </a:bodyPr>
          <a:lstStyle/>
          <a:p>
            <a:r>
              <a:rPr lang="cs-CZ" dirty="0"/>
              <a:t>C</a:t>
            </a:r>
          </a:p>
        </p:txBody>
      </p:sp>
      <p:sp>
        <p:nvSpPr>
          <p:cNvPr id="9252" name="Freeform 37"/>
          <p:cNvSpPr>
            <a:spLocks/>
          </p:cNvSpPr>
          <p:nvPr/>
        </p:nvSpPr>
        <p:spPr bwMode="auto">
          <a:xfrm>
            <a:off x="4402409" y="3496049"/>
            <a:ext cx="325438" cy="1655763"/>
          </a:xfrm>
          <a:custGeom>
            <a:avLst/>
            <a:gdLst>
              <a:gd name="T0" fmla="*/ 205 w 205"/>
              <a:gd name="T1" fmla="*/ 1043 h 1043"/>
              <a:gd name="T2" fmla="*/ 0 w 205"/>
              <a:gd name="T3" fmla="*/ 565 h 1043"/>
              <a:gd name="T4" fmla="*/ 205 w 205"/>
              <a:gd name="T5" fmla="*/ 0 h 1043"/>
              <a:gd name="T6" fmla="*/ 0 60000 65536"/>
              <a:gd name="T7" fmla="*/ 0 60000 65536"/>
              <a:gd name="T8" fmla="*/ 0 60000 65536"/>
              <a:gd name="T9" fmla="*/ 0 w 205"/>
              <a:gd name="T10" fmla="*/ 0 h 1043"/>
              <a:gd name="T11" fmla="*/ 205 w 205"/>
              <a:gd name="T12" fmla="*/ 1043 h 1043"/>
            </a:gdLst>
            <a:ahLst/>
            <a:cxnLst>
              <a:cxn ang="T6">
                <a:pos x="T0" y="T1"/>
              </a:cxn>
              <a:cxn ang="T7">
                <a:pos x="T2" y="T3"/>
              </a:cxn>
              <a:cxn ang="T8">
                <a:pos x="T4" y="T5"/>
              </a:cxn>
            </a:cxnLst>
            <a:rect l="T9" t="T10" r="T11" b="T12"/>
            <a:pathLst>
              <a:path w="205" h="1043">
                <a:moveTo>
                  <a:pt x="205" y="1043"/>
                </a:moveTo>
                <a:cubicBezTo>
                  <a:pt x="171" y="963"/>
                  <a:pt x="0" y="739"/>
                  <a:pt x="0" y="565"/>
                </a:cubicBezTo>
                <a:cubicBezTo>
                  <a:pt x="0" y="391"/>
                  <a:pt x="162" y="118"/>
                  <a:pt x="205" y="0"/>
                </a:cubicBezTo>
              </a:path>
            </a:pathLst>
          </a:custGeom>
          <a:noFill/>
          <a:ln w="9525">
            <a:solidFill>
              <a:schemeClr val="tx1"/>
            </a:solidFill>
            <a:round/>
            <a:headEnd type="none" w="med" len="med"/>
            <a:tailEnd type="triangle" w="med" len="med"/>
          </a:ln>
        </p:spPr>
        <p:txBody>
          <a:bodyPr wrap="none"/>
          <a:lstStyle/>
          <a:p>
            <a:endParaRPr lang="cs-CZ"/>
          </a:p>
        </p:txBody>
      </p:sp>
      <p:sp>
        <p:nvSpPr>
          <p:cNvPr id="2" name="Date Placeholder 1"/>
          <p:cNvSpPr>
            <a:spLocks noGrp="1"/>
          </p:cNvSpPr>
          <p:nvPr>
            <p:ph type="dt" sz="half" idx="10"/>
          </p:nvPr>
        </p:nvSpPr>
        <p:spPr/>
        <p:txBody>
          <a:bodyPr/>
          <a:lstStyle/>
          <a:p>
            <a:r>
              <a:rPr lang="cs-CZ" altLang="en-US"/>
              <a:t>26.3.2025</a:t>
            </a:r>
            <a:endParaRPr lang="en-US" altLang="en-US"/>
          </a:p>
        </p:txBody>
      </p:sp>
      <p:sp>
        <p:nvSpPr>
          <p:cNvPr id="3" name="Slide Number Placeholder 2"/>
          <p:cNvSpPr>
            <a:spLocks noGrp="1"/>
          </p:cNvSpPr>
          <p:nvPr>
            <p:ph type="sldNum" sz="quarter" idx="12"/>
          </p:nvPr>
        </p:nvSpPr>
        <p:spPr/>
        <p:txBody>
          <a:bodyPr/>
          <a:lstStyle/>
          <a:p>
            <a:fld id="{F4A1145F-674A-4228-8958-0EA9769F5517}" type="slidenum">
              <a:rPr lang="en-US" altLang="en-US" smtClean="0"/>
              <a:pPr/>
              <a:t>23</a:t>
            </a:fld>
            <a:endParaRPr lang="en-US" altLang="en-US"/>
          </a:p>
        </p:txBody>
      </p:sp>
    </p:spTree>
    <p:extLst>
      <p:ext uri="{BB962C8B-B14F-4D97-AF65-F5344CB8AC3E}">
        <p14:creationId xmlns:p14="http://schemas.microsoft.com/office/powerpoint/2010/main" val="2936216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t>Parameter passing</a:t>
            </a:r>
            <a:endParaRPr lang="cs-CZ" dirty="0"/>
          </a:p>
        </p:txBody>
      </p:sp>
      <p:sp>
        <p:nvSpPr>
          <p:cNvPr id="11267" name="Rectangle 3"/>
          <p:cNvSpPr>
            <a:spLocks noGrp="1" noChangeArrowheads="1"/>
          </p:cNvSpPr>
          <p:nvPr>
            <p:ph idx="1"/>
          </p:nvPr>
        </p:nvSpPr>
        <p:spPr/>
        <p:txBody>
          <a:bodyPr>
            <a:noAutofit/>
          </a:bodyPr>
          <a:lstStyle/>
          <a:p>
            <a:pPr eaLnBrk="1" hangingPunct="1">
              <a:lnSpc>
                <a:spcPct val="90000"/>
              </a:lnSpc>
            </a:pPr>
            <a:r>
              <a:rPr lang="en-US" sz="2600" dirty="0"/>
              <a:t>Call by value</a:t>
            </a:r>
            <a:endParaRPr lang="cs-CZ" sz="2600" dirty="0"/>
          </a:p>
          <a:p>
            <a:pPr lvl="1" eaLnBrk="1" hangingPunct="1">
              <a:lnSpc>
                <a:spcPct val="90000"/>
              </a:lnSpc>
            </a:pPr>
            <a:r>
              <a:rPr lang="en-US" sz="2200" dirty="0"/>
              <a:t>Actual parameter is evaluated and the value is passed</a:t>
            </a:r>
            <a:endParaRPr lang="cs-CZ" sz="2200" dirty="0"/>
          </a:p>
          <a:p>
            <a:pPr lvl="1" eaLnBrk="1" hangingPunct="1">
              <a:lnSpc>
                <a:spcPct val="90000"/>
              </a:lnSpc>
            </a:pPr>
            <a:r>
              <a:rPr lang="en-US" sz="2200" dirty="0"/>
              <a:t>Input parameters are basically initialized local variables</a:t>
            </a:r>
            <a:endParaRPr lang="cs-CZ" sz="2200" dirty="0"/>
          </a:p>
          <a:p>
            <a:pPr lvl="1" eaLnBrk="1" hangingPunct="1">
              <a:lnSpc>
                <a:spcPct val="90000"/>
              </a:lnSpc>
            </a:pPr>
            <a:r>
              <a:rPr lang="cs-CZ" sz="2200" dirty="0"/>
              <a:t>C</a:t>
            </a:r>
          </a:p>
          <a:p>
            <a:pPr eaLnBrk="1" hangingPunct="1">
              <a:lnSpc>
                <a:spcPct val="90000"/>
              </a:lnSpc>
            </a:pPr>
            <a:r>
              <a:rPr lang="en-US" sz="2600" dirty="0"/>
              <a:t>Call by reference</a:t>
            </a:r>
            <a:endParaRPr lang="cs-CZ" sz="2600" dirty="0"/>
          </a:p>
          <a:p>
            <a:pPr lvl="1" eaLnBrk="1" hangingPunct="1">
              <a:lnSpc>
                <a:spcPct val="90000"/>
              </a:lnSpc>
            </a:pPr>
            <a:r>
              <a:rPr lang="en-US" sz="2200" dirty="0"/>
              <a:t>The caller passes a pointer to the variable</a:t>
            </a:r>
            <a:endParaRPr lang="cs-CZ" sz="2200" dirty="0"/>
          </a:p>
          <a:p>
            <a:pPr lvl="1" eaLnBrk="1" hangingPunct="1">
              <a:lnSpc>
                <a:spcPct val="90000"/>
              </a:lnSpc>
            </a:pPr>
            <a:r>
              <a:rPr lang="en-US" sz="2200" dirty="0"/>
              <a:t>Input/output parameters</a:t>
            </a:r>
            <a:endParaRPr lang="cs-CZ" sz="2200" dirty="0"/>
          </a:p>
          <a:p>
            <a:pPr lvl="1" eaLnBrk="1" hangingPunct="1">
              <a:lnSpc>
                <a:spcPct val="90000"/>
              </a:lnSpc>
            </a:pPr>
            <a:r>
              <a:rPr lang="en-US" sz="2200" b="1" dirty="0">
                <a:latin typeface="Courier New" panose="02070309020205020404" pitchFamily="49" charset="0"/>
                <a:cs typeface="Courier New" panose="02070309020205020404" pitchFamily="49" charset="0"/>
              </a:rPr>
              <a:t>&amp;</a:t>
            </a:r>
            <a:r>
              <a:rPr lang="en-US" sz="2200" dirty="0"/>
              <a:t> in C++ (hidden pointer)</a:t>
            </a:r>
            <a:endParaRPr lang="en-US" sz="2600" dirty="0"/>
          </a:p>
          <a:p>
            <a:pPr marL="457200" lvl="1" indent="0">
              <a:buNone/>
            </a:pPr>
            <a:endParaRPr lang="cs-CZ" sz="2000" b="1" dirty="0">
              <a:solidFill>
                <a:schemeClr val="accent6"/>
              </a:solidFill>
              <a:latin typeface="Courier New" panose="02070309020205020404" pitchFamily="49" charset="0"/>
              <a:cs typeface="Courier New" panose="02070309020205020404" pitchFamily="49" charset="0"/>
            </a:endParaRPr>
          </a:p>
          <a:p>
            <a:pPr marL="457200" lvl="1" indent="0">
              <a:buNone/>
            </a:pPr>
            <a:r>
              <a:rPr lang="en-US" sz="2000" b="1" dirty="0" err="1">
                <a:solidFill>
                  <a:srgbClr val="FFC000"/>
                </a:solidFill>
                <a:latin typeface="Courier New" panose="02070309020205020404" pitchFamily="49" charset="0"/>
                <a:cs typeface="Courier New" panose="02070309020205020404" pitchFamily="49" charset="0"/>
              </a:rPr>
              <a:t>BigV</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fnc</a:t>
            </a:r>
            <a:r>
              <a:rPr lang="en-US" sz="2000" b="1" dirty="0">
                <a:latin typeface="Courier New" panose="02070309020205020404" pitchFamily="49" charset="0"/>
                <a:cs typeface="Courier New" panose="02070309020205020404" pitchFamily="49" charset="0"/>
              </a:rPr>
              <a:t>(</a:t>
            </a:r>
            <a:r>
              <a:rPr lang="en-US" sz="2000" b="1" dirty="0" err="1">
                <a:solidFill>
                  <a:srgbClr val="0070C0"/>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a:t>
            </a:r>
            <a:r>
              <a:rPr lang="en-US" sz="2000" b="1" dirty="0">
                <a:solidFill>
                  <a:srgbClr val="FFC000"/>
                </a:solidFill>
                <a:latin typeface="Courier New" panose="02070309020205020404" pitchFamily="49" charset="0"/>
                <a:cs typeface="Courier New" panose="02070309020205020404" pitchFamily="49" charset="0"/>
              </a:rPr>
              <a:t>v</a:t>
            </a:r>
            <a:r>
              <a:rPr lang="en-US" sz="2000" b="1" dirty="0">
                <a:latin typeface="Courier New" panose="02070309020205020404" pitchFamily="49" charset="0"/>
                <a:cs typeface="Courier New" panose="02070309020205020404" pitchFamily="49" charset="0"/>
              </a:rPr>
              <a:t>, </a:t>
            </a:r>
            <a:r>
              <a:rPr lang="en-US" sz="2000" b="1" dirty="0" err="1">
                <a:solidFill>
                  <a:srgbClr val="0070C0"/>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a:t>
            </a:r>
            <a:r>
              <a:rPr lang="en-US" sz="2000" b="1" dirty="0">
                <a:solidFill>
                  <a:srgbClr val="C00000"/>
                </a:solidFill>
                <a:latin typeface="Courier New" panose="02070309020205020404" pitchFamily="49" charset="0"/>
                <a:cs typeface="Courier New" panose="02070309020205020404" pitchFamily="49" charset="0"/>
              </a:rPr>
              <a:t>&amp;</a:t>
            </a:r>
            <a:r>
              <a:rPr lang="en-US" sz="2000" b="1" dirty="0" err="1">
                <a:solidFill>
                  <a:srgbClr val="FFC000"/>
                </a:solidFill>
                <a:latin typeface="Courier New" panose="02070309020205020404" pitchFamily="49" charset="0"/>
                <a:cs typeface="Courier New" panose="02070309020205020404" pitchFamily="49" charset="0"/>
              </a:rPr>
              <a:t>rv</a:t>
            </a:r>
            <a:r>
              <a:rPr lang="en-US" sz="2000" b="1" dirty="0">
                <a:latin typeface="Courier New" panose="02070309020205020404" pitchFamily="49" charset="0"/>
                <a:cs typeface="Courier New" panose="02070309020205020404" pitchFamily="49" charset="0"/>
              </a:rPr>
              <a:t>);</a:t>
            </a:r>
          </a:p>
          <a:p>
            <a:pPr marL="457200" lvl="1" indent="0">
              <a:buNone/>
            </a:pPr>
            <a:r>
              <a:rPr lang="en-US" sz="2000" b="1" dirty="0" err="1">
                <a:solidFill>
                  <a:srgbClr val="FFC000"/>
                </a:solidFill>
                <a:latin typeface="Courier New" panose="02070309020205020404" pitchFamily="49" charset="0"/>
                <a:cs typeface="Courier New" panose="02070309020205020404" pitchFamily="49" charset="0"/>
              </a:rPr>
              <a:t>BigV</a:t>
            </a:r>
            <a:r>
              <a:rPr lang="en-US" sz="2000" b="1" dirty="0">
                <a:latin typeface="Courier New" panose="02070309020205020404" pitchFamily="49" charset="0"/>
                <a:cs typeface="Courier New" panose="02070309020205020404" pitchFamily="49" charset="0"/>
              </a:rPr>
              <a:t> r = </a:t>
            </a:r>
            <a:r>
              <a:rPr lang="en-US" sz="2000" b="1" dirty="0" err="1">
                <a:latin typeface="Courier New" panose="02070309020205020404" pitchFamily="49" charset="0"/>
                <a:cs typeface="Courier New" panose="02070309020205020404" pitchFamily="49" charset="0"/>
              </a:rPr>
              <a:t>fnc</a:t>
            </a:r>
            <a:r>
              <a:rPr lang="en-US" sz="2000" b="1" dirty="0">
                <a:latin typeface="Courier New" panose="02070309020205020404" pitchFamily="49" charset="0"/>
                <a:cs typeface="Courier New" panose="02070309020205020404" pitchFamily="49" charset="0"/>
              </a:rPr>
              <a:t>(a, b);</a:t>
            </a:r>
            <a:endParaRPr lang="cs-CZ" sz="2000" b="1"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r>
              <a:rPr lang="cs-CZ" altLang="en-US"/>
              <a:t>26.3.2025</a:t>
            </a:r>
            <a:endParaRPr lang="en-US" altLang="en-US"/>
          </a:p>
        </p:txBody>
      </p:sp>
      <p:sp>
        <p:nvSpPr>
          <p:cNvPr id="4" name="Slide Number Placeholder 3"/>
          <p:cNvSpPr>
            <a:spLocks noGrp="1"/>
          </p:cNvSpPr>
          <p:nvPr>
            <p:ph type="sldNum" sz="quarter" idx="12"/>
          </p:nvPr>
        </p:nvSpPr>
        <p:spPr/>
        <p:txBody>
          <a:bodyPr/>
          <a:lstStyle/>
          <a:p>
            <a:fld id="{F4A1145F-674A-4228-8958-0EA9769F5517}" type="slidenum">
              <a:rPr lang="en-US" altLang="en-US" smtClean="0"/>
              <a:pPr/>
              <a:t>24</a:t>
            </a:fld>
            <a:endParaRPr lang="en-US" altLang="en-US"/>
          </a:p>
        </p:txBody>
      </p:sp>
      <p:cxnSp>
        <p:nvCxnSpPr>
          <p:cNvPr id="3" name="Straight Connector 2"/>
          <p:cNvCxnSpPr/>
          <p:nvPr/>
        </p:nvCxnSpPr>
        <p:spPr bwMode="auto">
          <a:xfrm>
            <a:off x="9264352" y="2312876"/>
            <a:ext cx="0" cy="36004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p:cNvCxnSpPr/>
          <p:nvPr/>
        </p:nvCxnSpPr>
        <p:spPr bwMode="auto">
          <a:xfrm>
            <a:off x="10848528" y="2312876"/>
            <a:ext cx="0" cy="3600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 name="Rectangle 4"/>
          <p:cNvSpPr/>
          <p:nvPr/>
        </p:nvSpPr>
        <p:spPr bwMode="auto">
          <a:xfrm>
            <a:off x="9264352" y="2528900"/>
            <a:ext cx="1584176" cy="36004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dirty="0"/>
              <a:t>a = 5</a:t>
            </a:r>
          </a:p>
        </p:txBody>
      </p:sp>
      <p:sp>
        <p:nvSpPr>
          <p:cNvPr id="9" name="Rectangle 8"/>
          <p:cNvSpPr/>
          <p:nvPr/>
        </p:nvSpPr>
        <p:spPr bwMode="auto">
          <a:xfrm>
            <a:off x="9264352" y="3284984"/>
            <a:ext cx="1584176" cy="36004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dirty="0"/>
              <a:t>b = 8</a:t>
            </a:r>
          </a:p>
        </p:txBody>
      </p:sp>
      <p:sp>
        <p:nvSpPr>
          <p:cNvPr id="6" name="TextBox 5"/>
          <p:cNvSpPr txBox="1"/>
          <p:nvPr/>
        </p:nvSpPr>
        <p:spPr>
          <a:xfrm>
            <a:off x="8637231" y="2528900"/>
            <a:ext cx="697627" cy="369332"/>
          </a:xfrm>
          <a:prstGeom prst="rect">
            <a:avLst/>
          </a:prstGeom>
          <a:noFill/>
        </p:spPr>
        <p:txBody>
          <a:bodyPr wrap="none" rtlCol="0">
            <a:spAutoFit/>
          </a:bodyPr>
          <a:lstStyle/>
          <a:p>
            <a:r>
              <a:rPr lang="cs-CZ" dirty="0"/>
              <a:t>0</a:t>
            </a:r>
            <a:r>
              <a:rPr lang="en-US" dirty="0"/>
              <a:t>124</a:t>
            </a:r>
          </a:p>
        </p:txBody>
      </p:sp>
      <p:sp>
        <p:nvSpPr>
          <p:cNvPr id="11" name="TextBox 10"/>
          <p:cNvSpPr txBox="1"/>
          <p:nvPr/>
        </p:nvSpPr>
        <p:spPr>
          <a:xfrm>
            <a:off x="8637230" y="3284984"/>
            <a:ext cx="697627" cy="369332"/>
          </a:xfrm>
          <a:prstGeom prst="rect">
            <a:avLst/>
          </a:prstGeom>
          <a:noFill/>
        </p:spPr>
        <p:txBody>
          <a:bodyPr wrap="none" rtlCol="0">
            <a:spAutoFit/>
          </a:bodyPr>
          <a:lstStyle/>
          <a:p>
            <a:r>
              <a:rPr lang="en-US" dirty="0"/>
              <a:t>3456</a:t>
            </a:r>
          </a:p>
        </p:txBody>
      </p:sp>
      <p:sp>
        <p:nvSpPr>
          <p:cNvPr id="8" name="Rectangle 7"/>
          <p:cNvSpPr/>
          <p:nvPr/>
        </p:nvSpPr>
        <p:spPr bwMode="auto">
          <a:xfrm>
            <a:off x="9264352" y="4310645"/>
            <a:ext cx="1584176" cy="477215"/>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err="1"/>
              <a:t>BigV</a:t>
            </a:r>
            <a:endParaRPr lang="en-US" dirty="0"/>
          </a:p>
        </p:txBody>
      </p:sp>
      <p:sp>
        <p:nvSpPr>
          <p:cNvPr id="13" name="Rectangle 12"/>
          <p:cNvSpPr/>
          <p:nvPr/>
        </p:nvSpPr>
        <p:spPr bwMode="auto">
          <a:xfrm>
            <a:off x="9264352" y="4790296"/>
            <a:ext cx="1584176" cy="360040"/>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dirty="0" err="1"/>
              <a:t>rv</a:t>
            </a:r>
            <a:r>
              <a:rPr lang="en-US" dirty="0"/>
              <a:t> = 3456</a:t>
            </a:r>
          </a:p>
          <a:p>
            <a:pPr algn="ctr"/>
            <a:endParaRPr lang="en-US" dirty="0"/>
          </a:p>
        </p:txBody>
      </p:sp>
      <p:sp>
        <p:nvSpPr>
          <p:cNvPr id="14" name="Rectangle 13"/>
          <p:cNvSpPr/>
          <p:nvPr/>
        </p:nvSpPr>
        <p:spPr bwMode="auto">
          <a:xfrm>
            <a:off x="9264352" y="5150336"/>
            <a:ext cx="1584176" cy="360040"/>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dirty="0"/>
              <a:t>v = 5</a:t>
            </a:r>
          </a:p>
        </p:txBody>
      </p:sp>
      <p:cxnSp>
        <p:nvCxnSpPr>
          <p:cNvPr id="12" name="Elbow Connector 11"/>
          <p:cNvCxnSpPr>
            <a:stCxn id="13" idx="3"/>
            <a:endCxn id="9" idx="3"/>
          </p:cNvCxnSpPr>
          <p:nvPr/>
        </p:nvCxnSpPr>
        <p:spPr bwMode="auto">
          <a:xfrm flipV="1">
            <a:off x="10848528" y="3465004"/>
            <a:ext cx="12700" cy="1505312"/>
          </a:xfrm>
          <a:prstGeom prst="bentConnector3">
            <a:avLst>
              <a:gd name="adj1" fmla="val 1800000"/>
            </a:avLst>
          </a:prstGeom>
          <a:solidFill>
            <a:schemeClr val="accent1"/>
          </a:solidFill>
          <a:ln w="9525" cap="flat" cmpd="sng" algn="ctr">
            <a:solidFill>
              <a:schemeClr val="tx1"/>
            </a:solidFill>
            <a:prstDash val="solid"/>
            <a:round/>
            <a:headEnd type="none" w="med" len="med"/>
            <a:tailEnd type="triangle"/>
          </a:ln>
          <a:effectLst/>
        </p:spPr>
      </p:cxnSp>
      <p:sp>
        <p:nvSpPr>
          <p:cNvPr id="15" name="Rectangle 14"/>
          <p:cNvSpPr/>
          <p:nvPr/>
        </p:nvSpPr>
        <p:spPr bwMode="auto">
          <a:xfrm>
            <a:off x="9264352" y="5510376"/>
            <a:ext cx="1584176" cy="33089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RA</a:t>
            </a:r>
          </a:p>
        </p:txBody>
      </p:sp>
    </p:spTree>
    <p:extLst>
      <p:ext uri="{BB962C8B-B14F-4D97-AF65-F5344CB8AC3E}">
        <p14:creationId xmlns:p14="http://schemas.microsoft.com/office/powerpoint/2010/main" val="32798708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p:txBody>
          <a:bodyPr>
            <a:noAutofit/>
          </a:bodyPr>
          <a:lstStyle/>
          <a:p>
            <a:r>
              <a:rPr lang="en-US" dirty="0"/>
              <a:t>Named memory holding a value</a:t>
            </a:r>
          </a:p>
          <a:p>
            <a:pPr lvl="1"/>
            <a:r>
              <a:rPr lang="en-US" dirty="0"/>
              <a:t>Has a type</a:t>
            </a:r>
            <a:r>
              <a:rPr lang="cs-CZ" dirty="0"/>
              <a:t> (</a:t>
            </a:r>
            <a:r>
              <a:rPr lang="en-US" dirty="0"/>
              <a:t>statically typed languages)</a:t>
            </a:r>
          </a:p>
          <a:p>
            <a:pPr lvl="1"/>
            <a:r>
              <a:rPr lang="en-US" dirty="0"/>
              <a:t>Storage</a:t>
            </a:r>
          </a:p>
          <a:p>
            <a:pPr lvl="2"/>
            <a:r>
              <a:rPr lang="en-US" dirty="0"/>
              <a:t>Static data</a:t>
            </a:r>
          </a:p>
          <a:p>
            <a:pPr lvl="3"/>
            <a:r>
              <a:rPr lang="en-US" dirty="0"/>
              <a:t>Global variables in C</a:t>
            </a:r>
          </a:p>
          <a:p>
            <a:pPr lvl="2"/>
            <a:r>
              <a:rPr lang="en-US" dirty="0"/>
              <a:t>Stack</a:t>
            </a:r>
          </a:p>
          <a:p>
            <a:pPr lvl="3"/>
            <a:r>
              <a:rPr lang="en-US" dirty="0"/>
              <a:t>Local variables in C</a:t>
            </a:r>
          </a:p>
          <a:p>
            <a:pPr lvl="2"/>
            <a:r>
              <a:rPr lang="en-US" dirty="0"/>
              <a:t>Heap</a:t>
            </a:r>
          </a:p>
          <a:p>
            <a:pPr lvl="3"/>
            <a:r>
              <a:rPr lang="en-US" dirty="0"/>
              <a:t>Dynamic memory in C/C#</a:t>
            </a:r>
          </a:p>
          <a:p>
            <a:pPr lvl="1"/>
            <a:r>
              <a:rPr lang="en-US" dirty="0"/>
              <a:t>Dictionary (Python, PHP, JavaScript…)</a:t>
            </a:r>
          </a:p>
          <a:p>
            <a:pPr lvl="2"/>
            <a:r>
              <a:rPr lang="en-US" dirty="0"/>
              <a:t>Not precisely a storage, it is a dynamic structure (variable name -&gt; some value)</a:t>
            </a: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25</a:t>
            </a:fld>
            <a:endParaRPr lang="en-US" altLang="en-US"/>
          </a:p>
        </p:txBody>
      </p:sp>
    </p:spTree>
    <p:extLst>
      <p:ext uri="{BB962C8B-B14F-4D97-AF65-F5344CB8AC3E}">
        <p14:creationId xmlns:p14="http://schemas.microsoft.com/office/powerpoint/2010/main" val="2047440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a:t>
            </a:r>
          </a:p>
        </p:txBody>
      </p:sp>
      <p:sp>
        <p:nvSpPr>
          <p:cNvPr id="3" name="Content Placeholder 2"/>
          <p:cNvSpPr>
            <a:spLocks noGrp="1"/>
          </p:cNvSpPr>
          <p:nvPr>
            <p:ph idx="1"/>
          </p:nvPr>
        </p:nvSpPr>
        <p:spPr/>
        <p:txBody>
          <a:bodyPr>
            <a:normAutofit fontScale="92500" lnSpcReduction="10000"/>
          </a:bodyPr>
          <a:lstStyle/>
          <a:p>
            <a:r>
              <a:rPr lang="en-US" dirty="0"/>
              <a:t>Storage for dynamic memory</a:t>
            </a:r>
          </a:p>
          <a:p>
            <a:r>
              <a:rPr lang="en-US" dirty="0"/>
              <a:t>Allocate</a:t>
            </a:r>
          </a:p>
          <a:p>
            <a:pPr lvl="1"/>
            <a:r>
              <a:rPr lang="en-US" dirty="0"/>
              <a:t>Use all features from dynamic memory allocation</a:t>
            </a:r>
          </a:p>
          <a:p>
            <a:pPr lvl="2"/>
            <a:r>
              <a:rPr lang="en-US" dirty="0"/>
              <a:t>Free blocks evidence</a:t>
            </a:r>
          </a:p>
          <a:p>
            <a:pPr lvl="2"/>
            <a:r>
              <a:rPr lang="en-US" dirty="0"/>
              <a:t>Allocation algorithms</a:t>
            </a:r>
          </a:p>
          <a:p>
            <a:pPr lvl="3"/>
            <a:r>
              <a:rPr lang="en-US" dirty="0"/>
              <a:t>Extremely simple and fast incremental allocation</a:t>
            </a:r>
          </a:p>
          <a:p>
            <a:r>
              <a:rPr lang="en-US" dirty="0"/>
              <a:t>Deallocate</a:t>
            </a:r>
          </a:p>
          <a:p>
            <a:pPr lvl="1"/>
            <a:r>
              <a:rPr lang="en-US" dirty="0"/>
              <a:t>Explicit action in some languages</a:t>
            </a:r>
          </a:p>
          <a:p>
            <a:pPr lvl="2"/>
            <a:r>
              <a:rPr lang="en-US" dirty="0"/>
              <a:t>C, C++</a:t>
            </a:r>
          </a:p>
          <a:p>
            <a:pPr lvl="1"/>
            <a:r>
              <a:rPr lang="en-US" dirty="0"/>
              <a:t>Automatic deallocation by garbage collection</a:t>
            </a:r>
          </a:p>
          <a:p>
            <a:pPr lvl="2"/>
            <a:r>
              <a:rPr lang="en-US" dirty="0"/>
              <a:t>Remove burden and errors</a:t>
            </a:r>
          </a:p>
          <a:p>
            <a:pPr lvl="2"/>
            <a:r>
              <a:rPr lang="en-US" dirty="0"/>
              <a:t>Works only with good knowledge of live objects and references</a:t>
            </a: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26</a:t>
            </a:fld>
            <a:endParaRPr lang="en-US" altLang="en-US"/>
          </a:p>
        </p:txBody>
      </p:sp>
    </p:spTree>
    <p:extLst>
      <p:ext uri="{BB962C8B-B14F-4D97-AF65-F5344CB8AC3E}">
        <p14:creationId xmlns:p14="http://schemas.microsoft.com/office/powerpoint/2010/main" val="2942172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Garbage collection</a:t>
            </a:r>
          </a:p>
        </p:txBody>
      </p:sp>
      <p:sp>
        <p:nvSpPr>
          <p:cNvPr id="3" name="Content Placeholder 2"/>
          <p:cNvSpPr>
            <a:spLocks noGrp="1"/>
          </p:cNvSpPr>
          <p:nvPr>
            <p:ph sz="half" idx="1"/>
          </p:nvPr>
        </p:nvSpPr>
        <p:spPr/>
        <p:txBody>
          <a:bodyPr>
            <a:noAutofit/>
          </a:bodyPr>
          <a:lstStyle/>
          <a:p>
            <a:r>
              <a:rPr lang="en-US" dirty="0"/>
              <a:t>Automatic removal of unused memory blocks</a:t>
            </a:r>
          </a:p>
          <a:p>
            <a:pPr lvl="1"/>
            <a:r>
              <a:rPr lang="en-US" dirty="0"/>
              <a:t>Advantages</a:t>
            </a:r>
          </a:p>
          <a:p>
            <a:pPr lvl="2"/>
            <a:r>
              <a:rPr lang="en-US" dirty="0"/>
              <a:t>No dangling pointers, no double free, no memory leaks, allows heap consolidation and fast allocation</a:t>
            </a:r>
          </a:p>
          <a:p>
            <a:pPr lvl="1"/>
            <a:r>
              <a:rPr lang="en-US" dirty="0"/>
              <a:t>Disadvantages</a:t>
            </a:r>
          </a:p>
          <a:p>
            <a:pPr lvl="2"/>
            <a:r>
              <a:rPr lang="en-US" dirty="0"/>
              <a:t>Performance impact, even execution stall, unpredictable behavior</a:t>
            </a:r>
          </a:p>
        </p:txBody>
      </p:sp>
      <p:sp>
        <p:nvSpPr>
          <p:cNvPr id="12" name="Content Placeholder 11"/>
          <p:cNvSpPr>
            <a:spLocks noGrp="1"/>
          </p:cNvSpPr>
          <p:nvPr>
            <p:ph sz="half" idx="2"/>
          </p:nvPr>
        </p:nvSpPr>
        <p:spPr/>
        <p:txBody>
          <a:bodyPr/>
          <a:lstStyle/>
          <a:p>
            <a:r>
              <a:rPr lang="en-US" dirty="0"/>
              <a:t>GC strategies</a:t>
            </a:r>
          </a:p>
          <a:p>
            <a:pPr lvl="1"/>
            <a:r>
              <a:rPr lang="en-US" dirty="0"/>
              <a:t>Tracing</a:t>
            </a:r>
          </a:p>
          <a:p>
            <a:pPr lvl="2"/>
            <a:r>
              <a:rPr lang="en-US" dirty="0"/>
              <a:t>Reachable objects from live objects</a:t>
            </a:r>
          </a:p>
          <a:p>
            <a:pPr lvl="1"/>
            <a:r>
              <a:rPr lang="en-US" dirty="0"/>
              <a:t>Reference counting</a:t>
            </a:r>
          </a:p>
          <a:p>
            <a:pPr lvl="2"/>
            <a:r>
              <a:rPr lang="en-US" dirty="0"/>
              <a:t>Problems with cycles, space, and speed overhead</a:t>
            </a:r>
          </a:p>
          <a:p>
            <a:pPr lvl="1"/>
            <a:r>
              <a:rPr lang="en-US" dirty="0"/>
              <a:t>Advanced versions for languages with heavy use</a:t>
            </a:r>
          </a:p>
          <a:p>
            <a:pPr marL="0" indent="0">
              <a:buNone/>
            </a:pPr>
            <a:endParaRPr lang="en-US" dirty="0"/>
          </a:p>
        </p:txBody>
      </p:sp>
      <p:sp>
        <p:nvSpPr>
          <p:cNvPr id="5" name="Date Placeholder 4"/>
          <p:cNvSpPr>
            <a:spLocks noGrp="1"/>
          </p:cNvSpPr>
          <p:nvPr>
            <p:ph type="dt" sz="half" idx="10"/>
          </p:nvPr>
        </p:nvSpPr>
        <p:spPr/>
        <p:txBody>
          <a:bodyPr/>
          <a:lstStyle/>
          <a:p>
            <a:r>
              <a:rPr lang="cs-CZ" altLang="en-US"/>
              <a:t>26.3.2025</a:t>
            </a:r>
            <a:endParaRPr lang="en-US" altLang="en-US"/>
          </a:p>
        </p:txBody>
      </p:sp>
      <p:sp>
        <p:nvSpPr>
          <p:cNvPr id="11" name="Slide Number Placeholder 10"/>
          <p:cNvSpPr>
            <a:spLocks noGrp="1"/>
          </p:cNvSpPr>
          <p:nvPr>
            <p:ph type="sldNum" sz="quarter" idx="12"/>
          </p:nvPr>
        </p:nvSpPr>
        <p:spPr/>
        <p:txBody>
          <a:bodyPr/>
          <a:lstStyle/>
          <a:p>
            <a:fld id="{F4A1145F-674A-4228-8958-0EA9769F5517}" type="slidenum">
              <a:rPr lang="en-US" altLang="en-US" smtClean="0"/>
              <a:pPr/>
              <a:t>27</a:t>
            </a:fld>
            <a:endParaRPr lang="en-US" altLang="en-US"/>
          </a:p>
        </p:txBody>
      </p:sp>
      <p:sp>
        <p:nvSpPr>
          <p:cNvPr id="4" name="Rectangle 3"/>
          <p:cNvSpPr/>
          <p:nvPr/>
        </p:nvSpPr>
        <p:spPr bwMode="auto">
          <a:xfrm>
            <a:off x="7890520" y="5343498"/>
            <a:ext cx="720080" cy="936104"/>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6" name="Rectangle 5"/>
          <p:cNvSpPr/>
          <p:nvPr/>
        </p:nvSpPr>
        <p:spPr bwMode="auto">
          <a:xfrm>
            <a:off x="9215301" y="5343498"/>
            <a:ext cx="720080" cy="936104"/>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7" name="Rectangle 6"/>
          <p:cNvSpPr/>
          <p:nvPr/>
        </p:nvSpPr>
        <p:spPr bwMode="auto">
          <a:xfrm>
            <a:off x="7890520" y="5919562"/>
            <a:ext cx="720080" cy="216024"/>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Q</a:t>
            </a:r>
          </a:p>
        </p:txBody>
      </p:sp>
      <p:sp>
        <p:nvSpPr>
          <p:cNvPr id="8" name="TextBox 7"/>
          <p:cNvSpPr txBox="1"/>
          <p:nvPr/>
        </p:nvSpPr>
        <p:spPr>
          <a:xfrm>
            <a:off x="8081283" y="5041873"/>
            <a:ext cx="338554" cy="369332"/>
          </a:xfrm>
          <a:prstGeom prst="rect">
            <a:avLst/>
          </a:prstGeom>
          <a:noFill/>
        </p:spPr>
        <p:txBody>
          <a:bodyPr wrap="none" rtlCol="0">
            <a:spAutoFit/>
          </a:bodyPr>
          <a:lstStyle/>
          <a:p>
            <a:r>
              <a:rPr lang="en-US" dirty="0"/>
              <a:t>P</a:t>
            </a:r>
          </a:p>
        </p:txBody>
      </p:sp>
      <p:sp>
        <p:nvSpPr>
          <p:cNvPr id="9" name="TextBox 8"/>
          <p:cNvSpPr txBox="1"/>
          <p:nvPr/>
        </p:nvSpPr>
        <p:spPr>
          <a:xfrm>
            <a:off x="9393240" y="5040817"/>
            <a:ext cx="364202" cy="369332"/>
          </a:xfrm>
          <a:prstGeom prst="rect">
            <a:avLst/>
          </a:prstGeom>
          <a:noFill/>
        </p:spPr>
        <p:txBody>
          <a:bodyPr wrap="none" rtlCol="0">
            <a:spAutoFit/>
          </a:bodyPr>
          <a:lstStyle/>
          <a:p>
            <a:r>
              <a:rPr lang="en-US" dirty="0"/>
              <a:t>Q</a:t>
            </a:r>
          </a:p>
        </p:txBody>
      </p:sp>
      <p:sp>
        <p:nvSpPr>
          <p:cNvPr id="10" name="Rectangle 9"/>
          <p:cNvSpPr/>
          <p:nvPr/>
        </p:nvSpPr>
        <p:spPr bwMode="auto">
          <a:xfrm>
            <a:off x="9215301" y="5694724"/>
            <a:ext cx="720080" cy="216024"/>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dirty="0"/>
              <a:t>P</a:t>
            </a:r>
          </a:p>
        </p:txBody>
      </p:sp>
      <p:cxnSp>
        <p:nvCxnSpPr>
          <p:cNvPr id="22" name="Straight Arrow Connector 21"/>
          <p:cNvCxnSpPr/>
          <p:nvPr/>
        </p:nvCxnSpPr>
        <p:spPr bwMode="auto">
          <a:xfrm flipV="1">
            <a:off x="8610601" y="5311550"/>
            <a:ext cx="604701" cy="7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5" name="Straight Arrow Connector 24"/>
          <p:cNvCxnSpPr>
            <a:stCxn id="10" idx="1"/>
          </p:cNvCxnSpPr>
          <p:nvPr/>
        </p:nvCxnSpPr>
        <p:spPr bwMode="auto">
          <a:xfrm flipH="1" flipV="1">
            <a:off x="8610601" y="5343498"/>
            <a:ext cx="604701" cy="4592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278237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Portability</a:t>
            </a:r>
          </a:p>
        </p:txBody>
      </p:sp>
      <p:sp>
        <p:nvSpPr>
          <p:cNvPr id="3" name="Content Placeholder 2"/>
          <p:cNvSpPr>
            <a:spLocks noGrp="1"/>
          </p:cNvSpPr>
          <p:nvPr>
            <p:ph sz="half" idx="1"/>
          </p:nvPr>
        </p:nvSpPr>
        <p:spPr/>
        <p:txBody>
          <a:bodyPr>
            <a:noAutofit/>
          </a:bodyPr>
          <a:lstStyle/>
          <a:p>
            <a:r>
              <a:rPr lang="en-US" dirty="0"/>
              <a:t>Source code portability</a:t>
            </a:r>
          </a:p>
          <a:p>
            <a:pPr lvl="1"/>
            <a:r>
              <a:rPr lang="en-US" dirty="0"/>
              <a:t>CPU architecture</a:t>
            </a:r>
          </a:p>
          <a:p>
            <a:pPr lvl="2"/>
            <a:r>
              <a:rPr lang="en-US" dirty="0"/>
              <a:t>Different type sizes</a:t>
            </a:r>
          </a:p>
          <a:p>
            <a:pPr lvl="3"/>
            <a:r>
              <a:rPr lang="en-US" dirty="0"/>
              <a:t>C, C++</a:t>
            </a:r>
          </a:p>
          <a:p>
            <a:pPr lvl="2"/>
            <a:r>
              <a:rPr lang="en-US" dirty="0"/>
              <a:t>Fixed type sizes</a:t>
            </a:r>
          </a:p>
          <a:p>
            <a:pPr lvl="3"/>
            <a:r>
              <a:rPr lang="en-US" dirty="0"/>
              <a:t>C#, Java</a:t>
            </a:r>
          </a:p>
          <a:p>
            <a:pPr lvl="1"/>
            <a:r>
              <a:rPr lang="en-US" dirty="0"/>
              <a:t>Compiler</a:t>
            </a:r>
          </a:p>
          <a:p>
            <a:pPr lvl="2"/>
            <a:r>
              <a:rPr lang="en-US" dirty="0"/>
              <a:t>Different language “flavors”</a:t>
            </a:r>
          </a:p>
          <a:p>
            <a:pPr lvl="3"/>
            <a:r>
              <a:rPr lang="en-US" dirty="0"/>
              <a:t>C++ - </a:t>
            </a:r>
            <a:r>
              <a:rPr lang="en-US" dirty="0" err="1"/>
              <a:t>gcc</a:t>
            </a:r>
            <a:r>
              <a:rPr lang="en-US" dirty="0"/>
              <a:t>, </a:t>
            </a:r>
            <a:r>
              <a:rPr lang="en-US" dirty="0" err="1"/>
              <a:t>msvc</a:t>
            </a:r>
            <a:r>
              <a:rPr lang="en-US" dirty="0"/>
              <a:t>, clang, …</a:t>
            </a:r>
          </a:p>
          <a:p>
            <a:pPr lvl="2"/>
            <a:r>
              <a:rPr lang="en-US" dirty="0"/>
              <a:t>Use only syntax and library from a language standard</a:t>
            </a:r>
          </a:p>
        </p:txBody>
      </p:sp>
      <p:sp>
        <p:nvSpPr>
          <p:cNvPr id="6" name="Content Placeholder 5"/>
          <p:cNvSpPr>
            <a:spLocks noGrp="1"/>
          </p:cNvSpPr>
          <p:nvPr>
            <p:ph sz="half" idx="2"/>
          </p:nvPr>
        </p:nvSpPr>
        <p:spPr/>
        <p:txBody>
          <a:bodyPr/>
          <a:lstStyle/>
          <a:p>
            <a:endParaRPr lang="cs-CZ" dirty="0"/>
          </a:p>
          <a:p>
            <a:pPr lvl="1"/>
            <a:r>
              <a:rPr lang="en-US" dirty="0"/>
              <a:t>OS</a:t>
            </a:r>
          </a:p>
          <a:p>
            <a:pPr lvl="2"/>
            <a:r>
              <a:rPr lang="en-US" dirty="0"/>
              <a:t>Different system/library calls</a:t>
            </a:r>
          </a:p>
          <a:p>
            <a:pPr lvl="3"/>
            <a:r>
              <a:rPr lang="en-US" dirty="0"/>
              <a:t>Linux, Windows</a:t>
            </a:r>
          </a:p>
          <a:p>
            <a:pPr lvl="2"/>
            <a:r>
              <a:rPr lang="en-US" dirty="0"/>
              <a:t>Sometimes easy</a:t>
            </a:r>
          </a:p>
          <a:p>
            <a:pPr lvl="3"/>
            <a:r>
              <a:rPr lang="en-US" dirty="0"/>
              <a:t>BSD sockets</a:t>
            </a:r>
          </a:p>
          <a:p>
            <a:pPr marL="0" indent="0">
              <a:buNone/>
            </a:pPr>
            <a:endParaRPr lang="en-US" dirty="0"/>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28</a:t>
            </a:fld>
            <a:endParaRPr lang="en-US" altLang="en-US"/>
          </a:p>
        </p:txBody>
      </p:sp>
    </p:spTree>
    <p:extLst>
      <p:ext uri="{BB962C8B-B14F-4D97-AF65-F5344CB8AC3E}">
        <p14:creationId xmlns:p14="http://schemas.microsoft.com/office/powerpoint/2010/main" val="3959907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Portability by VM</a:t>
            </a:r>
          </a:p>
        </p:txBody>
      </p:sp>
      <p:sp>
        <p:nvSpPr>
          <p:cNvPr id="3" name="Content Placeholder 2"/>
          <p:cNvSpPr>
            <a:spLocks noGrp="1"/>
          </p:cNvSpPr>
          <p:nvPr>
            <p:ph idx="1"/>
          </p:nvPr>
        </p:nvSpPr>
        <p:spPr/>
        <p:txBody>
          <a:bodyPr>
            <a:normAutofit/>
          </a:bodyPr>
          <a:lstStyle/>
          <a:p>
            <a:r>
              <a:rPr lang="en-US" dirty="0"/>
              <a:t>“Binary” portability</a:t>
            </a:r>
          </a:p>
          <a:p>
            <a:pPr lvl="1"/>
            <a:r>
              <a:rPr lang="en-US" dirty="0"/>
              <a:t>Old technique for ensuring portability of a code among different HW</a:t>
            </a:r>
          </a:p>
          <a:p>
            <a:pPr lvl="1"/>
            <a:r>
              <a:rPr lang="en-US" dirty="0"/>
              <a:t>Used by many “modern” languages</a:t>
            </a:r>
          </a:p>
          <a:p>
            <a:pPr lvl="2"/>
            <a:r>
              <a:rPr lang="en-US" dirty="0"/>
              <a:t>Java, C#</a:t>
            </a:r>
          </a:p>
          <a:p>
            <a:pPr lvl="1"/>
            <a:r>
              <a:rPr lang="en-US" dirty="0"/>
              <a:t>Compiler translates a source code to the intermediate language</a:t>
            </a:r>
          </a:p>
          <a:p>
            <a:pPr lvl="2"/>
            <a:r>
              <a:rPr lang="en-US" dirty="0"/>
              <a:t>Abstract instructions</a:t>
            </a:r>
          </a:p>
          <a:p>
            <a:pPr lvl="2"/>
            <a:r>
              <a:rPr lang="en-US" dirty="0"/>
              <a:t>Java: bytecode, C#: CIL</a:t>
            </a:r>
          </a:p>
          <a:p>
            <a:pPr lvl="1"/>
            <a:r>
              <a:rPr lang="en-US" dirty="0"/>
              <a:t>Native VM compiled for a given architecture</a:t>
            </a:r>
          </a:p>
          <a:p>
            <a:pPr lvl="2"/>
            <a:r>
              <a:rPr lang="en-US" dirty="0"/>
              <a:t>Java: JRE, C#: CLR</a:t>
            </a:r>
          </a:p>
          <a:p>
            <a:pPr lvl="1"/>
            <a:r>
              <a:rPr lang="en-US" dirty="0"/>
              <a:t>VM interprets intermediate language in a sandbox</a:t>
            </a: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29</a:t>
            </a:fld>
            <a:endParaRPr lang="en-US" altLang="en-US"/>
          </a:p>
        </p:txBody>
      </p:sp>
    </p:spTree>
    <p:extLst>
      <p:ext uri="{BB962C8B-B14F-4D97-AF65-F5344CB8AC3E}">
        <p14:creationId xmlns:p14="http://schemas.microsoft.com/office/powerpoint/2010/main" val="479288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speed problems</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JIT</a:t>
            </a:r>
          </a:p>
          <a:p>
            <a:pPr lvl="1"/>
            <a:r>
              <a:rPr lang="en-US" dirty="0"/>
              <a:t>Just-in-Time</a:t>
            </a:r>
          </a:p>
          <a:p>
            <a:pPr lvl="1"/>
            <a:r>
              <a:rPr lang="en-US" dirty="0"/>
              <a:t>Translate intermediate code to the native code on demand</a:t>
            </a:r>
          </a:p>
          <a:p>
            <a:r>
              <a:rPr lang="en-US" dirty="0"/>
              <a:t>AOT</a:t>
            </a:r>
          </a:p>
          <a:p>
            <a:pPr lvl="1"/>
            <a:r>
              <a:rPr lang="en-US" dirty="0"/>
              <a:t>Ahead-of-Time</a:t>
            </a:r>
          </a:p>
          <a:p>
            <a:pPr lvl="1"/>
            <a:r>
              <a:rPr lang="en-US" dirty="0"/>
              <a:t>Translate the whole program in intermediate code to the native code during </a:t>
            </a:r>
            <a:r>
              <a:rPr lang="en-US"/>
              <a:t>the installation or when the program is loaded in the memory</a:t>
            </a:r>
            <a:endParaRPr lang="en-US">
              <a:ea typeface="Calibri"/>
              <a:cs typeface="Calibri"/>
            </a:endParaRP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30</a:t>
            </a:fld>
            <a:endParaRPr lang="en-US" altLang="en-US"/>
          </a:p>
        </p:txBody>
      </p:sp>
    </p:spTree>
    <p:extLst>
      <p:ext uri="{BB962C8B-B14F-4D97-AF65-F5344CB8AC3E}">
        <p14:creationId xmlns:p14="http://schemas.microsoft.com/office/powerpoint/2010/main" val="1426011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p>
        </p:txBody>
      </p:sp>
      <p:sp>
        <p:nvSpPr>
          <p:cNvPr id="4" name="Date Placeholder 3"/>
          <p:cNvSpPr>
            <a:spLocks noGrp="1"/>
          </p:cNvSpPr>
          <p:nvPr>
            <p:ph type="dt" sz="half" idx="10"/>
          </p:nvPr>
        </p:nvSpPr>
        <p:spPr/>
        <p:txBody>
          <a:bodyPr/>
          <a:lstStyle/>
          <a:p>
            <a:r>
              <a:rPr lang="cs-CZ" altLang="en-US"/>
              <a:t>26.3.2025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31</a:t>
            </a:fld>
            <a:endParaRPr lang="en-US" altLang="en-US"/>
          </a:p>
        </p:txBody>
      </p:sp>
      <p:pic>
        <p:nvPicPr>
          <p:cNvPr id="6" name="Picture 7" descr="http://www.peirnet.net/moodle/file.php/1/face_question_mar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1439" y="1865610"/>
            <a:ext cx="4315817" cy="431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0513409"/>
      </p:ext>
    </p:extLst>
  </p:cSld>
  <p:clrMapOvr>
    <a:masterClrMapping/>
  </p:clrMapOvr>
</p:sld>
</file>

<file path=ppt/theme/theme1.xml><?xml version="1.0" encoding="utf-8"?>
<a:theme xmlns:a="http://schemas.openxmlformats.org/drawingml/2006/main" name="kuba">
  <a:themeElements>
    <a:clrScheme name="kuba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kub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kuba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kuba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kuba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kuba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kuba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kuba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kuba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kuba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kuba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kuba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lides-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s-theme" id="{B506BBAE-7B29-471E-98D8-11EBE1E364B1}" vid="{D89F9550-F518-42A1-84C0-A3FA72197EC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672D1A12B65B47AC1B61537578BD28" ma:contentTypeVersion="12" ma:contentTypeDescription="Create a new document." ma:contentTypeScope="" ma:versionID="5a82d84582cde9052097bd1b0cc75dba">
  <xsd:schema xmlns:xsd="http://www.w3.org/2001/XMLSchema" xmlns:xs="http://www.w3.org/2001/XMLSchema" xmlns:p="http://schemas.microsoft.com/office/2006/metadata/properties" xmlns:ns2="1c0ec0c6-5c42-41c6-8024-9200e69c8a29" xmlns:ns3="2fd21476-4047-415c-8b38-5026f9093e44" targetNamespace="http://schemas.microsoft.com/office/2006/metadata/properties" ma:root="true" ma:fieldsID="3fcc552a00055e6511e078b2ffb69500" ns2:_="" ns3:_="">
    <xsd:import namespace="1c0ec0c6-5c42-41c6-8024-9200e69c8a29"/>
    <xsd:import namespace="2fd21476-4047-415c-8b38-5026f9093e4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0ec0c6-5c42-41c6-8024-9200e69c8a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fd21476-4047-415c-8b38-5026f9093e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38B7CE-E530-4A43-A52D-C67ACB4E02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0ec0c6-5c42-41c6-8024-9200e69c8a29"/>
    <ds:schemaRef ds:uri="2fd21476-4047-415c-8b38-5026f9093e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B54AE7-360B-49B7-A588-095A7E79D533}">
  <ds:schemaRefs>
    <ds:schemaRef ds:uri="1c0ec0c6-5c42-41c6-8024-9200e69c8a29"/>
    <ds:schemaRef ds:uri="http://www.w3.org/XML/1998/namespace"/>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2fd21476-4047-415c-8b38-5026f9093e44"/>
    <ds:schemaRef ds:uri="http://purl.org/dc/terms/"/>
    <ds:schemaRef ds:uri="http://purl.org/dc/elements/1.1/"/>
  </ds:schemaRefs>
</ds:datastoreItem>
</file>

<file path=customXml/itemProps3.xml><?xml version="1.0" encoding="utf-8"?>
<ds:datastoreItem xmlns:ds="http://schemas.openxmlformats.org/officeDocument/2006/customXml" ds:itemID="{AB50DAE7-E6B4-457F-8F2F-066D17468C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12407</TotalTime>
  <Words>2485</Words>
  <Application>Microsoft Office PowerPoint</Application>
  <PresentationFormat>Širokoúhlá obrazovka</PresentationFormat>
  <Paragraphs>516</Paragraphs>
  <Slides>31</Slides>
  <Notes>8</Notes>
  <HiddenSlides>0</HiddenSlides>
  <MMClips>0</MMClips>
  <ScaleCrop>false</ScaleCrop>
  <HeadingPairs>
    <vt:vector size="6" baseType="variant">
      <vt:variant>
        <vt:lpstr>Použitá písma</vt:lpstr>
      </vt:variant>
      <vt:variant>
        <vt:i4>5</vt:i4>
      </vt:variant>
      <vt:variant>
        <vt:lpstr>Motiv</vt:lpstr>
      </vt:variant>
      <vt:variant>
        <vt:i4>2</vt:i4>
      </vt:variant>
      <vt:variant>
        <vt:lpstr>Nadpisy snímků</vt:lpstr>
      </vt:variant>
      <vt:variant>
        <vt:i4>31</vt:i4>
      </vt:variant>
    </vt:vector>
  </HeadingPairs>
  <TitlesOfParts>
    <vt:vector size="38" baseType="lpstr">
      <vt:lpstr>Wingdings</vt:lpstr>
      <vt:lpstr>Calibri Light</vt:lpstr>
      <vt:lpstr>Arial</vt:lpstr>
      <vt:lpstr>Calibri</vt:lpstr>
      <vt:lpstr>Courier New</vt:lpstr>
      <vt:lpstr>kuba</vt:lpstr>
      <vt:lpstr>slides-theme</vt:lpstr>
      <vt:lpstr>Programming Languages</vt:lpstr>
      <vt:lpstr>Naïve view of a compiler</vt:lpstr>
      <vt:lpstr>Formal view of a compiler</vt:lpstr>
      <vt:lpstr>Naïve understanding of a grammar</vt:lpstr>
      <vt:lpstr>More practical view of a translation</vt:lpstr>
      <vt:lpstr>Example</vt:lpstr>
      <vt:lpstr>Example</vt:lpstr>
      <vt:lpstr>Linker/librarian/loader</vt:lpstr>
      <vt:lpstr>Library example</vt:lpstr>
      <vt:lpstr>Library example compilation</vt:lpstr>
      <vt:lpstr>Library example compilation</vt:lpstr>
      <vt:lpstr>Library example compilation</vt:lpstr>
      <vt:lpstr>Memory organization</vt:lpstr>
      <vt:lpstr>Linking</vt:lpstr>
      <vt:lpstr>Example</vt:lpstr>
      <vt:lpstr>Example</vt:lpstr>
      <vt:lpstr>Example</vt:lpstr>
      <vt:lpstr>Example</vt:lpstr>
      <vt:lpstr>Run-time</vt:lpstr>
      <vt:lpstr>Function call</vt:lpstr>
      <vt:lpstr>Function call</vt:lpstr>
      <vt:lpstr>Public name mangling</vt:lpstr>
      <vt:lpstr>Call/return sequence</vt:lpstr>
      <vt:lpstr>Parameter passing</vt:lpstr>
      <vt:lpstr>Variables</vt:lpstr>
      <vt:lpstr>Heap</vt:lpstr>
      <vt:lpstr>Garbage collection</vt:lpstr>
      <vt:lpstr>Portability</vt:lpstr>
      <vt:lpstr>Portability by VM</vt:lpstr>
      <vt:lpstr>Solving speed problems</vt:lpstr>
      <vt:lpstr>Discussion</vt:lpstr>
    </vt:vector>
  </TitlesOfParts>
  <Company>Ulita, KSI, MFF UK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Principy překladačů</dc:title>
  <dc:creator>Jakub Yaghob</dc:creator>
  <cp:lastModifiedBy>Petr Ježek</cp:lastModifiedBy>
  <cp:revision>435</cp:revision>
  <dcterms:created xsi:type="dcterms:W3CDTF">2005-09-28T09:53:52Z</dcterms:created>
  <dcterms:modified xsi:type="dcterms:W3CDTF">2025-06-05T12:33:43Z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0x010100CF672D1A12B65B47AC1B61537578BD28</vt:lpwstr>
  </property>
</Properties>
</file>