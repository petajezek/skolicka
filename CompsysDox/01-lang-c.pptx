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3" r:id="rId4"/>
  </p:sldMasterIdLst>
  <p:notesMasterIdLst>
    <p:notesMasterId r:id="rId37"/>
  </p:notesMasterIdLst>
  <p:sldIdLst>
    <p:sldId id="256" r:id="rId5"/>
    <p:sldId id="271" r:id="rId6"/>
    <p:sldId id="292" r:id="rId7"/>
    <p:sldId id="270" r:id="rId8"/>
    <p:sldId id="280" r:id="rId9"/>
    <p:sldId id="259" r:id="rId10"/>
    <p:sldId id="260" r:id="rId11"/>
    <p:sldId id="294" r:id="rId12"/>
    <p:sldId id="281" r:id="rId13"/>
    <p:sldId id="261" r:id="rId14"/>
    <p:sldId id="263" r:id="rId15"/>
    <p:sldId id="262" r:id="rId16"/>
    <p:sldId id="293" r:id="rId17"/>
    <p:sldId id="266" r:id="rId18"/>
    <p:sldId id="285" r:id="rId19"/>
    <p:sldId id="286" r:id="rId20"/>
    <p:sldId id="296" r:id="rId21"/>
    <p:sldId id="273" r:id="rId22"/>
    <p:sldId id="282" r:id="rId23"/>
    <p:sldId id="283" r:id="rId24"/>
    <p:sldId id="278" r:id="rId25"/>
    <p:sldId id="287" r:id="rId26"/>
    <p:sldId id="288" r:id="rId27"/>
    <p:sldId id="289" r:id="rId28"/>
    <p:sldId id="277" r:id="rId29"/>
    <p:sldId id="275" r:id="rId30"/>
    <p:sldId id="291" r:id="rId31"/>
    <p:sldId id="290" r:id="rId32"/>
    <p:sldId id="279" r:id="rId33"/>
    <p:sldId id="295" r:id="rId34"/>
    <p:sldId id="297" r:id="rId35"/>
    <p:sldId id="284" r:id="rId36"/>
  </p:sldIdLst>
  <p:sldSz cx="12192000" cy="6858000"/>
  <p:notesSz cx="6858000" cy="9144000"/>
  <p:embeddedFontLst>
    <p:embeddedFont>
      <p:font typeface="Cambria Math" panose="02040503050406030204" pitchFamily="18" charset="0"/>
      <p:regular r:id="rId38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3A241C-4290-4FD2-9C32-1786C86EA7C2}" v="15" dt="2025-02-27T16:33:06.1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C042EEA-9F9B-4B91-B52A-073E94FB90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2420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Callout 6"/>
          <p:cNvSpPr/>
          <p:nvPr/>
        </p:nvSpPr>
        <p:spPr>
          <a:xfrm>
            <a:off x="9926595" y="404664"/>
            <a:ext cx="1944216" cy="1584176"/>
          </a:xfrm>
          <a:prstGeom prst="cloudCallout">
            <a:avLst>
              <a:gd name="adj1" fmla="val -72589"/>
              <a:gd name="adj2" fmla="val 67149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9" descr="b2e2lirt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16480" y="683778"/>
            <a:ext cx="1050425" cy="8771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32625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5293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15E1F-5AFB-40EA-923D-A2EB4D767C8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5251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EAE92-5121-41FC-8DEC-DA73929E0C3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391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B1BA9-04F9-4DBA-8B88-0BF71DD220A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4083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3DE-87E9-44C4-9125-F9964740268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598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B49DB-207B-4B04-AB13-3224BA24FB5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025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FF626-F1DE-4CAB-AC6F-3C9C63F3BC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3072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FCAB0-4CDF-4FD1-8C9D-AF93D5E31F1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6762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E42D6-9DD4-4165-BDB0-13B2B843F04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9164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7C8BE-C614-485F-9B20-1471ABF7C6A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1627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2229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80EE7-F64F-4308-BA6A-AA907C3209A3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7" name="Picture 9" descr="b2e2lirt[1]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704512" y="476672"/>
            <a:ext cx="1050425" cy="877169"/>
          </a:xfrm>
          <a:prstGeom prst="rect">
            <a:avLst/>
          </a:prstGeom>
          <a:noFill/>
        </p:spPr>
      </p:pic>
      <p:cxnSp>
        <p:nvCxnSpPr>
          <p:cNvPr id="8" name="Straight Connector 7"/>
          <p:cNvCxnSpPr/>
          <p:nvPr/>
        </p:nvCxnSpPr>
        <p:spPr>
          <a:xfrm flipH="1">
            <a:off x="838200" y="1484784"/>
            <a:ext cx="10874424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43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si.mff.cuni.cz/teaching/nswi170-web/pages/labs/coding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C/C++ language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NSWI170 Computer Systems</a:t>
            </a:r>
            <a:endParaRPr lang="cs-CZ" dirty="0"/>
          </a:p>
          <a:p>
            <a:endParaRPr lang="cs-CZ" dirty="0"/>
          </a:p>
          <a:p>
            <a:r>
              <a:rPr lang="cs-CZ" dirty="0"/>
              <a:t>Jakub </a:t>
            </a:r>
            <a:r>
              <a:rPr lang="cs-CZ" dirty="0" err="1"/>
              <a:t>Yaghob</a:t>
            </a:r>
            <a:r>
              <a:rPr lang="en-US" dirty="0"/>
              <a:t>, Martin </a:t>
            </a:r>
            <a:r>
              <a:rPr lang="en-US" dirty="0" err="1"/>
              <a:t>Kruli</a:t>
            </a:r>
            <a:r>
              <a:rPr lang="cs-CZ" dirty="0"/>
              <a:t>š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Procedural, structured, imperative programming language</a:t>
            </a:r>
          </a:p>
          <a:p>
            <a:pPr lvl="1"/>
            <a:r>
              <a:rPr lang="en-US" dirty="0"/>
              <a:t>Code organized in functions (that can return a value)</a:t>
            </a:r>
          </a:p>
          <a:p>
            <a:pPr lvl="1"/>
            <a:r>
              <a:rPr lang="en-US" dirty="0"/>
              <a:t>Explicit control flow (structure)</a:t>
            </a:r>
            <a:endParaRPr lang="en-US" dirty="0">
              <a:cs typeface="Calibri"/>
            </a:endParaRPr>
          </a:p>
          <a:p>
            <a:r>
              <a:rPr lang="en-US" dirty="0">
                <a:solidFill>
                  <a:srgbClr val="FF0000"/>
                </a:solidFill>
              </a:rPr>
              <a:t>Static type system</a:t>
            </a:r>
          </a:p>
          <a:p>
            <a:pPr lvl="1"/>
            <a:r>
              <a:rPr lang="en-US" dirty="0"/>
              <a:t>All variables, parameters, and return values must have a type</a:t>
            </a:r>
          </a:p>
          <a:p>
            <a:pPr lvl="1"/>
            <a:r>
              <a:rPr lang="en-US" dirty="0"/>
              <a:t>Compiler checks type compatibility (e.g., in assignments)</a:t>
            </a:r>
          </a:p>
          <a:p>
            <a:r>
              <a:rPr lang="en-US" dirty="0"/>
              <a:t>C/C++ constructs are mapped efficiently to machine instructions</a:t>
            </a:r>
          </a:p>
          <a:p>
            <a:pPr lvl="1"/>
            <a:r>
              <a:rPr lang="en-US" dirty="0"/>
              <a:t>Good for operating systems, HPC, embedded systems, …</a:t>
            </a:r>
          </a:p>
          <a:p>
            <a:pPr lvl="1"/>
            <a:r>
              <a:rPr lang="en-US" dirty="0"/>
              <a:t>Explicit memory management (heap)</a:t>
            </a:r>
          </a:p>
          <a:p>
            <a:r>
              <a:rPr lang="en-US" dirty="0"/>
              <a:t>Case sensitive, ignore all whitespaces (unlike Python)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7" name="Rounded Rectangular Callout 6"/>
          <p:cNvSpPr/>
          <p:nvPr/>
        </p:nvSpPr>
        <p:spPr>
          <a:xfrm>
            <a:off x="4616418" y="2945821"/>
            <a:ext cx="4458815" cy="485471"/>
          </a:xfrm>
          <a:prstGeom prst="wedgeRoundRectCallout">
            <a:avLst>
              <a:gd name="adj1" fmla="val -67147"/>
              <a:gd name="adj2" fmla="val -2024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Unlike Python, which has dynamic typing</a:t>
            </a:r>
          </a:p>
        </p:txBody>
      </p:sp>
    </p:spTree>
    <p:extLst>
      <p:ext uri="{BB962C8B-B14F-4D97-AF65-F5344CB8AC3E}">
        <p14:creationId xmlns:p14="http://schemas.microsoft.com/office/powerpoint/2010/main" val="116306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Dynamic typing (e.g., Python)</a:t>
            </a:r>
          </a:p>
          <a:p>
            <a:pPr marL="457200" lvl="1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42</a:t>
            </a:r>
          </a:p>
          <a:p>
            <a:pPr marL="457200" lvl="1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"forty two"</a:t>
            </a:r>
          </a:p>
          <a:p>
            <a:pPr marL="457200" lvl="1" indent="0">
              <a:buNone/>
            </a:pP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/>
              <a:t>Variables are just mnemonic holders (like dictionary keys)</a:t>
            </a:r>
          </a:p>
          <a:p>
            <a:r>
              <a:rPr lang="en-US" sz="2400" dirty="0"/>
              <a:t>Values are dynamically managed (collective heap)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dirty="0"/>
              <a:t>Static typing (e.g., C++ or C#)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42;</a:t>
            </a:r>
          </a:p>
          <a:p>
            <a:pPr marL="457200" lvl="1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"forty two";</a:t>
            </a:r>
          </a:p>
          <a:p>
            <a:pPr marL="457200" lvl="1" indent="0">
              <a:buNone/>
            </a:pP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/>
              <a:t>Variables allocate space in memory (e.g., local variable on the stack)</a:t>
            </a:r>
          </a:p>
          <a:p>
            <a:r>
              <a:rPr lang="en-US" sz="2400" dirty="0"/>
              <a:t>Values are placed directly to that memory on assignment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3140968"/>
            <a:ext cx="2716547" cy="13681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88" y="3068960"/>
            <a:ext cx="2362046" cy="132747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9518961" y="3732695"/>
            <a:ext cx="1983638" cy="555187"/>
          </a:xfrm>
          <a:prstGeom prst="wedgeRoundRectCallout">
            <a:avLst>
              <a:gd name="adj1" fmla="val -70380"/>
              <a:gd name="adj2" fmla="val 16821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 compile time!</a:t>
            </a:r>
          </a:p>
        </p:txBody>
      </p:sp>
    </p:spTree>
    <p:extLst>
      <p:ext uri="{BB962C8B-B14F-4D97-AF65-F5344CB8AC3E}">
        <p14:creationId xmlns:p14="http://schemas.microsoft.com/office/powerpoint/2010/main" val="124197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438504" y="1874545"/>
            <a:ext cx="1231674" cy="53436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txBody>
          <a:bodyPr wrap="none" lIns="36000" tIns="36000" rIns="36000" bIns="36000">
            <a:spAutoFit/>
          </a:bodyPr>
          <a:lstStyle/>
          <a:p>
            <a:pPr algn="ctr">
              <a:defRPr/>
            </a:pPr>
            <a:r>
              <a:rPr lang="cs-CZ" b="1" dirty="0"/>
              <a:t>B</a:t>
            </a:r>
          </a:p>
          <a:p>
            <a:pPr algn="ctr">
              <a:defRPr/>
            </a:pPr>
            <a:r>
              <a:rPr lang="cs-CZ" sz="1200" dirty="0"/>
              <a:t>(Bell Labs. 1969)</a:t>
            </a:r>
            <a:endParaRPr lang="en-US" sz="1200"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871279" y="1884408"/>
            <a:ext cx="1307015" cy="53436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txBody>
          <a:bodyPr wrap="none" lIns="36000" tIns="36000" rIns="36000" bIns="36000">
            <a:spAutoFit/>
          </a:bodyPr>
          <a:lstStyle/>
          <a:p>
            <a:pPr algn="ctr">
              <a:defRPr/>
            </a:pPr>
            <a:r>
              <a:rPr lang="cs-CZ" b="1" dirty="0"/>
              <a:t>BCPL</a:t>
            </a:r>
          </a:p>
          <a:p>
            <a:pPr algn="ctr">
              <a:defRPr/>
            </a:pPr>
            <a:r>
              <a:rPr lang="cs-CZ" sz="1200" dirty="0"/>
              <a:t>(Cambridge 1966)</a:t>
            </a:r>
            <a:endParaRPr lang="en-US" sz="1200" dirty="0"/>
          </a:p>
        </p:txBody>
      </p:sp>
      <p:cxnSp>
        <p:nvCxnSpPr>
          <p:cNvPr id="6" name="Straight Arrow Connector 5"/>
          <p:cNvCxnSpPr>
            <a:stCxn id="5" idx="3"/>
            <a:endCxn id="4" idx="1"/>
          </p:cNvCxnSpPr>
          <p:nvPr/>
        </p:nvCxnSpPr>
        <p:spPr bwMode="auto">
          <a:xfrm flipV="1">
            <a:off x="2178294" y="2141730"/>
            <a:ext cx="260211" cy="9863"/>
          </a:xfrm>
          <a:prstGeom prst="straightConnector1">
            <a:avLst/>
          </a:prstGeom>
          <a:noFill/>
          <a:ln w="571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7" name="Straight Arrow Connector 6"/>
          <p:cNvCxnSpPr>
            <a:stCxn id="4" idx="3"/>
            <a:endCxn id="19" idx="1"/>
          </p:cNvCxnSpPr>
          <p:nvPr/>
        </p:nvCxnSpPr>
        <p:spPr bwMode="auto">
          <a:xfrm>
            <a:off x="3670179" y="2141729"/>
            <a:ext cx="256861" cy="23354"/>
          </a:xfrm>
          <a:prstGeom prst="straightConnector1">
            <a:avLst/>
          </a:prstGeom>
          <a:noFill/>
          <a:ln w="571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sp>
        <p:nvSpPr>
          <p:cNvPr id="8" name="TextBox 7"/>
          <p:cNvSpPr txBox="1"/>
          <p:nvPr/>
        </p:nvSpPr>
        <p:spPr bwMode="auto">
          <a:xfrm>
            <a:off x="7020984" y="1992969"/>
            <a:ext cx="1696521" cy="53436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algn="ctr">
              <a:defRPr/>
            </a:pPr>
            <a:r>
              <a:rPr lang="en-US" b="1" dirty="0"/>
              <a:t>C with classes</a:t>
            </a:r>
            <a:endParaRPr lang="cs-CZ" b="1" dirty="0"/>
          </a:p>
          <a:p>
            <a:pPr algn="ctr">
              <a:defRPr/>
            </a:pPr>
            <a:r>
              <a:rPr lang="cs-CZ" sz="1200" dirty="0"/>
              <a:t>(</a:t>
            </a:r>
            <a:r>
              <a:rPr lang="en-US" sz="1200" dirty="0" err="1"/>
              <a:t>Stroustrup</a:t>
            </a:r>
            <a:r>
              <a:rPr lang="cs-CZ" sz="1200" dirty="0"/>
              <a:t> </a:t>
            </a:r>
            <a:r>
              <a:rPr lang="en-US" sz="1200" dirty="0"/>
              <a:t>1979</a:t>
            </a:r>
            <a:r>
              <a:rPr lang="cs-CZ" sz="1200" dirty="0"/>
              <a:t>)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 bwMode="auto">
          <a:xfrm>
            <a:off x="6046704" y="2759786"/>
            <a:ext cx="3659700" cy="5343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algn="ctr">
              <a:defRPr/>
            </a:pPr>
            <a:r>
              <a:rPr lang="en-US" b="1" dirty="0"/>
              <a:t>The C++ programming language</a:t>
            </a:r>
            <a:endParaRPr lang="cs-CZ" b="1" dirty="0"/>
          </a:p>
          <a:p>
            <a:pPr algn="ctr">
              <a:defRPr/>
            </a:pPr>
            <a:r>
              <a:rPr lang="cs-CZ" sz="1200" dirty="0"/>
              <a:t>(</a:t>
            </a:r>
            <a:r>
              <a:rPr lang="en-US" sz="1200" dirty="0" err="1"/>
              <a:t>Stroustrup</a:t>
            </a:r>
            <a:r>
              <a:rPr lang="cs-CZ" sz="1200" dirty="0"/>
              <a:t> </a:t>
            </a:r>
            <a:r>
              <a:rPr lang="en-US" sz="1200" dirty="0"/>
              <a:t>1985</a:t>
            </a:r>
            <a:r>
              <a:rPr lang="cs-CZ" sz="1200" dirty="0"/>
              <a:t>)</a:t>
            </a:r>
            <a:endParaRPr lang="en-US" sz="1200" dirty="0"/>
          </a:p>
        </p:txBody>
      </p:sp>
      <p:sp>
        <p:nvSpPr>
          <p:cNvPr id="10" name="TextBox 12"/>
          <p:cNvSpPr txBox="1">
            <a:spLocks noChangeArrowheads="1"/>
          </p:cNvSpPr>
          <p:nvPr/>
        </p:nvSpPr>
        <p:spPr bwMode="auto">
          <a:xfrm>
            <a:off x="7065746" y="3554308"/>
            <a:ext cx="1592376" cy="503511"/>
          </a:xfrm>
          <a:prstGeom prst="rect">
            <a:avLst/>
          </a:prstGeom>
          <a:solidFill>
            <a:srgbClr val="FFFF00"/>
          </a:solidFill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b="1"/>
              <a:t>C++98</a:t>
            </a:r>
            <a:endParaRPr lang="cs-CZ" altLang="en-US" b="1"/>
          </a:p>
          <a:p>
            <a:pPr algn="ctr" eaLnBrk="1" hangingPunct="1"/>
            <a:r>
              <a:rPr lang="cs-CZ" altLang="en-US" sz="1200"/>
              <a:t>(</a:t>
            </a:r>
            <a:r>
              <a:rPr lang="en-US" altLang="en-US" sz="1200"/>
              <a:t>ISO/IEC 14882 1998</a:t>
            </a:r>
            <a:r>
              <a:rPr lang="cs-CZ" altLang="en-US" sz="1200"/>
              <a:t>)</a:t>
            </a:r>
            <a:endParaRPr lang="en-US" altLang="en-US" sz="1200"/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7071452" y="4346790"/>
            <a:ext cx="1592376" cy="503511"/>
          </a:xfrm>
          <a:prstGeom prst="rect">
            <a:avLst/>
          </a:prstGeom>
          <a:solidFill>
            <a:srgbClr val="FFFF00"/>
          </a:solidFill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b="1" dirty="0"/>
              <a:t>C++03</a:t>
            </a:r>
            <a:endParaRPr lang="cs-CZ" altLang="en-US" b="1" dirty="0"/>
          </a:p>
          <a:p>
            <a:pPr algn="ctr" eaLnBrk="1" hangingPunct="1"/>
            <a:r>
              <a:rPr lang="cs-CZ" altLang="en-US" sz="1200" dirty="0"/>
              <a:t>(</a:t>
            </a:r>
            <a:r>
              <a:rPr lang="en-US" altLang="en-US" sz="1200" dirty="0"/>
              <a:t>ISO/IEC 14882 2003</a:t>
            </a:r>
            <a:r>
              <a:rPr lang="cs-CZ" altLang="en-US" sz="1200" dirty="0"/>
              <a:t>)</a:t>
            </a:r>
            <a:endParaRPr lang="en-US" altLang="en-US" sz="1200" dirty="0"/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7071452" y="5102289"/>
            <a:ext cx="1592376" cy="503511"/>
          </a:xfrm>
          <a:prstGeom prst="rect">
            <a:avLst/>
          </a:prstGeom>
          <a:solidFill>
            <a:srgbClr val="FFFF00"/>
          </a:solidFill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b="1"/>
              <a:t>C++TR1</a:t>
            </a:r>
            <a:endParaRPr lang="cs-CZ" altLang="en-US" b="1"/>
          </a:p>
          <a:p>
            <a:pPr algn="ctr" eaLnBrk="1" hangingPunct="1"/>
            <a:r>
              <a:rPr lang="cs-CZ" altLang="en-US" sz="1200"/>
              <a:t>(</a:t>
            </a:r>
            <a:r>
              <a:rPr lang="en-US" altLang="en-US" sz="1200"/>
              <a:t>ISO/IEC 19768 2007</a:t>
            </a:r>
            <a:r>
              <a:rPr lang="cs-CZ" altLang="en-US" sz="1200"/>
              <a:t>)</a:t>
            </a:r>
            <a:endParaRPr lang="en-US" altLang="en-US" sz="1200"/>
          </a:p>
        </p:txBody>
      </p:sp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7077160" y="5858254"/>
            <a:ext cx="1580963" cy="503511"/>
          </a:xfrm>
          <a:prstGeom prst="rect">
            <a:avLst/>
          </a:prstGeom>
          <a:solidFill>
            <a:schemeClr val="accent2"/>
          </a:solidFill>
          <a:ln w="76200">
            <a:solidFill>
              <a:srgbClr val="FF0000"/>
            </a:solidFill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b="1" dirty="0"/>
              <a:t>C++11</a:t>
            </a:r>
            <a:endParaRPr lang="cs-CZ" altLang="en-US" b="1" dirty="0"/>
          </a:p>
          <a:p>
            <a:pPr algn="ctr" eaLnBrk="1" hangingPunct="1"/>
            <a:r>
              <a:rPr lang="cs-CZ" altLang="en-US" sz="1200" dirty="0"/>
              <a:t>(</a:t>
            </a:r>
            <a:r>
              <a:rPr lang="en-US" altLang="en-US" sz="1200" dirty="0"/>
              <a:t>ISO/IEC 14882 2011</a:t>
            </a:r>
            <a:r>
              <a:rPr lang="cs-CZ" altLang="en-US" sz="1200" dirty="0"/>
              <a:t>)</a:t>
            </a:r>
            <a:endParaRPr lang="en-US" altLang="en-US" sz="1200" dirty="0"/>
          </a:p>
        </p:txBody>
      </p:sp>
      <p:cxnSp>
        <p:nvCxnSpPr>
          <p:cNvPr id="14" name="Straight Arrow Connector 46"/>
          <p:cNvCxnSpPr>
            <a:cxnSpLocks noChangeShapeType="1"/>
            <a:stCxn id="8" idx="2"/>
            <a:endCxn id="9" idx="0"/>
          </p:cNvCxnSpPr>
          <p:nvPr/>
        </p:nvCxnSpPr>
        <p:spPr bwMode="auto">
          <a:xfrm>
            <a:off x="7869244" y="2527338"/>
            <a:ext cx="7310" cy="232449"/>
          </a:xfrm>
          <a:prstGeom prst="straightConnector1">
            <a:avLst/>
          </a:prstGeom>
          <a:noFill/>
          <a:ln w="57150" algn="ctr">
            <a:solidFill>
              <a:srgbClr val="FFC000"/>
            </a:solidFill>
            <a:round/>
            <a:headEnd/>
            <a:tailEnd type="triangle" w="med" len="sm"/>
          </a:ln>
        </p:spPr>
      </p:cxnSp>
      <p:cxnSp>
        <p:nvCxnSpPr>
          <p:cNvPr id="15" name="Straight Arrow Connector 49"/>
          <p:cNvCxnSpPr>
            <a:cxnSpLocks noChangeShapeType="1"/>
            <a:stCxn id="9" idx="2"/>
            <a:endCxn id="10" idx="0"/>
          </p:cNvCxnSpPr>
          <p:nvPr/>
        </p:nvCxnSpPr>
        <p:spPr bwMode="auto">
          <a:xfrm flipH="1">
            <a:off x="7861934" y="3294155"/>
            <a:ext cx="14620" cy="260153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sm"/>
          </a:ln>
        </p:spPr>
      </p:cxnSp>
      <p:cxnSp>
        <p:nvCxnSpPr>
          <p:cNvPr id="16" name="Straight Arrow Connector 52"/>
          <p:cNvCxnSpPr>
            <a:cxnSpLocks noChangeShapeType="1"/>
            <a:stCxn id="10" idx="2"/>
            <a:endCxn id="11" idx="0"/>
          </p:cNvCxnSpPr>
          <p:nvPr/>
        </p:nvCxnSpPr>
        <p:spPr bwMode="auto">
          <a:xfrm>
            <a:off x="7861934" y="4057818"/>
            <a:ext cx="5706" cy="288972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sm"/>
          </a:ln>
        </p:spPr>
      </p:cxnSp>
      <p:cxnSp>
        <p:nvCxnSpPr>
          <p:cNvPr id="17" name="Straight Arrow Connector 55"/>
          <p:cNvCxnSpPr>
            <a:cxnSpLocks noChangeShapeType="1"/>
            <a:endCxn id="12" idx="0"/>
          </p:cNvCxnSpPr>
          <p:nvPr/>
        </p:nvCxnSpPr>
        <p:spPr bwMode="auto">
          <a:xfrm>
            <a:off x="7867640" y="4850300"/>
            <a:ext cx="0" cy="251988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sm"/>
          </a:ln>
        </p:spPr>
      </p:cxnSp>
      <p:cxnSp>
        <p:nvCxnSpPr>
          <p:cNvPr id="18" name="Straight Arrow Connector 57"/>
          <p:cNvCxnSpPr>
            <a:cxnSpLocks noChangeShapeType="1"/>
            <a:stCxn id="12" idx="2"/>
          </p:cNvCxnSpPr>
          <p:nvPr/>
        </p:nvCxnSpPr>
        <p:spPr bwMode="auto">
          <a:xfrm>
            <a:off x="7867641" y="5605799"/>
            <a:ext cx="1" cy="252454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headEnd/>
            <a:tailEnd type="triangle" w="med" len="sm"/>
          </a:ln>
        </p:spPr>
      </p:cxnSp>
      <p:sp>
        <p:nvSpPr>
          <p:cNvPr id="19" name="TextBox 18"/>
          <p:cNvSpPr txBox="1"/>
          <p:nvPr/>
        </p:nvSpPr>
        <p:spPr bwMode="auto">
          <a:xfrm>
            <a:off x="3927039" y="1897899"/>
            <a:ext cx="1231674" cy="53436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txBody>
          <a:bodyPr wrap="none" lIns="36000" tIns="36000" rIns="36000" bIns="36000">
            <a:spAutoFit/>
          </a:bodyPr>
          <a:lstStyle/>
          <a:p>
            <a:pPr algn="ctr">
              <a:defRPr/>
            </a:pPr>
            <a:r>
              <a:rPr lang="cs-CZ" b="1" dirty="0"/>
              <a:t>C</a:t>
            </a:r>
          </a:p>
          <a:p>
            <a:pPr algn="ctr">
              <a:defRPr/>
            </a:pPr>
            <a:r>
              <a:rPr lang="cs-CZ" sz="1200" dirty="0"/>
              <a:t>(Bell Labs. 1971)</a:t>
            </a:r>
            <a:endParaRPr lang="en-US" sz="1200" dirty="0"/>
          </a:p>
        </p:txBody>
      </p:sp>
      <p:sp>
        <p:nvSpPr>
          <p:cNvPr id="20" name="TextBox 19"/>
          <p:cNvSpPr txBox="1"/>
          <p:nvPr/>
        </p:nvSpPr>
        <p:spPr bwMode="auto">
          <a:xfrm>
            <a:off x="3628882" y="2716466"/>
            <a:ext cx="1827991" cy="5343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txBody>
          <a:bodyPr wrap="none" lIns="36000" tIns="36000" rIns="36000" bIns="36000">
            <a:spAutoFit/>
          </a:bodyPr>
          <a:lstStyle/>
          <a:p>
            <a:pPr algn="ctr">
              <a:defRPr/>
            </a:pPr>
            <a:r>
              <a:rPr lang="cs-CZ" b="1" dirty="0"/>
              <a:t>K</a:t>
            </a:r>
            <a:r>
              <a:rPr lang="en-US" b="1" dirty="0"/>
              <a:t>&amp;R </a:t>
            </a:r>
            <a:r>
              <a:rPr lang="cs-CZ" b="1" dirty="0"/>
              <a:t>C</a:t>
            </a:r>
          </a:p>
          <a:p>
            <a:pPr algn="ctr">
              <a:defRPr/>
            </a:pPr>
            <a:r>
              <a:rPr lang="cs-CZ" sz="1200" dirty="0"/>
              <a:t>(</a:t>
            </a:r>
            <a:r>
              <a:rPr lang="en-US" sz="1200" dirty="0"/>
              <a:t>Kernigan &amp; Ritchie</a:t>
            </a:r>
            <a:r>
              <a:rPr lang="cs-CZ" sz="1200" dirty="0"/>
              <a:t> 197</a:t>
            </a:r>
            <a:r>
              <a:rPr lang="en-US" sz="1200" dirty="0"/>
              <a:t>8</a:t>
            </a:r>
            <a:r>
              <a:rPr lang="cs-CZ" sz="1200" dirty="0"/>
              <a:t>)</a:t>
            </a:r>
            <a:endParaRPr lang="en-US" sz="1200" dirty="0"/>
          </a:p>
        </p:txBody>
      </p:sp>
      <p:cxnSp>
        <p:nvCxnSpPr>
          <p:cNvPr id="21" name="Straight Arrow Connector 26"/>
          <p:cNvCxnSpPr>
            <a:cxnSpLocks noChangeShapeType="1"/>
            <a:stCxn id="19" idx="2"/>
            <a:endCxn id="20" idx="0"/>
          </p:cNvCxnSpPr>
          <p:nvPr/>
        </p:nvCxnSpPr>
        <p:spPr bwMode="auto">
          <a:xfrm>
            <a:off x="4542877" y="2432268"/>
            <a:ext cx="1" cy="284199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sm"/>
          </a:ln>
        </p:spPr>
      </p:cxnSp>
      <p:cxnSp>
        <p:nvCxnSpPr>
          <p:cNvPr id="22" name="Straight Arrow Connector 62"/>
          <p:cNvCxnSpPr>
            <a:cxnSpLocks noChangeShapeType="1"/>
            <a:stCxn id="20" idx="3"/>
            <a:endCxn id="8" idx="1"/>
          </p:cNvCxnSpPr>
          <p:nvPr/>
        </p:nvCxnSpPr>
        <p:spPr bwMode="auto">
          <a:xfrm flipV="1">
            <a:off x="5456873" y="2260154"/>
            <a:ext cx="1564111" cy="723497"/>
          </a:xfrm>
          <a:prstGeom prst="straightConnector1">
            <a:avLst/>
          </a:prstGeom>
          <a:noFill/>
          <a:ln w="57150" algn="ctr">
            <a:solidFill>
              <a:srgbClr val="FFC000"/>
            </a:solidFill>
            <a:round/>
            <a:headEnd/>
            <a:tailEnd type="triangle" w="med" len="sm"/>
          </a:ln>
        </p:spPr>
      </p:cxnSp>
      <p:sp>
        <p:nvSpPr>
          <p:cNvPr id="23" name="TextBox 22"/>
          <p:cNvSpPr txBox="1"/>
          <p:nvPr/>
        </p:nvSpPr>
        <p:spPr>
          <a:xfrm>
            <a:off x="8982630" y="5844299"/>
            <a:ext cx="688256" cy="503590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>
            <a:defPPr>
              <a:defRPr lang="cs-CZ"/>
            </a:defPPr>
            <a:lvl1pPr algn="ctr">
              <a:defRPr sz="1600" b="1"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en-US" dirty="0"/>
              <a:t>C++14</a:t>
            </a:r>
            <a:endParaRPr lang="cs-CZ" dirty="0"/>
          </a:p>
          <a:p>
            <a:r>
              <a:rPr lang="cs-CZ" sz="1100" dirty="0"/>
              <a:t>(</a:t>
            </a:r>
            <a:r>
              <a:rPr lang="en-US" sz="1100" dirty="0"/>
              <a:t>2014</a:t>
            </a:r>
            <a:r>
              <a:rPr lang="cs-CZ" sz="1100" dirty="0"/>
              <a:t>)</a:t>
            </a:r>
            <a:endParaRPr lang="en-US" sz="1100" dirty="0"/>
          </a:p>
        </p:txBody>
      </p:sp>
      <p:cxnSp>
        <p:nvCxnSpPr>
          <p:cNvPr id="24" name="Straight Arrow Connector 102"/>
          <p:cNvCxnSpPr>
            <a:cxnSpLocks noChangeShapeType="1"/>
            <a:stCxn id="13" idx="3"/>
            <a:endCxn id="23" idx="1"/>
          </p:cNvCxnSpPr>
          <p:nvPr/>
        </p:nvCxnSpPr>
        <p:spPr bwMode="auto">
          <a:xfrm flipV="1">
            <a:off x="8658122" y="6096095"/>
            <a:ext cx="324508" cy="13915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sm"/>
          </a:ln>
        </p:spPr>
      </p:cxnSp>
      <p:sp>
        <p:nvSpPr>
          <p:cNvPr id="25" name="TextBox 24"/>
          <p:cNvSpPr txBox="1"/>
          <p:nvPr/>
        </p:nvSpPr>
        <p:spPr bwMode="auto">
          <a:xfrm>
            <a:off x="1595048" y="2897570"/>
            <a:ext cx="1355105" cy="53436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txBody>
          <a:bodyPr wrap="none" lIns="36000" tIns="36000" rIns="36000" bIns="36000">
            <a:spAutoFit/>
          </a:bodyPr>
          <a:lstStyle/>
          <a:p>
            <a:pPr algn="ctr">
              <a:defRPr/>
            </a:pPr>
            <a:r>
              <a:rPr lang="en-US" b="1" dirty="0"/>
              <a:t>Objective-C</a:t>
            </a:r>
            <a:endParaRPr lang="cs-CZ" b="1" dirty="0"/>
          </a:p>
          <a:p>
            <a:pPr algn="ctr">
              <a:defRPr/>
            </a:pPr>
            <a:r>
              <a:rPr lang="cs-CZ" sz="1200" dirty="0"/>
              <a:t>(</a:t>
            </a:r>
            <a:r>
              <a:rPr lang="en-US" sz="1200" dirty="0"/>
              <a:t>Cox &amp; Love 1981</a:t>
            </a:r>
            <a:r>
              <a:rPr lang="cs-CZ" sz="1200" dirty="0"/>
              <a:t>)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 bwMode="auto">
          <a:xfrm>
            <a:off x="1203316" y="3754175"/>
            <a:ext cx="2144713" cy="4429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txBody>
          <a:bodyPr wrap="none" lIns="36000" tIns="36000" rIns="36000" bIns="36000">
            <a:spAutoFit/>
          </a:bodyPr>
          <a:lstStyle/>
          <a:p>
            <a:pPr algn="ctr">
              <a:defRPr/>
            </a:pPr>
            <a:r>
              <a:rPr lang="en-US" sz="1200" b="1" dirty="0"/>
              <a:t>Object-Oriented Programing</a:t>
            </a:r>
            <a:endParaRPr lang="cs-CZ" sz="1200" b="1" dirty="0"/>
          </a:p>
          <a:p>
            <a:pPr algn="ctr">
              <a:defRPr/>
            </a:pPr>
            <a:r>
              <a:rPr lang="cs-CZ" sz="1200" dirty="0"/>
              <a:t>(</a:t>
            </a:r>
            <a:r>
              <a:rPr lang="en-US" sz="1200" dirty="0"/>
              <a:t>Cox</a:t>
            </a:r>
            <a:r>
              <a:rPr lang="cs-CZ" sz="1200" dirty="0"/>
              <a:t> </a:t>
            </a:r>
            <a:r>
              <a:rPr lang="en-US" sz="1200" dirty="0"/>
              <a:t>1986</a:t>
            </a:r>
            <a:r>
              <a:rPr lang="cs-CZ" sz="1200" dirty="0"/>
              <a:t>)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 bwMode="auto">
          <a:xfrm>
            <a:off x="1385815" y="4547021"/>
            <a:ext cx="1793565" cy="53436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algn="ctr">
              <a:defRPr/>
            </a:pPr>
            <a:r>
              <a:rPr lang="en-US" b="1" dirty="0"/>
              <a:t>Objective-</a:t>
            </a:r>
            <a:r>
              <a:rPr lang="cs-CZ" b="1" dirty="0"/>
              <a:t>C</a:t>
            </a:r>
            <a:r>
              <a:rPr lang="en-US" b="1" dirty="0"/>
              <a:t> 2.0</a:t>
            </a:r>
            <a:endParaRPr lang="cs-CZ" b="1" dirty="0"/>
          </a:p>
          <a:p>
            <a:pPr algn="ctr">
              <a:defRPr/>
            </a:pPr>
            <a:r>
              <a:rPr lang="cs-CZ" sz="1200" dirty="0"/>
              <a:t>(</a:t>
            </a:r>
            <a:r>
              <a:rPr lang="en-US" sz="1200" dirty="0"/>
              <a:t>Apple</a:t>
            </a:r>
            <a:r>
              <a:rPr lang="cs-CZ" sz="1200" dirty="0"/>
              <a:t> </a:t>
            </a:r>
            <a:r>
              <a:rPr lang="en-US" sz="1200" dirty="0"/>
              <a:t>2006</a:t>
            </a:r>
            <a:r>
              <a:rPr lang="cs-CZ" sz="1200" dirty="0"/>
              <a:t>)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 bwMode="auto">
          <a:xfrm>
            <a:off x="1410282" y="5561726"/>
            <a:ext cx="1737705" cy="534368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002060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algn="ctr">
              <a:defRPr/>
            </a:pPr>
            <a:r>
              <a:rPr lang="en-US" b="1" dirty="0"/>
              <a:t>Objective-C++</a:t>
            </a:r>
            <a:endParaRPr lang="cs-CZ" b="1" dirty="0"/>
          </a:p>
          <a:p>
            <a:pPr algn="ctr">
              <a:defRPr/>
            </a:pPr>
            <a:r>
              <a:rPr lang="cs-CZ" sz="1200" dirty="0"/>
              <a:t>(</a:t>
            </a:r>
            <a:r>
              <a:rPr lang="en-US" sz="1200" dirty="0"/>
              <a:t>Apple 2010</a:t>
            </a:r>
            <a:r>
              <a:rPr lang="cs-CZ" sz="1200" dirty="0"/>
              <a:t>)</a:t>
            </a:r>
            <a:endParaRPr lang="en-US" sz="1200" dirty="0"/>
          </a:p>
        </p:txBody>
      </p:sp>
      <p:cxnSp>
        <p:nvCxnSpPr>
          <p:cNvPr id="29" name="Straight Arrow Connector 35"/>
          <p:cNvCxnSpPr>
            <a:cxnSpLocks noChangeShapeType="1"/>
            <a:stCxn id="25" idx="2"/>
            <a:endCxn id="26" idx="0"/>
          </p:cNvCxnSpPr>
          <p:nvPr/>
        </p:nvCxnSpPr>
        <p:spPr bwMode="auto">
          <a:xfrm>
            <a:off x="2272600" y="3431938"/>
            <a:ext cx="3072" cy="322236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sm"/>
          </a:ln>
        </p:spPr>
      </p:cxnSp>
      <p:cxnSp>
        <p:nvCxnSpPr>
          <p:cNvPr id="30" name="Straight Arrow Connector 40"/>
          <p:cNvCxnSpPr>
            <a:cxnSpLocks noChangeShapeType="1"/>
            <a:stCxn id="26" idx="2"/>
            <a:endCxn id="27" idx="0"/>
          </p:cNvCxnSpPr>
          <p:nvPr/>
        </p:nvCxnSpPr>
        <p:spPr bwMode="auto">
          <a:xfrm>
            <a:off x="2275673" y="4197087"/>
            <a:ext cx="6925" cy="349934"/>
          </a:xfrm>
          <a:prstGeom prst="straightConnector1">
            <a:avLst/>
          </a:prstGeom>
          <a:noFill/>
          <a:ln w="57150" algn="ctr">
            <a:solidFill>
              <a:srgbClr val="FFC000"/>
            </a:solidFill>
            <a:round/>
            <a:headEnd/>
            <a:tailEnd type="triangle" w="med" len="sm"/>
          </a:ln>
        </p:spPr>
      </p:cxnSp>
      <p:cxnSp>
        <p:nvCxnSpPr>
          <p:cNvPr id="31" name="Straight Arrow Connector 43"/>
          <p:cNvCxnSpPr>
            <a:cxnSpLocks noChangeShapeType="1"/>
            <a:stCxn id="27" idx="2"/>
            <a:endCxn id="28" idx="0"/>
          </p:cNvCxnSpPr>
          <p:nvPr/>
        </p:nvCxnSpPr>
        <p:spPr bwMode="auto">
          <a:xfrm flipH="1">
            <a:off x="2279135" y="5081390"/>
            <a:ext cx="3463" cy="480337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sm"/>
          </a:ln>
        </p:spPr>
      </p:cxnSp>
      <p:cxnSp>
        <p:nvCxnSpPr>
          <p:cNvPr id="32" name="Straight Arrow Connector 60"/>
          <p:cNvCxnSpPr>
            <a:cxnSpLocks noChangeShapeType="1"/>
            <a:stCxn id="20" idx="1"/>
            <a:endCxn id="25" idx="3"/>
          </p:cNvCxnSpPr>
          <p:nvPr/>
        </p:nvCxnSpPr>
        <p:spPr bwMode="auto">
          <a:xfrm flipH="1">
            <a:off x="2950153" y="2983650"/>
            <a:ext cx="678729" cy="181104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sm"/>
          </a:ln>
        </p:spPr>
      </p:cxnSp>
      <p:cxnSp>
        <p:nvCxnSpPr>
          <p:cNvPr id="33" name="Straight Arrow Connector 149"/>
          <p:cNvCxnSpPr>
            <a:cxnSpLocks noChangeShapeType="1"/>
            <a:stCxn id="12" idx="1"/>
            <a:endCxn id="28" idx="3"/>
          </p:cNvCxnSpPr>
          <p:nvPr/>
        </p:nvCxnSpPr>
        <p:spPr bwMode="auto">
          <a:xfrm flipH="1">
            <a:off x="3147986" y="5354044"/>
            <a:ext cx="3923466" cy="474866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sm"/>
          </a:ln>
        </p:spPr>
      </p:cxnSp>
      <p:cxnSp>
        <p:nvCxnSpPr>
          <p:cNvPr id="34" name="Straight Arrow Connector 152"/>
          <p:cNvCxnSpPr>
            <a:cxnSpLocks noChangeShapeType="1"/>
            <a:stCxn id="37" idx="1"/>
            <a:endCxn id="27" idx="3"/>
          </p:cNvCxnSpPr>
          <p:nvPr/>
        </p:nvCxnSpPr>
        <p:spPr bwMode="auto">
          <a:xfrm flipH="1">
            <a:off x="3179379" y="4580345"/>
            <a:ext cx="609974" cy="233861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sm"/>
          </a:ln>
        </p:spPr>
      </p:cxnSp>
      <p:sp>
        <p:nvSpPr>
          <p:cNvPr id="35" name="TextBox 7"/>
          <p:cNvSpPr txBox="1">
            <a:spLocks noChangeArrowheads="1"/>
          </p:cNvSpPr>
          <p:nvPr/>
        </p:nvSpPr>
        <p:spPr bwMode="auto">
          <a:xfrm>
            <a:off x="3851151" y="3566951"/>
            <a:ext cx="1383453" cy="503675"/>
          </a:xfrm>
          <a:prstGeom prst="rect">
            <a:avLst/>
          </a:prstGeom>
          <a:solidFill>
            <a:srgbClr val="FFFF00"/>
          </a:solidFill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b="1"/>
              <a:t>ANSI </a:t>
            </a:r>
            <a:r>
              <a:rPr lang="cs-CZ" altLang="en-US" b="1"/>
              <a:t>C</a:t>
            </a:r>
          </a:p>
          <a:p>
            <a:pPr algn="ctr" eaLnBrk="1" hangingPunct="1"/>
            <a:r>
              <a:rPr lang="cs-CZ" altLang="en-US" sz="1200"/>
              <a:t>(</a:t>
            </a:r>
            <a:r>
              <a:rPr lang="en-US" altLang="en-US" sz="1200"/>
              <a:t>ANSI X3J11</a:t>
            </a:r>
            <a:r>
              <a:rPr lang="cs-CZ" altLang="en-US" sz="1200"/>
              <a:t> </a:t>
            </a:r>
            <a:r>
              <a:rPr lang="en-US" altLang="en-US" sz="1200"/>
              <a:t>1989</a:t>
            </a:r>
            <a:r>
              <a:rPr lang="cs-CZ" altLang="en-US" sz="1200"/>
              <a:t>)</a:t>
            </a:r>
            <a:endParaRPr lang="en-US" altLang="en-US" sz="1200"/>
          </a:p>
        </p:txBody>
      </p:sp>
      <p:sp>
        <p:nvSpPr>
          <p:cNvPr id="36" name="TextBox 8"/>
          <p:cNvSpPr txBox="1">
            <a:spLocks noChangeArrowheads="1"/>
          </p:cNvSpPr>
          <p:nvPr/>
        </p:nvSpPr>
        <p:spPr bwMode="auto">
          <a:xfrm>
            <a:off x="3800763" y="5877140"/>
            <a:ext cx="1495638" cy="503675"/>
          </a:xfrm>
          <a:prstGeom prst="rect">
            <a:avLst/>
          </a:prstGeom>
          <a:solidFill>
            <a:srgbClr val="FFFF00"/>
          </a:solidFill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b="1" dirty="0"/>
              <a:t>C11</a:t>
            </a:r>
            <a:endParaRPr lang="cs-CZ" altLang="en-US" b="1" dirty="0"/>
          </a:p>
          <a:p>
            <a:pPr algn="ctr" eaLnBrk="1" hangingPunct="1"/>
            <a:r>
              <a:rPr lang="cs-CZ" altLang="en-US" sz="1200" dirty="0"/>
              <a:t>(</a:t>
            </a:r>
            <a:r>
              <a:rPr lang="en-US" altLang="en-US" sz="1200" dirty="0"/>
              <a:t>ISO/IEC 9899 2011</a:t>
            </a:r>
            <a:r>
              <a:rPr lang="cs-CZ" altLang="en-US" sz="1200" dirty="0"/>
              <a:t>)</a:t>
            </a:r>
            <a:endParaRPr lang="en-US" altLang="en-US" sz="1200" dirty="0"/>
          </a:p>
        </p:txBody>
      </p:sp>
      <p:sp>
        <p:nvSpPr>
          <p:cNvPr id="37" name="TextBox 9"/>
          <p:cNvSpPr txBox="1">
            <a:spLocks noChangeArrowheads="1"/>
          </p:cNvSpPr>
          <p:nvPr/>
        </p:nvSpPr>
        <p:spPr bwMode="auto">
          <a:xfrm>
            <a:off x="3789353" y="4328507"/>
            <a:ext cx="1507048" cy="503675"/>
          </a:xfrm>
          <a:prstGeom prst="rect">
            <a:avLst/>
          </a:prstGeom>
          <a:solidFill>
            <a:srgbClr val="FFFF00"/>
          </a:solidFill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b="1"/>
              <a:t>C99</a:t>
            </a:r>
            <a:endParaRPr lang="cs-CZ" altLang="en-US" b="1"/>
          </a:p>
          <a:p>
            <a:pPr algn="ctr" eaLnBrk="1" hangingPunct="1"/>
            <a:r>
              <a:rPr lang="cs-CZ" altLang="en-US" sz="1200"/>
              <a:t>(</a:t>
            </a:r>
            <a:r>
              <a:rPr lang="en-US" altLang="en-US" sz="1200"/>
              <a:t>ISO/IEC 9899 1999</a:t>
            </a:r>
            <a:r>
              <a:rPr lang="cs-CZ" altLang="en-US" sz="1200"/>
              <a:t>)</a:t>
            </a:r>
            <a:endParaRPr lang="en-US" altLang="en-US" sz="1200"/>
          </a:p>
        </p:txBody>
      </p:sp>
      <p:cxnSp>
        <p:nvCxnSpPr>
          <p:cNvPr id="38" name="Straight Arrow Connector 29"/>
          <p:cNvCxnSpPr>
            <a:cxnSpLocks noChangeShapeType="1"/>
            <a:stCxn id="20" idx="2"/>
            <a:endCxn id="35" idx="0"/>
          </p:cNvCxnSpPr>
          <p:nvPr/>
        </p:nvCxnSpPr>
        <p:spPr bwMode="auto">
          <a:xfrm>
            <a:off x="4542877" y="3250834"/>
            <a:ext cx="0" cy="316116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headEnd/>
            <a:tailEnd type="triangle" w="med" len="sm"/>
          </a:ln>
        </p:spPr>
      </p:cxnSp>
      <p:cxnSp>
        <p:nvCxnSpPr>
          <p:cNvPr id="39" name="Straight Arrow Connector 31"/>
          <p:cNvCxnSpPr>
            <a:cxnSpLocks noChangeShapeType="1"/>
            <a:stCxn id="35" idx="2"/>
            <a:endCxn id="37" idx="0"/>
          </p:cNvCxnSpPr>
          <p:nvPr/>
        </p:nvCxnSpPr>
        <p:spPr bwMode="auto">
          <a:xfrm>
            <a:off x="4542877" y="4070626"/>
            <a:ext cx="0" cy="257881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headEnd/>
            <a:tailEnd type="triangle" w="med" len="sm"/>
          </a:ln>
        </p:spPr>
      </p:cxnSp>
      <p:cxnSp>
        <p:nvCxnSpPr>
          <p:cNvPr id="40" name="Straight Arrow Connector 34"/>
          <p:cNvCxnSpPr>
            <a:cxnSpLocks noChangeShapeType="1"/>
            <a:stCxn id="37" idx="2"/>
            <a:endCxn id="36" idx="0"/>
          </p:cNvCxnSpPr>
          <p:nvPr/>
        </p:nvCxnSpPr>
        <p:spPr bwMode="auto">
          <a:xfrm>
            <a:off x="4542878" y="4832181"/>
            <a:ext cx="5705" cy="1044958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sm"/>
          </a:ln>
        </p:spPr>
      </p:cxnSp>
      <p:cxnSp>
        <p:nvCxnSpPr>
          <p:cNvPr id="41" name="Straight Arrow Connector 158"/>
          <p:cNvCxnSpPr>
            <a:cxnSpLocks noChangeShapeType="1"/>
            <a:stCxn id="35" idx="3"/>
            <a:endCxn id="10" idx="1"/>
          </p:cNvCxnSpPr>
          <p:nvPr/>
        </p:nvCxnSpPr>
        <p:spPr bwMode="auto">
          <a:xfrm flipV="1">
            <a:off x="5234604" y="3806064"/>
            <a:ext cx="1831143" cy="12725"/>
          </a:xfrm>
          <a:prstGeom prst="straightConnector1">
            <a:avLst/>
          </a:prstGeom>
          <a:noFill/>
          <a:ln w="57150" algn="ctr">
            <a:solidFill>
              <a:srgbClr val="FFC000"/>
            </a:solidFill>
            <a:round/>
            <a:headEnd/>
            <a:tailEnd type="triangle" w="med" len="sm"/>
          </a:ln>
        </p:spPr>
      </p:cxnSp>
      <p:grpSp>
        <p:nvGrpSpPr>
          <p:cNvPr id="64" name="Group 63"/>
          <p:cNvGrpSpPr/>
          <p:nvPr/>
        </p:nvGrpSpPr>
        <p:grpSpPr>
          <a:xfrm>
            <a:off x="10128448" y="1870025"/>
            <a:ext cx="1688741" cy="1400946"/>
            <a:chOff x="10259027" y="1657550"/>
            <a:chExt cx="1688741" cy="1400946"/>
          </a:xfrm>
        </p:grpSpPr>
        <p:grpSp>
          <p:nvGrpSpPr>
            <p:cNvPr id="58" name="Group 57"/>
            <p:cNvGrpSpPr/>
            <p:nvPr/>
          </p:nvGrpSpPr>
          <p:grpSpPr>
            <a:xfrm>
              <a:off x="10260726" y="2016699"/>
              <a:ext cx="1509408" cy="257369"/>
              <a:chOff x="10226702" y="1858587"/>
              <a:chExt cx="1509408" cy="257369"/>
            </a:xfrm>
          </p:grpSpPr>
          <p:cxnSp>
            <p:nvCxnSpPr>
              <p:cNvPr id="44" name="Straight Arrow Connector 161"/>
              <p:cNvCxnSpPr>
                <a:cxnSpLocks noChangeShapeType="1"/>
              </p:cNvCxnSpPr>
              <p:nvPr/>
            </p:nvCxnSpPr>
            <p:spPr bwMode="auto">
              <a:xfrm>
                <a:off x="10226702" y="1992969"/>
                <a:ext cx="306043" cy="0"/>
              </a:xfrm>
              <a:prstGeom prst="straightConnector1">
                <a:avLst/>
              </a:prstGeom>
              <a:noFill/>
              <a:ln w="57150" algn="ctr">
                <a:solidFill>
                  <a:srgbClr val="FFC000"/>
                </a:solidFill>
                <a:round/>
                <a:headEnd/>
                <a:tailEnd type="triangle" w="med" len="sm"/>
              </a:ln>
            </p:spPr>
          </p:cxnSp>
          <p:sp>
            <p:nvSpPr>
              <p:cNvPr id="46" name="TextBox 45"/>
              <p:cNvSpPr txBox="1"/>
              <p:nvPr/>
            </p:nvSpPr>
            <p:spPr bwMode="auto">
              <a:xfrm>
                <a:off x="10579776" y="1858587"/>
                <a:ext cx="1156334" cy="257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36000" tIns="36000" rIns="36000" bIns="36000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sz="1200" dirty="0"/>
                  <a:t>almost superset</a:t>
                </a:r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0259027" y="2801127"/>
              <a:ext cx="997847" cy="257369"/>
              <a:chOff x="10259027" y="2801127"/>
              <a:chExt cx="997847" cy="257369"/>
            </a:xfrm>
          </p:grpSpPr>
          <p:cxnSp>
            <p:nvCxnSpPr>
              <p:cNvPr id="42" name="Straight Arrow Connector 41"/>
              <p:cNvCxnSpPr/>
              <p:nvPr/>
            </p:nvCxnSpPr>
            <p:spPr bwMode="auto">
              <a:xfrm flipV="1">
                <a:off x="10259027" y="2922429"/>
                <a:ext cx="314325" cy="6350"/>
              </a:xfrm>
              <a:prstGeom prst="straightConnector1">
                <a:avLst/>
              </a:prstGeom>
              <a:noFill/>
              <a:ln w="57150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7" name="TextBox 46"/>
              <p:cNvSpPr txBox="1"/>
              <p:nvPr/>
            </p:nvSpPr>
            <p:spPr bwMode="auto">
              <a:xfrm>
                <a:off x="10648767" y="2801127"/>
                <a:ext cx="608107" cy="257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36000" tIns="36000" rIns="36000" bIns="36000">
                <a:spAutoFit/>
              </a:bodyPr>
              <a:lstStyle/>
              <a:p>
                <a:pPr algn="ctr">
                  <a:defRPr/>
                </a:pPr>
                <a:r>
                  <a:rPr lang="en-US" sz="1200" dirty="0"/>
                  <a:t>inspired</a:t>
                </a:r>
              </a:p>
            </p:txBody>
          </p:sp>
        </p:grpSp>
        <p:cxnSp>
          <p:nvCxnSpPr>
            <p:cNvPr id="43" name="Straight Arrow Connector 156"/>
            <p:cNvCxnSpPr>
              <a:cxnSpLocks noChangeShapeType="1"/>
            </p:cNvCxnSpPr>
            <p:nvPr/>
          </p:nvCxnSpPr>
          <p:spPr bwMode="auto">
            <a:xfrm>
              <a:off x="10260726" y="1791466"/>
              <a:ext cx="306043" cy="0"/>
            </a:xfrm>
            <a:prstGeom prst="straightConnector1">
              <a:avLst/>
            </a:prstGeom>
            <a:noFill/>
            <a:ln w="57150" algn="ctr">
              <a:solidFill>
                <a:schemeClr val="tx1"/>
              </a:solidFill>
              <a:round/>
              <a:headEnd/>
              <a:tailEnd type="triangle" w="med" len="sm"/>
            </a:ln>
          </p:spPr>
        </p:cxnSp>
        <p:sp>
          <p:nvSpPr>
            <p:cNvPr id="48" name="TextBox 47"/>
            <p:cNvSpPr txBox="1"/>
            <p:nvPr/>
          </p:nvSpPr>
          <p:spPr bwMode="auto">
            <a:xfrm>
              <a:off x="10613800" y="1657550"/>
              <a:ext cx="661006" cy="25736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1200" dirty="0"/>
                <a:t>superset</a:t>
              </a:r>
            </a:p>
          </p:txBody>
        </p:sp>
        <p:grpSp>
          <p:nvGrpSpPr>
            <p:cNvPr id="59" name="Group 58"/>
            <p:cNvGrpSpPr/>
            <p:nvPr/>
          </p:nvGrpSpPr>
          <p:grpSpPr>
            <a:xfrm>
              <a:off x="10259027" y="2408913"/>
              <a:ext cx="1688741" cy="257369"/>
              <a:chOff x="9891876" y="2445682"/>
              <a:chExt cx="1688741" cy="257369"/>
            </a:xfrm>
          </p:grpSpPr>
          <p:cxnSp>
            <p:nvCxnSpPr>
              <p:cNvPr id="45" name="Straight Arrow Connector 164"/>
              <p:cNvCxnSpPr>
                <a:cxnSpLocks noChangeShapeType="1"/>
              </p:cNvCxnSpPr>
              <p:nvPr/>
            </p:nvCxnSpPr>
            <p:spPr bwMode="auto">
              <a:xfrm>
                <a:off x="9891876" y="2574367"/>
                <a:ext cx="304450" cy="0"/>
              </a:xfrm>
              <a:prstGeom prst="straightConnector1">
                <a:avLst/>
              </a:prstGeom>
              <a:noFill/>
              <a:ln w="57150" algn="ctr">
                <a:solidFill>
                  <a:srgbClr val="FF0000"/>
                </a:solidFill>
                <a:round/>
                <a:headEnd/>
                <a:tailEnd type="triangle" w="med" len="sm"/>
              </a:ln>
            </p:spPr>
          </p:cxnSp>
          <p:sp>
            <p:nvSpPr>
              <p:cNvPr id="49" name="TextBox 48"/>
              <p:cNvSpPr txBox="1"/>
              <p:nvPr/>
            </p:nvSpPr>
            <p:spPr bwMode="auto">
              <a:xfrm>
                <a:off x="10281616" y="2445682"/>
                <a:ext cx="1299001" cy="257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36000" tIns="36000" rIns="36000" bIns="36000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sz="1200" dirty="0"/>
                  <a:t>significant change</a:t>
                </a:r>
              </a:p>
            </p:txBody>
          </p:sp>
        </p:grpSp>
      </p:grpSp>
      <p:sp>
        <p:nvSpPr>
          <p:cNvPr id="50" name="TextBox 49"/>
          <p:cNvSpPr txBox="1"/>
          <p:nvPr/>
        </p:nvSpPr>
        <p:spPr bwMode="auto">
          <a:xfrm>
            <a:off x="5564533" y="4026552"/>
            <a:ext cx="1181981" cy="53436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txBody>
          <a:bodyPr wrap="none" lIns="36000" tIns="36000" rIns="36000" bIns="36000">
            <a:spAutoFit/>
          </a:bodyPr>
          <a:lstStyle/>
          <a:p>
            <a:pPr algn="ctr">
              <a:defRPr/>
            </a:pPr>
            <a:r>
              <a:rPr lang="cs-CZ" b="1" dirty="0"/>
              <a:t>C</a:t>
            </a:r>
            <a:r>
              <a:rPr lang="en-US" b="1" dirty="0"/>
              <a:t>#</a:t>
            </a:r>
            <a:endParaRPr lang="cs-CZ" b="1" dirty="0"/>
          </a:p>
          <a:p>
            <a:pPr algn="ctr">
              <a:defRPr/>
            </a:pPr>
            <a:r>
              <a:rPr lang="cs-CZ" sz="1200" dirty="0"/>
              <a:t>(</a:t>
            </a:r>
            <a:r>
              <a:rPr lang="en-US" sz="1200" dirty="0"/>
              <a:t>Microsoft</a:t>
            </a:r>
            <a:r>
              <a:rPr lang="cs-CZ" sz="1200" dirty="0"/>
              <a:t> </a:t>
            </a:r>
            <a:r>
              <a:rPr lang="en-US" sz="1200" dirty="0"/>
              <a:t>2002</a:t>
            </a:r>
            <a:r>
              <a:rPr lang="cs-CZ" sz="1200" dirty="0"/>
              <a:t>)</a:t>
            </a:r>
            <a:endParaRPr lang="en-US" sz="1200" dirty="0"/>
          </a:p>
        </p:txBody>
      </p:sp>
      <p:sp>
        <p:nvSpPr>
          <p:cNvPr id="51" name="TextBox 50"/>
          <p:cNvSpPr txBox="1"/>
          <p:nvPr/>
        </p:nvSpPr>
        <p:spPr bwMode="auto">
          <a:xfrm>
            <a:off x="8875017" y="3571475"/>
            <a:ext cx="830924" cy="53436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txBody>
          <a:bodyPr wrap="none" lIns="36000" tIns="36000" rIns="36000" bIns="36000">
            <a:spAutoFit/>
          </a:bodyPr>
          <a:lstStyle/>
          <a:p>
            <a:pPr algn="ctr">
              <a:defRPr/>
            </a:pPr>
            <a:r>
              <a:rPr lang="cs-CZ" b="1" dirty="0"/>
              <a:t>Java</a:t>
            </a:r>
          </a:p>
          <a:p>
            <a:pPr algn="ctr">
              <a:defRPr/>
            </a:pPr>
            <a:r>
              <a:rPr lang="cs-CZ" sz="1200" dirty="0"/>
              <a:t>(Sun 1995)</a:t>
            </a:r>
            <a:endParaRPr lang="en-US" sz="1200" dirty="0"/>
          </a:p>
        </p:txBody>
      </p:sp>
      <p:cxnSp>
        <p:nvCxnSpPr>
          <p:cNvPr id="52" name="Straight Arrow Connector 51"/>
          <p:cNvCxnSpPr>
            <a:stCxn id="9" idx="2"/>
            <a:endCxn id="51" idx="0"/>
          </p:cNvCxnSpPr>
          <p:nvPr/>
        </p:nvCxnSpPr>
        <p:spPr bwMode="auto">
          <a:xfrm>
            <a:off x="7876555" y="3294155"/>
            <a:ext cx="1413925" cy="277321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53" name="Straight Arrow Connector 52"/>
          <p:cNvCxnSpPr>
            <a:stCxn id="10" idx="1"/>
            <a:endCxn id="50" idx="3"/>
          </p:cNvCxnSpPr>
          <p:nvPr/>
        </p:nvCxnSpPr>
        <p:spPr bwMode="auto">
          <a:xfrm flipH="1">
            <a:off x="6746514" y="3806064"/>
            <a:ext cx="319233" cy="487673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sp>
        <p:nvSpPr>
          <p:cNvPr id="54" name="TextBox 53"/>
          <p:cNvSpPr txBox="1"/>
          <p:nvPr/>
        </p:nvSpPr>
        <p:spPr bwMode="auto">
          <a:xfrm>
            <a:off x="5566120" y="4813952"/>
            <a:ext cx="1181981" cy="534368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002060"/>
            </a:solidFill>
          </a:ln>
        </p:spPr>
        <p:txBody>
          <a:bodyPr wrap="none" lIns="36000" tIns="36000" rIns="36000" bIns="36000">
            <a:spAutoFit/>
          </a:bodyPr>
          <a:lstStyle/>
          <a:p>
            <a:pPr algn="ctr">
              <a:defRPr/>
            </a:pPr>
            <a:r>
              <a:rPr lang="cs-CZ" b="1" dirty="0"/>
              <a:t>C</a:t>
            </a:r>
            <a:r>
              <a:rPr lang="en-US" b="1" dirty="0"/>
              <a:t>++/CLI</a:t>
            </a:r>
            <a:endParaRPr lang="cs-CZ" b="1" dirty="0"/>
          </a:p>
          <a:p>
            <a:pPr algn="ctr">
              <a:defRPr/>
            </a:pPr>
            <a:r>
              <a:rPr lang="cs-CZ" sz="1200" dirty="0"/>
              <a:t>(</a:t>
            </a:r>
            <a:r>
              <a:rPr lang="en-US" sz="1200" dirty="0"/>
              <a:t>Microsoft</a:t>
            </a:r>
            <a:r>
              <a:rPr lang="cs-CZ" sz="1200" dirty="0"/>
              <a:t> </a:t>
            </a:r>
            <a:r>
              <a:rPr lang="en-US" sz="1200" dirty="0"/>
              <a:t>2005</a:t>
            </a:r>
            <a:r>
              <a:rPr lang="cs-CZ" sz="1200" dirty="0"/>
              <a:t>)</a:t>
            </a:r>
            <a:endParaRPr lang="en-US" sz="1200" dirty="0"/>
          </a:p>
        </p:txBody>
      </p:sp>
      <p:cxnSp>
        <p:nvCxnSpPr>
          <p:cNvPr id="55" name="Straight Arrow Connector 184"/>
          <p:cNvCxnSpPr>
            <a:cxnSpLocks noChangeShapeType="1"/>
            <a:stCxn id="11" idx="1"/>
            <a:endCxn id="54" idx="3"/>
          </p:cNvCxnSpPr>
          <p:nvPr/>
        </p:nvCxnSpPr>
        <p:spPr bwMode="auto">
          <a:xfrm flipH="1">
            <a:off x="6748100" y="4598546"/>
            <a:ext cx="323352" cy="482591"/>
          </a:xfrm>
          <a:prstGeom prst="straightConnector1">
            <a:avLst/>
          </a:prstGeom>
          <a:noFill/>
          <a:ln w="57150" algn="ctr">
            <a:solidFill>
              <a:srgbClr val="FFC000"/>
            </a:solidFill>
            <a:round/>
            <a:headEnd/>
            <a:tailEnd type="triangle" w="med" len="sm"/>
          </a:ln>
        </p:spPr>
      </p:cxnSp>
      <p:sp>
        <p:nvSpPr>
          <p:cNvPr id="73" name="TextBox 72"/>
          <p:cNvSpPr txBox="1"/>
          <p:nvPr/>
        </p:nvSpPr>
        <p:spPr>
          <a:xfrm>
            <a:off x="8982630" y="5086399"/>
            <a:ext cx="688256" cy="503590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>
            <a:defPPr>
              <a:defRPr lang="cs-CZ"/>
            </a:defPPr>
            <a:lvl1pPr algn="ctr">
              <a:defRPr sz="1600" b="1"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en-US" dirty="0"/>
              <a:t>C++17</a:t>
            </a:r>
          </a:p>
          <a:p>
            <a:r>
              <a:rPr lang="en-US" sz="1100" dirty="0"/>
              <a:t>(2017)</a:t>
            </a:r>
            <a:endParaRPr lang="cs-CZ" sz="1100" dirty="0"/>
          </a:p>
        </p:txBody>
      </p:sp>
      <p:cxnSp>
        <p:nvCxnSpPr>
          <p:cNvPr id="74" name="Straight Arrow Connector 102"/>
          <p:cNvCxnSpPr>
            <a:cxnSpLocks noChangeShapeType="1"/>
            <a:stCxn id="23" idx="0"/>
            <a:endCxn id="73" idx="2"/>
          </p:cNvCxnSpPr>
          <p:nvPr/>
        </p:nvCxnSpPr>
        <p:spPr bwMode="auto">
          <a:xfrm flipV="1">
            <a:off x="9326758" y="5589989"/>
            <a:ext cx="0" cy="254310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sm"/>
          </a:ln>
        </p:spPr>
      </p:cxnSp>
      <p:sp>
        <p:nvSpPr>
          <p:cNvPr id="79" name="TextBox 78"/>
          <p:cNvSpPr txBox="1"/>
          <p:nvPr/>
        </p:nvSpPr>
        <p:spPr>
          <a:xfrm>
            <a:off x="8982630" y="4353102"/>
            <a:ext cx="688256" cy="48820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2060"/>
            </a:solidFill>
            <a:prstDash val="solid"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>
            <a:defPPr>
              <a:defRPr lang="cs-CZ"/>
            </a:defPPr>
            <a:lvl1pPr algn="ctr">
              <a:defRPr sz="1600" b="1"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en-US" dirty="0"/>
              <a:t>C++20</a:t>
            </a:r>
          </a:p>
          <a:p>
            <a:r>
              <a:rPr lang="en-US" sz="1100" dirty="0"/>
              <a:t>(2020)</a:t>
            </a:r>
            <a:endParaRPr lang="cs-CZ" sz="1100" dirty="0"/>
          </a:p>
        </p:txBody>
      </p:sp>
      <p:cxnSp>
        <p:nvCxnSpPr>
          <p:cNvPr id="80" name="Straight Arrow Connector 102"/>
          <p:cNvCxnSpPr>
            <a:cxnSpLocks noChangeShapeType="1"/>
            <a:stCxn id="73" idx="0"/>
            <a:endCxn id="79" idx="2"/>
          </p:cNvCxnSpPr>
          <p:nvPr/>
        </p:nvCxnSpPr>
        <p:spPr bwMode="auto">
          <a:xfrm flipV="1">
            <a:off x="9326758" y="4841303"/>
            <a:ext cx="0" cy="245097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prstDash val="sysDot"/>
            <a:round/>
            <a:headEnd/>
            <a:tailEnd type="triangle" w="med" len="sm"/>
          </a:ln>
        </p:spPr>
      </p:cxnSp>
      <p:sp>
        <p:nvSpPr>
          <p:cNvPr id="81" name="TextBox 8"/>
          <p:cNvSpPr txBox="1">
            <a:spLocks noChangeArrowheads="1"/>
          </p:cNvSpPr>
          <p:nvPr/>
        </p:nvSpPr>
        <p:spPr bwMode="auto">
          <a:xfrm>
            <a:off x="3758364" y="4949042"/>
            <a:ext cx="515133" cy="503590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b="1" dirty="0"/>
              <a:t>C18</a:t>
            </a:r>
            <a:endParaRPr lang="cs-CZ" altLang="en-US" b="1" dirty="0"/>
          </a:p>
          <a:p>
            <a:pPr algn="ctr" eaLnBrk="1" hangingPunct="1"/>
            <a:r>
              <a:rPr lang="en-US" altLang="en-US" sz="1200" dirty="0"/>
              <a:t>(2018)</a:t>
            </a:r>
          </a:p>
        </p:txBody>
      </p:sp>
      <p:cxnSp>
        <p:nvCxnSpPr>
          <p:cNvPr id="82" name="Straight Arrow Connector 52"/>
          <p:cNvCxnSpPr>
            <a:cxnSpLocks noChangeShapeType="1"/>
            <a:endCxn id="81" idx="2"/>
          </p:cNvCxnSpPr>
          <p:nvPr/>
        </p:nvCxnSpPr>
        <p:spPr bwMode="auto">
          <a:xfrm flipH="1" flipV="1">
            <a:off x="4015930" y="5452632"/>
            <a:ext cx="242538" cy="443076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sm"/>
          </a:ln>
        </p:spPr>
      </p:cxnSp>
      <p:cxnSp>
        <p:nvCxnSpPr>
          <p:cNvPr id="83" name="Straight Connector 82"/>
          <p:cNvCxnSpPr/>
          <p:nvPr/>
        </p:nvCxnSpPr>
        <p:spPr>
          <a:xfrm>
            <a:off x="1801280" y="5452633"/>
            <a:ext cx="983357" cy="801901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1822427" y="5470940"/>
            <a:ext cx="920340" cy="766189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5679212" y="4680440"/>
            <a:ext cx="983357" cy="801901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flipV="1">
            <a:off x="5700359" y="4698747"/>
            <a:ext cx="920340" cy="766189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6" name="Slide Number Placeholder 5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7871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**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 World!\n"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327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Literals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Integer numbers</a:t>
            </a:r>
          </a:p>
          <a:p>
            <a:pPr lvl="1"/>
            <a:r>
              <a:rPr lang="en-US" dirty="0"/>
              <a:t>Decimal number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123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-18</a:t>
            </a:r>
          </a:p>
          <a:p>
            <a:pPr lvl="1"/>
            <a:r>
              <a:rPr lang="en-US" dirty="0"/>
              <a:t>Hexadecimal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0xc001bea3</a:t>
            </a:r>
          </a:p>
          <a:p>
            <a:pPr lvl="1"/>
            <a:r>
              <a:rPr lang="en-US" dirty="0"/>
              <a:t>Binary</a:t>
            </a:r>
            <a:r>
              <a:rPr lang="cs-CZ" dirty="0"/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0b11001001</a:t>
            </a:r>
          </a:p>
          <a:p>
            <a:pPr lvl="1"/>
            <a:r>
              <a:rPr lang="en-US" dirty="0"/>
              <a:t>Octal (0-prefixed)</a:t>
            </a:r>
            <a:r>
              <a:rPr lang="cs-CZ" dirty="0"/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123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dirty="0"/>
              <a:t>Floating point numbers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0.42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-1.234e-5</a:t>
            </a:r>
            <a:endParaRPr lang="en-US" dirty="0"/>
          </a:p>
          <a:p>
            <a:r>
              <a:rPr lang="en-US" dirty="0"/>
              <a:t>Boolean</a:t>
            </a:r>
          </a:p>
          <a:p>
            <a:pPr marL="457200" lvl="1" indent="-112713">
              <a:buNone/>
            </a:pPr>
            <a:r>
              <a:rPr lang="cs-CZ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cs-CZ" dirty="0">
                <a:cs typeface="Courier New" panose="02070309020205020404" pitchFamily="49" charset="0"/>
              </a:rPr>
              <a:t>, </a:t>
            </a:r>
            <a:r>
              <a:rPr lang="cs-CZ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cs-CZ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String</a:t>
            </a:r>
          </a:p>
          <a:p>
            <a:pPr marL="344487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"foo bar"</a:t>
            </a:r>
          </a:p>
          <a:p>
            <a:r>
              <a:rPr lang="en-US" dirty="0"/>
              <a:t>Char</a:t>
            </a:r>
          </a:p>
          <a:p>
            <a:pPr marL="344487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</a:p>
          <a:p>
            <a:r>
              <a:rPr lang="en-US" dirty="0"/>
              <a:t>Escape sequence</a:t>
            </a:r>
          </a:p>
          <a:p>
            <a:pPr lvl="2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dirty="0"/>
              <a:t> – LF (line feed)</a:t>
            </a:r>
          </a:p>
          <a:p>
            <a:pPr lvl="2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\r</a:t>
            </a:r>
            <a:r>
              <a:rPr lang="en-US" dirty="0"/>
              <a:t> – CR (carriage return)</a:t>
            </a:r>
          </a:p>
          <a:p>
            <a:pPr lvl="2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\t</a:t>
            </a:r>
            <a:r>
              <a:rPr lang="en-US" dirty="0"/>
              <a:t> – TAB</a:t>
            </a:r>
          </a:p>
          <a:p>
            <a:pPr lvl="2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\\</a:t>
            </a:r>
            <a:r>
              <a:rPr lang="en-US" dirty="0"/>
              <a:t> – (one) backslash</a:t>
            </a:r>
          </a:p>
          <a:p>
            <a:pPr lvl="2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\'</a:t>
            </a:r>
            <a:r>
              <a:rPr lang="en-US" dirty="0"/>
              <a:t> – single quote</a:t>
            </a:r>
          </a:p>
          <a:p>
            <a:pPr lvl="2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\"</a:t>
            </a:r>
            <a:r>
              <a:rPr lang="en-US" dirty="0"/>
              <a:t> – double quote</a:t>
            </a:r>
          </a:p>
          <a:p>
            <a:pPr lvl="2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xab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– char with value 0xab</a:t>
            </a:r>
          </a:p>
          <a:p>
            <a:pPr lvl="2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EAE92-5121-41FC-8DEC-DA73929E0C34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4" name="Rounded Rectangular Callout 3"/>
          <p:cNvSpPr/>
          <p:nvPr/>
        </p:nvSpPr>
        <p:spPr>
          <a:xfrm>
            <a:off x="4727848" y="4077072"/>
            <a:ext cx="1516360" cy="648072"/>
          </a:xfrm>
          <a:prstGeom prst="wedgeRoundRectCallout">
            <a:avLst>
              <a:gd name="adj1" fmla="val -31797"/>
              <a:gd name="adj2" fmla="val -89997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 not use!</a:t>
            </a:r>
          </a:p>
        </p:txBody>
      </p:sp>
    </p:spTree>
    <p:extLst>
      <p:ext uri="{BB962C8B-B14F-4D97-AF65-F5344CB8AC3E}">
        <p14:creationId xmlns:p14="http://schemas.microsoft.com/office/powerpoint/2010/main" val="255069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types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Integer types</a:t>
            </a:r>
          </a:p>
          <a:p>
            <a:pPr lvl="1"/>
            <a:r>
              <a:rPr lang="en-US" dirty="0"/>
              <a:t>Base</a:t>
            </a:r>
          </a:p>
          <a:p>
            <a:pPr marL="693737" lvl="2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Modifiers</a:t>
            </a:r>
          </a:p>
          <a:p>
            <a:pPr marL="693737" lvl="2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short</a:t>
            </a:r>
            <a:r>
              <a:rPr lang="en-US" dirty="0"/>
              <a:t>, 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93737" lvl="2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signed</a:t>
            </a:r>
            <a:r>
              <a:rPr lang="en-US" dirty="0"/>
              <a:t>,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Auxiliary</a:t>
            </a:r>
          </a:p>
          <a:p>
            <a:pPr marL="693737" lvl="2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Floating point types</a:t>
            </a:r>
          </a:p>
          <a:p>
            <a:pPr marL="344487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/>
              <a:t>,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</a:p>
          <a:p>
            <a:pPr marL="693737" lvl="2" indent="0">
              <a:buNone/>
            </a:pPr>
            <a:endParaRPr lang="en-US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types</a:t>
            </a:r>
          </a:p>
          <a:p>
            <a:pPr marL="344487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</a:p>
          <a:p>
            <a:r>
              <a:rPr lang="en-US" dirty="0"/>
              <a:t>Implicit conversions</a:t>
            </a:r>
          </a:p>
          <a:p>
            <a:pPr lvl="1"/>
            <a:r>
              <a:rPr lang="en-US" dirty="0"/>
              <a:t>Quite complex rules</a:t>
            </a:r>
          </a:p>
          <a:p>
            <a:pPr lvl="1"/>
            <a:r>
              <a:rPr lang="en-US" dirty="0"/>
              <a:t>No data loss – no problem</a:t>
            </a:r>
            <a:br>
              <a:rPr lang="en-US" dirty="0"/>
            </a:b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 -&gt;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</a:p>
          <a:p>
            <a:pPr lvl="1"/>
            <a:r>
              <a:rPr lang="en-US" dirty="0"/>
              <a:t>Possible data loss – </a:t>
            </a:r>
            <a:r>
              <a:rPr lang="en-US" b="1" dirty="0">
                <a:solidFill>
                  <a:srgbClr val="FF0000"/>
                </a:solidFill>
              </a:rPr>
              <a:t>warning</a:t>
            </a:r>
            <a:br>
              <a:rPr lang="en-US" dirty="0"/>
            </a:b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dirty="0"/>
              <a:t> -&gt;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  <a:p>
            <a:pPr lvl="1"/>
            <a:r>
              <a:rPr lang="en-US" dirty="0"/>
              <a:t>Operands are converted to a common type</a:t>
            </a:r>
          </a:p>
          <a:p>
            <a:pPr lvl="2"/>
            <a:r>
              <a:rPr lang="en-US" dirty="0"/>
              <a:t>Conversion rank</a:t>
            </a: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7" name="Rounded Rectangular Callout 6"/>
          <p:cNvSpPr/>
          <p:nvPr/>
        </p:nvSpPr>
        <p:spPr>
          <a:xfrm>
            <a:off x="10707824" y="4149080"/>
            <a:ext cx="1291952" cy="576064"/>
          </a:xfrm>
          <a:prstGeom prst="wedgeRoundRectCallout">
            <a:avLst>
              <a:gd name="adj1" fmla="val -68258"/>
              <a:gd name="adj2" fmla="val 15825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Bad! </a:t>
            </a:r>
            <a:r>
              <a:rPr lang="en-US" b="1" dirty="0">
                <a:sym typeface="Wingdings" panose="05000000000000000000" pitchFamily="2" charset="2"/>
              </a:rPr>
              <a:t></a:t>
            </a:r>
            <a:endParaRPr lang="en-US" b="1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3411298" y="1891108"/>
            <a:ext cx="2592288" cy="811287"/>
          </a:xfrm>
          <a:prstGeom prst="wedgeRoundRectCallout">
            <a:avLst>
              <a:gd name="adj1" fmla="val -64188"/>
              <a:gd name="adj2" fmla="val 55924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actual range (size) depends on architecture 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3379686" y="4094527"/>
            <a:ext cx="3240360" cy="811287"/>
          </a:xfrm>
          <a:prstGeom prst="wedgeRoundRectCallout">
            <a:avLst>
              <a:gd name="adj1" fmla="val -31356"/>
              <a:gd name="adj2" fmla="val -61121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Writing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unsigned</a:t>
            </a:r>
            <a:r>
              <a:rPr lang="en-US" dirty="0"/>
              <a:t> alone is shorthand for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unsigned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645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Casts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EAE92-5121-41FC-8DEC-DA73929E0C34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838200" y="1825625"/>
            <a:ext cx="6913984" cy="4351338"/>
          </a:xfrm>
        </p:spPr>
        <p:txBody>
          <a:bodyPr/>
          <a:lstStyle/>
          <a:p>
            <a:r>
              <a:rPr lang="en-US" dirty="0"/>
              <a:t>Explicit conversions (casts)</a:t>
            </a:r>
          </a:p>
          <a:p>
            <a:pPr lvl="1"/>
            <a:r>
              <a:rPr lang="en-US" dirty="0"/>
              <a:t>Simply prefix an expression with type in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914400" lvl="2" indent="0">
              <a:buNone/>
            </a:pP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 = 4.2;</a:t>
            </a:r>
          </a:p>
          <a:p>
            <a:pPr marL="914400" lvl="2" indent="0">
              <a:buNone/>
            </a:pP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 = (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)d;</a:t>
            </a:r>
          </a:p>
          <a:p>
            <a:pPr lvl="1"/>
            <a:r>
              <a:rPr lang="en-US" dirty="0"/>
              <a:t>Tells the compiler that it is OK to change the type (does not generate a warning)</a:t>
            </a:r>
          </a:p>
          <a:p>
            <a:pPr lvl="1"/>
            <a:r>
              <a:rPr lang="en-US" dirty="0"/>
              <a:t>Use wisely!</a:t>
            </a:r>
          </a:p>
          <a:p>
            <a:pPr lvl="2"/>
            <a:r>
              <a:rPr lang="en-US" dirty="0"/>
              <a:t>Do not use it just to fix your errors (warnings)</a:t>
            </a:r>
          </a:p>
          <a:p>
            <a:pPr lvl="1"/>
            <a:r>
              <a:rPr lang="en-US" dirty="0"/>
              <a:t>In C++, the situation gets more complicated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static_cast</a:t>
            </a:r>
            <a:r>
              <a:rPr lang="en-US" dirty="0"/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dynamic_cast</a:t>
            </a:r>
            <a:r>
              <a:rPr lang="en-US" dirty="0"/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reinterpret_cast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192" y="1530375"/>
            <a:ext cx="3860780" cy="482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08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Named values stored in memory</a:t>
            </a:r>
          </a:p>
          <a:p>
            <a:pPr lvl="1"/>
            <a:r>
              <a:rPr lang="en-US" dirty="0"/>
              <a:t>Must be declared before first use (it is a good idea to initialize them as well)</a:t>
            </a:r>
          </a:p>
          <a:p>
            <a:pPr marL="914400" lvl="2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0.0;</a:t>
            </a:r>
          </a:p>
          <a:p>
            <a:pPr lvl="2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/>
              <a:t> keyword can be used instead of type (the type is inferred)</a:t>
            </a:r>
          </a:p>
          <a:p>
            <a:r>
              <a:rPr lang="en-US" dirty="0"/>
              <a:t>Variable scope</a:t>
            </a:r>
          </a:p>
          <a:p>
            <a:pPr lvl="1"/>
            <a:r>
              <a:rPr lang="en-US" dirty="0"/>
              <a:t>Determines where the value is stored and how (in code) it can be accessed</a:t>
            </a:r>
          </a:p>
          <a:p>
            <a:pPr lvl="1"/>
            <a:r>
              <a:rPr lang="en-US" i="1" dirty="0"/>
              <a:t>Local variables</a:t>
            </a:r>
            <a:r>
              <a:rPr lang="en-US" dirty="0"/>
              <a:t> – exist within one block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 }</a:t>
            </a:r>
            <a:r>
              <a:rPr lang="en-US" dirty="0"/>
              <a:t> (e.g., in one function)</a:t>
            </a:r>
          </a:p>
          <a:p>
            <a:pPr lvl="2"/>
            <a:r>
              <a:rPr lang="en-US" dirty="0"/>
              <a:t>Function arguments are also local variables (pre-initialized in the function call)</a:t>
            </a:r>
          </a:p>
          <a:p>
            <a:pPr lvl="1"/>
            <a:r>
              <a:rPr lang="en-US" i="1" dirty="0"/>
              <a:t>Global variables</a:t>
            </a:r>
          </a:p>
          <a:p>
            <a:pPr lvl="1"/>
            <a:r>
              <a:rPr lang="en-US" i="1" dirty="0"/>
              <a:t>Static local variables</a:t>
            </a:r>
          </a:p>
          <a:p>
            <a:pPr marL="914400" lvl="2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foo() {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counter = 0; …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9264352" y="2852936"/>
            <a:ext cx="2016224" cy="648072"/>
          </a:xfrm>
          <a:prstGeom prst="wedgeRoundRectCallout">
            <a:avLst>
              <a:gd name="adj1" fmla="val -73484"/>
              <a:gd name="adj2" fmla="val -4485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 with care!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8062183" y="5949637"/>
            <a:ext cx="2736304" cy="724526"/>
          </a:xfrm>
          <a:prstGeom prst="wedgeRoundRectCallout">
            <a:avLst>
              <a:gd name="adj1" fmla="val -76295"/>
              <a:gd name="adj2" fmla="val -32333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Like global variables, but better encapsulation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5231904" y="4929943"/>
            <a:ext cx="5544616" cy="761690"/>
          </a:xfrm>
          <a:prstGeom prst="wedgeRoundRectCallout">
            <a:avLst>
              <a:gd name="adj1" fmla="val -77505"/>
              <a:gd name="adj2" fmla="val -19569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Unlike in Python, there is no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en-US" dirty="0"/>
              <a:t> keyword, accessing local and global variables has the same syntax</a:t>
            </a:r>
          </a:p>
        </p:txBody>
      </p:sp>
    </p:spTree>
    <p:extLst>
      <p:ext uri="{BB962C8B-B14F-4D97-AF65-F5344CB8AC3E}">
        <p14:creationId xmlns:p14="http://schemas.microsoft.com/office/powerpoint/2010/main" val="1530887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Compound statement (block)</a:t>
            </a:r>
          </a:p>
          <a:p>
            <a:pPr marL="344487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}</a:t>
            </a:r>
          </a:p>
          <a:p>
            <a:r>
              <a:rPr lang="en-US" dirty="0"/>
              <a:t>Expression statement</a:t>
            </a:r>
          </a:p>
          <a:p>
            <a:pPr marL="344487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/>
              <a:t>If statement</a:t>
            </a:r>
          </a:p>
          <a:p>
            <a:pPr marL="344487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Return from a function</a:t>
            </a:r>
          </a:p>
          <a:p>
            <a:pPr marL="344487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6312024" y="1799358"/>
            <a:ext cx="4948871" cy="890600"/>
          </a:xfrm>
          <a:prstGeom prst="wedgeRoundRectCallout">
            <a:avLst>
              <a:gd name="adj1" fmla="val -64980"/>
              <a:gd name="adj2" fmla="val -22135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Indentation bears no meaning….</a:t>
            </a:r>
            <a:br>
              <a:rPr lang="en-US" dirty="0"/>
            </a:br>
            <a:r>
              <a:rPr lang="en-US" dirty="0"/>
              <a:t>However, it makes code more readable (do it)!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4492143" y="3124940"/>
            <a:ext cx="6768752" cy="890600"/>
          </a:xfrm>
          <a:prstGeom prst="wedgeRoundRectCallout">
            <a:avLst>
              <a:gd name="adj1" fmla="val -70046"/>
              <a:gd name="adj2" fmla="val -17199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dirty="0"/>
              <a:t> separator makes it easier to write multiple statements on one row…</a:t>
            </a:r>
            <a:br>
              <a:rPr lang="en-US" dirty="0"/>
            </a:br>
            <a:r>
              <a:rPr lang="en-US" dirty="0"/>
              <a:t>But do not do it (makes the code less readable)!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4799856" y="5157192"/>
            <a:ext cx="7093396" cy="890600"/>
          </a:xfrm>
          <a:prstGeom prst="wedgeRoundRectCallout">
            <a:avLst>
              <a:gd name="adj1" fmla="val -37587"/>
              <a:gd name="adj2" fmla="val -78407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dirty="0"/>
              <a:t> could be a block and it is generally a good idea to always make a block here (it is less error-prone when refactoring and more readable)</a:t>
            </a:r>
          </a:p>
        </p:txBody>
      </p:sp>
    </p:spTree>
    <p:extLst>
      <p:ext uri="{BB962C8B-B14F-4D97-AF65-F5344CB8AC3E}">
        <p14:creationId xmlns:p14="http://schemas.microsoft.com/office/powerpoint/2010/main" val="974787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36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something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something else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common code for 2 and 3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 something else otherwise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7" name="Cloud Callout 6"/>
          <p:cNvSpPr/>
          <p:nvPr/>
        </p:nvSpPr>
        <p:spPr>
          <a:xfrm>
            <a:off x="5807968" y="2060848"/>
            <a:ext cx="6124128" cy="3744416"/>
          </a:xfrm>
          <a:prstGeom prst="cloudCallout">
            <a:avLst>
              <a:gd name="adj1" fmla="val -75128"/>
              <a:gd name="adj2" fmla="val -3627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0000" tIns="432000" rIns="0" rtlCol="0" anchor="ctr"/>
          <a:lstStyle/>
          <a:p>
            <a:pPr algn="ctr"/>
            <a:r>
              <a:rPr lang="en-US" dirty="0"/>
              <a:t>Switch may be better than many if-</a:t>
            </a:r>
            <a:r>
              <a:rPr lang="en-US" dirty="0" err="1"/>
              <a:t>elses</a:t>
            </a:r>
            <a:r>
              <a:rPr lang="en-US" dirty="0"/>
              <a:t>, but heavy branching is </a:t>
            </a:r>
            <a:r>
              <a:rPr lang="en-US" b="1" dirty="0"/>
              <a:t>bad</a:t>
            </a:r>
            <a:r>
              <a:rPr lang="en-US" dirty="0"/>
              <a:t>!</a:t>
            </a:r>
            <a:br>
              <a:rPr lang="en-US" dirty="0"/>
            </a:br>
            <a:endParaRPr lang="en-US" dirty="0"/>
          </a:p>
          <a:p>
            <a:pPr algn="ctr"/>
            <a:r>
              <a:rPr lang="en-US" dirty="0"/>
              <a:t>When you are trying to use switch-case, re-think your code again, maybe there is better way how to structure it…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118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Conditional loop</a:t>
            </a:r>
          </a:p>
          <a:p>
            <a:pPr marL="344487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Conditional loop with at least one iteration</a:t>
            </a:r>
          </a:p>
          <a:p>
            <a:pPr marL="344487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/>
              <a:t>Regular loop</a:t>
            </a:r>
          </a:p>
          <a:p>
            <a:pPr marL="344487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einit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etest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einc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Additional loop control statements</a:t>
            </a:r>
          </a:p>
          <a:p>
            <a:pPr marL="344487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44487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12</a:t>
            </a:fld>
            <a:endParaRPr lang="en-US" alt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126227"/>
              </p:ext>
            </p:extLst>
          </p:nvPr>
        </p:nvGraphicFramePr>
        <p:xfrm>
          <a:off x="7680176" y="1644936"/>
          <a:ext cx="4166250" cy="3300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47520" imgH="4317120" progId="">
                  <p:embed/>
                </p:oleObj>
              </mc:Choice>
              <mc:Fallback>
                <p:oleObj r:id="rId2" imgW="5447520" imgH="4317120" progId="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80176" y="1644936"/>
                        <a:ext cx="4166250" cy="3300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ounded Rectangular Callout 6"/>
          <p:cNvSpPr/>
          <p:nvPr/>
        </p:nvSpPr>
        <p:spPr>
          <a:xfrm>
            <a:off x="5205740" y="5321726"/>
            <a:ext cx="4948871" cy="890600"/>
          </a:xfrm>
          <a:prstGeom prst="wedgeRoundRectCallout">
            <a:avLst>
              <a:gd name="adj1" fmla="val -25006"/>
              <a:gd name="adj2" fmla="val -128756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N; ++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 { … }</a:t>
            </a:r>
          </a:p>
        </p:txBody>
      </p:sp>
    </p:spTree>
    <p:extLst>
      <p:ext uri="{BB962C8B-B14F-4D97-AF65-F5344CB8AC3E}">
        <p14:creationId xmlns:p14="http://schemas.microsoft.com/office/powerpoint/2010/main" val="4092283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30408" cy="4351338"/>
          </a:xfrm>
        </p:spPr>
        <p:txBody>
          <a:bodyPr>
            <a:normAutofit/>
          </a:bodyPr>
          <a:lstStyle/>
          <a:p>
            <a:r>
              <a:rPr lang="en-US" dirty="0"/>
              <a:t>Unconditional control flow redirection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N; ++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j = 0; j &lt; M; ++j) {</a:t>
            </a: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is_last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j))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end_loops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 }</a:t>
            </a: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end_loops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// ...</a:t>
            </a:r>
          </a:p>
          <a:p>
            <a:r>
              <a:rPr lang="en-US" dirty="0"/>
              <a:t>Better to be avoided</a:t>
            </a:r>
          </a:p>
          <a:p>
            <a:pPr lvl="1"/>
            <a:r>
              <a:rPr lang="en-US" dirty="0"/>
              <a:t>Most situations can be handled by other constructs (if, while, break, return, …)</a:t>
            </a:r>
          </a:p>
          <a:p>
            <a:pPr lvl="1"/>
            <a:r>
              <a:rPr lang="en-US" dirty="0"/>
              <a:t>Makes the code less readable, hinders some compiler optimizations, 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5879976" y="3789040"/>
            <a:ext cx="5832648" cy="1197594"/>
          </a:xfrm>
          <a:prstGeom prst="wedgeRoundRectCallout">
            <a:avLst>
              <a:gd name="adj1" fmla="val -75026"/>
              <a:gd name="adj2" fmla="val 39376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dirty="0"/>
              <a:t> is often mocked or frowned upon by experienced programmers. E.g., INTERCAL programming language introduces “COME FROM” parody…</a:t>
            </a:r>
          </a:p>
        </p:txBody>
      </p:sp>
    </p:spTree>
    <p:extLst>
      <p:ext uri="{BB962C8B-B14F-4D97-AF65-F5344CB8AC3E}">
        <p14:creationId xmlns:p14="http://schemas.microsoft.com/office/powerpoint/2010/main" val="47319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 Operators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Arithmetic</a:t>
            </a:r>
          </a:p>
          <a:p>
            <a:pPr marL="344487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</a:p>
          <a:p>
            <a:pPr lvl="1"/>
            <a:r>
              <a:rPr lang="en-US" dirty="0">
                <a:ea typeface="+mn-ea"/>
                <a:cs typeface="+mn-cs"/>
              </a:rPr>
              <a:t>Beware</a:t>
            </a:r>
            <a:r>
              <a:rPr lang="en-US" sz="2800" dirty="0"/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pPr marL="344487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</a:p>
          <a:p>
            <a:r>
              <a:rPr lang="en-US" dirty="0"/>
              <a:t>Comparison</a:t>
            </a:r>
          </a:p>
          <a:p>
            <a:pPr marL="344487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</a:p>
          <a:p>
            <a:r>
              <a:rPr lang="en-US" dirty="0"/>
              <a:t>Bitwise</a:t>
            </a:r>
          </a:p>
          <a:p>
            <a:pPr marL="344487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</a:p>
          <a:p>
            <a:r>
              <a:rPr lang="en-US" dirty="0"/>
              <a:t>Logical</a:t>
            </a:r>
          </a:p>
          <a:p>
            <a:pPr marL="344487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Pointers</a:t>
            </a:r>
          </a:p>
          <a:p>
            <a:pPr marL="344487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  <a:p>
            <a:r>
              <a:rPr lang="en-US" dirty="0"/>
              <a:t>Assignment</a:t>
            </a:r>
          </a:p>
          <a:p>
            <a:pPr marL="344487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-=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*=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/=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%=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&amp;=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|=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^=</a:t>
            </a:r>
          </a:p>
          <a:p>
            <a:r>
              <a:rPr lang="en-US" dirty="0"/>
              <a:t>Variable/type size in </a:t>
            </a:r>
            <a:r>
              <a:rPr lang="en-US" b="1" dirty="0"/>
              <a:t>bytes</a:t>
            </a:r>
          </a:p>
          <a:p>
            <a:pPr marL="344487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Ternary expr (like if-else)</a:t>
            </a:r>
          </a:p>
          <a:p>
            <a:pPr marL="344487" lvl="1" indent="0">
              <a:buNone/>
            </a:pP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e1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e2</a:t>
            </a:r>
          </a:p>
          <a:p>
            <a:pPr marL="344487" lvl="1" indent="0">
              <a:buNone/>
            </a:pPr>
            <a:endParaRPr lang="en-US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EAE92-5121-41FC-8DEC-DA73929E0C34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7" name="Rounded Rectangular Callout 6"/>
          <p:cNvSpPr/>
          <p:nvPr/>
        </p:nvSpPr>
        <p:spPr>
          <a:xfrm>
            <a:off x="3581400" y="2420888"/>
            <a:ext cx="2448272" cy="523255"/>
          </a:xfrm>
          <a:prstGeom prst="wedgeRoundRectCallout">
            <a:avLst>
              <a:gd name="adj1" fmla="val -71278"/>
              <a:gd name="adj2" fmla="val 24489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one-line comment</a:t>
            </a:r>
          </a:p>
        </p:txBody>
      </p:sp>
    </p:spTree>
    <p:extLst>
      <p:ext uri="{BB962C8B-B14F-4D97-AF65-F5344CB8AC3E}">
        <p14:creationId xmlns:p14="http://schemas.microsoft.com/office/powerpoint/2010/main" val="3000807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sequence of elements of the same type</a:t>
            </a:r>
          </a:p>
          <a:p>
            <a:pPr lvl="1"/>
            <a:r>
              <a:rPr lang="en-US" dirty="0"/>
              <a:t>Occupying continuous block of memory</a:t>
            </a:r>
          </a:p>
          <a:p>
            <a:pPr lvl="1"/>
            <a:r>
              <a:rPr lang="en-US" dirty="0"/>
              <a:t>Zero-based index, the (fixed) size is given at compilation</a:t>
            </a:r>
          </a:p>
          <a:p>
            <a:pPr lvl="1"/>
            <a:r>
              <a:rPr lang="en-US" dirty="0"/>
              <a:t>Correct alignment, row-major order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 {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3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 { {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3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}, {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4, 5, 6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}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EAE92-5121-41FC-8DEC-DA73929E0C34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8" name="Rounded Rectangular Callout 7"/>
          <p:cNvSpPr/>
          <p:nvPr/>
        </p:nvSpPr>
        <p:spPr>
          <a:xfrm>
            <a:off x="7594625" y="1790304"/>
            <a:ext cx="4464496" cy="936104"/>
          </a:xfrm>
          <a:prstGeom prst="wedgeRoundRectCallout">
            <a:avLst>
              <a:gd name="adj1" fmla="val -60036"/>
              <a:gd name="adj2" fmla="val 44849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can create dynamically allocated arrays (but it will not be covered in this course)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661617"/>
              </p:ext>
            </p:extLst>
          </p:nvPr>
        </p:nvGraphicFramePr>
        <p:xfrm>
          <a:off x="666923" y="5301208"/>
          <a:ext cx="36004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3761163052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239551396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983643588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997778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u[0]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u[1]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u[2]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u[3]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45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85954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989869"/>
              </p:ext>
            </p:extLst>
          </p:nvPr>
        </p:nvGraphicFramePr>
        <p:xfrm>
          <a:off x="4871864" y="5300743"/>
          <a:ext cx="691276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376116305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23955139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983643588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99777836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25100170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95404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a[0][0]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a[0][1]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a[0][2]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a[1][0]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a[1][1]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a[1][2]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45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859541"/>
                  </a:ext>
                </a:extLst>
              </a:tr>
            </a:tbl>
          </a:graphicData>
        </a:graphic>
      </p:graphicFrame>
      <p:sp>
        <p:nvSpPr>
          <p:cNvPr id="11" name="Left Brace 10"/>
          <p:cNvSpPr/>
          <p:nvPr/>
        </p:nvSpPr>
        <p:spPr>
          <a:xfrm rot="5400000">
            <a:off x="11141297" y="4612563"/>
            <a:ext cx="134542" cy="1152128"/>
          </a:xfrm>
          <a:prstGeom prst="lef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358014" y="4598903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5692429" y="3478422"/>
            <a:ext cx="5832648" cy="552813"/>
          </a:xfrm>
          <a:prstGeom prst="wedgeRoundRectCallout">
            <a:avLst>
              <a:gd name="adj1" fmla="val -93978"/>
              <a:gd name="adj2" fmla="val -16175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this is a local variable, the array may have random values!</a:t>
            </a:r>
          </a:p>
        </p:txBody>
      </p:sp>
    </p:spTree>
    <p:extLst>
      <p:ext uri="{BB962C8B-B14F-4D97-AF65-F5344CB8AC3E}">
        <p14:creationId xmlns:p14="http://schemas.microsoft.com/office/powerpoint/2010/main" val="3169259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Sequence (array) of characters ended with zero (NUL) character</a:t>
            </a:r>
          </a:p>
          <a:p>
            <a:pPr lvl="1"/>
            <a:r>
              <a:rPr lang="en-US" dirty="0"/>
              <a:t>NUL character (zero-byte) is added automatically for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"string"</a:t>
            </a:r>
            <a:r>
              <a:rPr lang="en-US" dirty="0"/>
              <a:t> literals</a:t>
            </a:r>
          </a:p>
          <a:p>
            <a:pPr lvl="1"/>
            <a:r>
              <a:rPr lang="en-US" dirty="0"/>
              <a:t>Represented as a pointer to the first character (pointers coming up soon…)</a:t>
            </a:r>
          </a:p>
          <a:p>
            <a:pPr lvl="1"/>
            <a:r>
              <a:rPr lang="en-US" dirty="0"/>
              <a:t>An array of characters is not necessarily a string! (beware the ending NUL)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[] = "Hippo";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chars[] = { 'H', '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', 'p', 'p', 'o' };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16</a:t>
            </a:fld>
            <a:endParaRPr lang="en-US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43743"/>
              </p:ext>
            </p:extLst>
          </p:nvPr>
        </p:nvGraphicFramePr>
        <p:xfrm>
          <a:off x="1415480" y="3933056"/>
          <a:ext cx="812800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54410558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97771978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9640351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4015593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938146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162787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[2]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[3]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[4]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[5]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'H'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'p'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'p'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'o'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'\0'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70606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590561"/>
              </p:ext>
            </p:extLst>
          </p:nvPr>
        </p:nvGraphicFramePr>
        <p:xfrm>
          <a:off x="1415480" y="5373216"/>
          <a:ext cx="6773335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54410558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97771978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9640351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4015593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93814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[2]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[3]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[4]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'H'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'p'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'p'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'o'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706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519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alignment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Used in many situations </a:t>
                </a:r>
              </a:p>
              <a:p>
                <a:pPr lvl="1"/>
                <a:r>
                  <a:rPr lang="en-US" dirty="0"/>
                  <a:t>A type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needs to be placed at address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so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%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E.g., 32-bit integer must be placed only on addresses divisible by 4</a:t>
                </a:r>
              </a:p>
              <a:p>
                <a:pPr lvl="1"/>
                <a:r>
                  <a:rPr lang="en-US" dirty="0"/>
                  <a:t>Hardware reasons (the CPU can load the value from memory more easily)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17</a:t>
            </a:fld>
            <a:endParaRPr lang="en-US" altLang="en-US"/>
          </a:p>
        </p:txBody>
      </p:sp>
      <p:grpSp>
        <p:nvGrpSpPr>
          <p:cNvPr id="51" name="Group 50"/>
          <p:cNvGrpSpPr/>
          <p:nvPr/>
        </p:nvGrpSpPr>
        <p:grpSpPr>
          <a:xfrm>
            <a:off x="871850" y="3908850"/>
            <a:ext cx="10487213" cy="1023861"/>
            <a:chOff x="911423" y="4349355"/>
            <a:chExt cx="10487213" cy="1023861"/>
          </a:xfrm>
        </p:grpSpPr>
        <p:sp>
          <p:nvSpPr>
            <p:cNvPr id="6" name="Rectangle 5"/>
            <p:cNvSpPr/>
            <p:nvPr/>
          </p:nvSpPr>
          <p:spPr>
            <a:xfrm>
              <a:off x="1451265" y="4653136"/>
              <a:ext cx="72008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611505" y="4653136"/>
              <a:ext cx="72008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891425" y="4653136"/>
              <a:ext cx="72008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171345" y="4653136"/>
              <a:ext cx="72008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331217" y="4653136"/>
              <a:ext cx="72008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051297" y="4653136"/>
              <a:ext cx="72008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771009" y="4653136"/>
              <a:ext cx="72008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91089" y="4653136"/>
              <a:ext cx="72008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210801" y="4653136"/>
              <a:ext cx="72008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930513" y="4653136"/>
              <a:ext cx="72008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49857" y="4653136"/>
              <a:ext cx="72008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371502" y="4653136"/>
              <a:ext cx="72008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 flipV="1">
              <a:off x="911424" y="4651566"/>
              <a:ext cx="10442376" cy="157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911424" y="5371646"/>
              <a:ext cx="10442376" cy="157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911423" y="482851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983138" y="482847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449673" y="4349358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0x13b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169565" y="4350925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0x13c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92290" y="4349357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0x13d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612881" y="4350924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0x13e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336540" y="4350925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0x13f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52746" y="4349358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0x140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74418" y="4349357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0x141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495092" y="4349357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0x142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18213" y="4349357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0x143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941334" y="4349357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0x144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653634" y="4349356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0x145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366799" y="4349355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0x146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492773" y="4689176"/>
              <a:ext cx="648072" cy="64800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char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2201845" y="4692284"/>
              <a:ext cx="2808000" cy="64800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/>
                <a:t>int</a:t>
              </a:r>
              <a:r>
                <a:rPr lang="en-US" sz="1600" dirty="0"/>
                <a:t> (32b)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087390" y="4651566"/>
              <a:ext cx="720080" cy="72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5086857" y="4691174"/>
              <a:ext cx="5688000" cy="64800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double (64b)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0036256" y="4349355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0x147</a:t>
              </a:r>
            </a:p>
          </p:txBody>
        </p:sp>
      </p:grpSp>
      <p:sp>
        <p:nvSpPr>
          <p:cNvPr id="50" name="Rounded Rectangular Callout 49"/>
          <p:cNvSpPr/>
          <p:nvPr/>
        </p:nvSpPr>
        <p:spPr>
          <a:xfrm>
            <a:off x="479376" y="5314411"/>
            <a:ext cx="2046427" cy="841619"/>
          </a:xfrm>
          <a:prstGeom prst="wedgeRoundRectCallout">
            <a:avLst>
              <a:gd name="adj1" fmla="val 16956"/>
              <a:gd name="adj2" fmla="val -102087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Char is aligned everywhere</a:t>
            </a:r>
          </a:p>
        </p:txBody>
      </p:sp>
      <p:sp>
        <p:nvSpPr>
          <p:cNvPr id="52" name="Rounded Rectangular Callout 51"/>
          <p:cNvSpPr/>
          <p:nvPr/>
        </p:nvSpPr>
        <p:spPr>
          <a:xfrm>
            <a:off x="2851664" y="5318711"/>
            <a:ext cx="2447071" cy="837319"/>
          </a:xfrm>
          <a:prstGeom prst="wedgeRoundRectCallout">
            <a:avLst>
              <a:gd name="adj1" fmla="val -66212"/>
              <a:gd name="adj2" fmla="val -186231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 integer can be here, 0x13c is divisible by 4</a:t>
            </a:r>
          </a:p>
        </p:txBody>
      </p:sp>
      <p:sp>
        <p:nvSpPr>
          <p:cNvPr id="53" name="Rounded Rectangular Callout 52"/>
          <p:cNvSpPr/>
          <p:nvPr/>
        </p:nvSpPr>
        <p:spPr>
          <a:xfrm>
            <a:off x="5879196" y="5314411"/>
            <a:ext cx="2447071" cy="837319"/>
          </a:xfrm>
          <a:prstGeom prst="wedgeRoundRectCallout">
            <a:avLst>
              <a:gd name="adj1" fmla="val -64774"/>
              <a:gd name="adj2" fmla="val -187281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double can be here, 0x140 is divisible by 8</a:t>
            </a:r>
          </a:p>
        </p:txBody>
      </p:sp>
    </p:spTree>
    <p:extLst>
      <p:ext uri="{BB962C8B-B14F-4D97-AF65-F5344CB8AC3E}">
        <p14:creationId xmlns:p14="http://schemas.microsoft.com/office/powerpoint/2010/main" val="3254181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Collection of fields (members)</a:t>
            </a:r>
          </a:p>
          <a:p>
            <a:pPr lvl="1"/>
            <a:r>
              <a:rPr lang="en-US" dirty="0"/>
              <a:t>Logically bound together</a:t>
            </a:r>
          </a:p>
          <a:p>
            <a:pPr lvl="1"/>
            <a:r>
              <a:rPr lang="en-US" dirty="0"/>
              <a:t>Inner alignment (padding), outer alignment (padding)</a:t>
            </a:r>
          </a:p>
          <a:p>
            <a:pPr marL="457200" lvl="1" indent="0">
              <a:buNone/>
            </a:pPr>
            <a:endParaRPr lang="en-US" sz="1000" dirty="0"/>
          </a:p>
          <a:p>
            <a:pPr marL="457200" lvl="1" indent="0">
              <a:buNone/>
            </a:pP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point2d {</a:t>
            </a:r>
          </a:p>
          <a:p>
            <a:pPr marL="457200" lvl="1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x, y;</a:t>
            </a:r>
          </a:p>
          <a:p>
            <a:pPr marL="457200" lvl="1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457200" lvl="1" indent="0">
              <a:buNone/>
            </a:pPr>
            <a:endParaRPr lang="en-US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data {</a:t>
            </a:r>
          </a:p>
          <a:p>
            <a:pPr marL="457200" lvl="1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pPr marL="457200" lvl="1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d;</a:t>
            </a:r>
          </a:p>
          <a:p>
            <a:pPr marL="457200" lvl="1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18</a:t>
            </a:fld>
            <a:endParaRPr lang="en-US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4007768" y="4588147"/>
            <a:ext cx="3260934" cy="1296144"/>
            <a:chOff x="7731610" y="3789040"/>
            <a:chExt cx="3260934" cy="1296144"/>
          </a:xfrm>
        </p:grpSpPr>
        <p:sp>
          <p:nvSpPr>
            <p:cNvPr id="4" name="Rectangle 3"/>
            <p:cNvSpPr/>
            <p:nvPr/>
          </p:nvSpPr>
          <p:spPr bwMode="auto">
            <a:xfrm>
              <a:off x="8328248" y="3789040"/>
              <a:ext cx="432048" cy="43204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8760296" y="3789040"/>
              <a:ext cx="2232248" cy="432048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848630" y="3816628"/>
              <a:ext cx="479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0 B</a:t>
              </a: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8328248" y="4221088"/>
              <a:ext cx="2664296" cy="43204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48630" y="4256165"/>
              <a:ext cx="479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8 B</a:t>
              </a: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8328248" y="4653136"/>
              <a:ext cx="1368152" cy="43204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9696400" y="4653136"/>
              <a:ext cx="1296144" cy="432048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731610" y="4680775"/>
              <a:ext cx="596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16 B</a:t>
              </a:r>
            </a:p>
          </p:txBody>
        </p:sp>
      </p:grpSp>
      <p:sp>
        <p:nvSpPr>
          <p:cNvPr id="17" name="Rounded Rectangular Callout 16"/>
          <p:cNvSpPr/>
          <p:nvPr/>
        </p:nvSpPr>
        <p:spPr>
          <a:xfrm>
            <a:off x="7035783" y="1755094"/>
            <a:ext cx="4464496" cy="648072"/>
          </a:xfrm>
          <a:prstGeom prst="wedgeRoundRectCallout">
            <a:avLst>
              <a:gd name="adj1" fmla="val -33543"/>
              <a:gd name="adj2" fmla="val 91936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 the size of the largest type used inside</a:t>
            </a:r>
          </a:p>
        </p:txBody>
      </p:sp>
      <p:sp>
        <p:nvSpPr>
          <p:cNvPr id="10" name="Rounded Rectangular Callout 5">
            <a:extLst>
              <a:ext uri="{FF2B5EF4-FFF2-40B4-BE49-F238E27FC236}">
                <a16:creationId xmlns:a16="http://schemas.microsoft.com/office/drawing/2014/main" id="{CCC6DF3D-CDF7-19B0-A3CB-114339397990}"/>
              </a:ext>
            </a:extLst>
          </p:cNvPr>
          <p:cNvSpPr/>
          <p:nvPr/>
        </p:nvSpPr>
        <p:spPr>
          <a:xfrm>
            <a:off x="4604406" y="3158092"/>
            <a:ext cx="1838458" cy="1025595"/>
          </a:xfrm>
          <a:prstGeom prst="wedgeRoundRectCallout">
            <a:avLst>
              <a:gd name="adj1" fmla="val -81309"/>
              <a:gd name="adj2" fmla="val -24441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point2d pt;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pt.x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pt.y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2;</a:t>
            </a:r>
          </a:p>
        </p:txBody>
      </p:sp>
    </p:spTree>
    <p:extLst>
      <p:ext uri="{BB962C8B-B14F-4D97-AF65-F5344CB8AC3E}">
        <p14:creationId xmlns:p14="http://schemas.microsoft.com/office/powerpoint/2010/main" val="1789546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Constants and </a:t>
            </a:r>
            <a:r>
              <a:rPr lang="en-US" dirty="0" err="1"/>
              <a:t>Enums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6"/>
          </a:xfrm>
        </p:spPr>
        <p:txBody>
          <a:bodyPr>
            <a:noAutofit/>
          </a:bodyPr>
          <a:lstStyle/>
          <a:p>
            <a:r>
              <a:rPr lang="en-US" dirty="0"/>
              <a:t>Regular constants</a:t>
            </a:r>
          </a:p>
          <a:p>
            <a:pPr lvl="1"/>
            <a:r>
              <a:rPr lang="en-US" dirty="0"/>
              <a:t>Basically immutable variables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the_answer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42;</a:t>
            </a:r>
          </a:p>
          <a:p>
            <a:r>
              <a:rPr lang="en-US" dirty="0"/>
              <a:t>Compile-time constants (C++)</a:t>
            </a:r>
          </a:p>
          <a:p>
            <a:pPr lvl="1"/>
            <a:r>
              <a:rPr lang="en-US" dirty="0"/>
              <a:t>Do not exist in memory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constexpr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the_answer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42;</a:t>
            </a:r>
            <a:endParaRPr lang="en-US" sz="2000" dirty="0"/>
          </a:p>
          <a:p>
            <a:r>
              <a:rPr lang="en-US" dirty="0"/>
              <a:t>Enumerations</a:t>
            </a:r>
          </a:p>
          <a:p>
            <a:pPr lvl="1"/>
            <a:r>
              <a:rPr lang="en-US" dirty="0"/>
              <a:t>Special type with a predefined set of allowed values</a:t>
            </a:r>
          </a:p>
          <a:p>
            <a:pPr lvl="1"/>
            <a:r>
              <a:rPr lang="en-US" dirty="0"/>
              <a:t>Compiles (natively) to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 (quite efficient)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class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state_t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WAITING, RUNNING, STOPPED };</a:t>
            </a:r>
          </a:p>
          <a:p>
            <a:pPr marL="457200" lvl="1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state_t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state_t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::WAITING;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6921838" y="3628778"/>
            <a:ext cx="3060362" cy="864096"/>
          </a:xfrm>
          <a:prstGeom prst="wedgeRoundRectCallout">
            <a:avLst>
              <a:gd name="adj1" fmla="val -64009"/>
              <a:gd name="adj2" fmla="val -4141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Inlined</a:t>
            </a:r>
            <a:r>
              <a:rPr lang="en-US" dirty="0"/>
              <a:t> at compile-time</a:t>
            </a:r>
            <a:br>
              <a:rPr lang="en-US" dirty="0"/>
            </a:br>
            <a:r>
              <a:rPr lang="en-US" dirty="0"/>
              <a:t>(i.e., usually a better choice)</a:t>
            </a:r>
          </a:p>
        </p:txBody>
      </p:sp>
    </p:spTree>
    <p:extLst>
      <p:ext uri="{BB962C8B-B14F-4D97-AF65-F5344CB8AC3E}">
        <p14:creationId xmlns:p14="http://schemas.microsoft.com/office/powerpoint/2010/main" val="318710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Preprocessor directives</a:t>
            </a:r>
          </a:p>
          <a:p>
            <a:pPr lvl="1"/>
            <a:r>
              <a:rPr lang="en-US" dirty="0"/>
              <a:t>Text-based replacements handled as the first step of compilation</a:t>
            </a:r>
          </a:p>
          <a:p>
            <a:pPr marL="457200" lvl="1" indent="0">
              <a:buNone/>
            </a:pP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&lt;algorithm&gt;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my_module.h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457200" lvl="1" indent="0">
              <a:buNone/>
            </a:pP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 1000</a:t>
            </a:r>
          </a:p>
          <a:p>
            <a:pPr marL="457200" lvl="1" indent="0">
              <a:buNone/>
            </a:pP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ALLOW_DEBUG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b="1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ifdef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ALLOW_DEBUG</a:t>
            </a: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("This code was executed\n");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b="1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6072692" y="2937630"/>
            <a:ext cx="4464496" cy="648072"/>
          </a:xfrm>
          <a:prstGeom prst="wedgeRoundRectCallout">
            <a:avLst>
              <a:gd name="adj1" fmla="val -63139"/>
              <a:gd name="adj2" fmla="val 25470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Includes are used all the time, remember!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5015880" y="3765089"/>
            <a:ext cx="4464496" cy="667271"/>
          </a:xfrm>
          <a:prstGeom prst="wedgeRoundRectCallout">
            <a:avLst>
              <a:gd name="adj1" fmla="val -70794"/>
              <a:gd name="adj2" fmla="val -9135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Avoid if you can (e.g., use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constexpr</a:t>
            </a:r>
            <a:r>
              <a:rPr lang="en-US" dirty="0"/>
              <a:t>)!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5375920" y="4633519"/>
            <a:ext cx="6336704" cy="654824"/>
          </a:xfrm>
          <a:prstGeom prst="wedgeRoundRectCallout">
            <a:avLst>
              <a:gd name="adj1" fmla="val -58550"/>
              <a:gd name="adj2" fmla="val 24717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Good to know, but quite advanced (for special situations only)</a:t>
            </a:r>
          </a:p>
        </p:txBody>
      </p:sp>
    </p:spTree>
    <p:extLst>
      <p:ext uri="{BB962C8B-B14F-4D97-AF65-F5344CB8AC3E}">
        <p14:creationId xmlns:p14="http://schemas.microsoft.com/office/powerpoint/2010/main" val="642277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Entry-point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name</a:t>
            </a:r>
            <a:r>
              <a:rPr lang="cs-CZ" dirty="0"/>
              <a:t>d</a:t>
            </a:r>
            <a:r>
              <a:rPr lang="en-US" dirty="0"/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  <a:p>
            <a:pPr lvl="1"/>
            <a:r>
              <a:rPr lang="en-US" dirty="0"/>
              <a:t>The return value is the exit code of the process</a:t>
            </a:r>
          </a:p>
          <a:p>
            <a:pPr lvl="2"/>
            <a:r>
              <a:rPr lang="en-US" dirty="0"/>
              <a:t>Without explicit return,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/>
              <a:t> exit code is assumed</a:t>
            </a:r>
            <a:endParaRPr lang="cs-CZ" dirty="0"/>
          </a:p>
          <a:p>
            <a:pPr lvl="1"/>
            <a:r>
              <a:rPr lang="en-US" dirty="0"/>
              <a:t>Note that all statements must be in some function or method</a:t>
            </a:r>
          </a:p>
          <a:p>
            <a:pPr lvl="2"/>
            <a:r>
              <a:rPr lang="en-US" dirty="0"/>
              <a:t>Unlike in Python where main-level code is executed</a:t>
            </a:r>
          </a:p>
          <a:p>
            <a:r>
              <a:rPr lang="en-US" dirty="0"/>
              <a:t>Simplistic version</a:t>
            </a:r>
          </a:p>
          <a:p>
            <a:pPr marL="344487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en-US" dirty="0"/>
              <a:t>Advanced version</a:t>
            </a:r>
          </a:p>
          <a:p>
            <a:pPr marL="344487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[]) {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3581400" y="5701526"/>
            <a:ext cx="4608512" cy="654824"/>
          </a:xfrm>
          <a:prstGeom prst="wedgeRoundRectCallout">
            <a:avLst>
              <a:gd name="adj1" fmla="val 9392"/>
              <a:gd name="adj2" fmla="val -7260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 line arguments as array of strings</a:t>
            </a:r>
          </a:p>
        </p:txBody>
      </p:sp>
    </p:spTree>
    <p:extLst>
      <p:ext uri="{BB962C8B-B14F-4D97-AF65-F5344CB8AC3E}">
        <p14:creationId xmlns:p14="http://schemas.microsoft.com/office/powerpoint/2010/main" val="130221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282136" cy="4351338"/>
          </a:xfrm>
        </p:spPr>
        <p:txBody>
          <a:bodyPr>
            <a:normAutofit/>
          </a:bodyPr>
          <a:lstStyle/>
          <a:p>
            <a:r>
              <a:rPr lang="en-US" dirty="0"/>
              <a:t>Memory address abstraction</a:t>
            </a:r>
          </a:p>
          <a:p>
            <a:pPr lvl="1"/>
            <a:r>
              <a:rPr lang="en-US" dirty="0"/>
              <a:t>Pointer = number that holds an</a:t>
            </a:r>
            <a:r>
              <a:rPr lang="cs-CZ" dirty="0"/>
              <a:t> </a:t>
            </a:r>
            <a:r>
              <a:rPr lang="en-US" dirty="0"/>
              <a:t>address</a:t>
            </a:r>
            <a:br>
              <a:rPr lang="en-US" dirty="0"/>
            </a:br>
            <a:r>
              <a:rPr lang="en-US" dirty="0"/>
              <a:t>(index of starting byte in memory)</a:t>
            </a:r>
          </a:p>
          <a:p>
            <a:pPr lvl="1"/>
            <a:r>
              <a:rPr lang="en-US" dirty="0"/>
              <a:t>Pointers are typed</a:t>
            </a:r>
          </a:p>
          <a:p>
            <a:pPr lvl="2"/>
            <a:r>
              <a:rPr lang="en-US" dirty="0"/>
              <a:t>What data type we can expect in memory where it points to</a:t>
            </a:r>
          </a:p>
          <a:p>
            <a:pPr lvl="2"/>
            <a:r>
              <a:rPr lang="en-US" dirty="0"/>
              <a:t>Pointers of different types are incompatible</a:t>
            </a:r>
          </a:p>
          <a:p>
            <a:pPr marL="457200" lvl="1" indent="0">
              <a:buNone/>
            </a:pPr>
            <a:endParaRPr lang="en-US" sz="1000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8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endParaRPr lang="en-US" sz="10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&amp;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endParaRPr lang="en-US" sz="10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*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4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22</a:t>
            </a:fld>
            <a:endParaRPr lang="en-US" altLang="en-US"/>
          </a:p>
        </p:txBody>
      </p:sp>
      <p:grpSp>
        <p:nvGrpSpPr>
          <p:cNvPr id="24" name="Group 23"/>
          <p:cNvGrpSpPr/>
          <p:nvPr/>
        </p:nvGrpSpPr>
        <p:grpSpPr>
          <a:xfrm>
            <a:off x="5927114" y="4357688"/>
            <a:ext cx="3036373" cy="432048"/>
            <a:chOff x="8062671" y="3861048"/>
            <a:chExt cx="3036373" cy="432048"/>
          </a:xfrm>
        </p:grpSpPr>
        <p:sp>
          <p:nvSpPr>
            <p:cNvPr id="15" name="Rectangle 14"/>
            <p:cNvSpPr/>
            <p:nvPr/>
          </p:nvSpPr>
          <p:spPr bwMode="auto">
            <a:xfrm>
              <a:off x="8904312" y="3861048"/>
              <a:ext cx="1728192" cy="43204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r>
                <a:rPr lang="cs-CZ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776520" y="389215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v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062671" y="3877167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1234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927114" y="4575602"/>
            <a:ext cx="3174231" cy="1482432"/>
            <a:chOff x="8062671" y="4078962"/>
            <a:chExt cx="3174231" cy="1482432"/>
          </a:xfrm>
        </p:grpSpPr>
        <p:sp>
          <p:nvSpPr>
            <p:cNvPr id="18" name="Rectangle 17"/>
            <p:cNvSpPr/>
            <p:nvPr/>
          </p:nvSpPr>
          <p:spPr bwMode="auto">
            <a:xfrm>
              <a:off x="8904312" y="5129346"/>
              <a:ext cx="1728192" cy="43204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1234 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ptr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776520" y="516045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pv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62671" y="5145465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6666</a:t>
              </a:r>
            </a:p>
          </p:txBody>
        </p:sp>
        <p:cxnSp>
          <p:nvCxnSpPr>
            <p:cNvPr id="21" name="Straight Arrow Connector 18"/>
            <p:cNvCxnSpPr>
              <a:stCxn id="18" idx="3"/>
              <a:endCxn id="26" idx="3"/>
            </p:cNvCxnSpPr>
            <p:nvPr/>
          </p:nvCxnSpPr>
          <p:spPr bwMode="auto">
            <a:xfrm flipV="1">
              <a:off x="10632504" y="4078962"/>
              <a:ext cx="12700" cy="1266408"/>
            </a:xfrm>
            <a:prstGeom prst="curvedConnector3">
              <a:avLst>
                <a:gd name="adj1" fmla="val 180000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7" name="Group 26"/>
          <p:cNvGrpSpPr/>
          <p:nvPr/>
        </p:nvGrpSpPr>
        <p:grpSpPr>
          <a:xfrm>
            <a:off x="6768755" y="3997648"/>
            <a:ext cx="1728192" cy="2602764"/>
            <a:chOff x="8904312" y="3501008"/>
            <a:chExt cx="1728192" cy="2602764"/>
          </a:xfrm>
        </p:grpSpPr>
        <p:cxnSp>
          <p:nvCxnSpPr>
            <p:cNvPr id="13" name="Straight Connector 12"/>
            <p:cNvCxnSpPr/>
            <p:nvPr/>
          </p:nvCxnSpPr>
          <p:spPr bwMode="auto">
            <a:xfrm>
              <a:off x="8904312" y="3501008"/>
              <a:ext cx="0" cy="259228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/>
            <p:cNvCxnSpPr/>
            <p:nvPr/>
          </p:nvCxnSpPr>
          <p:spPr bwMode="auto">
            <a:xfrm>
              <a:off x="10632504" y="3501008"/>
              <a:ext cx="0" cy="259228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" name="TextBox 21"/>
            <p:cNvSpPr txBox="1"/>
            <p:nvPr/>
          </p:nvSpPr>
          <p:spPr>
            <a:xfrm>
              <a:off x="9261076" y="5734440"/>
              <a:ext cx="1018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</p:grpSp>
      <p:sp>
        <p:nvSpPr>
          <p:cNvPr id="26" name="Rectangle 25"/>
          <p:cNvSpPr/>
          <p:nvPr/>
        </p:nvSpPr>
        <p:spPr bwMode="auto">
          <a:xfrm>
            <a:off x="6768755" y="4359578"/>
            <a:ext cx="1728192" cy="4320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876" y="1690688"/>
            <a:ext cx="28289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81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 variable = pointer to the first element</a:t>
            </a:r>
          </a:p>
          <a:p>
            <a:pPr lvl="1"/>
            <a:r>
              <a:rPr lang="en-US" dirty="0"/>
              <a:t>This applies to strings as well</a:t>
            </a:r>
          </a:p>
          <a:p>
            <a:pPr lvl="2"/>
            <a:r>
              <a:rPr lang="en-US" dirty="0"/>
              <a:t>(String = array of chars with extra NUL at the end)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{ 42, 54, 18 };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{ 42, 54, 18 };</a:t>
            </a:r>
          </a:p>
          <a:p>
            <a:pPr marL="457200" lvl="1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xkcd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xkcd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457200" lvl="1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17" name="Rectangle 16"/>
          <p:cNvSpPr/>
          <p:nvPr/>
        </p:nvSpPr>
        <p:spPr bwMode="auto">
          <a:xfrm>
            <a:off x="9024385" y="2015762"/>
            <a:ext cx="1728192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'x'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4233" y="204361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1234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9024385" y="4463455"/>
            <a:ext cx="1728192" cy="11972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1234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6446" y="4494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84234" y="449481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6666</a:t>
            </a:r>
          </a:p>
        </p:txBody>
      </p:sp>
      <p:cxnSp>
        <p:nvCxnSpPr>
          <p:cNvPr id="24" name="Straight Arrow Connector 18"/>
          <p:cNvCxnSpPr>
            <a:cxnSpLocks/>
            <a:stCxn id="21" idx="3"/>
            <a:endCxn id="17" idx="3"/>
          </p:cNvCxnSpPr>
          <p:nvPr/>
        </p:nvCxnSpPr>
        <p:spPr bwMode="auto">
          <a:xfrm flipV="1">
            <a:off x="10752577" y="2231786"/>
            <a:ext cx="12700" cy="2830287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Connector 25"/>
          <p:cNvCxnSpPr>
            <a:cxnSpLocks/>
          </p:cNvCxnSpPr>
          <p:nvPr/>
        </p:nvCxnSpPr>
        <p:spPr bwMode="auto">
          <a:xfrm>
            <a:off x="9018035" y="1836375"/>
            <a:ext cx="6350" cy="4112905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cxnSpLocks/>
          </p:cNvCxnSpPr>
          <p:nvPr/>
        </p:nvCxnSpPr>
        <p:spPr bwMode="auto">
          <a:xfrm>
            <a:off x="10752577" y="1836375"/>
            <a:ext cx="0" cy="4112905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9379367" y="5660691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9024385" y="2447810"/>
            <a:ext cx="1728192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'k'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(char)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9024385" y="2882075"/>
            <a:ext cx="1728192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(char)</a:t>
            </a:r>
          </a:p>
        </p:txBody>
      </p:sp>
      <p:sp>
        <p:nvSpPr>
          <p:cNvPr id="37" name="Rectangle 36"/>
          <p:cNvSpPr/>
          <p:nvPr/>
        </p:nvSpPr>
        <p:spPr bwMode="auto">
          <a:xfrm>
            <a:off x="9024385" y="3307893"/>
            <a:ext cx="1728192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(char)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9024385" y="3739941"/>
            <a:ext cx="1728192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'\0'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4232" y="247916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1235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8670" y="285989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248881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Pointer address can be also computed by arithmetic operations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"Hippo";</a:t>
            </a:r>
          </a:p>
          <a:p>
            <a:pPr marL="457200" lvl="1" indent="0">
              <a:buNone/>
            </a:pP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5; ++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457200" lvl="1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doSomethingWithChar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*(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!= '\0'; ++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... */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457200" lvl="1" indent="0">
              <a:buNone/>
            </a:pP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457200" lvl="1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...</a:t>
            </a:r>
          </a:p>
          <a:p>
            <a:pPr marL="457200" lvl="1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4439816" y="4900389"/>
            <a:ext cx="5832648" cy="936104"/>
          </a:xfrm>
          <a:prstGeom prst="wedgeRoundRectCallout">
            <a:avLst>
              <a:gd name="adj1" fmla="val -35339"/>
              <a:gd name="adj2" fmla="val -91575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is just an example to illustrate pointer arithmetic.</a:t>
            </a:r>
            <a:br>
              <a:rPr lang="en-US" dirty="0"/>
            </a:br>
            <a:r>
              <a:rPr lang="en-US" dirty="0"/>
              <a:t>Use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/>
              <a:t> in this case which is much more readable!!</a:t>
            </a:r>
          </a:p>
        </p:txBody>
      </p:sp>
      <p:sp>
        <p:nvSpPr>
          <p:cNvPr id="7" name="Up-Down Arrow 6"/>
          <p:cNvSpPr/>
          <p:nvPr/>
        </p:nvSpPr>
        <p:spPr>
          <a:xfrm rot="2559225">
            <a:off x="5001425" y="3433008"/>
            <a:ext cx="288032" cy="70743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ular Callout 7"/>
          <p:cNvSpPr/>
          <p:nvPr/>
        </p:nvSpPr>
        <p:spPr>
          <a:xfrm>
            <a:off x="6312024" y="3417410"/>
            <a:ext cx="4600128" cy="610336"/>
          </a:xfrm>
          <a:prstGeom prst="wedgeRoundRectCallout">
            <a:avLst>
              <a:gd name="adj1" fmla="val -76060"/>
              <a:gd name="adj2" fmla="val 14607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These two expressions are equivalent</a:t>
            </a:r>
          </a:p>
        </p:txBody>
      </p:sp>
    </p:spTree>
    <p:extLst>
      <p:ext uri="{BB962C8B-B14F-4D97-AF65-F5344CB8AC3E}">
        <p14:creationId xmlns:p14="http://schemas.microsoft.com/office/powerpoint/2010/main" val="3657709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Reference (C++)</a:t>
            </a:r>
          </a:p>
          <a:p>
            <a:pPr lvl="1"/>
            <a:r>
              <a:rPr lang="en-US" dirty="0"/>
              <a:t>Fixed pointer (address not re-assignable)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8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endParaRPr lang="en-US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endParaRPr lang="en-US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4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6888088" y="5835890"/>
            <a:ext cx="2743200" cy="365125"/>
          </a:xfrm>
        </p:spPr>
        <p:txBody>
          <a:bodyPr/>
          <a:lstStyle/>
          <a:p>
            <a:fld id="{F4A1145F-674A-4228-8958-0EA9769F5517}" type="slidenum">
              <a:rPr lang="en-US" altLang="en-US" smtClean="0"/>
              <a:pPr/>
              <a:t>25</a:t>
            </a:fld>
            <a:endParaRPr lang="en-US" altLang="en-US"/>
          </a:p>
        </p:txBody>
      </p:sp>
      <p:grpSp>
        <p:nvGrpSpPr>
          <p:cNvPr id="15" name="Group 14"/>
          <p:cNvGrpSpPr/>
          <p:nvPr/>
        </p:nvGrpSpPr>
        <p:grpSpPr>
          <a:xfrm>
            <a:off x="7409945" y="3284984"/>
            <a:ext cx="3036373" cy="432048"/>
            <a:chOff x="8062671" y="3861048"/>
            <a:chExt cx="3036373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8904312" y="3861048"/>
              <a:ext cx="1728192" cy="43204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r>
                <a:rPr lang="cs-CZ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776520" y="389215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v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062671" y="3877167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1234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409945" y="3502898"/>
            <a:ext cx="3174231" cy="1482432"/>
            <a:chOff x="8062671" y="4078962"/>
            <a:chExt cx="3174231" cy="1482432"/>
          </a:xfrm>
        </p:grpSpPr>
        <p:sp>
          <p:nvSpPr>
            <p:cNvPr id="20" name="Rectangle 19"/>
            <p:cNvSpPr/>
            <p:nvPr/>
          </p:nvSpPr>
          <p:spPr bwMode="auto">
            <a:xfrm>
              <a:off x="8904312" y="5129346"/>
              <a:ext cx="1728192" cy="43204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1234 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ptr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776520" y="516045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rv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062671" y="5145465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6666</a:t>
              </a:r>
            </a:p>
          </p:txBody>
        </p:sp>
        <p:cxnSp>
          <p:nvCxnSpPr>
            <p:cNvPr id="23" name="Straight Arrow Connector 18"/>
            <p:cNvCxnSpPr>
              <a:stCxn id="20" idx="3"/>
              <a:endCxn id="28" idx="3"/>
            </p:cNvCxnSpPr>
            <p:nvPr/>
          </p:nvCxnSpPr>
          <p:spPr bwMode="auto">
            <a:xfrm flipV="1">
              <a:off x="10632504" y="4078962"/>
              <a:ext cx="12700" cy="1266408"/>
            </a:xfrm>
            <a:prstGeom prst="curvedConnector3">
              <a:avLst>
                <a:gd name="adj1" fmla="val 180000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4" name="Group 23"/>
          <p:cNvGrpSpPr/>
          <p:nvPr/>
        </p:nvGrpSpPr>
        <p:grpSpPr>
          <a:xfrm>
            <a:off x="8251586" y="2608718"/>
            <a:ext cx="1728192" cy="2908514"/>
            <a:chOff x="8904312" y="3184782"/>
            <a:chExt cx="1728192" cy="2908514"/>
          </a:xfrm>
        </p:grpSpPr>
        <p:cxnSp>
          <p:nvCxnSpPr>
            <p:cNvPr id="25" name="Straight Connector 24"/>
            <p:cNvCxnSpPr/>
            <p:nvPr/>
          </p:nvCxnSpPr>
          <p:spPr bwMode="auto">
            <a:xfrm>
              <a:off x="8904312" y="3501008"/>
              <a:ext cx="0" cy="259228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/>
            <p:cNvCxnSpPr/>
            <p:nvPr/>
          </p:nvCxnSpPr>
          <p:spPr bwMode="auto">
            <a:xfrm>
              <a:off x="10632504" y="3501008"/>
              <a:ext cx="0" cy="259228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TextBox 26"/>
            <p:cNvSpPr txBox="1"/>
            <p:nvPr/>
          </p:nvSpPr>
          <p:spPr>
            <a:xfrm>
              <a:off x="9259294" y="3184782"/>
              <a:ext cx="1018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</p:grpSp>
      <p:sp>
        <p:nvSpPr>
          <p:cNvPr id="28" name="Rectangle 27"/>
          <p:cNvSpPr/>
          <p:nvPr/>
        </p:nvSpPr>
        <p:spPr bwMode="auto">
          <a:xfrm>
            <a:off x="8251586" y="3286874"/>
            <a:ext cx="1728192" cy="4320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Rounded Rectangular Callout 7">
            <a:extLst>
              <a:ext uri="{FF2B5EF4-FFF2-40B4-BE49-F238E27FC236}">
                <a16:creationId xmlns:a16="http://schemas.microsoft.com/office/drawing/2014/main" id="{212AF657-17B1-A93A-F32E-9CCD5B03DCFA}"/>
              </a:ext>
            </a:extLst>
          </p:cNvPr>
          <p:cNvSpPr/>
          <p:nvPr/>
        </p:nvSpPr>
        <p:spPr>
          <a:xfrm>
            <a:off x="4380410" y="3800354"/>
            <a:ext cx="2766964" cy="1241386"/>
          </a:xfrm>
          <a:prstGeom prst="wedgeRoundRectCallout">
            <a:avLst>
              <a:gd name="adj1" fmla="val -62266"/>
              <a:gd name="adj2" fmla="val -19981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Note, that when we used pointers, we wrote:</a:t>
            </a:r>
            <a:br>
              <a:rPr lang="en-US" dirty="0"/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&amp;v;</a:t>
            </a:r>
          </a:p>
        </p:txBody>
      </p:sp>
    </p:spTree>
    <p:extLst>
      <p:ext uri="{BB962C8B-B14F-4D97-AF65-F5344CB8AC3E}">
        <p14:creationId xmlns:p14="http://schemas.microsoft.com/office/powerpoint/2010/main" val="298156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kern="0" dirty="0"/>
              <a:t>Parameters in C are always passed by value</a:t>
            </a:r>
          </a:p>
          <a:p>
            <a:r>
              <a:rPr lang="en-US" kern="0" dirty="0"/>
              <a:t>Output (mutable) parameters must use pointers</a:t>
            </a:r>
          </a:p>
          <a:p>
            <a:pPr marL="457200" lvl="1" indent="0">
              <a:buNone/>
            </a:pPr>
            <a:endParaRPr lang="fr-FR" sz="12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fr-FR" sz="2000" b="1" kern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fr-FR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point2d {</a:t>
            </a:r>
          </a:p>
          <a:p>
            <a:pPr marL="457200" lvl="1" indent="0">
              <a:buNone/>
            </a:pPr>
            <a:r>
              <a:rPr lang="fr-FR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2000" b="1" kern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x, y;</a:t>
            </a:r>
          </a:p>
          <a:p>
            <a:pPr marL="457200" lvl="1" indent="0">
              <a:buNone/>
            </a:pPr>
            <a:r>
              <a:rPr lang="fr-FR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2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rotate(point2d in, point2d </a:t>
            </a:r>
            <a:r>
              <a:rPr lang="en-US" sz="2000" b="1" kern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out)</a:t>
            </a:r>
          </a:p>
          <a:p>
            <a:pPr marL="457200" lvl="1" indent="0">
              <a:buNone/>
            </a:pP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out</a:t>
            </a:r>
            <a:r>
              <a:rPr lang="en-US" sz="2000" b="1" kern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000" b="1" kern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out</a:t>
            </a:r>
            <a:r>
              <a:rPr lang="en-US" sz="2000" b="1" kern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y = - </a:t>
            </a:r>
            <a:r>
              <a:rPr 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000" b="1" kern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7" name="Rounded Rectangular Callout 6"/>
          <p:cNvSpPr/>
          <p:nvPr/>
        </p:nvSpPr>
        <p:spPr>
          <a:xfrm>
            <a:off x="5519936" y="5013176"/>
            <a:ext cx="5423908" cy="648072"/>
          </a:xfrm>
          <a:prstGeom prst="wedgeRoundRectCallout">
            <a:avLst>
              <a:gd name="adj1" fmla="val -64760"/>
              <a:gd name="adj2" fmla="val -17944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-&gt;field</a:t>
            </a:r>
            <a:r>
              <a:rPr lang="en-US" dirty="0"/>
              <a:t>  is a shorthand for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(*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).field</a:t>
            </a:r>
          </a:p>
        </p:txBody>
      </p:sp>
    </p:spTree>
    <p:extLst>
      <p:ext uri="{BB962C8B-B14F-4D97-AF65-F5344CB8AC3E}">
        <p14:creationId xmlns:p14="http://schemas.microsoft.com/office/powerpoint/2010/main" val="1448821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kern="0" dirty="0"/>
              <a:t>Parameters in C++ are passed by value or by reference</a:t>
            </a:r>
          </a:p>
          <a:p>
            <a:r>
              <a:rPr lang="en-US" kern="0" dirty="0"/>
              <a:t>Use references for output (mutable) parameters</a:t>
            </a:r>
          </a:p>
          <a:p>
            <a:pPr marL="457200" lvl="1" indent="0">
              <a:buNone/>
            </a:pPr>
            <a:endParaRPr lang="fr-FR" sz="12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fr-FR" sz="2000" b="1" kern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fr-FR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point2d {</a:t>
            </a:r>
          </a:p>
          <a:p>
            <a:pPr marL="457200" lvl="1" indent="0">
              <a:buNone/>
            </a:pPr>
            <a:r>
              <a:rPr lang="fr-FR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2000" b="1" kern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x, y;</a:t>
            </a:r>
          </a:p>
          <a:p>
            <a:pPr marL="457200" lvl="1" indent="0">
              <a:buNone/>
            </a:pPr>
            <a:r>
              <a:rPr lang="fr-FR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2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rotate(point2d in, point2d </a:t>
            </a:r>
            <a:r>
              <a:rPr lang="en-US" sz="2000" b="1" kern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out)</a:t>
            </a:r>
          </a:p>
          <a:p>
            <a:pPr marL="457200" lvl="1" indent="0">
              <a:buNone/>
            </a:pP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sz="2000" b="1" kern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000" b="1" kern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sz="2000" b="1" kern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000" b="1" kern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3373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 The Size of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761856" cy="4351338"/>
          </a:xfrm>
        </p:spPr>
        <p:txBody>
          <a:bodyPr>
            <a:noAutofit/>
          </a:bodyPr>
          <a:lstStyle/>
          <a:p>
            <a:r>
              <a:rPr lang="en-US" dirty="0"/>
              <a:t>The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dirty="0"/>
              <a:t> operator</a:t>
            </a:r>
          </a:p>
          <a:p>
            <a:pPr marL="457200" lvl="1" indent="0">
              <a:buNone/>
            </a:pP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endParaRPr lang="en-US" sz="12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… };</a:t>
            </a:r>
          </a:p>
          <a:p>
            <a:pPr marL="457200" lvl="1" indent="0">
              <a:buNone/>
            </a:pP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Also works for fixed-size arrays</a:t>
            </a:r>
          </a:p>
          <a:p>
            <a:pPr marL="457200" lvl="1" indent="0">
              <a:buNone/>
            </a:pP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u[4];</a:t>
            </a:r>
          </a:p>
          <a:p>
            <a:pPr marL="457200" lvl="1" indent="0">
              <a:buNone/>
            </a:pP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(u) == 4 *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s[] = "Hello";</a:t>
            </a:r>
          </a:p>
          <a:p>
            <a:pPr marL="457200" lvl="1" indent="0">
              <a:buNone/>
            </a:pP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(s) == (5+1) *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396408" cy="4351338"/>
          </a:xfrm>
        </p:spPr>
        <p:txBody>
          <a:bodyPr/>
          <a:lstStyle/>
          <a:p>
            <a:r>
              <a:rPr lang="en-US" dirty="0"/>
              <a:t>Beware the size of pointers</a:t>
            </a:r>
          </a:p>
          <a:p>
            <a:pPr lvl="1"/>
            <a:r>
              <a:rPr lang="en-US" dirty="0"/>
              <a:t>The compiler only knows the size of the pointer itself (not the contents)</a:t>
            </a:r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char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s_ptr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"World";</a:t>
            </a:r>
          </a:p>
          <a:p>
            <a:pPr marL="457200" lvl="1" indent="0">
              <a:buNone/>
            </a:pP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s_ptr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==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</a:p>
          <a:p>
            <a:pPr marL="457200" lvl="1" indent="0">
              <a:buNone/>
            </a:pP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(*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s_ptr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==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7" name="Rounded Rectangular Callout 6"/>
          <p:cNvSpPr/>
          <p:nvPr/>
        </p:nvSpPr>
        <p:spPr>
          <a:xfrm>
            <a:off x="6912002" y="4725144"/>
            <a:ext cx="4464496" cy="1307733"/>
          </a:xfrm>
          <a:prstGeom prst="wedgeRoundRectCallout">
            <a:avLst>
              <a:gd name="adj1" fmla="val 19388"/>
              <a:gd name="adj2" fmla="val -81112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you need the length of the string, you need to count characters until you find NUL (as function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does)</a:t>
            </a:r>
          </a:p>
        </p:txBody>
      </p:sp>
    </p:spTree>
    <p:extLst>
      <p:ext uri="{BB962C8B-B14F-4D97-AF65-F5344CB8AC3E}">
        <p14:creationId xmlns:p14="http://schemas.microsoft.com/office/powerpoint/2010/main" val="2444276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C++ classes (very briefly)</a:t>
            </a:r>
          </a:p>
          <a:p>
            <a:pPr lvl="1"/>
            <a:r>
              <a:rPr lang="en-US" dirty="0"/>
              <a:t>Similar to structures</a:t>
            </a:r>
          </a:p>
          <a:p>
            <a:pPr lvl="2"/>
            <a:r>
              <a:rPr lang="en-US" dirty="0"/>
              <a:t>But combining data members with methods (embedded functions)</a:t>
            </a:r>
          </a:p>
          <a:p>
            <a:pPr lvl="1"/>
            <a:r>
              <a:rPr lang="en-US" dirty="0"/>
              <a:t>Encapsulation</a:t>
            </a:r>
          </a:p>
          <a:p>
            <a:pPr lvl="2"/>
            <a:r>
              <a:rPr lang="en-US" dirty="0"/>
              <a:t>Data holding a state and functions that can manipulate the state</a:t>
            </a:r>
          </a:p>
          <a:p>
            <a:pPr lvl="1"/>
            <a:r>
              <a:rPr lang="en-US" dirty="0"/>
              <a:t>Important concept</a:t>
            </a:r>
          </a:p>
          <a:p>
            <a:pPr lvl="2"/>
            <a:r>
              <a:rPr lang="en-US" dirty="0"/>
              <a:t>Will be covered in programming lectures in 2</a:t>
            </a:r>
            <a:r>
              <a:rPr lang="en-US" baseline="30000" dirty="0"/>
              <a:t>nd</a:t>
            </a:r>
            <a:r>
              <a:rPr lang="en-US" dirty="0"/>
              <a:t> year…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 {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C() : sum(0) {}</a:t>
            </a: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add(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a) { sum += a; }</a:t>
            </a: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get_sum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sum;</a:t>
            </a: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sum;</a:t>
            </a: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6858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Practices and Guidelines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Writing good, readable code is important</a:t>
            </a:r>
          </a:p>
          <a:p>
            <a:pPr lvl="1"/>
            <a:r>
              <a:rPr lang="en-US" dirty="0"/>
              <a:t>Maintenance, less error-prone, easier to review/check/grade…</a:t>
            </a:r>
          </a:p>
          <a:p>
            <a:pPr lvl="1"/>
            <a:r>
              <a:rPr lang="en-US" dirty="0"/>
              <a:t>Some rules are summarized on our web page </a:t>
            </a:r>
            <a:r>
              <a:rPr lang="en-US" dirty="0">
                <a:hlinkClick r:id="rId2"/>
              </a:rPr>
              <a:t>https://www.ksi.mff.cuni.cz/teaching/nswi170-web/pages/labs/coding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Unforgivable curses – the most important rules</a:t>
            </a:r>
          </a:p>
          <a:p>
            <a:pPr lvl="2"/>
            <a:r>
              <a:rPr lang="en-US" dirty="0"/>
              <a:t>Code decomposition</a:t>
            </a:r>
          </a:p>
          <a:p>
            <a:pPr lvl="2"/>
            <a:r>
              <a:rPr lang="en-US" dirty="0"/>
              <a:t>Using named constants instead of literals</a:t>
            </a:r>
          </a:p>
          <a:p>
            <a:pPr lvl="2"/>
            <a:r>
              <a:rPr lang="en-US" dirty="0"/>
              <a:t>Do not Repeat Yourselves (keep it DRY)</a:t>
            </a:r>
          </a:p>
          <a:p>
            <a:pPr lvl="2"/>
            <a:r>
              <a:rPr lang="en-US" dirty="0"/>
              <a:t>Restricted use of global variables</a:t>
            </a:r>
          </a:p>
          <a:p>
            <a:pPr lvl="2"/>
            <a:r>
              <a:rPr lang="en-US" dirty="0"/>
              <a:t>Encapsulations (designing proper interfaces)</a:t>
            </a:r>
          </a:p>
          <a:p>
            <a:pPr lvl="1"/>
            <a:r>
              <a:rPr lang="en-US" dirty="0"/>
              <a:t>More details will be provided in the labs…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EAE92-5121-41FC-8DEC-DA73929E0C34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53777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8006C-71FE-EBBA-2B30-A00AB5158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If you still crave for Python...</a:t>
            </a:r>
            <a:endParaRPr lang="en-US"/>
          </a:p>
        </p:txBody>
      </p:sp>
      <p:pic>
        <p:nvPicPr>
          <p:cNvPr id="6" name="Content Placeholder 5" descr="https://cdn.discordapp.com/attachments/646342951479410718/1211447313885560892/image.png?ex=65ee3b3b&amp;is=65dbc63b&amp;hm=a329b603d0489d3984d51f043c124dbdc6fd437e86929cb957618f92841e9f91&amp;">
            <a:extLst>
              <a:ext uri="{FF2B5EF4-FFF2-40B4-BE49-F238E27FC236}">
                <a16:creationId xmlns:a16="http://schemas.microsoft.com/office/drawing/2014/main" id="{499DD96A-5EAB-4766-D8F9-92ADDDF500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1869" y="1642358"/>
            <a:ext cx="10913373" cy="454424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867BB-585A-596F-3F97-9CA1314DF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2F00B-FFA8-06B8-D4DA-486DEC1D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1715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19.2.2025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32</a:t>
            </a:fld>
            <a:endParaRPr lang="en-US" altLang="en-US"/>
          </a:p>
        </p:txBody>
      </p:sp>
      <p:pic>
        <p:nvPicPr>
          <p:cNvPr id="6" name="Picture 7" descr="http://www.peirnet.net/moodle/file.php/1/face_question_mark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439" y="1865610"/>
            <a:ext cx="4315817" cy="431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8009423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-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theme" id="{B506BBAE-7B29-471E-98D8-11EBE1E364B1}" vid="{D89F9550-F518-42A1-84C0-A3FA72197E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672D1A12B65B47AC1B61537578BD28" ma:contentTypeVersion="12" ma:contentTypeDescription="Create a new document." ma:contentTypeScope="" ma:versionID="5a82d84582cde9052097bd1b0cc75dba">
  <xsd:schema xmlns:xsd="http://www.w3.org/2001/XMLSchema" xmlns:xs="http://www.w3.org/2001/XMLSchema" xmlns:p="http://schemas.microsoft.com/office/2006/metadata/properties" xmlns:ns2="1c0ec0c6-5c42-41c6-8024-9200e69c8a29" xmlns:ns3="2fd21476-4047-415c-8b38-5026f9093e44" targetNamespace="http://schemas.microsoft.com/office/2006/metadata/properties" ma:root="true" ma:fieldsID="3fcc552a00055e6511e078b2ffb69500" ns2:_="" ns3:_="">
    <xsd:import namespace="1c0ec0c6-5c42-41c6-8024-9200e69c8a29"/>
    <xsd:import namespace="2fd21476-4047-415c-8b38-5026f9093e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0ec0c6-5c42-41c6-8024-9200e69c8a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21476-4047-415c-8b38-5026f9093e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356953-AE6D-4390-A069-AE34DA065B27}">
  <ds:schemaRefs>
    <ds:schemaRef ds:uri="http://schemas.microsoft.com/office/2006/documentManagement/types"/>
    <ds:schemaRef ds:uri="2fd21476-4047-415c-8b38-5026f9093e44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1c0ec0c6-5c42-41c6-8024-9200e69c8a29"/>
    <ds:schemaRef ds:uri="http://purl.org/dc/dcmitype/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2BD195F-EB28-4F64-BD81-B65BBC555B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0ec0c6-5c42-41c6-8024-9200e69c8a29"/>
    <ds:schemaRef ds:uri="2fd21476-4047-415c-8b38-5026f9093e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0BF980-F5E5-434C-B739-683FB27BC1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3250</TotalTime>
  <Words>2922</Words>
  <Application>Microsoft Office PowerPoint</Application>
  <PresentationFormat>Širokoúhlá obrazovka</PresentationFormat>
  <Paragraphs>604</Paragraphs>
  <Slides>32</Slides>
  <Notes>0</Notes>
  <HiddenSlides>0</HiddenSlides>
  <MMClips>0</MMClips>
  <ScaleCrop>false</ScaleCrop>
  <HeadingPairs>
    <vt:vector size="8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0</vt:i4>
      </vt:variant>
      <vt:variant>
        <vt:lpstr>Nadpisy snímků</vt:lpstr>
      </vt:variant>
      <vt:variant>
        <vt:i4>32</vt:i4>
      </vt:variant>
    </vt:vector>
  </HeadingPairs>
  <TitlesOfParts>
    <vt:vector size="39" baseType="lpstr">
      <vt:lpstr>Wingdings</vt:lpstr>
      <vt:lpstr>Cambria Math</vt:lpstr>
      <vt:lpstr>Calibri Light</vt:lpstr>
      <vt:lpstr>Arial</vt:lpstr>
      <vt:lpstr>Calibri</vt:lpstr>
      <vt:lpstr>Courier New</vt:lpstr>
      <vt:lpstr>slides-theme</vt:lpstr>
      <vt:lpstr>C/C++ language</vt:lpstr>
      <vt:lpstr>Features</vt:lpstr>
      <vt:lpstr>Type systems</vt:lpstr>
      <vt:lpstr>History</vt:lpstr>
      <vt:lpstr>Hello World Example</vt:lpstr>
      <vt:lpstr>Constant Literals</vt:lpstr>
      <vt:lpstr>Basic types</vt:lpstr>
      <vt:lpstr>Casts</vt:lpstr>
      <vt:lpstr>Variables</vt:lpstr>
      <vt:lpstr>Statements</vt:lpstr>
      <vt:lpstr>Statements</vt:lpstr>
      <vt:lpstr>Statements</vt:lpstr>
      <vt:lpstr>Statements</vt:lpstr>
      <vt:lpstr>Expression Operators</vt:lpstr>
      <vt:lpstr>Arrays</vt:lpstr>
      <vt:lpstr>Strings</vt:lpstr>
      <vt:lpstr>Memory alignment</vt:lpstr>
      <vt:lpstr>Structures</vt:lpstr>
      <vt:lpstr>Constants and Enums</vt:lpstr>
      <vt:lpstr>Preprocessor</vt:lpstr>
      <vt:lpstr>Application Entry-point</vt:lpstr>
      <vt:lpstr>Pointers</vt:lpstr>
      <vt:lpstr>Pointers</vt:lpstr>
      <vt:lpstr>Pointers</vt:lpstr>
      <vt:lpstr>References</vt:lpstr>
      <vt:lpstr>Functions</vt:lpstr>
      <vt:lpstr>Functions</vt:lpstr>
      <vt:lpstr>Know The Size of Things</vt:lpstr>
      <vt:lpstr>C++ Classes</vt:lpstr>
      <vt:lpstr>Coding Practices and Guidelines</vt:lpstr>
      <vt:lpstr>If you still crave for Python...</vt:lpstr>
      <vt:lpstr>Discussion</vt:lpstr>
    </vt:vector>
  </TitlesOfParts>
  <Company>Ulita, KSI, MFF UK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Principy překladačů</dc:title>
  <dc:creator>Jakub Yaghob</dc:creator>
  <cp:lastModifiedBy>Petr Ježek</cp:lastModifiedBy>
  <cp:revision>281</cp:revision>
  <dcterms:created xsi:type="dcterms:W3CDTF">2005-09-28T09:53:52Z</dcterms:created>
  <dcterms:modified xsi:type="dcterms:W3CDTF">2025-06-05T12:53:59Z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0x010100CF672D1A12B65B47AC1B61537578BD28</vt:lpwstr>
  </property>
</Properties>
</file>